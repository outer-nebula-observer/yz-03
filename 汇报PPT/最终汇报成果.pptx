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【配图】封面可放校徽（可选）；无需其他图。</a:t>
            </a:r>
          </a:p>
          <a:p>
            <a:r>
              <a:t>【讲稿】各位老师好，我们小组汇报的课题是《面向作战规划智能体的可进化外部记忆系统》。系统面向场次制规划任务，目标是在模型之外建立可读写、可演化、可审计的记忆。汇报分五个部分：问题与思路、相关工作与启发、系统设计与实现、实验设计与验证、智戎接入与总结展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【配图】无。</a:t>
            </a:r>
          </a:p>
          <a:p>
            <a:r>
              <a:t>【讲稿】汇报主线是五步：先讲清问题，再说明我们从已有工作里借鉴了什么，然后给出系统设计与代码实现，接着用消融和真模型验证，最后讲智戎接入与下一步。重点在第 3、4 部分。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【配图】章首主视觉可用 docs/figures/ppt/ppt_session_cycle.svg（竖版 900×1060）。</a:t>
            </a:r>
          </a:p>
          <a:p>
            <a:r>
              <a:t>【讲稿】第一章先界定问题：为什么场次制规划需要外部记忆。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【配图】右侧大图位 10.9×12.9cm，放 docs/figures/ppt/ppt_session_cycle.svg（PPT 已插入同名 PNG）：场次循环 + 状态不跨场次。</a:t>
            </a:r>
          </a:p>
          <a:p>
            <a:r>
              <a:t>【讲稿】作战规划智能体按场次接任务：目标→查询→检索→规划→推演→复盘→下一场。模型权重与上下文都不保留跨场次状态，所以同类错误会反复出现。长上下文只解决容量，RAG 只解决知识供给，都不解决经验沉淀、更新与淘汰。因此我们要在模型之外构建可读写、可演化、可审计的外部记忆系统。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【配图】每行右侧小图位 3.2×2.0cm，依次放 docs/figures/ppt/ppt_p1.svg ~ ppt_p5.svg（PPT 已插入同名 PNG）。</a:t>
            </a:r>
          </a:p>
          <a:p>
            <a:r>
              <a:t>【讲稿】我们把问题拆成五个失败模式：P1 经验不积累；P2 上下文超限导致硬约束丢失；P3 参数精确查询与经验语义查询混用单路；P4 复盘无差别入库让库变日志；P5 直接用目标文本查询信息量太薄。这五个问题分别对应后面的设计取舍。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【配图】每行右侧小图位，依次放 docs/figures/ppt/ppt_rq1.svg ~ ppt_rq5.svg（PPT 已插入同名 PNG），体现 P→RQ 映射。</a:t>
            </a:r>
          </a:p>
          <a:p>
            <a:r>
              <a:t>【讲稿】由五个失败模式引申出五个研究问题：RQ1 双库贡献、RQ2 跨场次复用、RQ3 检索策略、RQ4 滤噪与遗忘、RQ5 真实模型。每个 RQ 都对应可量化的实验，后面实验章节会逐一回答。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【配图】建议把 docs/figures/ppt/ppt_four_principles.svg（1000×560）放在 2×2 卡片旁或做成半页图。</a:t>
            </a:r>
          </a:p>
          <a:p>
            <a:r>
              <a:t>【讲稿】总体思路四句话：把记忆做成可演化的外部系统；短期到长期只留复盘晋升一条写通道；LLM 只提候选、确定性代码执行写合忘抽；查询按 MDMP 阶段生成并给对口记忆加分。这四点分别回应前面的失败模式。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【配图】章首主视觉可用 docs/figures/ppt/ppt_architecture.svg。</a:t>
            </a:r>
          </a:p>
          <a:p>
            <a:r>
              <a:t>【讲稿】第二章梳理相关工作，说明我们借鉴了什么、不采用什么。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【配图】建议插入 docs/figures/ppt/ppt_context_layers.svg（常驻关键区/装载记忆/滚动消息三层）。</a:t>
            </a:r>
          </a:p>
          <a:p>
            <a:r>
              <a:t>【讲稿】上下文管理上，综述给出“形式-操作-应用”框架；MemGPT 提出主上下文+外部存档，我们采用分层但把换页改成确定性阈值，保证可复现；SCM 强调控制器决定读写归档，我们沿用但把写长期库收窄为复盘晋升；LLMLingua/ICAE 的压缩我们只借用位置偏置和“只压历史不压约束”。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【配图】建议插入 docs/figures/ppt/ppt_dual_store.svg（事实库/经验库 + 三路读取）。</a:t>
            </a:r>
          </a:p>
          <a:p>
            <a:r>
              <a:t>【讲稿】长期存储与检索上，ChatDB 的数据库即符号记忆让我们保留属性精确过滤；ExpeL 的经验库+向量召回让我们保留经验语义；Reflexion 的语言反思、MemoryBank 的遗忘曲线、Zep 的溯源字段、MIRIX/TiM 的多路检索分别对应我们的经验表示、遗忘保护线、溯源和路由设计。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【配图】建议插入 docs/figures/ppt/ppt_evolution_ops.svg（写入/合并/遗忘/抽象四操作）。</a:t>
            </a:r>
          </a:p>
          <a:p>
            <a:r>
              <a:t>【讲稿】记忆进化上，PREMem 的相似度去重、StructMem 的跨事件整合、MemSkill 的操作类型化、Mem-α 的建议-执行分离，分别启发了我们的写入查重、抽象、MemoryOp 枚举和整体架构。差异在组合方式与军事场景限定：保护线、精确命中绕过阈值、阶段化供给。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【配图】章首主视觉可用 docs/figures/ppt/ppt_architecture.svg。</a:t>
            </a:r>
          </a:p>
          <a:p>
            <a:r>
              <a:t>【讲稿】第三章进入系统设计与实现，先看总体架构，再看短期、长期、检索、进化的具体代码。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【配图】右侧大图位 10.9×12.9cm，放 docs/figures/ppt/ppt_architecture.svg（PPT 已插入同名 PNG）。</a:t>
            </a:r>
          </a:p>
          <a:p>
            <a:r>
              <a:t>【讲稿】系统分四层：模型层统一数据对象，能力层分短期/长期/检索/进化，跨切面负责边界与阶段，编排层由控制器和管线调度。四能力层互不 import，只通过 schema 对象通信，因此可以独立开关做消融。短期到长期只经复盘晋升，并有三道边界门和审计日志。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【配图】建议插入 docs/figures/ppt/ppt_fifo_summary.svg（FIFO→递归摘要→归档）。</a:t>
            </a:r>
          </a:p>
          <a:p>
            <a:r>
              <a:t>【讲稿】短期工作记忆用槽位保存目标、约束、查询和消息，约束永不压缩。FIFO 超阈值时把最旧消息移出，递归生成摘要，原文进入归档供复盘。渲染顺序刻意使用首尾位置偏置：关键信息放头部、近期消息放尾部。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【配图】建议插入 docs/figures/ppt/ppt_dual_store.svg（双库接口与三路读取）。</a:t>
            </a:r>
          </a:p>
          <a:p>
            <a:r>
              <a:t>【讲稿】长期记忆分事实库和经验库：事实库用 SQLite 和属性精确过滤，经验库用向量语义召回。属性精确命中绕过 min_score，因为查询方显式指定条件时命中即相关。这样参数查询不会被相似度阈值卡住，经验查询也能跨措辞召回。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【配图】建议插入 docs/figures/ppt/ppt_hybrid_retrieval.svg（三路融合/归一/阶段亲和）。</a:t>
            </a:r>
          </a:p>
          <a:p>
            <a:r>
              <a:t>【讲稿】检索层把 vector、BM25、SQL 三路放在一起：hybrid 模式三路加权累加，single 模式只走一路供消融。归一化时向量取余弦、BM25 用查询自匹配作上界、SQL 恒为 1；然后叠加阶段亲和、过滤 min_score，对最终结果只做一次命中强化，避免同一记忆被强化多次。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【配图】建议插入 docs/figures/ppt/ppt_forgetting_curve.svg（R=e^{-t/S} 与 S+1）。</a:t>
            </a:r>
          </a:p>
          <a:p>
            <a:r>
              <a:t>【讲稿】进化采用建议-执行分离：LLM 从复盘中提候选，确定性代码执行写入、合并、遗忘、抽象。遗忘用艾宾浩斯公式 R=e^{-t/S}，命中一次 S 加一并重置时间；importance≥2 的记忆受保护。这样既保证记忆会淘汰，也保证失败教训不会被误删。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【配图】建议插入 docs/figures/ppt/ppt_boundary_stages.svg（复盘驱动→类别门→查重→阶段）。</a:t>
            </a:r>
          </a:p>
          <a:p>
            <a:r>
              <a:t>【讲稿】短期内容进入长期库必须过三道门：复盘驱动、类别判定、语义查重，每次判定写入审计日志。阶段感知则把查询按 MDMP 七阶段生成，阶段匹配的记忆加亲和分，复盘教训按阶段归因，让后续同阶段优先召回。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【配图】右侧大图位 10.9×12.9cm，放 docs/figures/ppt/ppt_webui.svg（PPT 已插入同名 PNG）：三栏/抽屉/遗忘曲线。</a:t>
            </a:r>
          </a:p>
          <a:p>
            <a:r>
              <a:t>【讲稿】WebUI 用三栏页签化布局：左输入、中运行、右产出，长内容折叠为页签。记忆详情抽屉展示总览、单条历史和遗忘日志；遗忘曲线把 R=e^{-t/S} 和“立即召回 S+1”放在一起对比；还有战役进度条、库健康度分布条和可展开的事件流。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【配图】章首主视觉可用 docs/figures/ppt/ppt_ablation.svg。</a:t>
            </a:r>
          </a:p>
          <a:p>
            <a:r>
              <a:t>【讲稿】第四章是实验设计与验证，先讲数据集和协议，再按 RQ 给结果。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【配图】建议插入 docs/figures/ppt/ppt_testset.svg（50 条 8 类结构）。</a:t>
            </a:r>
          </a:p>
          <a:p>
            <a:r>
              <a:t>【讲稿】实验用的测试集是自建 50 条 8 类，查询与答案刻意避免关键词共现。所有组在固定用例集上跑，通过依赖注入开关能力，而不是删减用例；跨场次 gold 在运行期解析。指标分检索层和任务层，统计用随机基线、bootstrap 置信区间和配对置换检验，种子固定 42。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【配图】建议插入 docs/figures/ppt/ppt_ablation.svg（G2/G3 柱状 + 随机基线）。</a:t>
            </a:r>
          </a:p>
          <a:p>
            <a:r>
              <a:t>【讲稿】RQ1 实验是 G2 仅事实库对 G3 双库全开，同为 44 条固定用例。结果 G2 hit@5=0.341，G3=0.636，Δ=0.295，配对置换 p=0.0001，两组置信区间不重叠。分类别看，增益全部来自经验类，事实类没有下降，说明双库分层不是冗余，经验库是经验查询的必要条件。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【配图】建议插入 docs/figures/ppt/ppt_cross_session.svg（第一场复盘→第二场召回）。</a:t>
            </a:r>
          </a:p>
          <a:p>
            <a:r>
              <a:t>【讲稿】RQ2 的做法是第一场先跑复盘写入经验，第二场用相关查询检索，gold 为运行期写入条目，对照不写第一场，另设负控。处理组 hit@5=0.833、对照 0、负控 0，机制路径完整；但样本只有 6 条，p=0.059，只能算方向性证据。RQ3 比较 hybrid 与单路：词袋下 hybrid 召回未胜出，但干扰压制更好，说明混合价值在排序，需真向量复测。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【配图】建议组合插入 docs/figures/ppt/ppt_min_score.svg、ppt_forgetting_curve.svg、ppt_deepseek.svg（三选一或上下组合）。</a:t>
            </a:r>
          </a:p>
          <a:p>
            <a:r>
              <a:t>【讲稿】RQ4 包含两个实验：滤噪扫描 min_score 的四个取值，0.16 时负例返回率归零、正例 hit@5=0.857；遗忘实验把时间戳回拨 30 天后运行 forget，未保护删 10/10，保护和新写入删 0，误删为 0。RQ5 用 DeepSeek 验证 20 项全过，T6 规划引用率 1.00、约束满足 1.00。需要强调这些都在 MockEmbedding 之上且为单次运行，属于示范性证据。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【配图】章首主视觉可用 docs/figures/ppt/ppt_zhirong.svg。</a:t>
            </a:r>
          </a:p>
          <a:p>
            <a:r>
              <a:t>【讲稿】第五章讲智戎接入与总结展望。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【配图】右侧大图位 10.9×12.9cm，放 docs/figures/ppt/ppt_zhirong.svg（PPT 已插入同名 PNG）：三挂接点→事件驱动。</a:t>
            </a:r>
          </a:p>
          <a:p>
            <a:r>
              <a:t>【讲稿】智戎平台可能没有“场次结束”和“复盘文本”，所以我们做了 P0 适配：hook_evolve 不依赖场次结束，可以随时触发进化；结构化反馈把 AFSIM 的数值和事件转成复盘文本；normalize_task 把结构化任务转成 goal/constraints/queries；domain_check 用于真实数据的领域巡检和阈值建议。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【配图】建议插入 docs/figures/ppt/ppt_roadmap.svg（下一步四步路线）。</a:t>
            </a:r>
          </a:p>
          <a:p>
            <a:r>
              <a:t>【讲稿】总结两条结论：分层与进化机制在词袋固定设置下有效，双库 p=0.0001；真模型验证了检索-生成链路可用，引用率 1.00。下一步四件事：真向量重跑并重标定、H 类扩到 20 条、补知识锚定和冲突仲裁、接入智戎真实链路。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【配图】感谢页可放校徽（可选）。</a:t>
            </a:r>
          </a:p>
          <a:p>
            <a:r>
              <a:t>【讲稿】我的汇报到此结束，感谢各位老师，欢迎提问。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8000" y="576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8000" y="6228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44000" y="576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44000" y="6228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8000" y="5760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8000" y="60336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98400" y="5760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98400" y="60336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220000" y="1944000"/>
            <a:ext cx="1764000" cy="216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40000" y="936000"/>
            <a:ext cx="93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C7D3E8"/>
                </a:solidFill>
                <a:latin typeface="Microsoft YaHei"/>
              </a:rPr>
              <a:t>GRADUATE PROJECT · FINAL REPORT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0000" y="2232000"/>
            <a:ext cx="10008000" cy="15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000" b="1">
                <a:solidFill>
                  <a:srgbClr val="FFFFFF"/>
                </a:solidFill>
                <a:latin typeface="Microsoft YaHei"/>
              </a:rPr>
              <a:t>面向作战规划智能体的</a:t>
            </a:r>
          </a:p>
          <a:p>
            <a:pPr algn="ctr"/>
            <a:r>
              <a:rPr sz="5000" b="1">
                <a:solidFill>
                  <a:srgbClr val="FFFFFF"/>
                </a:solidFill>
                <a:latin typeface="Microsoft YaHei"/>
              </a:rPr>
              <a:t>可进化外部记忆系统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40000" y="4104000"/>
            <a:ext cx="936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C7D3E8"/>
                </a:solidFill>
                <a:latin typeface="Microsoft YaHei"/>
              </a:rPr>
              <a:t>国防科技大学 · 课题3 · 长短期记忆系统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40000" y="4464000"/>
            <a:ext cx="936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C7D3E8"/>
                </a:solidFill>
                <a:latin typeface="Microsoft YaHei"/>
              </a:rPr>
              <a:t>小组：姓名一 / 姓名二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0000" y="4824000"/>
            <a:ext cx="936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C7D3E8"/>
                </a:solidFill>
                <a:latin typeface="Microsoft YaHei"/>
              </a:rPr>
              <a:t>2025年7月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CONTENTS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3A68"/>
                </a:solidFill>
                <a:latin typeface="Microsoft YaHei"/>
              </a:rPr>
              <a:t>目录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80000" y="1655999"/>
            <a:ext cx="9900000" cy="6840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59200" y="1745999"/>
            <a:ext cx="503999" cy="503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9200" y="1771200"/>
            <a:ext cx="5039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2000" y="1835999"/>
            <a:ext cx="82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A68"/>
                </a:solidFill>
                <a:latin typeface="Microsoft YaHei"/>
              </a:rPr>
              <a:t>01 问题与思路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80000" y="2501999"/>
            <a:ext cx="9900000" cy="6840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59200" y="2591999"/>
            <a:ext cx="503999" cy="503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59200" y="2617200"/>
            <a:ext cx="5039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2000" y="2681999"/>
            <a:ext cx="82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A68"/>
                </a:solidFill>
                <a:latin typeface="Microsoft YaHei"/>
              </a:rPr>
              <a:t>02 相关工作与启发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80000" y="3348000"/>
            <a:ext cx="9900000" cy="6840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59200" y="3438000"/>
            <a:ext cx="503999" cy="503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59200" y="3463200"/>
            <a:ext cx="5039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2000" y="3528000"/>
            <a:ext cx="82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A68"/>
                </a:solidFill>
                <a:latin typeface="Microsoft YaHei"/>
              </a:rPr>
              <a:t>03 系统设计与实现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80000" y="4194000"/>
            <a:ext cx="9900000" cy="6840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59200" y="4284000"/>
            <a:ext cx="503999" cy="503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59200" y="4309200"/>
            <a:ext cx="5039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72000" y="4374000"/>
            <a:ext cx="82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A68"/>
                </a:solidFill>
                <a:latin typeface="Microsoft YaHei"/>
              </a:rPr>
              <a:t>04 实验设计与验证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80000" y="5040000"/>
            <a:ext cx="9900000" cy="6840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59200" y="5130000"/>
            <a:ext cx="503999" cy="503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59200" y="5155200"/>
            <a:ext cx="5039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2000" y="5220000"/>
            <a:ext cx="82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A68"/>
                </a:solidFill>
                <a:latin typeface="Microsoft YaHei"/>
              </a:rPr>
              <a:t>05 智戎接入与总结展望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 / 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80000" y="1260000"/>
            <a:ext cx="2880000" cy="2880000"/>
          </a:xfrm>
          <a:prstGeom prst="ellipse">
            <a:avLst/>
          </a:prstGeom>
          <a:solidFill>
            <a:srgbClr val="2C4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0" y="1296000"/>
            <a:ext cx="504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4C689B"/>
                </a:solidFill>
                <a:latin typeface="Microsoft YaHei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2000" y="3671999"/>
            <a:ext cx="2160000" cy="360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0" y="3888000"/>
            <a:ext cx="79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icrosoft YaHei"/>
              </a:rPr>
              <a:t>问题与思路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2000" y="4896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7D3E8"/>
                </a:solidFill>
                <a:latin typeface="Microsoft YaHei"/>
              </a:rPr>
              <a:t>PROBLEM &amp; APPROACH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01 · 问题与思路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课题背景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75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2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从零开始的问题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033999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作战规划智能体以场次接任务，目标→查询→检索→规划→推演→复盘→下一场；模型与上下文都不保留跨场次状态，同类错误会反复出现。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2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2926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897999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长上下文不够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20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扩展窗口只解决“当前提示词放得下”，窗口关闭后信息即失效；RAG 只解决外部知识供给，不解决经验如何沉淀、更新与淘汰。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409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06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模型内记忆代价高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37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通过微调或状态注入改变模型本身，成本高且无法审计；军事场景需要可回放、可解释的记忆操作。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506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000" y="526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23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目标定位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554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在模型之外构建可读写、可演化、可审计的外部记忆系统，以“写入-检索-更新-淘汰”为生命周期。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23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ppt_session_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2000" y="1667199"/>
            <a:ext cx="3924000" cy="462160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7632000" y="1655999"/>
            <a:ext cx="3924000" cy="4644000"/>
          </a:xfrm>
          <a:prstGeom prst="rect">
            <a:avLst/>
          </a:prstGeom>
          <a:noFill/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4 /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01 · 问题与思路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五个失败模式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828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92799"/>
            <a:ext cx="75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P1 经验不积累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070000"/>
            <a:ext cx="7560000" cy="403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场次间无状态传递；第一场在隘口遇伏，第二场可能仍未派先遣侦察，失败教训没有载体。</a:t>
            </a:r>
          </a:p>
        </p:txBody>
      </p:sp>
      <p:pic>
        <p:nvPicPr>
          <p:cNvPr id="9" name="Picture 8" descr="ppt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8304" y="1891295"/>
            <a:ext cx="1687391" cy="562463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9252000" y="1891295"/>
            <a:ext cx="2160000" cy="562463"/>
          </a:xfrm>
          <a:prstGeom prst="rect">
            <a:avLst/>
          </a:prstGeom>
          <a:noFill/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2000" y="2545200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2000" y="2736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12000" y="2699999"/>
            <a:ext cx="75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P2 上下文超限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2000" y="2977200"/>
            <a:ext cx="7560000" cy="403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场内战报与硬约束同时涌入，粗暴截断可能把“禁止越境”等约束切掉，规划易合规出错。</a:t>
            </a:r>
          </a:p>
        </p:txBody>
      </p:sp>
      <p:pic>
        <p:nvPicPr>
          <p:cNvPr id="15" name="Picture 14" descr="ppt_p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8304" y="2798495"/>
            <a:ext cx="1687391" cy="562463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9252000" y="2798495"/>
            <a:ext cx="2160000" cy="562463"/>
          </a:xfrm>
          <a:prstGeom prst="rect">
            <a:avLst/>
          </a:prstGeom>
          <a:noFill/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2000" y="3452400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000" y="36431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3607200"/>
            <a:ext cx="75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P3 查询口径混杂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3884399"/>
            <a:ext cx="7560000" cy="403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装备参数需要精确，经验教训需要语义泛化；同一路无法同时满足精确与召回。</a:t>
            </a:r>
          </a:p>
        </p:txBody>
      </p:sp>
      <p:pic>
        <p:nvPicPr>
          <p:cNvPr id="21" name="Picture 20" descr="ppt_p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8304" y="3705696"/>
            <a:ext cx="1687391" cy="562463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9252000" y="3705696"/>
            <a:ext cx="2160000" cy="562463"/>
          </a:xfrm>
          <a:prstGeom prst="rect">
            <a:avLst/>
          </a:prstGeom>
          <a:noFill/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2000" y="4359600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2000" y="45504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12000" y="4514400"/>
            <a:ext cx="75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P4 库噪声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12000" y="4791600"/>
            <a:ext cx="7560000" cy="403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复盘无差别入库让长期库积累流水账，信号被噪声淹没，且无法回答“这条为什么在库中”。</a:t>
            </a:r>
          </a:p>
        </p:txBody>
      </p:sp>
      <p:pic>
        <p:nvPicPr>
          <p:cNvPr id="27" name="Picture 26" descr="ppt_p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88304" y="4612896"/>
            <a:ext cx="1687391" cy="562463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9252000" y="4612896"/>
            <a:ext cx="2160000" cy="562463"/>
          </a:xfrm>
          <a:prstGeom prst="rect">
            <a:avLst/>
          </a:prstGeom>
          <a:noFill/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2000" y="5266800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2000" y="54575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F6EBA"/>
                </a:solidFill>
                <a:latin typeface="Microsoft YaHei"/>
              </a:rPr>
              <a:t>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12000" y="5421600"/>
            <a:ext cx="75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P5 目标检索弱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12000" y="5698799"/>
            <a:ext cx="7560000" cy="403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直接用任务目标一句话查询信息量太薄，规划不同阶段需要的记忆类型不同。</a:t>
            </a:r>
          </a:p>
        </p:txBody>
      </p:sp>
      <p:pic>
        <p:nvPicPr>
          <p:cNvPr id="33" name="Picture 32" descr="ppt_p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88304" y="5520096"/>
            <a:ext cx="1687391" cy="562463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9252000" y="5520096"/>
            <a:ext cx="2160000" cy="562463"/>
          </a:xfrm>
          <a:prstGeom prst="rect">
            <a:avLst/>
          </a:prstGeom>
          <a:noFill/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92000" y="6173999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5 / 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01 · 问题与思路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3A68"/>
                </a:solidFill>
                <a:latin typeface="Microsoft YaHei"/>
              </a:rPr>
              <a:t>五个研究问题 RQ1-RQ5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92000" y="1814400"/>
            <a:ext cx="1296000" cy="684000"/>
          </a:xfrm>
          <a:prstGeom prst="roundRect">
            <a:avLst>
              <a:gd name="adj" fmla="val 8000"/>
            </a:avLst>
          </a:prstGeom>
          <a:solidFill>
            <a:srgbClr val="E7EFF9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4000" y="1936800"/>
            <a:ext cx="1152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2F6EBA"/>
                </a:solidFill>
                <a:latin typeface="Microsoft YaHei"/>
              </a:rPr>
              <a:t>P1/P5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32000" y="1853999"/>
            <a:ext cx="360000" cy="50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64000" y="1782000"/>
            <a:ext cx="6443999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1F3A68"/>
                </a:solidFill>
                <a:latin typeface="Microsoft YaHei"/>
              </a:rPr>
              <a:t>RQ1 双库贡献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64000" y="2095200"/>
            <a:ext cx="6443999" cy="36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事实/经验分库是否在固定用例集上带来可测召回增益？对应 G2 vs G3 消融。</a:t>
            </a:r>
          </a:p>
        </p:txBody>
      </p:sp>
      <p:pic>
        <p:nvPicPr>
          <p:cNvPr id="11" name="Picture 10" descr="ppt_rq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5520" y="1872000"/>
            <a:ext cx="1632959" cy="544319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9252000" y="1872000"/>
            <a:ext cx="2160000" cy="544319"/>
          </a:xfrm>
          <a:prstGeom prst="rect">
            <a:avLst/>
          </a:prstGeom>
          <a:noFill/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2000" y="2556000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92000" y="2721600"/>
            <a:ext cx="1296000" cy="684000"/>
          </a:xfrm>
          <a:prstGeom prst="roundRect">
            <a:avLst>
              <a:gd name="adj" fmla="val 8000"/>
            </a:avLst>
          </a:prstGeom>
          <a:solidFill>
            <a:srgbClr val="E7EFF9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4000" y="2844000"/>
            <a:ext cx="1152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2F6EBA"/>
                </a:solidFill>
                <a:latin typeface="Microsoft YaHei"/>
              </a:rPr>
              <a:t>P1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32000" y="2761199"/>
            <a:ext cx="360000" cy="50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64000" y="2689200"/>
            <a:ext cx="6443999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1F3A68"/>
                </a:solidFill>
                <a:latin typeface="Microsoft YaHei"/>
              </a:rPr>
              <a:t>RQ2 跨场次复用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64000" y="3002400"/>
            <a:ext cx="6443999" cy="36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第一场复盘写入能否被第二场召回？处理组 0.833 vs 对照 0。</a:t>
            </a:r>
          </a:p>
        </p:txBody>
      </p:sp>
      <p:pic>
        <p:nvPicPr>
          <p:cNvPr id="19" name="Picture 18" descr="ppt_rq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15520" y="2779200"/>
            <a:ext cx="1632959" cy="544319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9252000" y="2779200"/>
            <a:ext cx="2160000" cy="544319"/>
          </a:xfrm>
          <a:prstGeom prst="rect">
            <a:avLst/>
          </a:prstGeom>
          <a:noFill/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92000" y="3463199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92000" y="3628800"/>
            <a:ext cx="1296000" cy="684000"/>
          </a:xfrm>
          <a:prstGeom prst="roundRect">
            <a:avLst>
              <a:gd name="adj" fmla="val 8000"/>
            </a:avLst>
          </a:prstGeom>
          <a:solidFill>
            <a:srgbClr val="E7EFF9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4000" y="3751200"/>
            <a:ext cx="1152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2F6EBA"/>
                </a:solidFill>
                <a:latin typeface="Microsoft YaHei"/>
              </a:rPr>
              <a:t>P3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32000" y="3668400"/>
            <a:ext cx="360000" cy="50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64000" y="3596400"/>
            <a:ext cx="6443999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1F3A68"/>
                </a:solidFill>
                <a:latin typeface="Microsoft YaHei"/>
              </a:rPr>
              <a:t>RQ3 检索策略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64000" y="3909600"/>
            <a:ext cx="6443999" cy="36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三路融合相对单路是否有增益？词袋下召回未胜出，排序/干扰压制更好。</a:t>
            </a:r>
          </a:p>
        </p:txBody>
      </p:sp>
      <p:pic>
        <p:nvPicPr>
          <p:cNvPr id="27" name="Picture 26" descr="ppt_rq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15520" y="3686400"/>
            <a:ext cx="1632959" cy="544319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9252000" y="3686400"/>
            <a:ext cx="2160000" cy="544319"/>
          </a:xfrm>
          <a:prstGeom prst="rect">
            <a:avLst/>
          </a:prstGeom>
          <a:noFill/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2000" y="4370400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92000" y="4536000"/>
            <a:ext cx="1296000" cy="684000"/>
          </a:xfrm>
          <a:prstGeom prst="roundRect">
            <a:avLst>
              <a:gd name="adj" fmla="val 8000"/>
            </a:avLst>
          </a:prstGeom>
          <a:solidFill>
            <a:srgbClr val="E7EFF9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4000" y="4658400"/>
            <a:ext cx="1152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2F6EBA"/>
                </a:solidFill>
                <a:latin typeface="Microsoft YaHei"/>
              </a:rPr>
              <a:t>P2/P4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32000" y="4575600"/>
            <a:ext cx="360000" cy="50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64000" y="4503600"/>
            <a:ext cx="6443999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1F3A68"/>
                </a:solidFill>
                <a:latin typeface="Microsoft YaHei"/>
              </a:rPr>
              <a:t>RQ4 滤噪与遗忘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64000" y="4816800"/>
            <a:ext cx="6443999" cy="36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阈值能否滤除负例、遗忘是否不误删保护记忆？</a:t>
            </a:r>
          </a:p>
        </p:txBody>
      </p:sp>
      <p:pic>
        <p:nvPicPr>
          <p:cNvPr id="35" name="Picture 34" descr="ppt_rq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15520" y="4593600"/>
            <a:ext cx="1632959" cy="544319"/>
          </a:xfrm>
          <a:prstGeom prst="rect">
            <a:avLst/>
          </a:prstGeom>
        </p:spPr>
      </p:pic>
      <p:sp>
        <p:nvSpPr>
          <p:cNvPr id="36" name="Rectangle 35"/>
          <p:cNvSpPr/>
          <p:nvPr/>
        </p:nvSpPr>
        <p:spPr>
          <a:xfrm>
            <a:off x="9252000" y="4593600"/>
            <a:ext cx="2160000" cy="544319"/>
          </a:xfrm>
          <a:prstGeom prst="rect">
            <a:avLst/>
          </a:prstGeom>
          <a:noFill/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92000" y="5277599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792000" y="5443200"/>
            <a:ext cx="1296000" cy="684000"/>
          </a:xfrm>
          <a:prstGeom prst="roundRect">
            <a:avLst>
              <a:gd name="adj" fmla="val 8000"/>
            </a:avLst>
          </a:prstGeom>
          <a:solidFill>
            <a:srgbClr val="E7EFF9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4000" y="5565600"/>
            <a:ext cx="1152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2F6EBA"/>
                </a:solidFill>
                <a:latin typeface="Microsoft YaHei"/>
              </a:rPr>
              <a:t>P4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232000" y="5482799"/>
            <a:ext cx="360000" cy="50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→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64000" y="5410800"/>
            <a:ext cx="6443999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1F3A68"/>
                </a:solidFill>
                <a:latin typeface="Microsoft YaHei"/>
              </a:rPr>
              <a:t>RQ5 真实模型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664000" y="5723999"/>
            <a:ext cx="6443999" cy="36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DeepSeek 是否实际引用装载记忆？T6 引用率 1.00。</a:t>
            </a:r>
          </a:p>
        </p:txBody>
      </p:sp>
      <p:pic>
        <p:nvPicPr>
          <p:cNvPr id="43" name="Picture 42" descr="ppt_rq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15520" y="5500800"/>
            <a:ext cx="1632959" cy="544319"/>
          </a:xfrm>
          <a:prstGeom prst="rect">
            <a:avLst/>
          </a:prstGeom>
        </p:spPr>
      </p:pic>
      <p:sp>
        <p:nvSpPr>
          <p:cNvPr id="44" name="Rectangle 43"/>
          <p:cNvSpPr/>
          <p:nvPr/>
        </p:nvSpPr>
        <p:spPr>
          <a:xfrm>
            <a:off x="9252000" y="5500800"/>
            <a:ext cx="2160000" cy="544319"/>
          </a:xfrm>
          <a:prstGeom prst="rect">
            <a:avLst/>
          </a:prstGeom>
          <a:noFill/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92000" y="6184800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6 / 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01 · 问题与思路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总体思路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0000" y="1655999"/>
            <a:ext cx="5220000" cy="2015999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0000" y="1655999"/>
            <a:ext cx="79200" cy="2015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6000" y="1800000"/>
            <a:ext cx="57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2000" y="2106000"/>
            <a:ext cx="471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外部系统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2000" y="2501999"/>
            <a:ext cx="4716000" cy="107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E"/>
                </a:solidFill>
                <a:latin typeface="Microsoft YaHei"/>
              </a:rPr>
              <a:t>把记忆从上下文窗口搬到独立系统，可写、可检索、可更新、可淘汰；短期管当前场次，长期管跨场次知识。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8000" y="1655999"/>
            <a:ext cx="5220000" cy="2015999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8000" y="1655999"/>
            <a:ext cx="79200" cy="2015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4000" y="1800000"/>
            <a:ext cx="57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80000" y="2106000"/>
            <a:ext cx="471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复盘晋升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0000" y="2501999"/>
            <a:ext cx="4716000" cy="107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E"/>
                </a:solidFill>
                <a:latin typeface="Microsoft YaHei"/>
              </a:rPr>
              <a:t>短期→长期只留一条写通道，即场次结束后的复盘；三道门控：复盘驱动、类别判定、语义查重，每次操作进审计日志。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0000" y="3887999"/>
            <a:ext cx="5220000" cy="2015999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20000" y="3887999"/>
            <a:ext cx="79200" cy="2015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6000" y="4031999"/>
            <a:ext cx="57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2000" y="4338000"/>
            <a:ext cx="471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建议-执行分离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2000" y="4733999"/>
            <a:ext cx="4716000" cy="107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E"/>
                </a:solidFill>
                <a:latin typeface="Microsoft YaHei"/>
              </a:rPr>
              <a:t>LLM/规则只负责提候选，写入、合并、遗忘、抽象由确定性代码执行；保证“为什么删、从哪来”可审计。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28000" y="3887999"/>
            <a:ext cx="5220000" cy="2015999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28000" y="3887999"/>
            <a:ext cx="79200" cy="2015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4000" y="4031999"/>
            <a:ext cx="57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80000" y="4338000"/>
            <a:ext cx="471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阶段感知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80000" y="4733999"/>
            <a:ext cx="4716000" cy="107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E"/>
                </a:solidFill>
                <a:latin typeface="Microsoft YaHei"/>
              </a:rPr>
              <a:t>查询按 MDMP 七阶段生成，阶段匹配记忆加亲和分；复盘教训归因到阶段，让“方案拟制”优先看到历史战例。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7 / 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80000" y="1260000"/>
            <a:ext cx="2880000" cy="2880000"/>
          </a:xfrm>
          <a:prstGeom prst="ellipse">
            <a:avLst/>
          </a:prstGeom>
          <a:solidFill>
            <a:srgbClr val="2C4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0" y="1296000"/>
            <a:ext cx="504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4C689B"/>
                </a:solidFill>
                <a:latin typeface="Microsoft YaHei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2000" y="3671999"/>
            <a:ext cx="2160000" cy="360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0" y="3888000"/>
            <a:ext cx="79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icrosoft YaHei"/>
              </a:rPr>
              <a:t>相关工作与启发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2000" y="4896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7D3E8"/>
                </a:solidFill>
                <a:latin typeface="Microsoft YaHei"/>
              </a:rPr>
              <a:t>RELATED WORK &amp; INSPIRATION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02 · 相关工作与启发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上下文组织与工作记忆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828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800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综述框架（Zhang 2024）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106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把记忆工作归纳为“形式-操作-应用”三层；本文补齐“写、更新、遗忘”闭环并把每步做成可审计事件。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61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296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93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MemGPT 分层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240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主上下文+外部存档；本文采用分层，但改成确定性阈值换页（0.7预警/1.0压缩），保证可复现可消融。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4096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067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SCM 控制器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373999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显式决定何时读/写/归档；本文沿用“控制器唯一调度”，但把写长期库收窄为复盘晋升一条通道。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5029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000" y="5230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202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LLMLingua/ICAE 压缩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5508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借用位置偏置与“只压历史不压约束”，压缩器本身留作后续扩展。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163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9 / 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02 · 相关工作与启发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长期存储与检索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692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13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ChatDB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1951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数据库即符号记忆 → 只保留属性精确过滤，不实现全量 NL→SQL。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178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2124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145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ExpeL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2383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经验库+向量召回 → 补齐重要性加权与 SQLite 持久化。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2610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2556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2577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Reflexion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2815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语言反思 → 采用语言形式经验，不采用在线强化。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3042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000" y="2988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3009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MemoryBank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3247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艾宾浩斯遗忘+召唤强化 → 增加 importance≥2 保护线。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3474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2000" y="3420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12000" y="3441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Zep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12000" y="3679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时序知识图谱+溯源 → 采用溯源字段，不采用图存储。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2000" y="3906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2000" y="38519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12000" y="3873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MIRIX/TiM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12000" y="4111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多路策略与显式检索计划 → 压缩为三路融合。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2000" y="4338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10 / 28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02 · 相关工作与启发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记忆进化与设计依据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92000" y="1692000"/>
            <a:ext cx="648000" cy="288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1782000"/>
            <a:ext cx="531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Microsoft YaHei"/>
              </a:rPr>
              <a:t>借鉴 / 启发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00" y="2167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0000" y="2167200"/>
            <a:ext cx="487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PREMem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0000" y="2376000"/>
            <a:ext cx="487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θ 相似度去重 → 写入前查重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2797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0000" y="2797200"/>
            <a:ext cx="487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StructMem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0000" y="3006000"/>
            <a:ext cx="487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跨事件整合 → “抽象”操作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000" y="3427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0000" y="3427200"/>
            <a:ext cx="487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MemSkill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0000" y="3636000"/>
            <a:ext cx="487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操作类型化 → MemoryOp 枚举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2000" y="4057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0000" y="4057200"/>
            <a:ext cx="487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Mem-α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0000" y="4266000"/>
            <a:ext cx="487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建议-执行分离 → 核心架构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2000" y="4716000"/>
            <a:ext cx="5310000" cy="72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678000" y="1692000"/>
            <a:ext cx="648000" cy="288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8000" y="1782000"/>
            <a:ext cx="531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Microsoft YaHei"/>
              </a:rPr>
              <a:t>注意 / 边界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8000" y="2167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66000" y="2167200"/>
            <a:ext cx="487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不采用完整聚类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66000" y="2376000"/>
            <a:ext cx="487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50 条量级收益不明显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8000" y="2797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66000" y="2797200"/>
            <a:ext cx="487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不采用在线强化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66000" y="3006000"/>
            <a:ext cx="487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战场奖励信号不稳定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8000" y="3427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66000" y="3427200"/>
            <a:ext cx="487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不采用图存储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66000" y="3636000"/>
            <a:ext cx="487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构建纠错成本高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8000" y="4057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66000" y="4057200"/>
            <a:ext cx="487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领域化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66000" y="4266000"/>
            <a:ext cx="487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保护线、精确绕过阈值、阶段供给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78000" y="4716000"/>
            <a:ext cx="5310000" cy="72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11 / 28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80000" y="1260000"/>
            <a:ext cx="2880000" cy="2880000"/>
          </a:xfrm>
          <a:prstGeom prst="ellipse">
            <a:avLst/>
          </a:prstGeom>
          <a:solidFill>
            <a:srgbClr val="2C4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0" y="1296000"/>
            <a:ext cx="504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4C689B"/>
                </a:solidFill>
                <a:latin typeface="Microsoft YaHei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2000" y="3671999"/>
            <a:ext cx="2160000" cy="360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0" y="3888000"/>
            <a:ext cx="79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icrosoft YaHei"/>
              </a:rPr>
              <a:t>系统设计与实现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2000" y="4896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7D3E8"/>
                </a:solidFill>
                <a:latin typeface="Microsoft YaHei"/>
              </a:rPr>
              <a:t>DESIGN &amp; IMPLEMENTATION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总体架构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75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2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四层架构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033999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模型层统一数据对象，能力层分短期/长期/检索/进化，跨切面处理边界与阶段，编排层由控制器与管线调度。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2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2926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897999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模块解耦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20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四个能力层互不 import，只通过 schema 对象通信，为独立消融提供物理基础。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409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06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唯一写通道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37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短期→长期只经复盘晋升，经三道边界门，每次判定写入审计日志。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506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000" y="526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23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可独立消融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554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通过依赖注入开关能力，G0-G6 固定用例集验证。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23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ppt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2000" y="1667199"/>
            <a:ext cx="3924000" cy="462160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7632000" y="1655999"/>
            <a:ext cx="3924000" cy="4644000"/>
          </a:xfrm>
          <a:prstGeom prst="rect">
            <a:avLst/>
          </a:prstGeom>
          <a:noFill/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13 / 28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短期工作记忆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75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2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033999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槽位保存目标/约束/查询/消息；约束永不压缩，保证规划合规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311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331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328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594000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FIFO 超阈值触发递归摘要，被驱逐消息进入归档区供复盘晋升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467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487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84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渲染顺序刻意使用首尾位置偏置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5154000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关键信息放头部，近期消息放尾部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623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544000" y="1655999"/>
            <a:ext cx="6012000" cy="251999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24000" y="1684800"/>
            <a:ext cx="360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</a:rPr>
              <a:t>代码 / 伪代码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44000" y="1908000"/>
            <a:ext cx="6012000" cy="4428000"/>
          </a:xfrm>
          <a:prstGeom prst="rect">
            <a:avLst/>
          </a:prstGeom>
          <a:solidFill>
            <a:srgbClr val="F2F4F8"/>
          </a:solidFill>
          <a:ln w="1524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24000" y="1998000"/>
            <a:ext cx="5652000" cy="424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1F3A68"/>
                </a:solidFill>
                <a:latin typeface="Consolas"/>
              </a:rPr>
              <a:t>def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render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slot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>
                <a:solidFill>
                  <a:srgbClr val="303030"/>
                </a:solidFill>
                <a:latin typeface="Consolas"/>
              </a:rPr>
              <a:t>parts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[</a:t>
            </a:r>
            <a:r>
              <a:rPr sz="1100">
                <a:solidFill>
                  <a:srgbClr val="303030"/>
                </a:solidFill>
                <a:latin typeface="Consolas"/>
              </a:rPr>
              <a:t>阶段</a:t>
            </a:r>
            <a:r>
              <a:rPr sz="1100">
                <a:solidFill>
                  <a:srgbClr val="303030"/>
                </a:solidFill>
                <a:latin typeface="Consolas"/>
              </a:rPr>
              <a:t>,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目标</a:t>
            </a:r>
            <a:r>
              <a:rPr sz="1100">
                <a:solidFill>
                  <a:srgbClr val="303030"/>
                </a:solidFill>
                <a:latin typeface="Consolas"/>
              </a:rPr>
              <a:t>,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约束</a:t>
            </a:r>
            <a:r>
              <a:rPr sz="1100">
                <a:solidFill>
                  <a:srgbClr val="303030"/>
                </a:solidFill>
                <a:latin typeface="Consolas"/>
              </a:rPr>
              <a:t>]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if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slot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>
                <a:solidFill>
                  <a:srgbClr val="303030"/>
                </a:solidFill>
                <a:latin typeface="Consolas"/>
              </a:rPr>
              <a:t>loaded_briefs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</a:t>
            </a:r>
            <a:r>
              <a:rPr sz="1100">
                <a:solidFill>
                  <a:srgbClr val="303030"/>
                </a:solidFill>
                <a:latin typeface="Consolas"/>
              </a:rPr>
              <a:t>parts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 b="1">
                <a:solidFill>
                  <a:srgbClr val="2F6EBA"/>
                </a:solidFill>
                <a:latin typeface="Consolas"/>
              </a:rPr>
              <a:t>append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C0504D"/>
                </a:solidFill>
                <a:latin typeface="Consolas"/>
              </a:rPr>
              <a:t>'【装载记忆】'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+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briefs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>
                <a:solidFill>
                  <a:srgbClr val="303030"/>
                </a:solidFill>
                <a:latin typeface="Consolas"/>
              </a:rPr>
              <a:t>parts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 b="1">
                <a:solidFill>
                  <a:srgbClr val="2F6EBA"/>
                </a:solidFill>
                <a:latin typeface="Consolas"/>
              </a:rPr>
              <a:t>append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查询列表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>
                <a:solidFill>
                  <a:srgbClr val="303030"/>
                </a:solidFill>
                <a:latin typeface="Consolas"/>
              </a:rPr>
              <a:t>parts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 b="1">
                <a:solidFill>
                  <a:srgbClr val="2F6EBA"/>
                </a:solidFill>
                <a:latin typeface="Consolas"/>
              </a:rPr>
              <a:t>append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最新消息</a:t>
            </a:r>
            <a:r>
              <a:rPr sz="1100">
                <a:solidFill>
                  <a:srgbClr val="303030"/>
                </a:solidFill>
                <a:latin typeface="Consolas"/>
              </a:rPr>
              <a:t>[</a:t>
            </a:r>
            <a:r>
              <a:rPr sz="1100">
                <a:solidFill>
                  <a:srgbClr val="303030"/>
                </a:solidFill>
                <a:latin typeface="Consolas"/>
              </a:rPr>
              <a:t>-</a:t>
            </a:r>
            <a:r>
              <a:rPr sz="1100">
                <a:solidFill>
                  <a:srgbClr val="7B4FA6"/>
                </a:solidFill>
                <a:latin typeface="Consolas"/>
              </a:rPr>
              <a:t>20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  <a:r>
              <a:rPr sz="1100">
                <a:solidFill>
                  <a:srgbClr val="303030"/>
                </a:solidFill>
                <a:latin typeface="Consolas"/>
              </a:rPr>
              <a:t>]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return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C0504D"/>
                </a:solidFill>
                <a:latin typeface="Consolas"/>
              </a:rPr>
              <a:t>'\n'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 b="1">
                <a:solidFill>
                  <a:srgbClr val="2F6EBA"/>
                </a:solidFill>
                <a:latin typeface="Consolas"/>
              </a:rPr>
              <a:t>join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parts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1F3A68"/>
                </a:solidFill>
                <a:latin typeface="Consolas"/>
              </a:rPr>
              <a:t>def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flush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slot</a:t>
            </a:r>
            <a:r>
              <a:rPr sz="1100">
                <a:solidFill>
                  <a:srgbClr val="303030"/>
                </a:solidFill>
                <a:latin typeface="Consolas"/>
              </a:rPr>
              <a:t>,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llm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>
                <a:solidFill>
                  <a:srgbClr val="303030"/>
                </a:solidFill>
                <a:latin typeface="Consolas"/>
              </a:rPr>
              <a:t>evicted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slot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>
                <a:solidFill>
                  <a:srgbClr val="303030"/>
                </a:solidFill>
                <a:latin typeface="Consolas"/>
              </a:rPr>
              <a:t>fifo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 b="1">
                <a:solidFill>
                  <a:srgbClr val="2F6EBA"/>
                </a:solidFill>
                <a:latin typeface="Consolas"/>
              </a:rPr>
              <a:t>pop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前半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>
                <a:solidFill>
                  <a:srgbClr val="303030"/>
                </a:solidFill>
                <a:latin typeface="Consolas"/>
              </a:rPr>
              <a:t>slot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>
                <a:solidFill>
                  <a:srgbClr val="303030"/>
                </a:solidFill>
                <a:latin typeface="Consolas"/>
              </a:rPr>
              <a:t>summary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llm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 b="1">
                <a:solidFill>
                  <a:srgbClr val="2F6EBA"/>
                </a:solidFill>
                <a:latin typeface="Consolas"/>
              </a:rPr>
              <a:t>summarize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旧摘要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+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evicted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>
                <a:solidFill>
                  <a:srgbClr val="303030"/>
                </a:solidFill>
                <a:latin typeface="Consolas"/>
              </a:rPr>
              <a:t>slot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>
                <a:solidFill>
                  <a:srgbClr val="303030"/>
                </a:solidFill>
                <a:latin typeface="Consolas"/>
              </a:rPr>
              <a:t>archived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 b="1">
                <a:solidFill>
                  <a:srgbClr val="2F6EBA"/>
                </a:solidFill>
                <a:latin typeface="Consolas"/>
              </a:rPr>
              <a:t>append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evicted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14 / 28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长期双库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75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2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事实库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033999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SQLite+属性精确；经验库：向量语义召回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311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331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328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594000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attrs 精确命中绕过 min_score——查询方显式指定条件即构造性相关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467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487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84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5154000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接口示例与融合策略如下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623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544000" y="1655999"/>
            <a:ext cx="6012000" cy="251999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24000" y="1684800"/>
            <a:ext cx="360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</a:rPr>
              <a:t>代码 / 伪代码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44000" y="1908000"/>
            <a:ext cx="6012000" cy="4428000"/>
          </a:xfrm>
          <a:prstGeom prst="rect">
            <a:avLst/>
          </a:prstGeom>
          <a:solidFill>
            <a:srgbClr val="F2F4F8"/>
          </a:solidFill>
          <a:ln w="1524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24000" y="1998000"/>
            <a:ext cx="5652000" cy="424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hits_exact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factual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 b="1">
                <a:solidFill>
                  <a:srgbClr val="2F6EBA"/>
                </a:solidFill>
                <a:latin typeface="Consolas"/>
              </a:rPr>
              <a:t>search_attrs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{</a:t>
            </a:r>
            <a:r>
              <a:rPr sz="1100">
                <a:solidFill>
                  <a:srgbClr val="C0504D"/>
                </a:solidFill>
                <a:latin typeface="Consolas"/>
              </a:rPr>
              <a:t>'装备'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C0504D"/>
                </a:solidFill>
                <a:latin typeface="Consolas"/>
              </a:rPr>
              <a:t>'T-90'</a:t>
            </a:r>
            <a:r>
              <a:rPr sz="1100">
                <a:solidFill>
                  <a:srgbClr val="303030"/>
                </a:solidFill>
                <a:latin typeface="Consolas"/>
              </a:rPr>
              <a:t>}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hits_sem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experiential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 b="1">
                <a:solidFill>
                  <a:srgbClr val="2F6EBA"/>
                </a:solidFill>
                <a:latin typeface="Consolas"/>
              </a:rPr>
              <a:t>search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C0504D"/>
                </a:solidFill>
                <a:latin typeface="Consolas"/>
              </a:rPr>
              <a:t>'夜战侦察教训'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6A8B3B"/>
                </a:solidFill>
                <a:latin typeface="Consolas"/>
              </a:rPr>
              <a:t># 融合时：attrs 命中即相关，不参与相似度阈值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15 / 28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3A68"/>
                </a:solidFill>
                <a:latin typeface="Microsoft YaHei"/>
              </a:rPr>
              <a:t>混合检索：三路融合 + 单路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75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2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033999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vector/BM25/SQL 三路；hybrid 加权累加，single 供消融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311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331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328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归一化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594000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向量余弦、BM25 查询自匹配上界、SQL 恒 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467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487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84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公式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5154000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s_hybrid = Σ w_r·n_r(id)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623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544000" y="1655999"/>
            <a:ext cx="6012000" cy="251999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24000" y="1684800"/>
            <a:ext cx="360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</a:rPr>
              <a:t>代码 / 伪代码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44000" y="1908000"/>
            <a:ext cx="6012000" cy="4428000"/>
          </a:xfrm>
          <a:prstGeom prst="rect">
            <a:avLst/>
          </a:prstGeom>
          <a:solidFill>
            <a:srgbClr val="F2F4F8"/>
          </a:solidFill>
          <a:ln w="1524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24000" y="1998000"/>
            <a:ext cx="5652000" cy="424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1F3A68"/>
                </a:solidFill>
                <a:latin typeface="Consolas"/>
              </a:rPr>
              <a:t>def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retrieve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q</a:t>
            </a:r>
            <a:r>
              <a:rPr sz="1100">
                <a:solidFill>
                  <a:srgbClr val="303030"/>
                </a:solidFill>
                <a:latin typeface="Consolas"/>
              </a:rPr>
              <a:t>,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mode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C0504D"/>
                </a:solidFill>
                <a:latin typeface="Consolas"/>
              </a:rPr>
              <a:t>'hybrid'</a:t>
            </a:r>
            <a:r>
              <a:rPr sz="1100">
                <a:solidFill>
                  <a:srgbClr val="303030"/>
                </a:solidFill>
                <a:latin typeface="Consolas"/>
              </a:rPr>
              <a:t>,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top_k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7B4FA6"/>
                </a:solidFill>
                <a:latin typeface="Consolas"/>
              </a:rPr>
              <a:t>5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>
                <a:solidFill>
                  <a:srgbClr val="303030"/>
                </a:solidFill>
                <a:latin typeface="Consolas"/>
              </a:rPr>
              <a:t>pool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[</a:t>
            </a:r>
            <a:r>
              <a:rPr sz="1100" b="1">
                <a:solidFill>
                  <a:srgbClr val="2F6EBA"/>
                </a:solidFill>
                <a:latin typeface="Consolas"/>
              </a:rPr>
              <a:t>route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q</a:t>
            </a:r>
            <a:r>
              <a:rPr sz="1100">
                <a:solidFill>
                  <a:srgbClr val="303030"/>
                </a:solidFill>
                <a:latin typeface="Consolas"/>
              </a:rPr>
              <a:t>,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q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>
                <a:solidFill>
                  <a:srgbClr val="303030"/>
                </a:solidFill>
                <a:latin typeface="Consolas"/>
              </a:rPr>
              <a:t>route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  <a:r>
              <a:rPr sz="1100">
                <a:solidFill>
                  <a:srgbClr val="303030"/>
                </a:solidFill>
                <a:latin typeface="Consolas"/>
              </a:rPr>
              <a:t>]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if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mode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C0504D"/>
                </a:solidFill>
                <a:latin typeface="Consolas"/>
              </a:rPr>
              <a:t>'hybrid'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</a:t>
            </a:r>
            <a:r>
              <a:rPr sz="1100">
                <a:solidFill>
                  <a:srgbClr val="303030"/>
                </a:solidFill>
                <a:latin typeface="Consolas"/>
              </a:rPr>
              <a:t>pool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+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[</a:t>
            </a:r>
            <a:r>
              <a:rPr sz="1100" b="1">
                <a:solidFill>
                  <a:srgbClr val="2F6EBA"/>
                </a:solidFill>
                <a:latin typeface="Consolas"/>
              </a:rPr>
              <a:t>route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q</a:t>
            </a:r>
            <a:r>
              <a:rPr sz="1100">
                <a:solidFill>
                  <a:srgbClr val="303030"/>
                </a:solidFill>
                <a:latin typeface="Consolas"/>
              </a:rPr>
              <a:t>,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alt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1F3A68"/>
                </a:solidFill>
                <a:latin typeface="Consolas"/>
              </a:rPr>
              <a:t>for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alt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1F3A68"/>
                </a:solidFill>
                <a:latin typeface="Consolas"/>
              </a:rPr>
              <a:t>in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routes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     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if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alt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!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q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>
                <a:solidFill>
                  <a:srgbClr val="303030"/>
                </a:solidFill>
                <a:latin typeface="Consolas"/>
              </a:rPr>
              <a:t>route</a:t>
            </a:r>
            <a:r>
              <a:rPr sz="1100">
                <a:solidFill>
                  <a:srgbClr val="303030"/>
                </a:solidFill>
                <a:latin typeface="Consolas"/>
              </a:rPr>
              <a:t>]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>
                <a:solidFill>
                  <a:srgbClr val="303030"/>
                </a:solidFill>
                <a:latin typeface="Consolas"/>
              </a:rPr>
              <a:t>pool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[</a:t>
            </a:r>
            <a:r>
              <a:rPr sz="1100" b="1">
                <a:solidFill>
                  <a:srgbClr val="2F6EBA"/>
                </a:solidFill>
                <a:latin typeface="Consolas"/>
              </a:rPr>
              <a:t>normalize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r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1F3A68"/>
                </a:solidFill>
                <a:latin typeface="Consolas"/>
              </a:rPr>
              <a:t>for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r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1F3A68"/>
                </a:solidFill>
                <a:latin typeface="Consolas"/>
              </a:rPr>
              <a:t>in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pool</a:t>
            </a:r>
            <a:r>
              <a:rPr sz="1100">
                <a:solidFill>
                  <a:srgbClr val="303030"/>
                </a:solidFill>
                <a:latin typeface="Consolas"/>
              </a:rPr>
              <a:t>]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>
                <a:solidFill>
                  <a:srgbClr val="303030"/>
                </a:solidFill>
                <a:latin typeface="Consolas"/>
              </a:rPr>
              <a:t>fused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aggregate_by_id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pool</a:t>
            </a:r>
            <a:r>
              <a:rPr sz="1100">
                <a:solidFill>
                  <a:srgbClr val="303030"/>
                </a:solidFill>
                <a:latin typeface="Consolas"/>
              </a:rPr>
              <a:t>,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weights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if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q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>
                <a:solidFill>
                  <a:srgbClr val="303030"/>
                </a:solidFill>
                <a:latin typeface="Consolas"/>
              </a:rPr>
              <a:t>stage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</a:t>
            </a:r>
            <a:r>
              <a:rPr sz="1100">
                <a:solidFill>
                  <a:srgbClr val="303030"/>
                </a:solidFill>
                <a:latin typeface="Consolas"/>
              </a:rPr>
              <a:t>fused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add_stage_bonus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fused</a:t>
            </a:r>
            <a:r>
              <a:rPr sz="1100">
                <a:solidFill>
                  <a:srgbClr val="303030"/>
                </a:solidFill>
                <a:latin typeface="Consolas"/>
              </a:rPr>
              <a:t>,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q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>
                <a:solidFill>
                  <a:srgbClr val="303030"/>
                </a:solidFill>
                <a:latin typeface="Consolas"/>
              </a:rPr>
              <a:t>stage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>
                <a:solidFill>
                  <a:srgbClr val="303030"/>
                </a:solidFill>
                <a:latin typeface="Consolas"/>
              </a:rPr>
              <a:t>ranked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[</a:t>
            </a:r>
            <a:r>
              <a:rPr sz="1100">
                <a:solidFill>
                  <a:srgbClr val="303030"/>
                </a:solidFill>
                <a:latin typeface="Consolas"/>
              </a:rPr>
              <a:t>x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1F3A68"/>
                </a:solidFill>
                <a:latin typeface="Consolas"/>
              </a:rPr>
              <a:t>for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x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1F3A68"/>
                </a:solidFill>
                <a:latin typeface="Consolas"/>
              </a:rPr>
              <a:t>in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sorted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fused</a:t>
            </a:r>
            <a:r>
              <a:rPr sz="1100">
                <a:solidFill>
                  <a:srgbClr val="303030"/>
                </a:solidFill>
                <a:latin typeface="Consolas"/>
              </a:rPr>
              <a:t>,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reverse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 b="1">
                <a:solidFill>
                  <a:srgbClr val="1F3A68"/>
                </a:solidFill>
                <a:latin typeface="Consolas"/>
              </a:rPr>
              <a:t>True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  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if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x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>
                <a:solidFill>
                  <a:srgbClr val="303030"/>
                </a:solidFill>
                <a:latin typeface="Consolas"/>
              </a:rPr>
              <a:t>score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&gt;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min_score</a:t>
            </a:r>
            <a:r>
              <a:rPr sz="1100">
                <a:solidFill>
                  <a:srgbClr val="303030"/>
                </a:solidFill>
                <a:latin typeface="Consolas"/>
              </a:rPr>
              <a:t>]</a:t>
            </a:r>
            <a:r>
              <a:rPr sz="1100">
                <a:solidFill>
                  <a:srgbClr val="303030"/>
                </a:solidFill>
                <a:latin typeface="Consolas"/>
              </a:rPr>
              <a:t>[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  <a:r>
              <a:rPr sz="1100">
                <a:solidFill>
                  <a:srgbClr val="303030"/>
                </a:solidFill>
                <a:latin typeface="Consolas"/>
              </a:rPr>
              <a:t>top_k</a:t>
            </a:r>
            <a:r>
              <a:rPr sz="1100">
                <a:solidFill>
                  <a:srgbClr val="303030"/>
                </a:solidFill>
                <a:latin typeface="Consolas"/>
              </a:rPr>
              <a:t>]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for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r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1F3A68"/>
                </a:solidFill>
                <a:latin typeface="Consolas"/>
              </a:rPr>
              <a:t>in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ranked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</a:t>
            </a:r>
            <a:r>
              <a:rPr sz="1100">
                <a:solidFill>
                  <a:srgbClr val="303030"/>
                </a:solidFill>
                <a:latin typeface="Consolas"/>
              </a:rPr>
              <a:t>r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>
                <a:solidFill>
                  <a:srgbClr val="303030"/>
                </a:solidFill>
                <a:latin typeface="Consolas"/>
              </a:rPr>
              <a:t>entry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 b="1">
                <a:solidFill>
                  <a:srgbClr val="2F6EBA"/>
                </a:solidFill>
                <a:latin typeface="Consolas"/>
              </a:rPr>
              <a:t>mark_recalled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return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ranked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16 / 28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3A68"/>
                </a:solidFill>
                <a:latin typeface="Microsoft YaHei"/>
              </a:rPr>
              <a:t>记忆进化：写/合/忘/抽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75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2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建议-执行分离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033999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LLM 提候选，确定性代码执行写/合/忘/抽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311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331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328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遗忘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594000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R=e^{-t/S}，命中 S+1；importance≥2 保护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467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487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84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5154000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同场新经验≥2 条触发抽象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623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544000" y="1655999"/>
            <a:ext cx="6012000" cy="251999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24000" y="1684800"/>
            <a:ext cx="360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</a:rPr>
              <a:t>代码 / 伪代码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44000" y="1908000"/>
            <a:ext cx="6012000" cy="4428000"/>
          </a:xfrm>
          <a:prstGeom prst="rect">
            <a:avLst/>
          </a:prstGeom>
          <a:solidFill>
            <a:srgbClr val="F2F4F8"/>
          </a:solidFill>
          <a:ln w="1524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24000" y="1998000"/>
            <a:ext cx="5652000" cy="424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1F3A68"/>
                </a:solidFill>
                <a:latin typeface="Consolas"/>
              </a:rPr>
              <a:t>def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evolve_from_review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review</a:t>
            </a:r>
            <a:r>
              <a:rPr sz="1100">
                <a:solidFill>
                  <a:srgbClr val="303030"/>
                </a:solidFill>
                <a:latin typeface="Consolas"/>
              </a:rPr>
              <a:t>,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session_id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>
                <a:solidFill>
                  <a:srgbClr val="303030"/>
                </a:solidFill>
                <a:latin typeface="Consolas"/>
              </a:rPr>
              <a:t>ops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llm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 b="1">
                <a:solidFill>
                  <a:srgbClr val="2F6EBA"/>
                </a:solidFill>
                <a:latin typeface="Consolas"/>
              </a:rPr>
              <a:t>extract_memory_ops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review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for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op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1F3A68"/>
                </a:solidFill>
                <a:latin typeface="Consolas"/>
              </a:rPr>
              <a:t>in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ops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if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1F3A68"/>
                </a:solidFill>
                <a:latin typeface="Consolas"/>
              </a:rPr>
              <a:t>not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boundary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 b="1">
                <a:solidFill>
                  <a:srgbClr val="2F6EBA"/>
                </a:solidFill>
                <a:latin typeface="Consolas"/>
              </a:rPr>
              <a:t>promote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op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>
                <a:solidFill>
                  <a:srgbClr val="303030"/>
                </a:solidFill>
                <a:latin typeface="Consolas"/>
              </a:rPr>
              <a:t>content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continue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if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write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op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is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1F3A68"/>
                </a:solidFill>
                <a:latin typeface="Consolas"/>
              </a:rPr>
              <a:t>None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    </a:t>
            </a:r>
            <a:r>
              <a:rPr sz="1100">
                <a:solidFill>
                  <a:srgbClr val="303030"/>
                </a:solidFill>
                <a:latin typeface="Consolas"/>
              </a:rPr>
              <a:t>skipped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+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7B4FA6"/>
                </a:solidFill>
                <a:latin typeface="Consolas"/>
              </a:rPr>
              <a:t>1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2F6EBA"/>
                </a:solidFill>
                <a:latin typeface="Consolas"/>
              </a:rPr>
              <a:t>merge_new_entries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2F6EBA"/>
                </a:solidFill>
                <a:latin typeface="Consolas"/>
              </a:rPr>
              <a:t>forget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if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len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new_experiences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&gt;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7B4FA6"/>
                </a:solidFill>
                <a:latin typeface="Consolas"/>
              </a:rPr>
              <a:t>2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</a:t>
            </a:r>
            <a:r>
              <a:rPr sz="1100" b="1">
                <a:solidFill>
                  <a:srgbClr val="2F6EBA"/>
                </a:solidFill>
                <a:latin typeface="Consolas"/>
              </a:rPr>
              <a:t>abstract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6A8B3B"/>
                </a:solidFill>
                <a:latin typeface="Consolas"/>
              </a:rPr>
              <a:t># 遗忘核心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R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exp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-</a:t>
            </a:r>
            <a:r>
              <a:rPr sz="1100">
                <a:solidFill>
                  <a:srgbClr val="303030"/>
                </a:solidFill>
                <a:latin typeface="Consolas"/>
              </a:rPr>
              <a:t>t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/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max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S</a:t>
            </a:r>
            <a:r>
              <a:rPr sz="1100">
                <a:solidFill>
                  <a:srgbClr val="303030"/>
                </a:solidFill>
                <a:latin typeface="Consolas"/>
              </a:rPr>
              <a:t>,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7B4FA6"/>
                </a:solidFill>
                <a:latin typeface="Consolas"/>
              </a:rPr>
              <a:t>1</a:t>
            </a:r>
            <a:r>
              <a:rPr sz="1100">
                <a:solidFill>
                  <a:srgbClr val="303030"/>
                </a:solidFill>
                <a:latin typeface="Consolas"/>
              </a:rPr>
              <a:t>e</a:t>
            </a:r>
            <a:r>
              <a:rPr sz="1100">
                <a:solidFill>
                  <a:srgbClr val="303030"/>
                </a:solidFill>
                <a:latin typeface="Consolas"/>
              </a:rPr>
              <a:t>-</a:t>
            </a:r>
            <a:r>
              <a:rPr sz="1100">
                <a:solidFill>
                  <a:srgbClr val="7B4FA6"/>
                </a:solidFill>
                <a:latin typeface="Consolas"/>
              </a:rPr>
              <a:t>6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6A8B3B"/>
                </a:solidFill>
                <a:latin typeface="Consolas"/>
              </a:rPr>
              <a:t># 命中强化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S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+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7B4FA6"/>
                </a:solidFill>
                <a:latin typeface="Consolas"/>
              </a:rPr>
              <a:t>1</a:t>
            </a:r>
            <a:r>
              <a:rPr sz="1100">
                <a:solidFill>
                  <a:srgbClr val="303030"/>
                </a:solidFill>
                <a:latin typeface="Consolas"/>
              </a:rPr>
              <a:t>;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t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重置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17 / 28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边界门控与阶段感知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828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800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复盘驱动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106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只有场次复盘文本才能触发晋升，流水账被挡在门外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61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296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93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类别判定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240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事实/经验分别进入对应存储，避免类型混乱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4096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067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语义查重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373999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写入前 θ 余弦去重，重复经验不重复入库；每次判定写审计日志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5029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000" y="5230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202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阶段感知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5508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查询按 MDMP 七阶段生成，阶段匹配记忆加亲和分，复盘教训归因到阶段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163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18 / 28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WebUI 可视化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75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2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三栏页签化布局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033999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左输入/中运行/右产出，长内容折叠为页签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2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2926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897999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记忆详情抽屉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20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总览/单条历史/遗忘日志，支持点击展开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409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06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遗忘曲线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37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R=e^{-t/S} 与‘立即召回 S+1’对比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506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000" y="526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23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554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战役进度条、库健康度分布条、事件流点击展开详情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23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ppt_webu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2000" y="1667199"/>
            <a:ext cx="3924000" cy="462160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7632000" y="1655999"/>
            <a:ext cx="3924000" cy="4644000"/>
          </a:xfrm>
          <a:prstGeom prst="rect">
            <a:avLst/>
          </a:prstGeom>
          <a:noFill/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19 / 28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80000" y="1260000"/>
            <a:ext cx="2880000" cy="2880000"/>
          </a:xfrm>
          <a:prstGeom prst="ellipse">
            <a:avLst/>
          </a:prstGeom>
          <a:solidFill>
            <a:srgbClr val="2C4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0" y="1296000"/>
            <a:ext cx="504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4C689B"/>
                </a:solidFill>
                <a:latin typeface="Microsoft YaHei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2000" y="3671999"/>
            <a:ext cx="2160000" cy="360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0" y="3888000"/>
            <a:ext cx="79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icrosoft YaHei"/>
              </a:rPr>
              <a:t>实验设计与验证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2000" y="4896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7D3E8"/>
                </a:solidFill>
                <a:latin typeface="Microsoft YaHei"/>
              </a:rPr>
              <a:t>EXPERIMENTS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04 · 实验设计与验证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数据集与评估协议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828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800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实验目标与 RQ 对应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106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围绕 RQ1-RQ5 设计五组实验；每组独立 controller，避免跨组污染；固定 44 条检索用例，H 类 6 条单独跑跨场次流程。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61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296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93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测试集构建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240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自建 50 条 8 类（A-H），覆盖属性/事实/经验/词法/负例/干扰/阶段/跨场次；查询与答案刻意避免关键词共现，负例只测噪声。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4096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067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对照与开关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373999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G0-G6 通过依赖注入开关能力（空经验库/空检索器），不删减用例；跨场次 gold 在运行期解析，避免种子记忆被误当沉淀。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5029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000" y="5230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202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指标与统计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5508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检索层 hit@3/5、MRR、NDCG；任务层 引用率/约束满足/噪声污染；统计用随机基线、bootstrap CI、配对置换检验，种子固定 42。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163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21 / 28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04 · 实验设计与验证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双库贡献（RQ1）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92000" y="1728000"/>
            <a:ext cx="2493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2033999"/>
            <a:ext cx="2493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F3A68"/>
                </a:solidFill>
                <a:latin typeface="Microsoft YaHei"/>
              </a:rPr>
              <a:t>0.636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2000" y="2628000"/>
            <a:ext cx="2313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G3 双库全开 hit@5（G2 为 0.341）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501000" y="1728000"/>
            <a:ext cx="2493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01000" y="2033999"/>
            <a:ext cx="2493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F3A68"/>
                </a:solidFill>
                <a:latin typeface="Microsoft YaHei"/>
              </a:rPr>
              <a:t>p=0.0001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91000" y="2628000"/>
            <a:ext cx="2313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配对置换检验（n=44）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0000" y="1728000"/>
            <a:ext cx="2493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0000" y="2033999"/>
            <a:ext cx="2493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F3A68"/>
                </a:solidFill>
                <a:latin typeface="Microsoft YaHei"/>
              </a:rPr>
              <a:t>0.357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0000" y="2628000"/>
            <a:ext cx="2313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随机基线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19000" y="1728000"/>
            <a:ext cx="2493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19000" y="2033999"/>
            <a:ext cx="2493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F3A68"/>
                </a:solidFill>
                <a:latin typeface="Microsoft YaHei"/>
              </a:rPr>
              <a:t>0.625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09000" y="2628000"/>
            <a:ext cx="2313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C 类转述命中（词袋局限）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2000" y="359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356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实验设计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3870000"/>
            <a:ext cx="9828000" cy="41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G2 仅事实库 vs G3 双库全开，44 条固定检索用例，依赖注入开关经验库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43512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2000" y="455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12000" y="452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置信区间与分类别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12000" y="4830000"/>
            <a:ext cx="9828000" cy="41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G3 CI=[0.500,0.773] 与 G2 CI=[0.205,0.477] 不重叠；增益来自经验类，事实类不降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2000" y="53112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2000" y="551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12000" y="548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解读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12000" y="5790000"/>
            <a:ext cx="9828000" cy="41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分层不是冗余，经验库是经验查询的必要条件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2000" y="6271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22 / 28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04 · 实验设计与验证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A68"/>
                </a:solidFill>
                <a:latin typeface="Microsoft YaHei"/>
              </a:rPr>
              <a:t>跨场次与检索策略（RQ2/RQ3）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828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800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RQ2 实验设计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106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第一场先跑复盘，把‘教训/经验’写入经验库；第二场用相关查询检索，gold 为运行期写入条目；对照不写第一场；另设负控（渡河教训 vs 巷战查询）。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61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296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93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RQ2 结果与解释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240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处理组 hit@5=0.833、对照 0、负控 0；p=0.059 但 n=6 样本有限，只能算方向性证据——机制路径完整，需要扩容到 20 条再下结论。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4096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067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RQ3 实验设计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373999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同一批检索用例分别跑 hybrid 与 vector/bm25/sql 单路；权重变体（α.7 等）做敏感性；指标含 hit@5、MRR、干扰压制。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5029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000" y="5230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202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RQ3 结果与解释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5508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词袋下 hybrid 0.857 未超 vector 0.929；但干扰压制 1.0 优于单路 ≤0.875；结论：混合的价值在排序，召回增益需真向量复测。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163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23 / 28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04 · 实验设计与验证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A68"/>
                </a:solidFill>
                <a:latin typeface="Microsoft YaHei"/>
              </a:rPr>
              <a:t>滤噪、遗忘与真实模型（RQ4/RQ5）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92000" y="1728000"/>
            <a:ext cx="2493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2033999"/>
            <a:ext cx="2493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F3A68"/>
                </a:solidFill>
                <a:latin typeface="Microsoft YaHei"/>
              </a:rPr>
              <a:t>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2000" y="2628000"/>
            <a:ext cx="2313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负例返回率（min_score=0.16）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501000" y="1728000"/>
            <a:ext cx="2493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01000" y="2033999"/>
            <a:ext cx="2493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F3A68"/>
                </a:solidFill>
                <a:latin typeface="Microsoft YaHei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91000" y="2628000"/>
            <a:ext cx="2313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遗忘误删（保护线有效）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0000" y="1728000"/>
            <a:ext cx="2493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0000" y="2033999"/>
            <a:ext cx="2493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F3A68"/>
                </a:solidFill>
                <a:latin typeface="Microsoft YaHei"/>
              </a:rPr>
              <a:t>1.00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0000" y="2628000"/>
            <a:ext cx="2313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DeepSeek 引用率（20/20）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19000" y="1728000"/>
            <a:ext cx="2493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19000" y="2033999"/>
            <a:ext cx="2493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F3A68"/>
                </a:solidFill>
                <a:latin typeface="Microsoft YaHei"/>
              </a:rPr>
              <a:t>0.857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09000" y="2628000"/>
            <a:ext cx="2313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正例 hit@5 保持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2000" y="359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356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滤噪实验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3870000"/>
            <a:ext cx="9828000" cy="41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E 扫描 0.05/0.10/0.16/0.25，0.16 为当前网格拐点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43512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2000" y="455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12000" y="452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遗忘实验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12000" y="4830000"/>
            <a:ext cx="9828000" cy="41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合成老化 30 天 forget，未保护删 10/10，保护/新写 0；S+1 显著延长寿命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2000" y="53112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2000" y="551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12000" y="548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真模型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12000" y="5790000"/>
            <a:ext cx="9828000" cy="41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20/20 通过，T6 引用 1.00、约束 1.00；限定词袋/单次，示范性证据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2000" y="6271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24 / 28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80000" y="1260000"/>
            <a:ext cx="2880000" cy="2880000"/>
          </a:xfrm>
          <a:prstGeom prst="ellipse">
            <a:avLst/>
          </a:prstGeom>
          <a:solidFill>
            <a:srgbClr val="2C4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0" y="1296000"/>
            <a:ext cx="504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4C689B"/>
                </a:solidFill>
                <a:latin typeface="Microsoft YaHei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2000" y="3671999"/>
            <a:ext cx="2160000" cy="360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0" y="3888000"/>
            <a:ext cx="79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icrosoft YaHei"/>
              </a:rPr>
              <a:t>智戎接入与总结展望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2000" y="4896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7D3E8"/>
                </a:solidFill>
                <a:latin typeface="Microsoft YaHei"/>
              </a:rPr>
              <a:t>INTEGRATION &amp; OUTLOOK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05 · 智戎接入与总结展望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3A68"/>
                </a:solidFill>
                <a:latin typeface="Microsoft YaHei"/>
              </a:rPr>
              <a:t>智戎事件驱动适配（P0 落地）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75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2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hook_evolve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033999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不依赖‘场次结束’，可随时触发进化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2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2926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897999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结构化反馈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20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AFSIM 数值/事件转复盘文本，失败补‘教训’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409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06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normalize_task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37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结构化任务 → goal/constraints/queries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506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000" y="526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23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domain_check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554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领域巡检 + min_score 建议，等待真实数据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23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ppt_zhiro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2000" y="1667199"/>
            <a:ext cx="3924000" cy="462160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7632000" y="1655999"/>
            <a:ext cx="3924000" cy="4644000"/>
          </a:xfrm>
          <a:prstGeom prst="rect">
            <a:avLst/>
          </a:prstGeom>
          <a:noFill/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26 / 28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05 · 智戎接入与总结展望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总结与展望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92000" y="1728000"/>
            <a:ext cx="4914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0000" y="1735199"/>
            <a:ext cx="21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Microsoft YaHei"/>
              </a:rPr>
              <a:t>结  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00" y="2088000"/>
            <a:ext cx="576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6000" y="2095199"/>
            <a:ext cx="433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分层有效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6000" y="2311200"/>
            <a:ext cx="4338000" cy="15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结构层结论在词袋固定设置下稳定，双库 p=0.0001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4103999"/>
            <a:ext cx="576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6000" y="4111199"/>
            <a:ext cx="433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真模型可用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6000" y="4327199"/>
            <a:ext cx="4338000" cy="15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DeepSeek 引用率 1.00，检索-生成链路打通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38000" y="1728000"/>
            <a:ext cx="4914000" cy="19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6000" y="1735199"/>
            <a:ext cx="21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Microsoft YaHei"/>
              </a:rPr>
              <a:t>下一步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38000" y="2088000"/>
            <a:ext cx="576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2000" y="2095199"/>
            <a:ext cx="433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6EBA"/>
                </a:solidFill>
                <a:latin typeface="Microsoft YaHei"/>
              </a:rPr>
              <a:t>真向量复测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2000" y="2311200"/>
            <a:ext cx="4338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重跑消融并重标定 min_score/θ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38000" y="3240000"/>
            <a:ext cx="576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2000" y="3247200"/>
            <a:ext cx="433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6EBA"/>
                </a:solidFill>
                <a:latin typeface="Microsoft YaHei"/>
              </a:rPr>
              <a:t>数据扩容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42000" y="3463199"/>
            <a:ext cx="4338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H 类扩至 20 条，让 p 值有意义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38000" y="4392000"/>
            <a:ext cx="576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42000" y="4399200"/>
            <a:ext cx="433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6EBA"/>
                </a:solidFill>
                <a:latin typeface="Microsoft YaHei"/>
              </a:rPr>
              <a:t>机制补全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42000" y="4615199"/>
            <a:ext cx="4338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知识锚定、冲突仲裁、软删除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38000" y="5543999"/>
            <a:ext cx="576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42000" y="5551199"/>
            <a:ext cx="433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6EBA"/>
                </a:solidFill>
                <a:latin typeface="Microsoft YaHei"/>
              </a:rPr>
              <a:t>智戎联调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42000" y="5767200"/>
            <a:ext cx="4338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真实链路与领域巡检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66000" y="1771200"/>
            <a:ext cx="36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27 / 28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8000" y="576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8000" y="6228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44000" y="576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44000" y="6228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8000" y="5760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8000" y="60336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98400" y="5760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98400" y="60336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0000" y="2592000"/>
            <a:ext cx="10008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Microsoft YaHei"/>
              </a:rPr>
              <a:t>感谢聆听 · 欢迎交流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0000" y="4104000"/>
            <a:ext cx="10008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C7D3E8"/>
                </a:solidFill>
                <a:latin typeface="Microsoft YaHei"/>
              </a:rPr>
              <a:t>国防科技大学 · 课题3 · 长短期记忆系统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