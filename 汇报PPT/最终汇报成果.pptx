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【讲稿】开场1分钟：课题目标、单位、小组分工。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【讲稿】按五部分走，重点在系统设计与实验验证。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【讲稿】先讲‘为什么需要外部记忆’。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【讲稿】用“同一夜间进攻任务，第一场隘口遇伏，第二场大概率再吃亏”开场。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【讲稿】P1-P4 来自初始拆解，P5 来自导师反馈；每行右侧为示意图占位。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【讲稿】强调 RQ 是从失败模式引申而来，实验章节逐一回答。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【讲稿】四句话说清系统设计哲学。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【讲稿】说明借鉴什么、不采用什么。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【讲稿】每条讲“借鉴什么、为什么不完整照搬”。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【讲稿】说明检索与存储不是凭空设计。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【讲稿】强调机制都有原型，差异在组合与军事场景限定。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docs/figures/fig1_architecture.png 作背景。</a:t>
            </a:r>
          </a:p>
          <a:p>
            <a:r>
              <a:t>【讲稿】进入核心章节。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docs/figures/fig1_architecture.png（系统架构图）。</a:t>
            </a:r>
          </a:p>
          <a:p>
            <a:r>
              <a:t>【讲稿】讲清分层与‘可独立消融’。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【讲稿】讲清‘首尾关键、约束不压缩、归档可复盘’。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【讲稿】用 T-90 vs M1A2 的例子说明为什么必须分库。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【讲稿】重点讲归一化与‘命中强化只做一次’。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【讲稿】讲清‘为什么建议与执行分离’——可审计。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【讲稿】澄清‘什么能进长期库、什么时候检索什么’。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WebUI 截图（记忆详情抽屉/遗忘曲线/事件流）。</a:t>
            </a:r>
          </a:p>
          <a:p>
            <a:r>
              <a:t>【讲稿】展示可视化如何帮助理解系统。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【配图】可放消融图（docs/17 配图脚本生成）作背景。</a:t>
            </a:r>
          </a:p>
          <a:p>
            <a:r>
              <a:t>【讲稿】进入数据章节，先声明词袋环境。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【讲稿】重点讲‘固定用例+开关能力’，说明每组怎么对比。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【配图】建议放消融柱状图（docs/17 配图脚本：G2 vs G3 分类别 hit@5）。</a:t>
            </a:r>
          </a:p>
          <a:p>
            <a:r>
              <a:t>【讲稿】先讲实验设计，再给数字，最后讲分类别含义。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【配图】可放跨场次 WebUI 截图（第二场命中带‘往场沉淀’）或表格。</a:t>
            </a:r>
          </a:p>
          <a:p>
            <a:r>
              <a:t>【讲稿】RQ2 强调机制完整但样本小；RQ3 强调负结果要诚实。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【配图】可放遗忘曲线（WebUI 截图）或 DeepSeek 输出截图。</a:t>
            </a:r>
          </a:p>
          <a:p>
            <a:r>
              <a:t>【讲稿】把实验步骤和限定词都讲清楚。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 docs/figures/fig2_campaign_trajectory.png 作背景。</a:t>
            </a:r>
          </a:p>
          <a:p>
            <a:r>
              <a:t>【讲稿】从‘能不能用’讲到‘怎么接’。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【配图】本页右侧图位：放 docs/figures/fig2_campaign_trajectory.png 或智戎桥接架构示意图。</a:t>
            </a:r>
          </a:p>
          <a:p>
            <a:r>
              <a:t>【讲稿】强调 P1（无结束信号）已有适配方案。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【讲稿】把‘方向性/示范性’讲清楚，再列行动项。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【配图】可放校徽（可选）。</a:t>
            </a:r>
          </a:p>
          <a:p>
            <a:r>
              <a:t>【讲稿】感谢，进入提问。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9200" y="1771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2000" y="1835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01 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59200" y="2617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2000" y="2681999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02 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59200" y="3463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2000" y="3528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03 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59200" y="4309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2000" y="4374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04 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59200" y="5155200"/>
            <a:ext cx="5039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2000" y="5220000"/>
            <a:ext cx="828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05 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60000" y="18912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699999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9772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60000" y="2798495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12000" y="36072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8843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260000" y="37056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45144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791600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260000" y="46128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21600"/>
            <a:ext cx="85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698799"/>
            <a:ext cx="8568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60000" y="5520096"/>
            <a:ext cx="1152000" cy="562463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332000" y="18720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64000" y="26892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30024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32000" y="27792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64000" y="35964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64000" y="39096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332000" y="36864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4000" y="45036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64000" y="4816800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332000" y="45936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64000" y="5410800"/>
            <a:ext cx="752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64000" y="5723999"/>
            <a:ext cx="752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000" y="5500800"/>
            <a:ext cx="1080000" cy="544319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阶段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目标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约束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loaded_briefs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briefs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查询列表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最新消息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parts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fifo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前半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summary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旧摘要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slot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archived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evicted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factual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experiential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mode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alt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!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pool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weights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q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stage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fused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reverse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x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score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min_score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  <a:r>
              <a:rPr sz="1100">
                <a:solidFill>
                  <a:srgbClr val="303030"/>
                </a:solidFill>
                <a:latin typeface="Consolas"/>
              </a:rPr>
              <a:t>[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  <a:r>
              <a:rPr sz="1100">
                <a:solidFill>
                  <a:srgbClr val="303030"/>
                </a:solidFill>
                <a:latin typeface="Consolas"/>
              </a:rPr>
              <a:t>top_k</a:t>
            </a:r>
            <a:r>
              <a:rPr sz="1100">
                <a:solidFill>
                  <a:srgbClr val="303030"/>
                </a:solidFill>
                <a:latin typeface="Consolas"/>
              </a:rPr>
              <a:t>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entry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session_id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llm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review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ops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boundary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>
                <a:solidFill>
                  <a:srgbClr val="303030"/>
                </a:solidFill>
                <a:latin typeface="Consolas"/>
              </a:rPr>
              <a:t>content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op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is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>
                <a:solidFill>
                  <a:srgbClr val="303030"/>
                </a:solidFill>
                <a:latin typeface="Consolas"/>
              </a:rPr>
              <a:t>skipped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new_experiences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&gt;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/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,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</a:t>
            </a:r>
            <a:r>
              <a:rPr sz="1100">
                <a:solidFill>
                  <a:srgbClr val="303030"/>
                </a:solidFill>
                <a:latin typeface="Consolas"/>
              </a:rPr>
              <a:t>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+</a:t>
            </a:r>
            <a:r>
              <a:rPr sz="1100">
                <a:solidFill>
                  <a:srgbClr val="303030"/>
                </a:solidFill>
                <a:latin typeface="Consolas"/>
              </a:rPr>
              <a:t>=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t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303030"/>
                </a:solidFill>
                <a:latin typeface="Consolas"/>
              </a:rPr>
              <a:t>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G2 仅事实库 vs G3 双库全开，44 条固定检索用例，通过依赖注入开关经验库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总体结果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G2 hit@5=0.341，G3=0.636，Δ=0.295，配对置换 p=0.0001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置信区间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G3 bootstrap 95% CI=[0.500, 0.773]，与 G2 CI=[0.205, 0.477] 不重叠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分类别观察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增益全部来自经验类（C 0.625 / D 1.0 / G 1.0），事实类 A/B/F 不降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随机基线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0.357，G3 显著高于瞎猜，说明检索不是偶然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分层不是冗余，经验库是经验查询的必要条件；残余失分在 C 类（词袋局限）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E 噪声扫描 0.05/0.10/0.16/0.25，测负例返回率与正例 hit@5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滤噪结果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min_score=0.16 负例返回率 0%，正例 hit@5=0.857；0.25 继续损失正例但无额外滤噪收益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合成老化 30 天后运行 forget；未保护删 10/10、保护 0、新写 0，误删 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遗忘解读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S×时间扫描显示命中强化 S+1 显著延长寿命；保护线按设计工作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RQ5 真模型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DeepSeek 20/20；T6 规划引用率 1.00、约束满足 1.00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限定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MockEmbedding 之上单次运行，结论为示范性证据，真向量需复测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solidFill>
            <a:srgbClr val="F2F4F8"/>
          </a:solidFill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结论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分层与进化机制在词袋固定设置下有效，双库 p=0.0001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2000" y="225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329200"/>
            <a:ext cx="98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830"/>
                </a:solidFill>
                <a:latin typeface="Microsoft YaHei"/>
              </a:rPr>
              <a:t>真模型验证了检索-生成链路可用，引用率 1.00（示范性）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000" y="273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2000" y="280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82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306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真向量重跑与重标定 min_score/θ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2000" y="329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2000" y="336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12000" y="338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62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条、知识锚定、冲突仲裁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38519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2000" y="39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12000" y="39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下一步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1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智戎真实链路联调与领域巡检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00" y="44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