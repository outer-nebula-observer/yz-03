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【配图】可放校徽（可选）。</a:t>
            </a:r>
          </a:p>
          <a:p>
            <a:r>
              <a:t>【讲稿】开场1分钟：课题目标、单位、小组分工。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【讲稿】按五部分走，重点在系统设计与实验验证。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 docs/figures/fig2_campaign_trajectory.png 作背景。</a:t>
            </a:r>
          </a:p>
          <a:p>
            <a:r>
              <a:t>【讲稿】先讲‘为什么需要外部记忆’。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【配图】本页右侧图位：放 docs/figures/fig2_campaign_trajectory.png（多轮战役轨迹/七步闭环示意图）。</a:t>
            </a:r>
          </a:p>
          <a:p>
            <a:r>
              <a:t>【讲稿】用‘同一夜间进攻任务，第一场隘口遇伏，第二场大概率再吃亏’举例。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【讲稿】P1-P4 来自初始问题拆解，P5 来自导师反馈。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【讲稿】实验章节会逐个回答。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【讲稿】一句话：把跨场次知识做成可回放、可审计的外部系统。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 docs/figures/fig1_architecture.png 作背景。</a:t>
            </a:r>
          </a:p>
          <a:p>
            <a:r>
              <a:t>【讲稿】说明借鉴什么、不采用什么。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【讲稿】每条都说明：借鉴什么、为什么不完整照搬。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【讲稿】这一段说明检索与存储不是凭空设计。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【讲稿】强调：机制都有原型，差异在组合与军事场景限定。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 docs/figures/fig1_architecture.png 作背景。</a:t>
            </a:r>
          </a:p>
          <a:p>
            <a:r>
              <a:t>【讲稿】进入核心章节。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【配图】本页右侧预留图位：放 docs/figures/fig1_architecture.png（系统架构图）。</a:t>
            </a:r>
          </a:p>
          <a:p>
            <a:r>
              <a:t>【讲稿】讲清分层与‘可独立消融’。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【讲稿】讲清‘首尾关键、约束不压缩、归档可复盘’。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【讲稿】用 T-90 vs M1A2 的例子说明为什么必须分库。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【讲稿】重点讲归一化与‘命中强化只做一次’。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【讲稿】讲清‘为什么建议与执行分离’——可审计。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【讲稿】澄清‘什么能进长期库、什么时候检索什么’。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【配图】本页右侧预留图位：放 WebUI 截图（运行 python webui/server.py 后截取记忆详情抽屉、遗忘曲线、事件流）。</a:t>
            </a:r>
          </a:p>
          <a:p>
            <a:r>
              <a:t>【讲稿】展示可视化如何帮助理解系统。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【配图】可放消融图（docs/17 配图脚本生成）作背景。</a:t>
            </a:r>
          </a:p>
          <a:p>
            <a:r>
              <a:t>【讲稿】进入数据章节，先声明词袋环境。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【讲稿】强调‘对照是开关能力而不是删用例’。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【配图】建议放消融柱状图（docs/17 配图脚本：G2 vs G3 分类别 hit@5）。</a:t>
            </a:r>
          </a:p>
          <a:p>
            <a:r>
              <a:t>【讲稿】这是最硬的一条证据。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【配图】可放跨场次 WebUI 截图（第二场命中带‘往场沉淀’）或表格。</a:t>
            </a:r>
          </a:p>
          <a:p>
            <a:r>
              <a:t>【讲稿】对负结果要诚实：词袋下混合召回无增益。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【配图】可放遗忘曲线（WebUI 截图）或 DeepSeek 输出截图。</a:t>
            </a:r>
          </a:p>
          <a:p>
            <a:r>
              <a:t>【讲稿】强调限定词，避免被当成最终结论。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 docs/figures/fig2_campaign_trajectory.png 作背景。</a:t>
            </a:r>
          </a:p>
          <a:p>
            <a:r>
              <a:t>【讲稿】从‘能不能用’讲到‘怎么接’。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【配图】本页右侧预留图位：放 docs/figures/fig2_campaign_trajectory.png 或智戎桥接架构示意图。</a:t>
            </a:r>
          </a:p>
          <a:p>
            <a:r>
              <a:t>【讲稿】强调 P1（无结束信号）已有适配方案。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【讲稿】把‘方向性/示范性’讲清楚，再列行动项。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【配图】可放校徽（可选）。</a:t>
            </a:r>
          </a:p>
          <a:p>
            <a:r>
              <a:t>【讲稿】感谢，进入提问。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8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44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44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80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80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984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984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220000" y="1944000"/>
            <a:ext cx="1764000" cy="216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40000" y="936000"/>
            <a:ext cx="9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7D3E8"/>
                </a:solidFill>
                <a:latin typeface="Microsoft YaHei"/>
              </a:rPr>
              <a:t>GRADUATE PROJECT · FINAL REPORT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000" y="2232000"/>
            <a:ext cx="10008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>
                <a:solidFill>
                  <a:srgbClr val="FFFFFF"/>
                </a:solidFill>
                <a:latin typeface="Microsoft YaHei"/>
              </a:rPr>
              <a:t>面向作战规划智能体的</a:t>
            </a:r>
          </a:p>
          <a:p>
            <a:pPr algn="ctr"/>
            <a:r>
              <a:rPr sz="5000" b="1">
                <a:solidFill>
                  <a:srgbClr val="FFFFFF"/>
                </a:solidFill>
                <a:latin typeface="Microsoft YaHei"/>
              </a:rPr>
              <a:t>可进化外部记忆系统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0000" y="4104000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7D3E8"/>
                </a:solidFill>
                <a:latin typeface="Microsoft YaHei"/>
              </a:rPr>
              <a:t>国防科技大学 · 课题3 · 长短期记忆系统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0000" y="4464000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7D3E8"/>
                </a:solidFill>
                <a:latin typeface="Microsoft YaHei"/>
              </a:rPr>
              <a:t>小组：姓名一 / 姓名二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0000" y="4824000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7D3E8"/>
                </a:solidFill>
                <a:latin typeface="Microsoft YaHei"/>
              </a:rPr>
              <a:t>2025年7月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目录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0000" y="1655999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59200" y="1745999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9200" y="1771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2000" y="1835999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01 问题与思路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80000" y="2501999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59200" y="2591999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59200" y="2617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2000" y="2681999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02 相关工作与启发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80000" y="3348000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59200" y="3438000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59200" y="3463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2000" y="3528000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03 系统设计与实现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80000" y="4194000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59200" y="4284000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59200" y="4309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2000" y="4374000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04 实验设计与验证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80000" y="5040000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59200" y="5130000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59200" y="5155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2000" y="5220000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05 智戎接入与总结展望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 /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问题与思路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PROBLEM &amp; APPROACH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课题背景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2000" y="17100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1699200"/>
            <a:ext cx="561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作战规划智能体以场次接任务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6000" y="1900799"/>
            <a:ext cx="561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目标→查询→检索→规划→推演→复盘→下一场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0000" y="24912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0000" y="24912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000" y="25452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6000" y="2635200"/>
            <a:ext cx="561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22830"/>
                </a:solidFill>
                <a:latin typeface="Microsoft YaHei"/>
              </a:rPr>
              <a:t>模型与上下文都不保留跨场次状态，同类错误会反复出现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0000" y="33264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0000" y="33264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000" y="33804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6000" y="3470400"/>
            <a:ext cx="561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22830"/>
                </a:solidFill>
                <a:latin typeface="Microsoft YaHei"/>
              </a:rPr>
              <a:t>长上下文只解决容量，RAG 只解决知识供给，均不解决经验沉淀/更新/淘汰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0000" y="41616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0000" y="41616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2000" y="42156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6000" y="4204800"/>
            <a:ext cx="561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目标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96000" y="4406400"/>
            <a:ext cx="561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在模型之外构建可读写、可演化、可审计的外部记忆系统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03999" y="1655999"/>
            <a:ext cx="3780000" cy="4104000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4 /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五个失败模式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692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10000"/>
            <a:ext cx="982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A68"/>
                </a:solidFill>
                <a:latin typeface="Microsoft YaHei"/>
              </a:rPr>
              <a:t>P1 经验不积累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1951200"/>
            <a:ext cx="982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场次间无状态传递，同样错误重复出现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052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106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124000"/>
            <a:ext cx="982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A68"/>
                </a:solidFill>
                <a:latin typeface="Microsoft YaHei"/>
              </a:rPr>
              <a:t>P2 上下文超限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2365200"/>
            <a:ext cx="982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粗暴截断可能丢失硬约束，规划违反约束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2466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2520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2538000"/>
            <a:ext cx="982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A68"/>
                </a:solidFill>
                <a:latin typeface="Microsoft YaHei"/>
              </a:rPr>
              <a:t>P3 查询口径混杂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2779200"/>
            <a:ext cx="982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参数精确与经验语义同路，互相干扰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2880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2934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2952000"/>
            <a:ext cx="982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A68"/>
                </a:solidFill>
                <a:latin typeface="Microsoft YaHei"/>
              </a:rPr>
              <a:t>P4 库噪声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3193200"/>
            <a:ext cx="982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复盘无差别入库，长期库变成日志不可审计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3294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000" y="3348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2000" y="3366000"/>
            <a:ext cx="982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A68"/>
                </a:solidFill>
                <a:latin typeface="Microsoft YaHei"/>
              </a:rPr>
              <a:t>P5 目标检索弱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2000" y="3607200"/>
            <a:ext cx="982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直接用任务目标文本查询，语义信息量不足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3708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5 /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五个研究问题 RQ1-RQ5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692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10000"/>
            <a:ext cx="982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A68"/>
                </a:solidFill>
                <a:latin typeface="Microsoft YaHei"/>
              </a:rPr>
              <a:t>RQ1 双库贡献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1951200"/>
            <a:ext cx="982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事实/经验分库是否带来可测召回增益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052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106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124000"/>
            <a:ext cx="982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A68"/>
                </a:solidFill>
                <a:latin typeface="Microsoft YaHei"/>
              </a:rPr>
              <a:t>RQ2 跨场次复用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2365200"/>
            <a:ext cx="982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第一场复盘能否被第二场召回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2466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2520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2538000"/>
            <a:ext cx="982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A68"/>
                </a:solidFill>
                <a:latin typeface="Microsoft YaHei"/>
              </a:rPr>
              <a:t>RQ3 检索策略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2779200"/>
            <a:ext cx="982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三路融合相对单路是否有增益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2880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2934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2952000"/>
            <a:ext cx="982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A68"/>
                </a:solidFill>
                <a:latin typeface="Microsoft YaHei"/>
              </a:rPr>
              <a:t>RQ4 滤噪与遗忘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3193200"/>
            <a:ext cx="982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阈值能否滤噪、遗忘是否不误删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3294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000" y="3348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2000" y="3366000"/>
            <a:ext cx="982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A68"/>
                </a:solidFill>
                <a:latin typeface="Microsoft YaHei"/>
              </a:rPr>
              <a:t>RQ5 真实模型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2000" y="3607200"/>
            <a:ext cx="982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DeepSeek 是否实际引用装载记忆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3708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6 /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总体思路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6000" y="1800000"/>
            <a:ext cx="5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2000" y="2106000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外部系统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2000" y="2501999"/>
            <a:ext cx="4716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E"/>
                </a:solidFill>
                <a:latin typeface="Microsoft YaHei"/>
              </a:rPr>
              <a:t>把记忆组织成可演化结构，不止检索增强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8000" y="1655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8000" y="1655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4000" y="1800000"/>
            <a:ext cx="5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0000" y="2106000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复盘晋升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0000" y="2501999"/>
            <a:ext cx="4716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E"/>
                </a:solidFill>
                <a:latin typeface="Microsoft YaHei"/>
              </a:rPr>
              <a:t>短期→长期唯一写通道，三道门控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0000" y="3887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0000" y="3887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6000" y="4031999"/>
            <a:ext cx="5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2000" y="4338000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建议-执行分离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000" y="4733999"/>
            <a:ext cx="4716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E"/>
                </a:solidFill>
                <a:latin typeface="Microsoft YaHei"/>
              </a:rPr>
              <a:t>LLM 提候选，确定性代码执行写/合/忘/抽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28000" y="3887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28000" y="3887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4000" y="4031999"/>
            <a:ext cx="5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80000" y="4338000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阶段感知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0000" y="4733999"/>
            <a:ext cx="4716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E"/>
                </a:solidFill>
                <a:latin typeface="Microsoft YaHei"/>
              </a:rPr>
              <a:t>MDMP 七阶段生成查询，对口记忆加分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7 /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相关工作与启发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RELATED WORK &amp; INSPIRATION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上下文组织与工作记忆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2000" y="17100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16992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综述框架（Zhang 2024）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6000" y="1900799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记忆的‘形式-操作-应用’分层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0000" y="24912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0000" y="24912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000" y="25452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6000" y="25344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MemGPT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6000" y="2736000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主上下文+外部存档，本文改为确定性阈值换页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0000" y="33264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0000" y="33264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000" y="33804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6000" y="33696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SCM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6000" y="3571200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控制器显式决定读/写/归档，本文收敛为复盘晋升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0000" y="41616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0000" y="41616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2000" y="42156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6000" y="42048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LLMLingua/LongLLMLingua/ICAE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96000" y="4406400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位置偏置与‘只压历史不压约束’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9 /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长期存储与检索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10728000" cy="5112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5112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2000" y="17100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16992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3A68"/>
                </a:solidFill>
                <a:latin typeface="Microsoft YaHei"/>
              </a:rPr>
              <a:t>ChatDB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6000" y="1900799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F6E"/>
                </a:solidFill>
                <a:latin typeface="Microsoft YaHei"/>
              </a:rPr>
              <a:t>数据库即符号记忆 → 采用属性精确过滤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0000" y="2210400"/>
            <a:ext cx="10728000" cy="5112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0000" y="2210400"/>
            <a:ext cx="79200" cy="5112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000" y="22644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6000" y="22536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3A68"/>
                </a:solidFill>
                <a:latin typeface="Microsoft YaHei"/>
              </a:rPr>
              <a:t>ExpeL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6000" y="2455200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F6E"/>
                </a:solidFill>
                <a:latin typeface="Microsoft YaHei"/>
              </a:rPr>
              <a:t>经验库+向量召回 → 补充重要性加权与持久化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0000" y="2764800"/>
            <a:ext cx="10728000" cy="5112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0000" y="2764800"/>
            <a:ext cx="79200" cy="5112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000" y="28188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6000" y="28080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3A68"/>
                </a:solidFill>
                <a:latin typeface="Microsoft YaHei"/>
              </a:rPr>
              <a:t>Reflexion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6000" y="3009600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F6E"/>
                </a:solidFill>
                <a:latin typeface="Microsoft YaHei"/>
              </a:rPr>
              <a:t>语言反思 → 采用语言形式经验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0000" y="3319199"/>
            <a:ext cx="10728000" cy="5112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0000" y="3319199"/>
            <a:ext cx="79200" cy="5112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2000" y="3373199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6000" y="3362399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3A68"/>
                </a:solidFill>
                <a:latin typeface="Microsoft YaHei"/>
              </a:rPr>
              <a:t>MemoryBank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96000" y="3563999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F6E"/>
                </a:solidFill>
                <a:latin typeface="Microsoft YaHei"/>
              </a:rPr>
              <a:t>艾宾浩斯遗忘 → 加入 importance≥2 保护线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0000" y="3873599"/>
            <a:ext cx="10728000" cy="5112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20000" y="3873599"/>
            <a:ext cx="79200" cy="5112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2000" y="3927599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96000" y="3916799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3A68"/>
                </a:solidFill>
                <a:latin typeface="Microsoft YaHei"/>
              </a:rPr>
              <a:t>Zep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6000" y="4118399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F6E"/>
                </a:solidFill>
                <a:latin typeface="Microsoft YaHei"/>
              </a:rPr>
              <a:t>时间戳/溯源 → 采用溯源字段，不采用图存储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0000" y="4427999"/>
            <a:ext cx="10728000" cy="5112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0000" y="4427999"/>
            <a:ext cx="79200" cy="5112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2000" y="4481999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96000" y="4471199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3A68"/>
                </a:solidFill>
                <a:latin typeface="Microsoft YaHei"/>
              </a:rPr>
              <a:t>MIRIX / TiM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96000" y="4672799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F6E"/>
                </a:solidFill>
                <a:latin typeface="Microsoft YaHei"/>
              </a:rPr>
              <a:t>多路策略与显式检索计划 → 压缩为三路融合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10 /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记忆进化与设计依据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92000" y="1692000"/>
            <a:ext cx="648000" cy="288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782000"/>
            <a:ext cx="531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2095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000" y="20700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F3A68"/>
                </a:solidFill>
                <a:latin typeface="Microsoft YaHei"/>
              </a:rPr>
              <a:t>PREMem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0000" y="2268000"/>
            <a:ext cx="487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F6E"/>
                </a:solidFill>
                <a:latin typeface="Microsoft YaHei"/>
              </a:rPr>
              <a:t>预存储推理/θ查重 → 采用相似度去重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252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0000" y="25020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F3A68"/>
                </a:solidFill>
                <a:latin typeface="Microsoft YaHei"/>
              </a:rPr>
              <a:t>StructMem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000" y="2700000"/>
            <a:ext cx="487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F6E"/>
                </a:solidFill>
                <a:latin typeface="Microsoft YaHei"/>
              </a:rPr>
              <a:t>跨事件整合 → 演化为‘抽象’操作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2959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0000" y="29340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F3A68"/>
                </a:solidFill>
                <a:latin typeface="Microsoft YaHei"/>
              </a:rPr>
              <a:t>MemSkill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0000" y="3132000"/>
            <a:ext cx="487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F6E"/>
                </a:solidFill>
                <a:latin typeface="Microsoft YaHei"/>
              </a:rPr>
              <a:t>INSERT/UPDATE/DELETE/SKIP → 采用操作类型化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3438000"/>
            <a:ext cx="5310000" cy="72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8000" y="1692000"/>
            <a:ext cx="648000" cy="288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8000" y="1782000"/>
            <a:ext cx="531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补充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8000" y="2095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66000" y="20700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F3A68"/>
                </a:solidFill>
                <a:latin typeface="Microsoft YaHei"/>
              </a:rPr>
              <a:t>Mem-α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66000" y="2268000"/>
            <a:ext cx="487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F6E"/>
                </a:solidFill>
                <a:latin typeface="Microsoft YaHei"/>
              </a:rPr>
              <a:t>建议-执行分离 → 本文核心架构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8000" y="252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6000" y="25020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F3A68"/>
                </a:solidFill>
                <a:latin typeface="Microsoft YaHei"/>
              </a:rPr>
              <a:t>小结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66000" y="2700000"/>
            <a:ext cx="487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F6E"/>
                </a:solidFill>
                <a:latin typeface="Microsoft YaHei"/>
              </a:rPr>
              <a:t>组合层面+领域化（保护线/精确绕过阈值/阶段供给）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8000" y="3006000"/>
            <a:ext cx="5310000" cy="72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11 /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系统设计与实现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DESIGN &amp; IMPLEMENTATION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总体架构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2000" y="17100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1699200"/>
            <a:ext cx="561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四层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6000" y="1900799"/>
            <a:ext cx="561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模型层/能力层/跨切面/编排层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0000" y="24912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0000" y="24912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000" y="25452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6000" y="2534400"/>
            <a:ext cx="561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能力层四模块互不依赖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6000" y="2736000"/>
            <a:ext cx="561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短期、长期、检索、进化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0000" y="33264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0000" y="33264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000" y="33804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6000" y="3369600"/>
            <a:ext cx="561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两层之间唯一写通道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6000" y="3571200"/>
            <a:ext cx="561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复盘晋升 + 三道边界门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0000" y="41616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0000" y="41616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2000" y="42156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6000" y="4204800"/>
            <a:ext cx="561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可独立消融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96000" y="4406400"/>
            <a:ext cx="561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依赖注入实现 G0-G6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03999" y="1655999"/>
            <a:ext cx="3780000" cy="4104000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13 / 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短期工作记忆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584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584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1728000"/>
            <a:ext cx="99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22830"/>
                </a:solidFill>
                <a:latin typeface="Microsoft YaHei"/>
              </a:rPr>
              <a:t>槽位保存目标/约束/查询/消息；约束永不压缩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0000" y="2196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20000" y="2196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0000" y="2340000"/>
            <a:ext cx="99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22830"/>
                </a:solidFill>
                <a:latin typeface="Microsoft YaHei"/>
              </a:rPr>
              <a:t>FIFO 超阈值触发压缩，被驱逐消息进入归档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0000" y="2808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20000" y="2808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0000" y="28512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伪代码如下（memsys/short_term/working_memory.py）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0000" y="3052800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720000" y="3096000"/>
            <a:ext cx="10728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0000" y="3124800"/>
            <a:ext cx="28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0000" y="3347999"/>
            <a:ext cx="10728000" cy="2844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6000" y="3437999"/>
            <a:ext cx="10296000" cy="259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def render(slot):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parts = [阶段, 目标, 约束]          # 头部：不可压缩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if slot.loaded_briefs: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    parts.append('【装载记忆】' + 逐条brief)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parts.append(查询列表)               # 审计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parts.append(最新消息[-20:])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return '\n'.join(parts)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/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def flush(slot, llm):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evicted = slot.fifo.pop(前半)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slot.summary = llm.summarize(old + evicted)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slot.archived.append(evicted)        # 归档不丢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14 / 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长期双库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584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584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16272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事实库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1828800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SQLite + 属性精确；经验库：向量语义召回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000" y="2196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0000" y="2196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000" y="2340000"/>
            <a:ext cx="99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22830"/>
                </a:solidFill>
                <a:latin typeface="Microsoft YaHei"/>
              </a:rPr>
              <a:t>attrs 精确命中绕过 min_score（构造性相关）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0000" y="2808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20000" y="2808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000" y="28512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接口示例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000" y="3052800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720000" y="3096000"/>
            <a:ext cx="10728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000" y="3124800"/>
            <a:ext cx="28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0000" y="3347999"/>
            <a:ext cx="10728000" cy="2844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6000" y="3437999"/>
            <a:ext cx="10296000" cy="259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# 事实精确：属性过滤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hits_exact = factual.search_attrs({'装备': 'T-90'})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# 经验语义：向量召回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hits_sem = experiential.search('夜战侦察教训')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# 融合时：attrs 命中即相关，不参与相似度阈值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15 / 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混合检索：三路融合 + 单路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584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584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1728000"/>
            <a:ext cx="99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22830"/>
                </a:solidFill>
                <a:latin typeface="Microsoft YaHei"/>
              </a:rPr>
              <a:t>vector/BM25/SQL 三路；hybrid 加权累加，single 便于消融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0000" y="2196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20000" y="2196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0000" y="22392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归一化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440800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向量余弦、BM25 查询自匹配上界、SQL 恒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0000" y="2808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20000" y="2808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000" y="28512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公式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000" y="3052800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s_hybrid = Σ w_r·n_r(id)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0000" y="3096000"/>
            <a:ext cx="10728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000" y="3124800"/>
            <a:ext cx="28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0000" y="3347999"/>
            <a:ext cx="10728000" cy="2844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6000" y="3437999"/>
            <a:ext cx="10296000" cy="259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def retrieve(q, mode='hybrid', top_k=5):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pool = [route(q, q.route)]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if mode == 'hybrid':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    pool += [route(q, alt) for alt in routes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             if alt != q.route]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pool = [normalize(r) for r in pool]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fused = aggregate_by_id(pool, weights)  # 多路累加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if q.stage: fused = add_stage_bonus(fused, q.stage)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ranked = [x for x in sorted(fused, reverse=True)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          if x.score &gt;= min_score][:top_k]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for r in ranked: r.entry.mark_recalled()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return ranked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16 / 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记忆进化：写/合/忘/抽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584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584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16272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建议-执行分离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1828800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LLM 提候选，确定性代码执行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000" y="2196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0000" y="2196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000" y="22392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遗忘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2440800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R=e^{-t/S}，命中 S+1；importance≥2 保护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0000" y="2808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20000" y="2808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0000" y="28512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抽象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000" y="3052800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≥2 条新经验 → 一条通用教训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0000" y="3096000"/>
            <a:ext cx="10728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000" y="3124800"/>
            <a:ext cx="28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0000" y="3347999"/>
            <a:ext cx="10728000" cy="2844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6000" y="3437999"/>
            <a:ext cx="10296000" cy="259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def evolve_from_review(review, session_id):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ops = llm.extract_memory_ops(review)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for op in ops: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    if not boundary.promote(op.content): continue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    if write(op) is None: skipped += 1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merge_new_entries()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forget()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if len(new_experiences) &gt;= 2: abstract()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/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# 遗忘核心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R = math.exp(-t / max(S, 1e-6))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# 命中强化：S += 1, t 重置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17 /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边界门控与阶段感知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2000" y="17100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16992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复盘晋升经三道门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6000" y="1900799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复盘驱动、类别判定、语义查重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0000" y="24912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0000" y="24912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000" y="25452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6000" y="2635200"/>
            <a:ext cx="99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22830"/>
                </a:solidFill>
                <a:latin typeface="Microsoft YaHei"/>
              </a:rPr>
              <a:t>每次判定写入审计日志（boundary）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0000" y="33264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0000" y="33264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000" y="33804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6000" y="3470400"/>
            <a:ext cx="99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22830"/>
                </a:solidFill>
                <a:latin typeface="Microsoft YaHei"/>
              </a:rPr>
              <a:t>查询按 MDMP 七阶段生成，阶段匹配记忆加亲和分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0000" y="41616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0000" y="41616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2000" y="42156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6000" y="4305600"/>
            <a:ext cx="99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22830"/>
                </a:solidFill>
                <a:latin typeface="Microsoft YaHei"/>
              </a:rPr>
              <a:t>复盘教训归因到阶段，供同阶段检索优先召回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18 / 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WebUI 可视化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2000" y="17100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1800000"/>
            <a:ext cx="561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22830"/>
                </a:solidFill>
                <a:latin typeface="Microsoft YaHei"/>
              </a:rPr>
              <a:t>后台 /api 与前端三栏；左右栏页签化，避免过长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000" y="24912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0000" y="24912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2000" y="25452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6000" y="2534400"/>
            <a:ext cx="561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记忆详情抽屉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6000" y="2736000"/>
            <a:ext cx="561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总览/单条历史/遗忘日志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0000" y="33264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0000" y="33264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000" y="33804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6000" y="3369600"/>
            <a:ext cx="561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遗忘曲线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6000" y="3571200"/>
            <a:ext cx="561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R=e^{-t/S} 与‘立即召回 S+1’对比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0000" y="41616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0000" y="41616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2000" y="42156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96000" y="4305600"/>
            <a:ext cx="561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22830"/>
                </a:solidFill>
                <a:latin typeface="Microsoft YaHei"/>
              </a:rPr>
              <a:t>战役进度条、库健康度分布条、事件流点击展开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03999" y="1655999"/>
            <a:ext cx="3780000" cy="4104000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19 / 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实验设计与验证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EXPERIMENTS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数据集与评估协议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692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46000"/>
            <a:ext cx="98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830"/>
                </a:solidFill>
                <a:latin typeface="Microsoft YaHei"/>
              </a:rPr>
              <a:t>自建 50 条 8 类测试集（A-H），避免关键词共现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2052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106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12000" y="2160000"/>
            <a:ext cx="98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830"/>
                </a:solidFill>
                <a:latin typeface="Microsoft YaHei"/>
              </a:rPr>
              <a:t>固定用例集，依赖注入开关能力（G0-G6）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2000" y="2466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2000" y="2520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12000" y="2538000"/>
            <a:ext cx="982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A68"/>
                </a:solidFill>
                <a:latin typeface="Microsoft YaHei"/>
              </a:rPr>
              <a:t>检索指标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2000" y="2779200"/>
            <a:ext cx="982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hit@3/5、MRR、NDCG；任务层：引用/约束/噪声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000" y="2880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2000" y="2934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12000" y="2952000"/>
            <a:ext cx="982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A68"/>
                </a:solidFill>
                <a:latin typeface="Microsoft YaHei"/>
              </a:rPr>
              <a:t>统计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12000" y="3193200"/>
            <a:ext cx="982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随机基线、bootstrap CI、配对置换检验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" y="3294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21 / 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双库贡献（RQ1）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20000" y="1728000"/>
            <a:ext cx="2439000" cy="21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088000"/>
            <a:ext cx="2439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0.636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999" y="2736000"/>
            <a:ext cx="2223000" cy="64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F6E"/>
                </a:solidFill>
                <a:latin typeface="Microsoft YaHei"/>
              </a:rPr>
              <a:t>G3 双库全开 hit@5（G2 为 0.341）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483000" y="1728000"/>
            <a:ext cx="2439000" cy="21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3000" y="2088000"/>
            <a:ext cx="2439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p=0.0001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1000" y="2736000"/>
            <a:ext cx="2223000" cy="64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F6E"/>
                </a:solidFill>
                <a:latin typeface="Microsoft YaHei"/>
              </a:rPr>
              <a:t>配对置换检验，n=44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6000" y="1728000"/>
            <a:ext cx="2439000" cy="21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46000" y="2088000"/>
            <a:ext cx="2439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0.357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4000" y="2736000"/>
            <a:ext cx="2223000" cy="64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F6E"/>
                </a:solidFill>
                <a:latin typeface="Microsoft YaHei"/>
              </a:rPr>
              <a:t>随机基线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9000" y="1728000"/>
            <a:ext cx="2439000" cy="21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09000" y="2088000"/>
            <a:ext cx="2439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0.625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17000" y="2736000"/>
            <a:ext cx="2223000" cy="64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F6E"/>
                </a:solidFill>
                <a:latin typeface="Microsoft YaHei"/>
              </a:rPr>
              <a:t>C 类残余失分（词袋局限）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22 /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跨场次与检索策略（RQ2/RQ3）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692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10000"/>
            <a:ext cx="982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A68"/>
                </a:solidFill>
                <a:latin typeface="Microsoft YaHei"/>
              </a:rPr>
              <a:t>跨场次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1951200"/>
            <a:ext cx="982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处理组 0.833 vs 对照 0，负控 0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052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106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160000"/>
            <a:ext cx="98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830"/>
                </a:solidFill>
                <a:latin typeface="Microsoft YaHei"/>
              </a:rPr>
              <a:t>p=0.059，样本有限 → 方向性证据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466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520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2000" y="2538000"/>
            <a:ext cx="982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A68"/>
                </a:solidFill>
                <a:latin typeface="Microsoft YaHei"/>
              </a:rPr>
              <a:t>检索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2779200"/>
            <a:ext cx="982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hybrid 0.857 vs vector 0.929（词袋）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2880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2934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12000" y="2988000"/>
            <a:ext cx="98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830"/>
                </a:solidFill>
                <a:latin typeface="Microsoft YaHei"/>
              </a:rPr>
              <a:t>但干扰压制 hybrid 1.0 &gt; 单路 ≤0.875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" y="3294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2000" y="3348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12000" y="3366000"/>
            <a:ext cx="982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A68"/>
                </a:solidFill>
                <a:latin typeface="Microsoft YaHei"/>
              </a:rPr>
              <a:t>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12000" y="3607200"/>
            <a:ext cx="982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混合价值在排序，真向量再定召回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2000" y="3708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23 / 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滤噪、遗忘与真实模型（RQ4/RQ5）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20000" y="1728000"/>
            <a:ext cx="2439000" cy="21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088000"/>
            <a:ext cx="2439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999" y="2736000"/>
            <a:ext cx="2223000" cy="64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F6E"/>
                </a:solidFill>
                <a:latin typeface="Microsoft YaHei"/>
              </a:rPr>
              <a:t>负例返回率（min_score=0.16）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483000" y="1728000"/>
            <a:ext cx="2439000" cy="21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3000" y="2088000"/>
            <a:ext cx="2439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1000" y="2736000"/>
            <a:ext cx="2223000" cy="64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F6E"/>
                </a:solidFill>
                <a:latin typeface="Microsoft YaHei"/>
              </a:rPr>
              <a:t>遗忘误删，保护线有效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6000" y="1728000"/>
            <a:ext cx="2439000" cy="21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46000" y="2088000"/>
            <a:ext cx="2439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1.00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4000" y="2736000"/>
            <a:ext cx="2223000" cy="64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F6E"/>
                </a:solidFill>
                <a:latin typeface="Microsoft YaHei"/>
              </a:rPr>
              <a:t>DeepSeek 引用率（20/20）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9000" y="1728000"/>
            <a:ext cx="2439000" cy="21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09000" y="2088000"/>
            <a:ext cx="2439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0.857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17000" y="2736000"/>
            <a:ext cx="2223000" cy="64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F6E"/>
                </a:solidFill>
                <a:latin typeface="Microsoft YaHei"/>
              </a:rPr>
              <a:t>正例 hit@5 保持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24 / 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智戎接入与总结展望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INTEGRATION &amp; OUTLOOK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05 · 智戎接入与总结展望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智戎事件驱动适配（P0 落地）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2000" y="17100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1699200"/>
            <a:ext cx="561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hook_evolve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6000" y="1900799"/>
            <a:ext cx="561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不依赖‘场次结束’，可随时触发进化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0000" y="24912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0000" y="24912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000" y="25452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6000" y="2534400"/>
            <a:ext cx="561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结构化反馈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6000" y="2736000"/>
            <a:ext cx="561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AFSIM 数值/事件 → 复盘文本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0000" y="33264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0000" y="33264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000" y="33804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6000" y="3369600"/>
            <a:ext cx="561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normalize_task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6000" y="3571200"/>
            <a:ext cx="561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结构化任务 → goal/constraints/queries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0000" y="41616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0000" y="41616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2000" y="42156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6000" y="4204800"/>
            <a:ext cx="561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domain_check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96000" y="4406400"/>
            <a:ext cx="561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领域巡检 + min_score 建议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03999" y="1655999"/>
            <a:ext cx="3780000" cy="4104000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26 /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05 · 智戎接入与总结展望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总结与展望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2000" y="17100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16992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结论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6000" y="1900799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分层与进化机制在词袋固定设置下有效（p=0.0001）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0000" y="24912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0000" y="24912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000" y="25452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6000" y="2635200"/>
            <a:ext cx="99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22830"/>
                </a:solidFill>
                <a:latin typeface="Microsoft YaHei"/>
              </a:rPr>
              <a:t>真实模型验证了检索-生成链路可用（引用率 1.00）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0000" y="33264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0000" y="33264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000" y="33804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6000" y="33696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下一步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6000" y="3571200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真向量重跑与重标定 min_score/θ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0000" y="41616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0000" y="41616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2000" y="42156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96000" y="42048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下一步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6000" y="4406400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H 类扩至 20 条、知识锚定、冲突仲裁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0000" y="49968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0000" y="49968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000" y="50508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96000" y="50400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下一步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96000" y="5241600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智戎真实链路联调与领域巡检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27 / 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8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44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44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80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80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984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984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0000" y="2592000"/>
            <a:ext cx="10008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Microsoft YaHei"/>
              </a:rPr>
              <a:t>感谢聆听 · 欢迎交流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0000" y="4104000"/>
            <a:ext cx="10008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C7D3E8"/>
                </a:solidFill>
                <a:latin typeface="Microsoft YaHei"/>
              </a:rPr>
              <a:t>国防科技大学 · 课题3 · 长短期记忆系统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