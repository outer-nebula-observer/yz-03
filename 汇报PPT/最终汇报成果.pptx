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398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23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svg"/><Relationship Id="rId4" Type="http://schemas.openxmlformats.org/officeDocument/2006/relationships/image" Target="../media/image4.svg"/><Relationship Id="rId5" Type="http://schemas.openxmlformats.org/officeDocument/2006/relationships/image" Target="../media/image5.sv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svg"/><Relationship Id="rId6" Type="http://schemas.openxmlformats.org/officeDocument/2006/relationships/image" Target="../media/image11.svg"/><Relationship Id="rId7" Type="http://schemas.openxmlformats.org/officeDocument/2006/relationships/image" Target="../media/image1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</a:t>
            </a:r>
            <a:r>
              <a:rPr lang="zh-CN" altLang="en-US" sz="1700">
                <a:solidFill>
                  <a:srgbClr val="C7D3E8"/>
                </a:solidFill>
                <a:latin typeface="Microsoft YaHei"/>
              </a:rPr>
              <a:t>应昱成 刘雨瑕</a:t>
            </a:r>
            <a:endParaRPr sz="1700">
              <a:solidFill>
                <a:srgbClr val="C7D3E8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4C6483F9-6D8F-9372-0425-1BBA0E6AE1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7046" y="803153"/>
            <a:ext cx="1458542" cy="11624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543" y="1789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5942" y="1789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23543" y="2635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942" y="2635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3543" y="3481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5942" y="3481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23543" y="4327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5942" y="4327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23543" y="5173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5942" y="5173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目标→查询→检索→规划→推演→复盘→下一场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窗口关闭后信息即失效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RAG 只解决外部知识供给，不解决经验如何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沉淀、更新与淘汰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成本高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且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无法审计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军事场景需要可回放、可解释的记忆操作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可读写、可演化、可审计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的外部记忆系统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以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“写入-检索-更新-淘汰”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6170" y="1665026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场次间无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状态传递</a:t>
            </a:r>
            <a:r>
              <a:rPr lang="zh-CN" altLang="en-US" sz="1600" b="0">
                <a:solidFill>
                  <a:srgbClr val="555F6E"/>
                </a:solidFill>
                <a:latin typeface="Microsoft YaHei"/>
              </a:rPr>
              <a:t>：</a:t>
            </a:r>
            <a:endParaRPr lang="en-US" altLang="zh-CN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第一场在隘口遇伏，第二场可能仍未派先遣侦察，失败教训没有载体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6170" y="255935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场内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战报与硬约束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同时涌入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粗暴截断可能把“禁止越境”等约束切掉，规划易合规出错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012" y="351231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装备参数需要精确，经验教训需要语义泛化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同一路无法同时满足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精确与召回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4012" y="4427728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复盘无差别入库让长期库积累流水账，信号被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噪声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淹没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且无法回答“这条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为什么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在库中”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8294" y="5343276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直接用任务目标一句话查询信息量太薄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规划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不同阶段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需要的记忆类型不同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  <p:pic>
        <p:nvPicPr>
          <p:cNvPr id="40" name="图形 39">
            <a:extLst>
              <a:ext uri="{FF2B5EF4-FFF2-40B4-BE49-F238E27FC236}">
                <a16:creationId xmlns:a16="http://schemas.microsoft.com/office/drawing/2014/main" id="{7A038CD1-F9ED-2D42-25C7-315579661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588" y="1669088"/>
            <a:ext cx="2437485" cy="812495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47242581-DA1F-3DC0-82AB-184F3AD582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588" y="2586792"/>
            <a:ext cx="2437485" cy="812495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033ACAEA-7A8F-4B8F-F732-20FD36FE0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588" y="3504496"/>
            <a:ext cx="2437485" cy="812495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1DDDB0EA-6816-4090-B02A-F1841C889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1588" y="4422200"/>
            <a:ext cx="2437485" cy="812495"/>
          </a:xfrm>
          <a:prstGeom prst="rect">
            <a:avLst/>
          </a:prstGeom>
        </p:spPr>
      </p:pic>
      <p:pic>
        <p:nvPicPr>
          <p:cNvPr id="48" name="图形 47">
            <a:extLst>
              <a:ext uri="{FF2B5EF4-FFF2-40B4-BE49-F238E27FC236}">
                <a16:creationId xmlns:a16="http://schemas.microsoft.com/office/drawing/2014/main" id="{7AF5C58F-3695-9206-4FBB-643FC31C71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1588" y="5339904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9740" y="19706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4160" y="28778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4160" y="37850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740" y="46922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4160" y="55994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ED8D2FED-0A7A-0BDF-F498-6E4C08A2BCAA}"/>
              </a:ext>
            </a:extLst>
          </p:cNvPr>
          <p:cNvSpPr txBox="1"/>
          <p:nvPr/>
        </p:nvSpPr>
        <p:spPr>
          <a:xfrm>
            <a:off x="2859059" y="18578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89523276-B6C8-E77E-2677-2830EB1C0AE0}"/>
              </a:ext>
            </a:extLst>
          </p:cNvPr>
          <p:cNvSpPr txBox="1"/>
          <p:nvPr/>
        </p:nvSpPr>
        <p:spPr>
          <a:xfrm>
            <a:off x="3579059" y="18218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54" name="TextBox 7">
            <a:extLst>
              <a:ext uri="{FF2B5EF4-FFF2-40B4-BE49-F238E27FC236}">
                <a16:creationId xmlns:a16="http://schemas.microsoft.com/office/drawing/2014/main" id="{518F5DD9-BEBF-A68D-3A29-DA4D10087536}"/>
              </a:ext>
            </a:extLst>
          </p:cNvPr>
          <p:cNvSpPr txBox="1"/>
          <p:nvPr/>
        </p:nvSpPr>
        <p:spPr>
          <a:xfrm>
            <a:off x="5393229" y="1694060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事实</a:t>
            </a:r>
            <a: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经验分库是否在固定用例集上带来可测召回增益？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对应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G2 vs G3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消融</a:t>
            </a:r>
          </a:p>
        </p:txBody>
      </p:sp>
      <p:sp>
        <p:nvSpPr>
          <p:cNvPr id="56" name="TextBox 11">
            <a:extLst>
              <a:ext uri="{FF2B5EF4-FFF2-40B4-BE49-F238E27FC236}">
                <a16:creationId xmlns:a16="http://schemas.microsoft.com/office/drawing/2014/main" id="{D3375240-BDD4-D6BF-AFCE-ECCA445BB610}"/>
              </a:ext>
            </a:extLst>
          </p:cNvPr>
          <p:cNvSpPr txBox="1"/>
          <p:nvPr/>
        </p:nvSpPr>
        <p:spPr>
          <a:xfrm>
            <a:off x="2859059" y="27650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58" name="TextBox 12">
            <a:extLst>
              <a:ext uri="{FF2B5EF4-FFF2-40B4-BE49-F238E27FC236}">
                <a16:creationId xmlns:a16="http://schemas.microsoft.com/office/drawing/2014/main" id="{79B808DE-B47B-1660-EEA0-97391D32DEF9}"/>
              </a:ext>
            </a:extLst>
          </p:cNvPr>
          <p:cNvSpPr txBox="1"/>
          <p:nvPr/>
        </p:nvSpPr>
        <p:spPr>
          <a:xfrm>
            <a:off x="3579059" y="27290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60" name="TextBox 13">
            <a:extLst>
              <a:ext uri="{FF2B5EF4-FFF2-40B4-BE49-F238E27FC236}">
                <a16:creationId xmlns:a16="http://schemas.microsoft.com/office/drawing/2014/main" id="{98D06D4D-23D0-3BF3-85DC-0AB708086CEF}"/>
              </a:ext>
            </a:extLst>
          </p:cNvPr>
          <p:cNvSpPr txBox="1"/>
          <p:nvPr/>
        </p:nvSpPr>
        <p:spPr>
          <a:xfrm>
            <a:off x="5393229" y="258839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第一场复盘写入能否被第二场召回？</a:t>
            </a:r>
            <a:br>
              <a:rPr lang="en-US" altLang="zh-CN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处理组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0.833 vs </a:t>
            </a: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对照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endParaRPr lang="zh-CN" altLang="en-US" sz="1600" b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TextBox 17">
            <a:extLst>
              <a:ext uri="{FF2B5EF4-FFF2-40B4-BE49-F238E27FC236}">
                <a16:creationId xmlns:a16="http://schemas.microsoft.com/office/drawing/2014/main" id="{903BACBB-4DBE-344B-C7CA-1098394224E8}"/>
              </a:ext>
            </a:extLst>
          </p:cNvPr>
          <p:cNvSpPr txBox="1"/>
          <p:nvPr/>
        </p:nvSpPr>
        <p:spPr>
          <a:xfrm>
            <a:off x="2859059" y="36722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64" name="TextBox 19">
            <a:extLst>
              <a:ext uri="{FF2B5EF4-FFF2-40B4-BE49-F238E27FC236}">
                <a16:creationId xmlns:a16="http://schemas.microsoft.com/office/drawing/2014/main" id="{61FC6A36-0C48-A38E-AD29-9B72940CE42C}"/>
              </a:ext>
            </a:extLst>
          </p:cNvPr>
          <p:cNvSpPr txBox="1"/>
          <p:nvPr/>
        </p:nvSpPr>
        <p:spPr>
          <a:xfrm>
            <a:off x="5421071" y="354135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三路融合相对单路是否有增益？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词袋下召回未胜出，排序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干扰压制更好</a:t>
            </a:r>
          </a:p>
        </p:txBody>
      </p:sp>
      <p:sp>
        <p:nvSpPr>
          <p:cNvPr id="66" name="TextBox 23">
            <a:extLst>
              <a:ext uri="{FF2B5EF4-FFF2-40B4-BE49-F238E27FC236}">
                <a16:creationId xmlns:a16="http://schemas.microsoft.com/office/drawing/2014/main" id="{86A73608-840A-B1C8-8A3F-69E80B0D2224}"/>
              </a:ext>
            </a:extLst>
          </p:cNvPr>
          <p:cNvSpPr txBox="1"/>
          <p:nvPr/>
        </p:nvSpPr>
        <p:spPr>
          <a:xfrm>
            <a:off x="2859059" y="45794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68" name="TextBox 24">
            <a:extLst>
              <a:ext uri="{FF2B5EF4-FFF2-40B4-BE49-F238E27FC236}">
                <a16:creationId xmlns:a16="http://schemas.microsoft.com/office/drawing/2014/main" id="{7E64591B-DF5D-9095-3E57-C2BE18FD953B}"/>
              </a:ext>
            </a:extLst>
          </p:cNvPr>
          <p:cNvSpPr txBox="1"/>
          <p:nvPr/>
        </p:nvSpPr>
        <p:spPr>
          <a:xfrm>
            <a:off x="3579059" y="45434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70" name="TextBox 25">
            <a:extLst>
              <a:ext uri="{FF2B5EF4-FFF2-40B4-BE49-F238E27FC236}">
                <a16:creationId xmlns:a16="http://schemas.microsoft.com/office/drawing/2014/main" id="{07BEEE40-70FA-267F-9457-1E9198B48C67}"/>
              </a:ext>
            </a:extLst>
          </p:cNvPr>
          <p:cNvSpPr txBox="1"/>
          <p:nvPr/>
        </p:nvSpPr>
        <p:spPr>
          <a:xfrm>
            <a:off x="5421071" y="4456762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阈值能否滤除负例？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遗忘是否不误删保护记忆？</a:t>
            </a:r>
          </a:p>
        </p:txBody>
      </p:sp>
      <p:sp>
        <p:nvSpPr>
          <p:cNvPr id="72" name="TextBox 29">
            <a:extLst>
              <a:ext uri="{FF2B5EF4-FFF2-40B4-BE49-F238E27FC236}">
                <a16:creationId xmlns:a16="http://schemas.microsoft.com/office/drawing/2014/main" id="{D9DABA44-20B2-5169-38CE-96E513E692D8}"/>
              </a:ext>
            </a:extLst>
          </p:cNvPr>
          <p:cNvSpPr txBox="1"/>
          <p:nvPr/>
        </p:nvSpPr>
        <p:spPr>
          <a:xfrm>
            <a:off x="2859059" y="54866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74" name="TextBox 30">
            <a:extLst>
              <a:ext uri="{FF2B5EF4-FFF2-40B4-BE49-F238E27FC236}">
                <a16:creationId xmlns:a16="http://schemas.microsoft.com/office/drawing/2014/main" id="{6C83C2ED-9420-A2F4-A91C-5C716108A635}"/>
              </a:ext>
            </a:extLst>
          </p:cNvPr>
          <p:cNvSpPr txBox="1"/>
          <p:nvPr/>
        </p:nvSpPr>
        <p:spPr>
          <a:xfrm>
            <a:off x="3579059" y="54506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76" name="TextBox 31">
            <a:extLst>
              <a:ext uri="{FF2B5EF4-FFF2-40B4-BE49-F238E27FC236}">
                <a16:creationId xmlns:a16="http://schemas.microsoft.com/office/drawing/2014/main" id="{2B188CC7-7D4F-16C2-B3FB-7F5B3A29D578}"/>
              </a:ext>
            </a:extLst>
          </p:cNvPr>
          <p:cNvSpPr txBox="1"/>
          <p:nvPr/>
        </p:nvSpPr>
        <p:spPr>
          <a:xfrm>
            <a:off x="5465353" y="5372310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大模型是否实际引用装载记忆？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T6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引用率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1.00</a:t>
            </a:r>
            <a:endParaRPr lang="zh-CN" altLang="en-US" sz="160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8" name="图形 77">
            <a:extLst>
              <a:ext uri="{FF2B5EF4-FFF2-40B4-BE49-F238E27FC236}">
                <a16:creationId xmlns:a16="http://schemas.microsoft.com/office/drawing/2014/main" id="{C1B7AF87-B870-86D1-E579-D15DF7316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48647" y="1698122"/>
            <a:ext cx="2437485" cy="812495"/>
          </a:xfrm>
          <a:prstGeom prst="rect">
            <a:avLst/>
          </a:prstGeom>
        </p:spPr>
      </p:pic>
      <p:pic>
        <p:nvPicPr>
          <p:cNvPr id="80" name="图形 79">
            <a:extLst>
              <a:ext uri="{FF2B5EF4-FFF2-40B4-BE49-F238E27FC236}">
                <a16:creationId xmlns:a16="http://schemas.microsoft.com/office/drawing/2014/main" id="{E95959CB-2E45-D8B6-1D88-1D1A3327D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48647" y="2615826"/>
            <a:ext cx="2437485" cy="812495"/>
          </a:xfrm>
          <a:prstGeom prst="rect">
            <a:avLst/>
          </a:prstGeom>
        </p:spPr>
      </p:pic>
      <p:pic>
        <p:nvPicPr>
          <p:cNvPr id="82" name="图形 81">
            <a:extLst>
              <a:ext uri="{FF2B5EF4-FFF2-40B4-BE49-F238E27FC236}">
                <a16:creationId xmlns:a16="http://schemas.microsoft.com/office/drawing/2014/main" id="{6E5573FB-E6F5-CCC3-FC55-B3D445959E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848647" y="3533530"/>
            <a:ext cx="2437485" cy="812495"/>
          </a:xfrm>
          <a:prstGeom prst="rect">
            <a:avLst/>
          </a:prstGeom>
        </p:spPr>
      </p:pic>
      <p:pic>
        <p:nvPicPr>
          <p:cNvPr id="84" name="图形 83">
            <a:extLst>
              <a:ext uri="{FF2B5EF4-FFF2-40B4-BE49-F238E27FC236}">
                <a16:creationId xmlns:a16="http://schemas.microsoft.com/office/drawing/2014/main" id="{2DD86A09-AE95-2E4F-3E90-BB6E901F66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848647" y="4451234"/>
            <a:ext cx="2437485" cy="812495"/>
          </a:xfrm>
          <a:prstGeom prst="rect">
            <a:avLst/>
          </a:prstGeom>
        </p:spPr>
      </p:pic>
      <p:pic>
        <p:nvPicPr>
          <p:cNvPr id="86" name="图形 85">
            <a:extLst>
              <a:ext uri="{FF2B5EF4-FFF2-40B4-BE49-F238E27FC236}">
                <a16:creationId xmlns:a16="http://schemas.microsoft.com/office/drawing/2014/main" id="{501D8D2C-EBCF-576F-AD4C-53591B40D7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848647" y="5368938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2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把记忆从上下文窗口搬到独立系统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可写、可检索、可更新、可淘汰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短期管当前场次，长期管跨场次知识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短期→长期只留一条写通道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三道门控：复盘驱动、类别判定、语义查重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LLM/规则只负责提候选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写入、合并、遗忘、抽象由确定性代码执行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查询按 MDMP 七阶段生成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复盘教训归因到阶段</a:t>
            </a:r>
            <a:br>
              <a:rPr lang="en-US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67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把记忆工作归纳为“形式-操作-应用”三层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301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主上下文+外部存档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435199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显式决定何时读/写/归档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69200"/>
            <a:ext cx="982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9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5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ChatDB 符号记忆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把数据库当作符号记忆；本文只保留属性精确过滤，不实现完整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36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5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530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ExpeL 经验库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833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从轨迹抽取经验并以向量召回；本文补充重要性加权与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139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334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304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Reflexion 语言反思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607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用语言反思记录失败原因；采用语言形式经验，不采用在线强化。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913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4114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78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MemoryBank 遗忘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4381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艾宾浩斯遗忘与召唤强化；本文增加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687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88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852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Zep 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5155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时序知识图谱强调时间与溯源；采用溯源字段，不采用图存储。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46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66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62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MIRIX / TiM 多路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92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多策略主动检索与显式检索计划；本文压缩为三路混合检索。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3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(slot):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 = [阶段, 目标, 约束]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slot.loaded_briefs: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+ briefs)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(查询列表)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(最新消息[-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:])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(parts)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(slot, llm):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evicted = slot.fifo.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(前半)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slot.summary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(旧摘要 + evicted)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slot.archived.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(evicted)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 = factual.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 = experiential.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(q, mode=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 top_k=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q.route)]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mode ==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pool +=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alt)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alt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alt != q.route]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(r)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pool]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(pool, weights)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q.stage: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(fused, q.stage)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ranked = [x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x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(fused, reverse=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x.score &gt;= min_score][:top_k]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ranked: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r.entry.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(review, session_id):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ops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(review)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op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ops: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boundary.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(op.content):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(op) is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skipped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(new_experiences) &gt;=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 =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(-t /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(S,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3294</Words>
  <Application>Microsoft Office PowerPoint</Application>
  <PresentationFormat>自定义</PresentationFormat>
  <Paragraphs>504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4" baseType="lpstr">
      <vt:lpstr>Microsoft YaHei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昱成 应</cp:lastModifiedBy>
  <cp:revision>7</cp:revision>
  <dcterms:created xsi:type="dcterms:W3CDTF">2013-01-27T09:14:16Z</dcterms:created>
  <dcterms:modified xsi:type="dcterms:W3CDTF">2026-09-19T04:16:05Z</dcterms:modified>
  <cp:category/>
</cp:coreProperties>
</file>