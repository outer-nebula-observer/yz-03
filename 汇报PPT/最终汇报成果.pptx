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【配图】可放校徽（可选）。</a:t>
            </a:r>
          </a:p>
          <a:p>
            <a:r>
              <a:t>【讲稿】开场1分钟：课题目标、单位、小组分工。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【讲稿】按五部分走，重点在系统设计与实验验证。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docs/figures/fig2_campaign_trajectory.png 作背景。</a:t>
            </a:r>
          </a:p>
          <a:p>
            <a:r>
              <a:t>【讲稿】先讲‘为什么需要外部记忆’。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【讲稿】用“同一夜间进攻任务，第一场隘口遇伏，第二场大概率再吃亏”开场。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【讲稿】P1-P4 来自初始拆解，P5 来自导师反馈；每行右侧为示意图占位。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【讲稿】强调 RQ 是从失败模式引申而来，实验章节逐一回答。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【讲稿】四句话说清系统设计哲学。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docs/figures/fig1_architecture.png 作背景。</a:t>
            </a:r>
          </a:p>
          <a:p>
            <a:r>
              <a:t>【讲稿】说明借鉴什么、不采用什么。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【讲稿】每条讲“借鉴什么、为什么不完整照搬”。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【讲稿】说明检索与存储不是凭空设计。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【讲稿】强调机制都有原型，差异在组合与军事场景限定。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docs/figures/fig1_architecture.png 作背景。</a:t>
            </a:r>
          </a:p>
          <a:p>
            <a:r>
              <a:t>【讲稿】进入核心章节。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【配图】本页右侧图位：放 docs/figures/fig1_architecture.png（系统架构图）。</a:t>
            </a:r>
          </a:p>
          <a:p>
            <a:r>
              <a:t>【讲稿】讲清分层与‘可独立消融’。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【讲稿】讲清‘首尾关键、约束不压缩、归档可复盘’。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【讲稿】用 T-90 vs M1A2 的例子说明为什么必须分库。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【讲稿】重点讲归一化与‘命中强化只做一次’。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【讲稿】讲清‘为什么建议与执行分离’——可审计。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【讲稿】澄清‘什么能进长期库、什么时候检索什么’。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【配图】本页右侧图位：放 WebUI 截图（记忆详情抽屉/遗忘曲线/事件流）。</a:t>
            </a:r>
          </a:p>
          <a:p>
            <a:r>
              <a:t>【讲稿】展示可视化如何帮助理解系统。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【配图】可放消融图（docs/17 配图脚本生成）作背景。</a:t>
            </a:r>
          </a:p>
          <a:p>
            <a:r>
              <a:t>【讲稿】进入数据章节，先声明词袋环境。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【讲稿】强调‘对照是开关能力而不是删用例’。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【配图】建议放消融柱状图（docs/17 配图脚本：G2 vs G3 分类别 hit@5）。</a:t>
            </a:r>
          </a:p>
          <a:p>
            <a:r>
              <a:t>【讲稿】这是最硬的一条证据。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【配图】可放跨场次 WebUI 截图（第二场命中带‘往场沉淀’）或表格。</a:t>
            </a:r>
          </a:p>
          <a:p>
            <a:r>
              <a:t>【讲稿】对负结果要诚实。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【配图】可放遗忘曲线（WebUI 截图）或 DeepSeek 输出截图。</a:t>
            </a:r>
          </a:p>
          <a:p>
            <a:r>
              <a:t>【讲稿】强调限定词，避免被当成最终结论。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docs/figures/fig2_campaign_trajectory.png 作背景。</a:t>
            </a:r>
          </a:p>
          <a:p>
            <a:r>
              <a:t>【讲稿】从‘能不能用’讲到‘怎么接’。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【配图】本页右侧图位：放 docs/figures/fig2_campaign_trajectory.png 或智戎桥接架构示意图。</a:t>
            </a:r>
          </a:p>
          <a:p>
            <a:r>
              <a:t>【讲稿】强调 P1（无结束信号）已有适配方案。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【讲稿】把‘方向性/示范性’讲清楚，再列行动项。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【配图】可放校徽（可选）。</a:t>
            </a:r>
          </a:p>
          <a:p>
            <a:r>
              <a:t>【讲稿】感谢，进入提问。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20000" y="1944000"/>
            <a:ext cx="1764000" cy="216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0000" y="936000"/>
            <a:ext cx="9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7D3E8"/>
                </a:solidFill>
                <a:latin typeface="Microsoft YaHei"/>
              </a:rPr>
              <a:t>GRADUATE PROJECT · FINAL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2232000"/>
            <a:ext cx="1000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面向作战规划智能体的</a:t>
            </a:r>
          </a:p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可进化外部记忆系统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0000" y="410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0000" y="446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小组：姓名一 / 姓名二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0000" y="482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2025年7月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目录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0000" y="1655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9200" y="1745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9200" y="1771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2000" y="1835999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01 问题与思路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0000" y="2501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59200" y="2591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59200" y="2617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2000" y="2681999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02 相关工作与启发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80000" y="3348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59200" y="3438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9200" y="3463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2000" y="3528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03 系统设计与实现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0000" y="4194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59200" y="4284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59200" y="4309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2000" y="4374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04 实验设计与验证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0000" y="5040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9200" y="5130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9200" y="5155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2000" y="5220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05 智戎接入与总结展望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问题与思路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PROBLEM &amp; APPROACH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课题背景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从零开始的问题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作战规划智能体以场次接任务，目标→查询→检索→规划→推演→复盘→下一场；模型与上下文都不保留跨场次状态，同类错误会反复出现。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长上下文不够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扩展窗口只解决“当前提示词放得下”，窗口关闭后信息即失效；RAG 只解决外部知识供给，不解决经验如何沉淀、更新与淘汰。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模型内记忆代价高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通过微调或状态注入改变模型本身，成本高且无法审计；军事场景需要可回放、可解释的记忆操作。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目标定位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在模型之外构建可读写、可演化、可审计的外部记忆系统，以“写入-检索-更新-淘汰”为生命周期。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五个失败模式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92799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P1 经验不积累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70000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场次间无状态传递；第一场在隘口遇伏，第二场可能仍未派先遣侦察，失败教训没有载体。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60000" y="1891295"/>
            <a:ext cx="1152000" cy="562463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2000" y="25452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273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699999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P2 上下文超限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2000" y="2977200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场内战报与硬约束同时涌入，粗暴截断可能把“禁止越境”等约束切掉，规划易合规出错。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60000" y="2798495"/>
            <a:ext cx="1152000" cy="562463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3452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36431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12000" y="3607200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P3 查询口径混杂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12000" y="3884399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装备参数需要精确，经验教训需要语义泛化；同一路无法同时满足精确与召回。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260000" y="3705696"/>
            <a:ext cx="1152000" cy="562463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2000" y="43596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5504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2000" y="4514400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P4 库噪声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791600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复盘无差别入库让长期库积累流水账，信号被噪声淹没，且无法回答“这条为什么在库中”。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60000" y="4612896"/>
            <a:ext cx="1152000" cy="562463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2000" y="5266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5457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21600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P5 目标检索弱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698799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直接用任务目标一句话查询信息量太薄，规划不同阶段需要的记忆类型不同。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260000" y="5520096"/>
            <a:ext cx="1152000" cy="562463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2000" y="61739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五个研究问题 RQ1-RQ5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92000" y="18144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19368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P1/P5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2000" y="18539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4000" y="17820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RQ1 双库贡献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4000" y="2095200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事实/经验分库是否在固定用例集上带来可测召回增益？对应 G2 vs G3 消融。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332000" y="1872000"/>
            <a:ext cx="1080000" cy="544319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000" y="25560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2000" y="27216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4000" y="28440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2000" y="27611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64000" y="26892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RQ2 跨场次复用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4000" y="3002400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第一场复盘写入能否被第二场召回？处理组 0.833 vs 对照 0。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32000" y="2779200"/>
            <a:ext cx="1080000" cy="544319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2000" y="34631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2000" y="36288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000" y="37512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2000" y="36684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64000" y="35964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RQ3 检索策略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64000" y="3909600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三路融合相对单路是否有增益？词袋下召回未胜出，排序/干扰压制更好。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332000" y="3686400"/>
            <a:ext cx="1080000" cy="544319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2000" y="4370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2000" y="45360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4000" y="46584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P2/P4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32000" y="45756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64000" y="45036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RQ4 滤噪与遗忘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64000" y="4816800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阈值能否滤除负例、遗忘是否不误删保护记忆？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32000" y="4593600"/>
            <a:ext cx="1080000" cy="544319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2000" y="52775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2000" y="54432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000" y="55656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32000" y="54827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64000" y="54108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RQ5 真实模型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64000" y="5723999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DeepSeek 是否实际引用装载记忆？T6 引用率 1.00。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000" y="5500800"/>
            <a:ext cx="1080000" cy="544319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2000" y="6184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总体思路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6000" y="1800000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000" y="2106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外部系统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0" y="2501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把记忆从上下文窗口搬到独立系统，可写、可检索、可更新、可淘汰；短期管当前场次，长期管跨场次知识。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8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8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4000" y="1800000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0" y="2106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复盘晋升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0" y="2501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短期→长期只留一条写通道，即场次结束后的复盘；三道门控：复盘驱动、类别判定、语义查重，每次操作进审计日志。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6000" y="4031999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000" y="4338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0" y="4733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LLM/规则只负责提候选，写入、合并、遗忘、抽象由确定性代码执行；保证“为什么删、从哪来”可审计。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8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8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4000" y="4031999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0000" y="4338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0" y="4733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查询按 MDMP 七阶段生成，阶段匹配记忆加亲和分；复盘教训归因到阶段，让“方案拟制”优先看到历史战例。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相关工作与启发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RELATED WORK &amp; INSPIRATION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上下文组织与工作记忆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综述框架（Zhang 2024）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把记忆工作归纳为“形式-操作-应用”三层；本文补齐“写、更新、遗忘”闭环并把每步做成可审计事件。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MemGPT 分层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主上下文+外部存档；本文采用分层，但改成确定性阈值换页（0.7预警/1.0压缩），保证可复现可消融。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SCM 控制器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显式决定何时读/写/归档；本文沿用“控制器唯一调度”，但把写长期库收窄为复盘晋升一条通道。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LLMLingua/ICAE 压缩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借用位置偏置与“只压历史不压约束”，压缩器本身留作后续扩展。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长期存储与检索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1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ChatDB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195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数据库即符号记忆 → 只保留属性精确过滤，不实现全量 NL→SQL。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17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25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271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ExpeL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509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经验库+向量召回 → 补齐重要性加权与 SQLite 持久化。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273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2808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2829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Reflexion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3067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语言反思 → 采用语言形式经验，不采用在线强化。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29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336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387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MemoryBank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625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艾宾浩斯遗忘+召唤强化 → 增加 importance≥2 保护线。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38519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3924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3945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Zep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183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时序知识图谱+溯源 → 采用溯源字段，不采用图存储。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4410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448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450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MIRIX/TiM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474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多路策略与显式检索计划 → 压缩为三路融合。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496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记忆进化与设计依据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借鉴 / 启发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16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16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PREMem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237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θ 相似度去重 → 写入前查重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79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279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StructMem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300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跨事件整合 → “抽象”操作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2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" y="342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MemSkill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000" y="363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操作类型化 → MemoryOp 枚举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405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000" y="405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Mem-α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000" y="426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建议-执行分离 → 核心架构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716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8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8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注意 / 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8000" y="216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6000" y="216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不采用完整聚类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6000" y="237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50 条量级收益不明显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8000" y="279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6000" y="279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不采用在线强化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6000" y="300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战场奖励信号不稳定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8000" y="342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6000" y="342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不采用图存储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6000" y="363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构建纠错成本高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8000" y="405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6000" y="405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领域化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6000" y="426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保护线、精确绕过阈值、阶段供给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8000" y="4716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系统设计与实现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DESIGN &amp; IMPLEMENTATION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20799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7100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四层架构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15199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模型层统一数据对象，能力层分短期/长期/检索/进化，跨切面处理边界与阶段，编排层由控制器与管线调度。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560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5452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模块解耦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2750400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四个能力层互不 import，只通过 schema 对象通信，为独立消融提供物理基础。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3264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000" y="33912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3804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唯一写通道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6000" y="3585600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短期→长期只经复盘晋升，经三道边界门，每次判定写入审计日志。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000" y="41616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000" y="42264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6000" y="42156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可独立消融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6000" y="4420800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通过依赖注入开关能力，G0-G6 固定用例集验证。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03999" y="1655999"/>
            <a:ext cx="3780000" cy="410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短期工作记忆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584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584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735200"/>
            <a:ext cx="993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槽位保存目标/约束/查询/消息；约束永不压缩，保证规划合规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2196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0000" y="2196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000" y="2347200"/>
            <a:ext cx="993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FIFO 超阈值触发递归摘要，被驱逐消息进入归档区供复盘晋升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0000" y="2808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0000" y="2808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000" y="2862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渲染顺序刻意使用首尾位置偏置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000" y="30672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关键信息放头部，近期消息放尾部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0000" y="3096000"/>
            <a:ext cx="10728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000" y="3124800"/>
            <a:ext cx="28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000" y="3347999"/>
            <a:ext cx="10728000" cy="28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6000" y="3437999"/>
            <a:ext cx="10296000" cy="259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def render(slot):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parts = [阶段, 目标, 约束]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if slot.loaded_briefs: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    parts.append('【装载记忆】' + briefs)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parts.append(查询列表)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parts.append(最新消息[-20:])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return '\n'.join(parts)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/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def flush(slot, llm):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evicted = slot.fifo.pop(前半)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slot.summary = llm.summarize(旧摘要 + evicted)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slot.archived.append(evicted)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长期双库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584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584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638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事实库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18432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SQLite+属性精确；经验库：向量语义召回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2196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0000" y="2196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" y="2347200"/>
            <a:ext cx="993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attrs 精确命中绕过 min_score——查询方显式指定条件即构造性相关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0000" y="2808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0000" y="2808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000" y="2959200"/>
            <a:ext cx="993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接口示例与融合策略如下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0000" y="3096000"/>
            <a:ext cx="10728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000" y="3124800"/>
            <a:ext cx="28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000" y="3347999"/>
            <a:ext cx="10728000" cy="28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6000" y="3437999"/>
            <a:ext cx="10296000" cy="259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hits_exact = factual.search_attrs({'装备': 'T-90'})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hits_sem = experiential.search('夜战侦察教训')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# 融合时：attrs 命中即相关，不参与相似度阈值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混合检索：三路融合 + 单路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584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584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735200"/>
            <a:ext cx="993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vector/BM25/SQL 三路；hybrid 加权累加，single 供消融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2196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0000" y="2196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000" y="2250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归一化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4552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向量余弦、BM25 查询自匹配上界、SQL 恒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0000" y="2808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0000" y="2808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000" y="2862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公式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000" y="30672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s_hybrid = Σ w_r·n_r(id)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000" y="3096000"/>
            <a:ext cx="10728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000" y="3124800"/>
            <a:ext cx="28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0000" y="3347999"/>
            <a:ext cx="10728000" cy="28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000" y="3437999"/>
            <a:ext cx="10296000" cy="259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def retrieve(q, mode='hybrid', top_k=5):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pool = [route(q, q.route)]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if mode == 'hybrid':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    pool += [route(q, alt) for alt in routes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             if alt != q.route]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pool = [normalize(r) for r in pool]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fused = aggregate_by_id(pool, weights)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if q.stage: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    fused = add_stage_bonus(fused, q.stage)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ranked = [x for x in sorted(fused, reverse=True)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          if x.score &gt;= min_score][:top_k]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for r in ranked: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    r.entry.mark_recalled()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return ranked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记忆进化：写/合/忘/抽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584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584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638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18432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LLM 提候选，确定性代码执行写/合/忘/抽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2196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0000" y="2196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" y="2250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遗忘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24552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R=e^{-t/S}，命中 S+1；importance≥2 保护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0000" y="2808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0000" y="2808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000" y="2959200"/>
            <a:ext cx="993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同场新经验≥2 条触发抽象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000" y="3096000"/>
            <a:ext cx="10728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000" y="3124800"/>
            <a:ext cx="28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0000" y="3347999"/>
            <a:ext cx="10728000" cy="28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000" y="3437999"/>
            <a:ext cx="10296000" cy="259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def evolve_from_review(review, session_id):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ops = llm.extract_memory_ops(review)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for op in ops: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    if not boundary.promote(op.content):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        continue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    if write(op) is None: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        skipped += 1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merge_new_entries()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forget()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if len(new_experiences) &gt;= 2: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        abstract()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/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# 遗忘核心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R = exp(-t / max(S, 1e-6))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# 命中强化</a:t>
            </a:r>
          </a:p>
          <a:p>
            <a:pPr algn="l"/>
            <a:r>
              <a:rPr sz="1100" b="0">
                <a:solidFill>
                  <a:srgbClr val="1F3A68"/>
                </a:solidFill>
                <a:latin typeface="Consolas"/>
              </a:rPr>
              <a:t>S += 1; t 重置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边界门控与阶段感知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只有场次复盘文本才能触发晋升，流水账被挡在门外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类别判定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事实/经验分别进入对应存储，避免类型混乱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语义查重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写入前 θ 余弦去重，重复经验不重复入库；每次判定写审计日志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查询按 MDMP 七阶段生成，阶段匹配记忆加亲和分，复盘教训归因到阶段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WebUI 可视化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20799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7100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三栏页签化布局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15199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左输入/中运行/右产出，长内容折叠为页签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560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5452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记忆详情抽屉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2750400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总览/单条历史/遗忘日志，支持点击展开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3264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000" y="33912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3804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遗忘曲线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6000" y="3585600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R=e^{-t/S} 与‘立即召回 S+1’对比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000" y="41616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000" y="42264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6000" y="4312800"/>
            <a:ext cx="561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战役进度条、库健康度分布条、事件流点击展开详情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03999" y="1655999"/>
            <a:ext cx="3780000" cy="410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EXPERIMENTS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数据集与评估协议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1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测试集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195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自建 50 条 8 类（A-H），查询与答案刻意避免关键词共现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17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25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271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对照组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509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固定用例集，通过依赖注入开关能力（G0-G6），不删减用例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273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2808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2829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指标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3067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检索层 hit@3/5、MRR、NDCG；任务层 引用率/约束满足/噪声污染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29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336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387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统计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625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随机基线解析式、bootstrap CI、配对置换检验，种子固定 42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38519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双库贡献（RQ1）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0000" y="1728000"/>
            <a:ext cx="2439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070000"/>
            <a:ext cx="2439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3A68"/>
                </a:solidFill>
                <a:latin typeface="Microsoft YaHei"/>
              </a:rPr>
              <a:t>0.636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999" y="2646000"/>
            <a:ext cx="2223000" cy="73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G3 双库全开 hit@5（G2 为 0.341）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3000" y="1728000"/>
            <a:ext cx="2439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000" y="2070000"/>
            <a:ext cx="2439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3A68"/>
                </a:solidFill>
                <a:latin typeface="Microsoft YaHei"/>
              </a:rPr>
              <a:t>p=0.0001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46000"/>
            <a:ext cx="2223000" cy="73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配对置换检验，n=44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6000" y="1728000"/>
            <a:ext cx="2439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6000" y="2070000"/>
            <a:ext cx="2439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3A68"/>
                </a:solidFill>
                <a:latin typeface="Microsoft YaHei"/>
              </a:rPr>
              <a:t>0.357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4000" y="2646000"/>
            <a:ext cx="2223000" cy="73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随机基线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9000" y="1728000"/>
            <a:ext cx="2439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9000" y="2070000"/>
            <a:ext cx="2439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3A68"/>
                </a:solidFill>
                <a:latin typeface="Microsoft YaHei"/>
              </a:rPr>
              <a:t>0.625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7000" y="2646000"/>
            <a:ext cx="2223000" cy="73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C 类残余失分（词袋局限）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跨场次与检索策略（RQ2/RQ3）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1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跨场次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195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处理组 0.833 vs 对照 0，负控 0；机制路径完整，但 n=6 样本有限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17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25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271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p=0.059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509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方向性证据，需扩容到 20 条才能形成结论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273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2808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2829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检索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3067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词袋下 hybrid 0.857 vs vector 0.929，召回未胜出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29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336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387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干扰压制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625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hybrid 1.0 高于任一单路 ≤0.875，排序更好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38519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3924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3945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结论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183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混合价值在排序；真向量复测后再判定召回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4410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滤噪、遗忘与真实模型（RQ4/RQ5）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0000" y="1728000"/>
            <a:ext cx="2439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070000"/>
            <a:ext cx="2439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3A68"/>
                </a:solidFill>
                <a:latin typeface="Microsoft YaHei"/>
              </a:rPr>
              <a:t>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999" y="2646000"/>
            <a:ext cx="2223000" cy="73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负例返回率（min_score=0.16）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3000" y="1728000"/>
            <a:ext cx="2439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000" y="2070000"/>
            <a:ext cx="2439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3A68"/>
                </a:solidFill>
                <a:latin typeface="Microsoft YaHe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46000"/>
            <a:ext cx="2223000" cy="73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遗忘误删，保护线有效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6000" y="1728000"/>
            <a:ext cx="2439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6000" y="2070000"/>
            <a:ext cx="2439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3A68"/>
                </a:solidFill>
                <a:latin typeface="Microsoft YaHei"/>
              </a:rPr>
              <a:t>1.00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4000" y="2646000"/>
            <a:ext cx="2223000" cy="73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DeepSeek 引用率（20/20）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9000" y="1728000"/>
            <a:ext cx="2439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9000" y="2070000"/>
            <a:ext cx="2439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3A68"/>
                </a:solidFill>
                <a:latin typeface="Microsoft YaHei"/>
              </a:rPr>
              <a:t>0.857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7000" y="2646000"/>
            <a:ext cx="2223000" cy="73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正例 hit@5 保持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智戎接入与总结展望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INTEGRATION &amp; OUTLOOK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智戎事件驱动适配（P0 落地）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20799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7100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hook_evolve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15199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不依赖‘场次结束’，可随时触发进化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560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5452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结构化反馈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2750400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AFSIM 数值/事件转复盘文本，失败补‘教训’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3264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000" y="33912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3804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normalize_task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6000" y="3585600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结构化任务 → goal/constraints/queries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000" y="41616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000" y="42264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6000" y="42156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domain_check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6000" y="4420800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领域巡检 + min_score 建议，等待真实数据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03999" y="1655999"/>
            <a:ext cx="3780000" cy="410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1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结论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195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分层与进化机制在词袋固定设置下有效，双库 p=0.0001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17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25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329200"/>
            <a:ext cx="98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真模型验证了检索-生成链路可用，引用率 1.00（示范性）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73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808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2000" y="2829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下一步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3067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真向量重跑与重标定 min_score/θ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29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36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12000" y="3387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下一步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625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H 类扩至 20 条、知识锚定、冲突仲裁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38519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3924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2000" y="3945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下一步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183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智戎真实链路联调与领域巡检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4410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0000" y="2592000"/>
            <a:ext cx="10008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icrosoft YaHei"/>
              </a:rPr>
              <a:t>感谢聆听 · 欢迎交流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4104000"/>
            <a:ext cx="100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