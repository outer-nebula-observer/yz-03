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【配图】可放校徽（可选）。</a:t>
            </a:r>
          </a:p>
          <a:p>
            <a:r>
              <a:t>【讲稿】开场1分钟：课题目标、单位、小组分工。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【配图】无。</a:t>
            </a:r>
          </a:p>
          <a:p>
            <a:r>
              <a:t>【讲稿】按五部分走，重点在系统设计与实验验证。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【配图】可放 docs/figures/fig2_campaign_trajectory.png 作背景。</a:t>
            </a:r>
          </a:p>
          <a:p>
            <a:r>
              <a:t>【讲稿】先讲‘为什么需要外部记忆’。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【讲稿】用“同一夜间进攻任务，第一场隘口遇伏，第二场大概率再吃亏”开场。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【讲稿】P1-P4 来自初始拆解，P5 来自导师反馈；每行右侧为示意图占位。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【讲稿】强调 RQ 是从失败模式引申而来，实验章节逐一回答。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【讲稿】四句话说清系统设计哲学。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【配图】可放 docs/figures/fig1_architecture.png 作背景。</a:t>
            </a:r>
          </a:p>
          <a:p>
            <a:r>
              <a:t>【讲稿】说明借鉴什么、不采用什么。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【讲稿】每条讲“借鉴什么、为什么不完整照搬”。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【讲稿】说明检索与存储不是凭空设计。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【讲稿】强调机制都有原型，差异在组合与军事场景限定。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【配图】可放 docs/figures/fig1_architecture.png 作背景。</a:t>
            </a:r>
          </a:p>
          <a:p>
            <a:r>
              <a:t>【讲稿】进入核心章节。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【配图】本页右侧图位：放 docs/figures/fig1_architecture.png（系统架构图）。</a:t>
            </a:r>
          </a:p>
          <a:p>
            <a:r>
              <a:t>【讲稿】讲清分层与‘可独立消融’。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【配图】无。</a:t>
            </a:r>
          </a:p>
          <a:p>
            <a:r>
              <a:t>【讲稿】讲清‘首尾关键、约束不压缩、归档可复盘’。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【配图】无。</a:t>
            </a:r>
          </a:p>
          <a:p>
            <a:r>
              <a:t>【讲稿】用 T-90 vs M1A2 的例子说明为什么必须分库。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【配图】无。</a:t>
            </a:r>
          </a:p>
          <a:p>
            <a:r>
              <a:t>【讲稿】重点讲归一化与‘命中强化只做一次’。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【配图】无。</a:t>
            </a:r>
          </a:p>
          <a:p>
            <a:r>
              <a:t>【讲稿】讲清‘为什么建议与执行分离’——可审计。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【配图】无。</a:t>
            </a:r>
          </a:p>
          <a:p>
            <a:r>
              <a:t>【讲稿】澄清‘什么能进长期库、什么时候检索什么’。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【配图】本页右侧图位：放 WebUI 截图（记忆详情抽屉/遗忘曲线/事件流）。</a:t>
            </a:r>
          </a:p>
          <a:p>
            <a:r>
              <a:t>【讲稿】展示可视化如何帮助理解系统。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【配图】可放消融图（docs/17 配图脚本生成）作背景。</a:t>
            </a:r>
          </a:p>
          <a:p>
            <a:r>
              <a:t>【讲稿】进入数据章节，先声明词袋环境。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【配图】无。</a:t>
            </a:r>
          </a:p>
          <a:p>
            <a:r>
              <a:t>【讲稿】强调‘对照是开关能力而不是删用例’。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【配图】建议放消融柱状图（docs/17 配图脚本：G2 vs G3 分类别 hit@5）。</a:t>
            </a:r>
          </a:p>
          <a:p>
            <a:r>
              <a:t>【讲稿】这是最硬的一条证据。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【配图】可放跨场次 WebUI 截图（第二场命中带‘往场沉淀’）或表格。</a:t>
            </a:r>
          </a:p>
          <a:p>
            <a:r>
              <a:t>【讲稿】对负结果要诚实。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【配图】可放遗忘曲线（WebUI 截图）或 DeepSeek 输出截图。</a:t>
            </a:r>
          </a:p>
          <a:p>
            <a:r>
              <a:t>【讲稿】强调限定词，避免被当成最终结论。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【配图】可放 docs/figures/fig2_campaign_trajectory.png 作背景。</a:t>
            </a:r>
          </a:p>
          <a:p>
            <a:r>
              <a:t>【讲稿】从‘能不能用’讲到‘怎么接’。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【配图】本页右侧图位：放 docs/figures/fig2_campaign_trajectory.png 或智戎桥接架构示意图。</a:t>
            </a:r>
          </a:p>
          <a:p>
            <a:r>
              <a:t>【讲稿】强调 P1（无结束信号）已有适配方案。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【配图】无。</a:t>
            </a:r>
          </a:p>
          <a:p>
            <a:r>
              <a:t>【讲稿】把‘方向性/示范性’讲清楚，再列行动项。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【配图】可放校徽（可选）。</a:t>
            </a:r>
          </a:p>
          <a:p>
            <a:r>
              <a:t>【讲稿】感谢，进入提问。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8000" y="576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8000" y="6228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44000" y="576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44000" y="6228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8000" y="5760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8000" y="60336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98400" y="5760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98400" y="60336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20000" y="1944000"/>
            <a:ext cx="1764000" cy="21600"/>
          </a:xfrm>
          <a:prstGeom prst="rect">
            <a:avLst/>
          </a:prstGeom>
          <a:solidFill>
            <a:srgbClr val="9A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40000" y="936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7D3E8"/>
                </a:solidFill>
                <a:latin typeface="Microsoft YaHei"/>
              </a:rPr>
              <a:t>GRADUATE PROJECT · FINAL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2232000"/>
            <a:ext cx="10008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Microsoft YaHei"/>
              </a:rPr>
              <a:t>面向作战规划智能体的</a:t>
            </a:r>
          </a:p>
          <a:p>
            <a:pPr algn="ctr"/>
            <a:r>
              <a:rPr sz="5000" b="1">
                <a:solidFill>
                  <a:srgbClr val="FFFFFF"/>
                </a:solidFill>
                <a:latin typeface="Microsoft YaHei"/>
              </a:rPr>
              <a:t>可进化外部记忆系统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0000" y="4104000"/>
            <a:ext cx="9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7D3E8"/>
                </a:solidFill>
                <a:latin typeface="Microsoft YaHei"/>
              </a:rPr>
              <a:t>国防科技大学 · 课题3 · 长短期记忆系统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0000" y="4464000"/>
            <a:ext cx="9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7D3E8"/>
                </a:solidFill>
                <a:latin typeface="Microsoft YaHei"/>
              </a:rPr>
              <a:t>小组：姓名一 / 姓名二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000" y="4824000"/>
            <a:ext cx="9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7D3E8"/>
                </a:solidFill>
                <a:latin typeface="Microsoft YaHei"/>
              </a:rPr>
              <a:t>2025年7月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3A68"/>
                </a:solidFill>
                <a:latin typeface="Microsoft YaHei"/>
              </a:rPr>
              <a:t>目录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0000" y="1655999"/>
            <a:ext cx="9900000" cy="684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9200" y="1745999"/>
            <a:ext cx="503999" cy="503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9200" y="1771200"/>
            <a:ext cx="50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2000" y="1835999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Microsoft YaHei"/>
              </a:rPr>
              <a:t>01 问题与思路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80000" y="2501999"/>
            <a:ext cx="9900000" cy="684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9200" y="2591999"/>
            <a:ext cx="503999" cy="503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9200" y="2617200"/>
            <a:ext cx="50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2000" y="2681999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Microsoft YaHei"/>
              </a:rPr>
              <a:t>02 相关工作与启发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0000" y="3348000"/>
            <a:ext cx="9900000" cy="684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59200" y="3438000"/>
            <a:ext cx="503999" cy="503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9200" y="3463200"/>
            <a:ext cx="50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2000" y="35280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Microsoft YaHei"/>
              </a:rPr>
              <a:t>03 系统设计与实现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0000" y="4194000"/>
            <a:ext cx="9900000" cy="684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59200" y="4284000"/>
            <a:ext cx="503999" cy="503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9200" y="4309200"/>
            <a:ext cx="50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2000" y="43740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Microsoft YaHei"/>
              </a:rPr>
              <a:t>04 实验设计与验证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80000" y="5040000"/>
            <a:ext cx="9900000" cy="684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9200" y="5130000"/>
            <a:ext cx="503999" cy="503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9200" y="5155200"/>
            <a:ext cx="503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2000" y="52200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A68"/>
                </a:solidFill>
                <a:latin typeface="Microsoft YaHei"/>
              </a:rPr>
              <a:t>05 智戎接入与总结展望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80000" y="1260000"/>
            <a:ext cx="2880000" cy="288000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296000"/>
            <a:ext cx="50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4C689B"/>
                </a:solidFill>
                <a:latin typeface="Microsoft YaHe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2000" y="3671999"/>
            <a:ext cx="2160000" cy="36000"/>
          </a:xfrm>
          <a:prstGeom prst="rect">
            <a:avLst/>
          </a:prstGeom>
          <a:solidFill>
            <a:srgbClr val="9A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0" y="3888000"/>
            <a:ext cx="79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Microsoft YaHei"/>
              </a:rPr>
              <a:t>问题与思路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2000" y="489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3E8"/>
                </a:solidFill>
                <a:latin typeface="Microsoft YaHei"/>
              </a:rPr>
              <a:t>PROBLEM &amp;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01 · 问题与思路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课题背景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828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800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从零开始的问题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106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作战规划智能体以场次接任务，目标→查询→检索→规划→推演→复盘→下一场；模型与上下文都不保留跨场次状态，同类错误会反复出现。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61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96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93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长上下文不够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240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扩展窗口只解决“当前提示词放得下”，窗口关闭后信息即失效；RAG 只解决外部知识供给，不解决经验如何沉淀、更新与淘汰。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09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7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模型内记忆代价高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373999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通过微调或状态注入改变模型本身，成本高且无法审计；军事场景需要可回放、可解释的记忆操作。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029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5230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02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目标定位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5508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在模型之外构建可读写、可演化、可审计的外部记忆系统，以“写入-检索-更新-淘汰”为生命周期。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163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01 · 问题与思路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五个失败模式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828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92799"/>
            <a:ext cx="85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P1 经验不积累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70000"/>
            <a:ext cx="8568000" cy="40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F6E"/>
                </a:solidFill>
                <a:latin typeface="Microsoft YaHei"/>
              </a:rPr>
              <a:t>场次间无状态传递；第一场在隘口遇伏，第二场可能仍未派先遣侦察，失败教训没有载体。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60000" y="1891295"/>
            <a:ext cx="1152000" cy="562463"/>
          </a:xfrm>
          <a:prstGeom prst="rect">
            <a:avLst/>
          </a:prstGeom>
          <a:solidFill>
            <a:srgbClr val="F2F4F8"/>
          </a:solidFill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2000" y="2545200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" y="2736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2699999"/>
            <a:ext cx="85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P2 上下文超限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2000" y="2977200"/>
            <a:ext cx="8568000" cy="40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F6E"/>
                </a:solidFill>
                <a:latin typeface="Microsoft YaHei"/>
              </a:rPr>
              <a:t>场内战报与硬约束同时涌入，粗暴截断可能把“禁止越境”等约束切掉，规划易合规出错。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60000" y="2798495"/>
            <a:ext cx="1152000" cy="562463"/>
          </a:xfrm>
          <a:prstGeom prst="rect">
            <a:avLst/>
          </a:prstGeom>
          <a:solidFill>
            <a:srgbClr val="F2F4F8"/>
          </a:solidFill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2000" y="3452400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000" y="36431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2000" y="3607200"/>
            <a:ext cx="85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P3 查询口径混杂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2000" y="3884399"/>
            <a:ext cx="8568000" cy="40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F6E"/>
                </a:solidFill>
                <a:latin typeface="Microsoft YaHei"/>
              </a:rPr>
              <a:t>装备参数需要精确，经验教训需要语义泛化；同一路无法同时满足精确与召回。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60000" y="3705696"/>
            <a:ext cx="1152000" cy="562463"/>
          </a:xfrm>
          <a:prstGeom prst="rect">
            <a:avLst/>
          </a:prstGeom>
          <a:solidFill>
            <a:srgbClr val="F2F4F8"/>
          </a:solidFill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2000" y="4359600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45504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2000" y="4514400"/>
            <a:ext cx="85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P4 库噪声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2000" y="4791600"/>
            <a:ext cx="8568000" cy="40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F6E"/>
                </a:solidFill>
                <a:latin typeface="Microsoft YaHei"/>
              </a:rPr>
              <a:t>复盘无差别入库让长期库积累流水账，信号被噪声淹没，且无法回答“这条为什么在库中”。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60000" y="4612896"/>
            <a:ext cx="1152000" cy="562463"/>
          </a:xfrm>
          <a:prstGeom prst="rect">
            <a:avLst/>
          </a:prstGeom>
          <a:solidFill>
            <a:srgbClr val="F2F4F8"/>
          </a:solidFill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2000" y="5266800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" y="54575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2F6EBA"/>
                </a:solidFill>
                <a:latin typeface="Microsoft YaHe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2000" y="5421600"/>
            <a:ext cx="856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A68"/>
                </a:solidFill>
                <a:latin typeface="Microsoft YaHei"/>
              </a:rPr>
              <a:t>P5 目标检索弱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2000" y="5698799"/>
            <a:ext cx="8568000" cy="40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F6E"/>
                </a:solidFill>
                <a:latin typeface="Microsoft YaHei"/>
              </a:rPr>
              <a:t>直接用任务目标一句话查询信息量太薄，规划不同阶段需要的记忆类型不同。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60000" y="5520096"/>
            <a:ext cx="1152000" cy="562463"/>
          </a:xfrm>
          <a:prstGeom prst="rect">
            <a:avLst/>
          </a:prstGeom>
          <a:solidFill>
            <a:srgbClr val="F2F4F8"/>
          </a:solidFill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2000" y="6173999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01 · 问题与思路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3A68"/>
                </a:solidFill>
                <a:latin typeface="Microsoft YaHei"/>
              </a:rPr>
              <a:t>五个研究问题 RQ1-RQ5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2000" y="1814400"/>
            <a:ext cx="1296000" cy="684000"/>
          </a:xfrm>
          <a:prstGeom prst="roundRect">
            <a:avLst>
              <a:gd name="adj" fmla="val 8000"/>
            </a:avLst>
          </a:prstGeom>
          <a:solidFill>
            <a:srgbClr val="E7EF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1936800"/>
            <a:ext cx="1152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F6EBA"/>
                </a:solidFill>
                <a:latin typeface="Microsoft YaHei"/>
              </a:rPr>
              <a:t>P1/P5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2000" y="1853999"/>
            <a:ext cx="36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4000" y="1782000"/>
            <a:ext cx="7523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A68"/>
                </a:solidFill>
                <a:latin typeface="Microsoft YaHei"/>
              </a:rPr>
              <a:t>RQ1 双库贡献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4000" y="2095200"/>
            <a:ext cx="7523999" cy="36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55F6E"/>
                </a:solidFill>
                <a:latin typeface="Microsoft YaHei"/>
              </a:rPr>
              <a:t>事实/经验分库是否在固定用例集上带来可测召回增益？对应 G2 vs G3 消融。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32000" y="1872000"/>
            <a:ext cx="1080000" cy="544319"/>
          </a:xfrm>
          <a:prstGeom prst="rect">
            <a:avLst/>
          </a:prstGeom>
          <a:solidFill>
            <a:srgbClr val="F2F4F8"/>
          </a:solidFill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2000" y="2556000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2000" y="2721600"/>
            <a:ext cx="1296000" cy="684000"/>
          </a:xfrm>
          <a:prstGeom prst="roundRect">
            <a:avLst>
              <a:gd name="adj" fmla="val 8000"/>
            </a:avLst>
          </a:prstGeom>
          <a:solidFill>
            <a:srgbClr val="E7EF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000" y="2844000"/>
            <a:ext cx="1152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F6EBA"/>
                </a:solidFill>
                <a:latin typeface="Microsoft YaHei"/>
              </a:rP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2000" y="2761199"/>
            <a:ext cx="36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4000" y="2689200"/>
            <a:ext cx="7523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A68"/>
                </a:solidFill>
                <a:latin typeface="Microsoft YaHei"/>
              </a:rPr>
              <a:t>RQ2 跨场次复用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4000" y="3002400"/>
            <a:ext cx="7523999" cy="36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55F6E"/>
                </a:solidFill>
                <a:latin typeface="Microsoft YaHei"/>
              </a:rPr>
              <a:t>第一场复盘写入能否被第二场召回？处理组 0.833 vs 对照 0。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32000" y="2779200"/>
            <a:ext cx="1080000" cy="544319"/>
          </a:xfrm>
          <a:prstGeom prst="rect">
            <a:avLst/>
          </a:prstGeom>
          <a:solidFill>
            <a:srgbClr val="F2F4F8"/>
          </a:solidFill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2000" y="3463199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2000" y="3628800"/>
            <a:ext cx="1296000" cy="684000"/>
          </a:xfrm>
          <a:prstGeom prst="roundRect">
            <a:avLst>
              <a:gd name="adj" fmla="val 8000"/>
            </a:avLst>
          </a:prstGeom>
          <a:solidFill>
            <a:srgbClr val="E7EF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000" y="3751200"/>
            <a:ext cx="1152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F6EBA"/>
                </a:solidFill>
                <a:latin typeface="Microsoft YaHei"/>
              </a:rPr>
              <a:t>P3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2000" y="3668400"/>
            <a:ext cx="36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4000" y="3596400"/>
            <a:ext cx="7523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A68"/>
                </a:solidFill>
                <a:latin typeface="Microsoft YaHei"/>
              </a:rPr>
              <a:t>RQ3 检索策略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64000" y="3909600"/>
            <a:ext cx="7523999" cy="36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55F6E"/>
                </a:solidFill>
                <a:latin typeface="Microsoft YaHei"/>
              </a:rPr>
              <a:t>三路融合相对单路是否有增益？词袋下召回未胜出，排序/干扰压制更好。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32000" y="3686400"/>
            <a:ext cx="1080000" cy="544319"/>
          </a:xfrm>
          <a:prstGeom prst="rect">
            <a:avLst/>
          </a:prstGeom>
          <a:solidFill>
            <a:srgbClr val="F2F4F8"/>
          </a:solidFill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2000" y="4370400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2000" y="4536000"/>
            <a:ext cx="1296000" cy="684000"/>
          </a:xfrm>
          <a:prstGeom prst="roundRect">
            <a:avLst>
              <a:gd name="adj" fmla="val 8000"/>
            </a:avLst>
          </a:prstGeom>
          <a:solidFill>
            <a:srgbClr val="E7EF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000" y="4658400"/>
            <a:ext cx="1152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F6EBA"/>
                </a:solidFill>
                <a:latin typeface="Microsoft YaHei"/>
              </a:rPr>
              <a:t>P2/P4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32000" y="4575600"/>
            <a:ext cx="36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64000" y="4503600"/>
            <a:ext cx="7523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A68"/>
                </a:solidFill>
                <a:latin typeface="Microsoft YaHei"/>
              </a:rPr>
              <a:t>RQ4 滤噪与遗忘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64000" y="4816800"/>
            <a:ext cx="7523999" cy="36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55F6E"/>
                </a:solidFill>
                <a:latin typeface="Microsoft YaHei"/>
              </a:rPr>
              <a:t>阈值能否滤除负例、遗忘是否不误删保护记忆？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32000" y="4593600"/>
            <a:ext cx="1080000" cy="544319"/>
          </a:xfrm>
          <a:prstGeom prst="rect">
            <a:avLst/>
          </a:prstGeom>
          <a:solidFill>
            <a:srgbClr val="F2F4F8"/>
          </a:solidFill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2000" y="5277599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2000" y="5443200"/>
            <a:ext cx="1296000" cy="684000"/>
          </a:xfrm>
          <a:prstGeom prst="roundRect">
            <a:avLst>
              <a:gd name="adj" fmla="val 8000"/>
            </a:avLst>
          </a:prstGeom>
          <a:solidFill>
            <a:srgbClr val="E7EFF9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000" y="5565600"/>
            <a:ext cx="1152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F6EBA"/>
                </a:solidFill>
                <a:latin typeface="Microsoft YaHei"/>
              </a:rPr>
              <a:t>P4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32000" y="5482799"/>
            <a:ext cx="3600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64000" y="5410800"/>
            <a:ext cx="7523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A68"/>
                </a:solidFill>
                <a:latin typeface="Microsoft YaHei"/>
              </a:rPr>
              <a:t>RQ5 真实模型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64000" y="5723999"/>
            <a:ext cx="7523999" cy="36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555F6E"/>
                </a:solidFill>
                <a:latin typeface="Microsoft YaHei"/>
              </a:rPr>
              <a:t>DeepSeek 是否实际引用装载记忆？T6 引用率 1.00。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32000" y="5500800"/>
            <a:ext cx="1080000" cy="544319"/>
          </a:xfrm>
          <a:prstGeom prst="rect">
            <a:avLst/>
          </a:prstGeom>
          <a:solidFill>
            <a:srgbClr val="F2F4F8"/>
          </a:solidFill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2000" y="6184800"/>
            <a:ext cx="10620000" cy="90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01 · 问题与思路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总体思路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20000" y="1655999"/>
            <a:ext cx="5220000" cy="2015999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655999"/>
            <a:ext cx="79200" cy="2015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6000" y="1800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000" y="2106000"/>
            <a:ext cx="47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外部系统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2000" y="2501999"/>
            <a:ext cx="4716000" cy="107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F6E"/>
                </a:solidFill>
                <a:latin typeface="Microsoft YaHei"/>
              </a:rPr>
              <a:t>把记忆从上下文窗口搬到独立系统，可写、可检索、可更新、可淘汰；短期管当前场次，长期管跨场次知识。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8000" y="1655999"/>
            <a:ext cx="5220000" cy="2015999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8000" y="1655999"/>
            <a:ext cx="79200" cy="2015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4000" y="1800000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0" y="2106000"/>
            <a:ext cx="47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复盘晋升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0" y="2501999"/>
            <a:ext cx="4716000" cy="107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F6E"/>
                </a:solidFill>
                <a:latin typeface="Microsoft YaHei"/>
              </a:rPr>
              <a:t>短期→长期只留一条写通道，即场次结束后的复盘；三道门控：复盘驱动、类别判定、语义查重，每次操作进审计日志。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000" y="3887999"/>
            <a:ext cx="5220000" cy="2015999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0000" y="3887999"/>
            <a:ext cx="79200" cy="2015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000" y="4031999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" y="4338000"/>
            <a:ext cx="47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建议-执行分离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000" y="4733999"/>
            <a:ext cx="4716000" cy="107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F6E"/>
                </a:solidFill>
                <a:latin typeface="Microsoft YaHei"/>
              </a:rPr>
              <a:t>LLM/规则只负责提候选，写入、合并、遗忘、抽象由确定性代码执行；保证“为什么删、从哪来”可审计。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8000" y="3887999"/>
            <a:ext cx="5220000" cy="2015999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8000" y="3887999"/>
            <a:ext cx="79200" cy="2015999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4000" y="4031999"/>
            <a:ext cx="57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0000" y="4338000"/>
            <a:ext cx="47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阶段感知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0000" y="4733999"/>
            <a:ext cx="4716000" cy="1079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F6E"/>
                </a:solidFill>
                <a:latin typeface="Microsoft YaHei"/>
              </a:rPr>
              <a:t>查询按 MDMP 七阶段生成，阶段匹配记忆加亲和分；复盘教训归因到阶段，让“方案拟制”优先看到历史战例。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80000" y="1260000"/>
            <a:ext cx="2880000" cy="288000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296000"/>
            <a:ext cx="50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4C689B"/>
                </a:solidFill>
                <a:latin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2000" y="3671999"/>
            <a:ext cx="2160000" cy="36000"/>
          </a:xfrm>
          <a:prstGeom prst="rect">
            <a:avLst/>
          </a:prstGeom>
          <a:solidFill>
            <a:srgbClr val="9A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0" y="3888000"/>
            <a:ext cx="79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Microsoft YaHei"/>
              </a:rPr>
              <a:t>相关工作与启发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2000" y="489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3E8"/>
                </a:solidFill>
                <a:latin typeface="Microsoft YaHei"/>
              </a:rPr>
              <a:t>RELATED WORK &amp; INSPIRATION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02 · 相关工作与启发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上下文组织与工作记忆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828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800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综述框架（Zhang 2024）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106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把记忆工作归纳为“形式-操作-应用”三层；本文补齐“写、更新、遗忘”闭环并把每步做成可审计事件。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61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96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93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MemGPT 分层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240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主上下文+外部存档；本文采用分层，但改成确定性阈值换页（0.7预警/1.0压缩），保证可复现可消融。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09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7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SCM 控制器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373999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显式决定何时读/写/归档；本文沿用“控制器唯一调度”，但把写长期库收窄为复盘晋升一条通道。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029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5230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02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LLMLingua/ICAE 压缩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5508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借用位置偏置与“只压历史不压约束”，压缩器本身留作后续扩展。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163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02 · 相关工作与启发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长期存储与检索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692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13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ChatDB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1951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数据库即符号记忆 → 只保留属性精确过滤，不实现全量 NL→SQL。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178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250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271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ExpeL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2509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经验库+向量召回 → 补齐重要性加权与 SQLite 持久化。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2736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2808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2829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Reflexion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3067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语言反思 → 采用语言形式经验，不采用在线强化。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3294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3366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3387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MemoryBank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3625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艾宾浩斯遗忘+召唤强化 → 增加 importance≥2 保护线。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38519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000" y="3924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2000" y="3945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Zep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2000" y="4183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时序知识图谱+溯源 → 采用溯源字段，不采用图存储。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000" y="4410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" y="4482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2000" y="4503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MIRIX/TiM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2000" y="4741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多路策略与显式检索计划 → 压缩为三路融合。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2000" y="4968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02 · 相关工作与启发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记忆进化与设计依据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2000" y="1692000"/>
            <a:ext cx="648000" cy="288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782000"/>
            <a:ext cx="531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Microsoft YaHei"/>
              </a:rPr>
              <a:t>借鉴 / 启发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216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16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PREMem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237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θ 相似度去重 → 写入前查重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279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279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StructMem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300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跨事件整合 → “抽象”操作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342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000" y="342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MemSkill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" y="363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操作类型化 → MemoryOp 枚举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405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405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Mem-α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426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建议-执行分离 → 核心架构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4716000"/>
            <a:ext cx="5310000" cy="72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78000" y="1692000"/>
            <a:ext cx="648000" cy="288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8000" y="1782000"/>
            <a:ext cx="531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68"/>
                </a:solidFill>
                <a:latin typeface="Microsoft YaHei"/>
              </a:rPr>
              <a:t>注意 / 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8000" y="216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6000" y="216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不采用完整聚类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6000" y="237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50 条量级收益不明显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8000" y="279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6000" y="279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不采用在线强化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6000" y="300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战场奖励信号不稳定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8000" y="342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6000" y="342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不采用图存储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6000" y="363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构建纠错成本高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8000" y="4057200"/>
            <a:ext cx="251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6EBA"/>
                </a:solidFill>
                <a:latin typeface="Microsoft YaHe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6000" y="4057200"/>
            <a:ext cx="487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F3A68"/>
                </a:solidFill>
                <a:latin typeface="Microsoft YaHei"/>
              </a:rPr>
              <a:t>领域化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6000" y="4266000"/>
            <a:ext cx="487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555F6E"/>
                </a:solidFill>
                <a:latin typeface="Microsoft YaHei"/>
              </a:rPr>
              <a:t>保护线、精确绕过阈值、阶段供给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8000" y="4716000"/>
            <a:ext cx="5310000" cy="72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80000" y="1260000"/>
            <a:ext cx="2880000" cy="288000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296000"/>
            <a:ext cx="50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4C689B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2000" y="3671999"/>
            <a:ext cx="2160000" cy="36000"/>
          </a:xfrm>
          <a:prstGeom prst="rect">
            <a:avLst/>
          </a:prstGeom>
          <a:solidFill>
            <a:srgbClr val="9A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0" y="3888000"/>
            <a:ext cx="79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Microsoft YaHei"/>
              </a:rPr>
              <a:t>系统设计与实现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2000" y="489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3E8"/>
                </a:solidFill>
                <a:latin typeface="Microsoft YaHei"/>
              </a:rPr>
              <a:t>DESIGN &amp; IMPLEMENTATION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03 · 系统设计与实现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总体架构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四层架构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模型层统一数据对象，能力层分短期/长期/检索/进化，跨切面处理边界与阶段，编排层由控制器与管线调度。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2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92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897999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模块解耦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20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四个能力层互不 import，只通过 schema 对象通信，为独立消融提供物理基础。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09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唯一写通道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37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短期→长期只经复盘晋升，经三道边界门，每次判定写入审计日志。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06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526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3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可独立消融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554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通过依赖注入开关能力，G0-G6 固定用例集验证。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23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2000" y="1655999"/>
            <a:ext cx="3924000" cy="4644000"/>
          </a:xfrm>
          <a:prstGeom prst="rect">
            <a:avLst/>
          </a:prstGeom>
          <a:solidFill>
            <a:srgbClr val="F2F4F8"/>
          </a:solidFill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03 · 系统设计与实现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短期工作记忆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槽位保存目标/约束/查询/消息；约束永不压缩，保证规划合规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311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331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328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59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FIFO 超阈值触发递归摘要，被驱逐消息进入归档区供复盘晋升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467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87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84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渲染顺序刻意使用首尾位置偏置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515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关键信息放头部，近期消息放尾部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623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44000" y="1655999"/>
            <a:ext cx="6012000" cy="251999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24000" y="1684800"/>
            <a:ext cx="36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代码 / 伪代码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44000" y="1908000"/>
            <a:ext cx="6012000" cy="4428000"/>
          </a:xfrm>
          <a:prstGeom prst="rect">
            <a:avLst/>
          </a:prstGeom>
          <a:solidFill>
            <a:srgbClr val="F2F4F8"/>
          </a:solidFill>
          <a:ln w="1524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24000" y="1998000"/>
            <a:ext cx="5652000" cy="4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F3A68"/>
                </a:solidFill>
                <a:latin typeface="Consolas"/>
              </a:rPr>
              <a:t>def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render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slot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parts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[</a:t>
            </a:r>
            <a:r>
              <a:rPr sz="1100">
                <a:solidFill>
                  <a:srgbClr val="303030"/>
                </a:solidFill>
                <a:latin typeface="Consolas"/>
              </a:rPr>
              <a:t>阶段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目标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约束</a:t>
            </a:r>
            <a:r>
              <a:rPr sz="1100">
                <a:solidFill>
                  <a:srgbClr val="303030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slot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loaded_briefs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</a:t>
            </a:r>
            <a:r>
              <a:rPr sz="1100">
                <a:solidFill>
                  <a:srgbClr val="303030"/>
                </a:solidFill>
                <a:latin typeface="Consolas"/>
              </a:rPr>
              <a:t>parts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append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C0504D"/>
                </a:solidFill>
                <a:latin typeface="Consolas"/>
              </a:rPr>
              <a:t>'【装载记忆】'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+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briefs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parts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append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查询列表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parts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append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最新消息</a:t>
            </a:r>
            <a:r>
              <a:rPr sz="1100">
                <a:solidFill>
                  <a:srgbClr val="303030"/>
                </a:solidFill>
                <a:latin typeface="Consolas"/>
              </a:rPr>
              <a:t>[</a:t>
            </a:r>
            <a:r>
              <a:rPr sz="1100">
                <a:solidFill>
                  <a:srgbClr val="303030"/>
                </a:solidFill>
                <a:latin typeface="Consolas"/>
              </a:rPr>
              <a:t>-</a:t>
            </a:r>
            <a:r>
              <a:rPr sz="1100">
                <a:solidFill>
                  <a:srgbClr val="7B4FA6"/>
                </a:solidFill>
                <a:latin typeface="Consolas"/>
              </a:rPr>
              <a:t>20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  <a:r>
              <a:rPr sz="1100">
                <a:solidFill>
                  <a:srgbClr val="303030"/>
                </a:solidFill>
                <a:latin typeface="Consolas"/>
              </a:rPr>
              <a:t>]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return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C0504D"/>
                </a:solidFill>
                <a:latin typeface="Consolas"/>
              </a:rPr>
              <a:t>'\n'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join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parts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1F3A68"/>
                </a:solidFill>
                <a:latin typeface="Consolas"/>
              </a:rPr>
              <a:t>def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flush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slot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llm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evicted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slot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fifo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pop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前半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slot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summary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llm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summarize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旧摘要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+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evicted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slot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archived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append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evicted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03 · 系统设计与实现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长期双库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事实库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SQLite+属性精确；经验库：向量语义召回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311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331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328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59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attrs 精确命中绕过 min_score——查询方显式指定条件即构造性相关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467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87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84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515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接口示例与融合策略如下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623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44000" y="1655999"/>
            <a:ext cx="6012000" cy="251999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24000" y="1684800"/>
            <a:ext cx="36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代码 / 伪代码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44000" y="1908000"/>
            <a:ext cx="6012000" cy="4428000"/>
          </a:xfrm>
          <a:prstGeom prst="rect">
            <a:avLst/>
          </a:prstGeom>
          <a:solidFill>
            <a:srgbClr val="F2F4F8"/>
          </a:solidFill>
          <a:ln w="1524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24000" y="1998000"/>
            <a:ext cx="5652000" cy="4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hits_exact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factual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search_attrs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{</a:t>
            </a:r>
            <a:r>
              <a:rPr sz="1100">
                <a:solidFill>
                  <a:srgbClr val="C0504D"/>
                </a:solidFill>
                <a:latin typeface="Consolas"/>
              </a:rPr>
              <a:t>'装备'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C0504D"/>
                </a:solidFill>
                <a:latin typeface="Consolas"/>
              </a:rPr>
              <a:t>'T-90'</a:t>
            </a:r>
            <a:r>
              <a:rPr sz="1100">
                <a:solidFill>
                  <a:srgbClr val="303030"/>
                </a:solidFill>
                <a:latin typeface="Consolas"/>
              </a:rPr>
              <a:t>}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hits_sem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experiential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search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C0504D"/>
                </a:solidFill>
                <a:latin typeface="Consolas"/>
              </a:rPr>
              <a:t>'夜战侦察教训'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8B3B"/>
                </a:solidFill>
                <a:latin typeface="Consolas"/>
              </a:rPr>
              <a:t># 融合时：attrs 命中即相关，不参与相似度阈值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03 · 系统设计与实现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3A68"/>
                </a:solidFill>
                <a:latin typeface="Microsoft YaHei"/>
              </a:rPr>
              <a:t>混合检索：三路融合 + 单路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vector/BM25/SQL 三路；hybrid 加权累加，single 供消融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311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331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328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归一化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59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向量余弦、BM25 查询自匹配上界、SQL 恒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467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87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84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公式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515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s_hybrid = Σ w_r·n_r(id)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623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44000" y="1655999"/>
            <a:ext cx="6012000" cy="251999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24000" y="1684800"/>
            <a:ext cx="36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代码 / 伪代码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44000" y="1908000"/>
            <a:ext cx="6012000" cy="4428000"/>
          </a:xfrm>
          <a:prstGeom prst="rect">
            <a:avLst/>
          </a:prstGeom>
          <a:solidFill>
            <a:srgbClr val="F2F4F8"/>
          </a:solidFill>
          <a:ln w="1524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24000" y="1998000"/>
            <a:ext cx="5652000" cy="4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F3A68"/>
                </a:solidFill>
                <a:latin typeface="Consolas"/>
              </a:rPr>
              <a:t>def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retrieve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q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mode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C0504D"/>
                </a:solidFill>
                <a:latin typeface="Consolas"/>
              </a:rPr>
              <a:t>'hybrid'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top_k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7B4FA6"/>
                </a:solidFill>
                <a:latin typeface="Consolas"/>
              </a:rPr>
              <a:t>5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pool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[</a:t>
            </a:r>
            <a:r>
              <a:rPr sz="1100" b="1">
                <a:solidFill>
                  <a:srgbClr val="2F6EBA"/>
                </a:solidFill>
                <a:latin typeface="Consolas"/>
              </a:rPr>
              <a:t>route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q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q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route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mode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C0504D"/>
                </a:solidFill>
                <a:latin typeface="Consolas"/>
              </a:rPr>
              <a:t>'hybrid'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</a:t>
            </a:r>
            <a:r>
              <a:rPr sz="1100">
                <a:solidFill>
                  <a:srgbClr val="303030"/>
                </a:solidFill>
                <a:latin typeface="Consolas"/>
              </a:rPr>
              <a:t>pool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+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[</a:t>
            </a:r>
            <a:r>
              <a:rPr sz="1100" b="1">
                <a:solidFill>
                  <a:srgbClr val="2F6EBA"/>
                </a:solidFill>
                <a:latin typeface="Consolas"/>
              </a:rPr>
              <a:t>route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q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alt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1F3A68"/>
                </a:solidFill>
                <a:latin typeface="Consolas"/>
              </a:rPr>
              <a:t>for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alt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1F3A68"/>
                </a:solidFill>
                <a:latin typeface="Consolas"/>
              </a:rPr>
              <a:t>in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routes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     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alt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!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q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route</a:t>
            </a:r>
            <a:r>
              <a:rPr sz="1100">
                <a:solidFill>
                  <a:srgbClr val="303030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pool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[</a:t>
            </a:r>
            <a:r>
              <a:rPr sz="1100" b="1">
                <a:solidFill>
                  <a:srgbClr val="2F6EBA"/>
                </a:solidFill>
                <a:latin typeface="Consolas"/>
              </a:rPr>
              <a:t>normalize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r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1F3A68"/>
                </a:solidFill>
                <a:latin typeface="Consolas"/>
              </a:rPr>
              <a:t>for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r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1F3A68"/>
                </a:solidFill>
                <a:latin typeface="Consolas"/>
              </a:rPr>
              <a:t>in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pool</a:t>
            </a:r>
            <a:r>
              <a:rPr sz="1100">
                <a:solidFill>
                  <a:srgbClr val="303030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fused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aggregate_by_id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pool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weights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q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stage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</a:t>
            </a:r>
            <a:r>
              <a:rPr sz="1100">
                <a:solidFill>
                  <a:srgbClr val="303030"/>
                </a:solidFill>
                <a:latin typeface="Consolas"/>
              </a:rPr>
              <a:t>fused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add_stage_bonus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fused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q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stage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ranked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[</a:t>
            </a:r>
            <a:r>
              <a:rPr sz="1100">
                <a:solidFill>
                  <a:srgbClr val="303030"/>
                </a:solidFill>
                <a:latin typeface="Consolas"/>
              </a:rPr>
              <a:t>x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1F3A68"/>
                </a:solidFill>
                <a:latin typeface="Consolas"/>
              </a:rPr>
              <a:t>for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x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1F3A68"/>
                </a:solidFill>
                <a:latin typeface="Consolas"/>
              </a:rPr>
              <a:t>in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sorted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fused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reverse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 b="1">
                <a:solidFill>
                  <a:srgbClr val="1F3A68"/>
                </a:solidFill>
                <a:latin typeface="Consolas"/>
              </a:rPr>
              <a:t>True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  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x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score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&gt;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min_score</a:t>
            </a:r>
            <a:r>
              <a:rPr sz="1100">
                <a:solidFill>
                  <a:srgbClr val="303030"/>
                </a:solidFill>
                <a:latin typeface="Consolas"/>
              </a:rPr>
              <a:t>]</a:t>
            </a:r>
            <a:r>
              <a:rPr sz="1100">
                <a:solidFill>
                  <a:srgbClr val="303030"/>
                </a:solidFill>
                <a:latin typeface="Consolas"/>
              </a:rPr>
              <a:t>[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  <a:r>
              <a:rPr sz="1100">
                <a:solidFill>
                  <a:srgbClr val="303030"/>
                </a:solidFill>
                <a:latin typeface="Consolas"/>
              </a:rPr>
              <a:t>top_k</a:t>
            </a:r>
            <a:r>
              <a:rPr sz="1100">
                <a:solidFill>
                  <a:srgbClr val="303030"/>
                </a:solidFill>
                <a:latin typeface="Consolas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for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r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1F3A68"/>
                </a:solidFill>
                <a:latin typeface="Consolas"/>
              </a:rPr>
              <a:t>in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ranked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</a:t>
            </a:r>
            <a:r>
              <a:rPr sz="1100">
                <a:solidFill>
                  <a:srgbClr val="303030"/>
                </a:solidFill>
                <a:latin typeface="Consolas"/>
              </a:rPr>
              <a:t>r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entry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mark_recalled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return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ranked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03 · 系统设计与实现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3A68"/>
                </a:solidFill>
                <a:latin typeface="Microsoft YaHei"/>
              </a:rPr>
              <a:t>记忆进化：写/合/忘/抽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建议-执行分离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LLM 提候选，确定性代码执行写/合/忘/抽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311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331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328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遗忘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59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R=e^{-t/S}，命中 S+1；importance≥2 保护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467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87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848000"/>
            <a:ext cx="36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5154000"/>
            <a:ext cx="360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同场新经验≥2 条触发抽象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6235200"/>
            <a:ext cx="4392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44000" y="1655999"/>
            <a:ext cx="6012000" cy="251999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24000" y="1684800"/>
            <a:ext cx="36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代码 / 伪代码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44000" y="1908000"/>
            <a:ext cx="6012000" cy="4428000"/>
          </a:xfrm>
          <a:prstGeom prst="rect">
            <a:avLst/>
          </a:prstGeom>
          <a:solidFill>
            <a:srgbClr val="F2F4F8"/>
          </a:solidFill>
          <a:ln w="15240">
            <a:solidFill>
              <a:srgbClr val="C8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24000" y="1998000"/>
            <a:ext cx="5652000" cy="42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F3A68"/>
                </a:solidFill>
                <a:latin typeface="Consolas"/>
              </a:rPr>
              <a:t>def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evolve_from_review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review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session_id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>
                <a:solidFill>
                  <a:srgbClr val="303030"/>
                </a:solidFill>
                <a:latin typeface="Consolas"/>
              </a:rPr>
              <a:t>ops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llm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extract_memory_ops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review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for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op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1F3A68"/>
                </a:solidFill>
                <a:latin typeface="Consolas"/>
              </a:rPr>
              <a:t>in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ops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1F3A68"/>
                </a:solidFill>
                <a:latin typeface="Consolas"/>
              </a:rPr>
              <a:t>not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boundary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 b="1">
                <a:solidFill>
                  <a:srgbClr val="2F6EBA"/>
                </a:solidFill>
                <a:latin typeface="Consolas"/>
              </a:rPr>
              <a:t>promote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op</a:t>
            </a:r>
            <a:r>
              <a:rPr sz="1100">
                <a:solidFill>
                  <a:srgbClr val="303030"/>
                </a:solidFill>
                <a:latin typeface="Consolas"/>
              </a:rPr>
              <a:t>.</a:t>
            </a:r>
            <a:r>
              <a:rPr sz="1100">
                <a:solidFill>
                  <a:srgbClr val="303030"/>
                </a:solidFill>
                <a:latin typeface="Consolas"/>
              </a:rPr>
              <a:t>content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continue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write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op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is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1F3A68"/>
                </a:solidFill>
                <a:latin typeface="Consolas"/>
              </a:rPr>
              <a:t>None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    </a:t>
            </a:r>
            <a:r>
              <a:rPr sz="1100">
                <a:solidFill>
                  <a:srgbClr val="303030"/>
                </a:solidFill>
                <a:latin typeface="Consolas"/>
              </a:rPr>
              <a:t>skipped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+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7B4FA6"/>
                </a:solidFill>
                <a:latin typeface="Consolas"/>
              </a:rPr>
              <a:t>1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2F6EBA"/>
                </a:solidFill>
                <a:latin typeface="Consolas"/>
              </a:rPr>
              <a:t>merge_new_entries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2F6EBA"/>
                </a:solidFill>
                <a:latin typeface="Consolas"/>
              </a:rPr>
              <a:t>forget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</a:t>
            </a:r>
            <a:r>
              <a:rPr sz="1100" b="1">
                <a:solidFill>
                  <a:srgbClr val="1F3A68"/>
                </a:solidFill>
                <a:latin typeface="Consolas"/>
              </a:rPr>
              <a:t>if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len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new_experiences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&gt;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7B4FA6"/>
                </a:solidFill>
                <a:latin typeface="Consolas"/>
              </a:rPr>
              <a:t>2</a:t>
            </a:r>
            <a:r>
              <a:rPr sz="1100">
                <a:solidFill>
                  <a:srgbClr val="303030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        </a:t>
            </a:r>
            <a:r>
              <a:rPr sz="1100" b="1">
                <a:solidFill>
                  <a:srgbClr val="2F6EBA"/>
                </a:solidFill>
                <a:latin typeface="Consolas"/>
              </a:rPr>
              <a:t>abstract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8B3B"/>
                </a:solidFill>
                <a:latin typeface="Consolas"/>
              </a:rPr>
              <a:t># 遗忘核心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R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exp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-</a:t>
            </a:r>
            <a:r>
              <a:rPr sz="1100">
                <a:solidFill>
                  <a:srgbClr val="303030"/>
                </a:solidFill>
                <a:latin typeface="Consolas"/>
              </a:rPr>
              <a:t>t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/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 b="1">
                <a:solidFill>
                  <a:srgbClr val="2F6EBA"/>
                </a:solidFill>
                <a:latin typeface="Consolas"/>
              </a:rPr>
              <a:t>max</a:t>
            </a:r>
            <a:r>
              <a:rPr sz="1100">
                <a:solidFill>
                  <a:srgbClr val="303030"/>
                </a:solidFill>
                <a:latin typeface="Consolas"/>
              </a:rPr>
              <a:t>(</a:t>
            </a:r>
            <a:r>
              <a:rPr sz="1100">
                <a:solidFill>
                  <a:srgbClr val="303030"/>
                </a:solidFill>
                <a:latin typeface="Consolas"/>
              </a:rPr>
              <a:t>S</a:t>
            </a:r>
            <a:r>
              <a:rPr sz="1100">
                <a:solidFill>
                  <a:srgbClr val="303030"/>
                </a:solidFill>
                <a:latin typeface="Consolas"/>
              </a:rPr>
              <a:t>,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7B4FA6"/>
                </a:solidFill>
                <a:latin typeface="Consolas"/>
              </a:rPr>
              <a:t>1</a:t>
            </a:r>
            <a:r>
              <a:rPr sz="1100">
                <a:solidFill>
                  <a:srgbClr val="303030"/>
                </a:solidFill>
                <a:latin typeface="Consolas"/>
              </a:rPr>
              <a:t>e</a:t>
            </a:r>
            <a:r>
              <a:rPr sz="1100">
                <a:solidFill>
                  <a:srgbClr val="303030"/>
                </a:solidFill>
                <a:latin typeface="Consolas"/>
              </a:rPr>
              <a:t>-</a:t>
            </a:r>
            <a:r>
              <a:rPr sz="1100">
                <a:solidFill>
                  <a:srgbClr val="7B4FA6"/>
                </a:solidFill>
                <a:latin typeface="Consolas"/>
              </a:rPr>
              <a:t>6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  <a:r>
              <a:rPr sz="1100">
                <a:solidFill>
                  <a:srgbClr val="303030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8B3B"/>
                </a:solidFill>
                <a:latin typeface="Consolas"/>
              </a:rPr>
              <a:t># 命中强化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303030"/>
                </a:solidFill>
                <a:latin typeface="Consolas"/>
              </a:rPr>
              <a:t>S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+</a:t>
            </a:r>
            <a:r>
              <a:rPr sz="1100">
                <a:solidFill>
                  <a:srgbClr val="303030"/>
                </a:solidFill>
                <a:latin typeface="Consolas"/>
              </a:rPr>
              <a:t>=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7B4FA6"/>
                </a:solidFill>
                <a:latin typeface="Consolas"/>
              </a:rPr>
              <a:t>1</a:t>
            </a:r>
            <a:r>
              <a:rPr sz="1100">
                <a:solidFill>
                  <a:srgbClr val="303030"/>
                </a:solidFill>
                <a:latin typeface="Consolas"/>
              </a:rPr>
              <a:t>;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t</a:t>
            </a:r>
            <a:r>
              <a:rPr sz="1100">
                <a:solidFill>
                  <a:srgbClr val="303030"/>
                </a:solidFill>
                <a:latin typeface="Consolas"/>
              </a:rPr>
              <a:t> </a:t>
            </a:r>
            <a:r>
              <a:rPr sz="1100">
                <a:solidFill>
                  <a:srgbClr val="303030"/>
                </a:solidFill>
                <a:latin typeface="Consolas"/>
              </a:rPr>
              <a:t>重置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03 · 系统设计与实现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边界门控与阶段感知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828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800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复盘驱动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106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只有场次复盘文本才能触发晋升，流水账被挡在门外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61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962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933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类别判定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240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事实/经验分别进入对应存储，避免类型混乱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09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7999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语义查重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373999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写入前 θ 余弦去重，重复经验不重复入库；每次判定写审计日志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029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5230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02000"/>
            <a:ext cx="98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阶段感知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5508000"/>
            <a:ext cx="9828000" cy="59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查询按 MDMP 七阶段生成，阶段匹配记忆加亲和分，复盘教训归因到阶段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1631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03 · 系统设计与实现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WebUI 可视化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三栏页签化布局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左输入/中运行/右产出，长内容折叠为页签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2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92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897999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记忆详情抽屉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20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总览/单条历史/遗忘日志，支持点击展开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09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遗忘曲线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37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R=e^{-t/S} 与‘立即召回 S+1’对比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06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526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3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554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战役进度条、库健康度分布条、事件流点击展开详情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23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2000" y="1655999"/>
            <a:ext cx="3924000" cy="4644000"/>
          </a:xfrm>
          <a:prstGeom prst="rect">
            <a:avLst/>
          </a:prstGeom>
          <a:solidFill>
            <a:srgbClr val="F2F4F8"/>
          </a:solidFill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80000" y="1260000"/>
            <a:ext cx="2880000" cy="288000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296000"/>
            <a:ext cx="50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4C689B"/>
                </a:solidFill>
                <a:latin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2000" y="3671999"/>
            <a:ext cx="2160000" cy="36000"/>
          </a:xfrm>
          <a:prstGeom prst="rect">
            <a:avLst/>
          </a:prstGeom>
          <a:solidFill>
            <a:srgbClr val="9A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0" y="3888000"/>
            <a:ext cx="79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Microsoft YaHei"/>
              </a:rPr>
              <a:t>实验设计与验证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2000" y="489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3E8"/>
                </a:solidFill>
                <a:latin typeface="Microsoft YaHei"/>
              </a:rPr>
              <a:t>EXPERIMENTS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04 · 实验设计与验证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数据集与评估协议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692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13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测试集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1951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自建 50 条 8 类（A-H），查询与答案刻意避免关键词共现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178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250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271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对照组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2509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固定用例集，通过依赖注入开关能力（G0-G6），不删减用例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2736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2808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2829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指标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3067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检索层 hit@3/5、MRR、NDCG；任务层 引用率/约束满足/噪声污染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3294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3366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3387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统计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3625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随机基线解析式、bootstrap CI、配对置换检验，种子固定 42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38519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04 · 实验设计与验证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双库贡献（RQ1）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1728000"/>
            <a:ext cx="2439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070000"/>
            <a:ext cx="2439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3A68"/>
                </a:solidFill>
                <a:latin typeface="Microsoft YaHei"/>
              </a:rPr>
              <a:t>0.636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999" y="2646000"/>
            <a:ext cx="2223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G3 双库全开 hit@5（G2 为 0.341）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483000" y="1728000"/>
            <a:ext cx="2439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3000" y="2070000"/>
            <a:ext cx="2439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3A68"/>
                </a:solidFill>
                <a:latin typeface="Microsoft YaHei"/>
              </a:rPr>
              <a:t>p=0.0001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1000" y="2646000"/>
            <a:ext cx="2223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配对置换检验，n=44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6000" y="1728000"/>
            <a:ext cx="2439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6000" y="2070000"/>
            <a:ext cx="2439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3A68"/>
                </a:solidFill>
                <a:latin typeface="Microsoft YaHei"/>
              </a:rPr>
              <a:t>0.357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4000" y="2646000"/>
            <a:ext cx="2223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随机基线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9000" y="1728000"/>
            <a:ext cx="2439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9000" y="2070000"/>
            <a:ext cx="2439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3A68"/>
                </a:solidFill>
                <a:latin typeface="Microsoft YaHei"/>
              </a:rPr>
              <a:t>0.625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7000" y="2646000"/>
            <a:ext cx="2223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C 类残余失分（词袋局限）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04 · 实验设计与验证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Microsoft YaHei"/>
              </a:rPr>
              <a:t>跨场次与检索策略（RQ2/RQ3）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692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13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跨场次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1951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处理组 0.833 vs 对照 0，负控 0；机制路径完整，但 n=6 样本有限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178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250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271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p=0.059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2509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方向性证据，需扩容到 20 条才能形成结论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2736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2808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2829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3067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词袋下 hybrid 0.857 vs vector 0.929，召回未胜出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3294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3366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3387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干扰压制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3625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hybrid 1.0 高于任一单路 ≤0.875，排序更好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38519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000" y="3924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2000" y="3945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结论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2000" y="4183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混合价值在排序；真向量复测后再判定召回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2000" y="4410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04 · 实验设计与验证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68"/>
                </a:solidFill>
                <a:latin typeface="Microsoft YaHei"/>
              </a:rPr>
              <a:t>滤噪、遗忘与真实模型（RQ4/RQ5）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00" y="1728000"/>
            <a:ext cx="2439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070000"/>
            <a:ext cx="2439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3A68"/>
                </a:solidFill>
                <a:latin typeface="Microsoft YaHei"/>
              </a:rPr>
              <a:t>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999" y="2646000"/>
            <a:ext cx="2223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负例返回率（min_score=0.16）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483000" y="1728000"/>
            <a:ext cx="2439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3000" y="2070000"/>
            <a:ext cx="2439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3A68"/>
                </a:solidFill>
                <a:latin typeface="Microsoft YaHe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1000" y="2646000"/>
            <a:ext cx="2223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遗忘误删，保护线有效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6000" y="1728000"/>
            <a:ext cx="2439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6000" y="2070000"/>
            <a:ext cx="2439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3A68"/>
                </a:solidFill>
                <a:latin typeface="Microsoft YaHei"/>
              </a:rPr>
              <a:t>1.00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4000" y="2646000"/>
            <a:ext cx="2223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DeepSeek 引用率（20/20）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9000" y="1728000"/>
            <a:ext cx="2439000" cy="198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9000" y="2070000"/>
            <a:ext cx="2439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3A68"/>
                </a:solidFill>
                <a:latin typeface="Microsoft YaHei"/>
              </a:rPr>
              <a:t>0.857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7000" y="2646000"/>
            <a:ext cx="2223000" cy="73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555F6E"/>
                </a:solidFill>
                <a:latin typeface="Microsoft YaHei"/>
              </a:rPr>
              <a:t>正例 hit@5 保持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80000" y="1260000"/>
            <a:ext cx="2880000" cy="2880000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296000"/>
            <a:ext cx="50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4C689B"/>
                </a:solidFill>
                <a:latin typeface="Microsoft YaHe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872000" y="3671999"/>
            <a:ext cx="2160000" cy="36000"/>
          </a:xfrm>
          <a:prstGeom prst="rect">
            <a:avLst/>
          </a:prstGeom>
          <a:solidFill>
            <a:srgbClr val="9A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0" y="3888000"/>
            <a:ext cx="79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Microsoft YaHei"/>
              </a:rPr>
              <a:t>智戎接入与总结展望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2000" y="4896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7D3E8"/>
                </a:solidFill>
                <a:latin typeface="Microsoft YaHei"/>
              </a:rPr>
              <a:t>INTEGRATION &amp; OUTLOOK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05 · 智戎接入与总结展望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3A68"/>
                </a:solidFill>
                <a:latin typeface="Microsoft YaHei"/>
              </a:rPr>
              <a:t>智戎事件驱动适配（P0 落地）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75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2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hook_evolve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033999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不依赖‘场次结束’，可随时触发进化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72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926799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897999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结构化反馈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2000" y="320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AFSIM 数值/事件转复盘文本，失败补‘教训’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89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409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406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normalize_task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2000" y="437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结构化任务 → goal/constraints/queries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000" y="506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52668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238000"/>
            <a:ext cx="52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68"/>
                </a:solidFill>
                <a:latin typeface="Microsoft YaHei"/>
              </a:rPr>
              <a:t>domain_check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000" y="5544000"/>
            <a:ext cx="5256000" cy="6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F6E"/>
                </a:solidFill>
                <a:latin typeface="Microsoft YaHei"/>
              </a:rPr>
              <a:t>领域巡检 + min_score 建议，等待真实数据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6235200"/>
            <a:ext cx="6048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2000" y="1655999"/>
            <a:ext cx="3924000" cy="4644000"/>
          </a:xfrm>
          <a:prstGeom prst="rect">
            <a:avLst/>
          </a:prstGeom>
          <a:solidFill>
            <a:srgbClr val="F2F4F8"/>
          </a:solidFill>
          <a:ln w="15240">
            <a:solidFill>
              <a:srgbClr val="2F6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6000" y="306000"/>
            <a:ext cx="50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F6EBA"/>
                </a:solidFill>
                <a:latin typeface="Microsoft YaHei"/>
              </a:rPr>
              <a:t>05 · 智戎接入与总结展望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540000"/>
            <a:ext cx="144000" cy="900000"/>
          </a:xfrm>
          <a:prstGeom prst="rect">
            <a:avLst/>
          </a:prstGeom>
          <a:solidFill>
            <a:srgbClr val="2F6E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6192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3A68"/>
                </a:solidFill>
                <a:latin typeface="Microsoft YaHei"/>
              </a:rPr>
              <a:t>总结与展望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000" y="1458000"/>
            <a:ext cx="10800000" cy="144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692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1713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1951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分层与进化机制在词袋固定设置下有效，双库 p=0.0001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178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250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2329200"/>
            <a:ext cx="98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830"/>
                </a:solidFill>
                <a:latin typeface="Microsoft YaHei"/>
              </a:rPr>
              <a:t>真模型验证了检索-生成链路可用，引用率 1.00（示范性）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736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808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2000" y="2829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下一步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2000" y="3067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真向量重跑与重标定 min_score/θ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3294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3366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2000" y="3387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下一步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3625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H 类扩至 20 条、知识锚定、冲突仲裁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3851999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3924000"/>
            <a:ext cx="6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F6EBA"/>
                </a:solidFill>
                <a:latin typeface="Microsoft YaHe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2000" y="39456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  <a:latin typeface="Microsoft YaHei"/>
              </a:rPr>
              <a:t>下一步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2000" y="4183200"/>
            <a:ext cx="98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55F6E"/>
                </a:solidFill>
                <a:latin typeface="Microsoft YaHei"/>
              </a:rPr>
              <a:t>智戎真实链路联调与领域巡检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000" y="4410000"/>
            <a:ext cx="106200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606000"/>
            <a:ext cx="12193200" cy="10800"/>
          </a:xfrm>
          <a:prstGeom prst="rect">
            <a:avLst/>
          </a:prstGeom>
          <a:solidFill>
            <a:srgbClr val="C8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00" y="6660000"/>
            <a:ext cx="61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E"/>
                </a:solidFill>
                <a:latin typeface="Microsoft YaHei"/>
              </a:rPr>
              <a:t>国防科技大学 · 长短期记忆系统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60000" y="666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55F6E"/>
                </a:solidFill>
                <a:latin typeface="Microsoft YaHe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8000" y="576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8000" y="6228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44000" y="576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44000" y="6228000"/>
            <a:ext cx="576000" cy="2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8000" y="5760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8000" y="60336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98400" y="5760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98400" y="6033600"/>
            <a:ext cx="216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0000" y="2592000"/>
            <a:ext cx="10008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icrosoft YaHei"/>
              </a:rPr>
              <a:t>感谢聆听 · 欢迎交流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4104000"/>
            <a:ext cx="10008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7D3E8"/>
                </a:solidFill>
                <a:latin typeface="Microsoft YaHei"/>
              </a:rPr>
              <a:t>国防科技大学 · 课题3 · 长短期记忆系统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