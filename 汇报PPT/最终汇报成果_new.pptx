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</p:sldIdLst>
  <p:sldSz cx="121932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【配图】可放校徽（可选）。</a:t>
            </a:r>
          </a:p>
          <a:p>
            <a:r>
              <a:t>【讲稿】开场1分钟：课题目标、单位、小组分工。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【配图】无。</a:t>
            </a:r>
          </a:p>
          <a:p>
            <a:r>
              <a:t>【讲稿】按五部分走，重点在系统设计与实验验证。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【配图】可放 docs/figures/fig2_campaign_trajectory.png 作背景。</a:t>
            </a:r>
          </a:p>
          <a:p>
            <a:r>
              <a:t>【讲稿】先讲‘为什么需要外部记忆’。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【讲稿】用“同一夜间进攻任务，第一场隘口遇伏，第二场大概率再吃亏”开场。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【讲稿】P1-P4 来自初始拆解，P5 来自导师反馈；每行右侧为示意图占位。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【讲稿】强调 RQ 是从失败模式引申而来，实验章节逐一回答。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【讲稿】四句话说清系统设计哲学。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【配图】可放 docs/figures/fig1_architecture.png 作背景。</a:t>
            </a:r>
          </a:p>
          <a:p>
            <a:r>
              <a:t>【讲稿】说明借鉴什么、不采用什么。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【讲稿】每条讲“借鉴什么、为什么不完整照搬”。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【讲稿】说明检索与存储不是凭空设计。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【讲稿】强调机制都有原型，差异在组合与军事场景限定。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【配图】可放 docs/figures/fig1_architecture.png 作背景。</a:t>
            </a:r>
          </a:p>
          <a:p>
            <a:r>
              <a:t>【讲稿】进入核心章节。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【配图】本页右侧预留图位：放 docs/figures/fig1_architecture.png（系统架构图）。</a:t>
            </a:r>
          </a:p>
          <a:p>
            <a:r>
              <a:t>【讲稿】讲清分层与‘可独立消融’。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【配图】无。</a:t>
            </a:r>
          </a:p>
          <a:p>
            <a:r>
              <a:t>【讲稿】讲清‘首尾关键、约束不压缩、归档可复盘’。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【配图】无。</a:t>
            </a:r>
          </a:p>
          <a:p>
            <a:r>
              <a:t>【讲稿】用 T-90 vs M1A2 的例子说明为什么必须分库。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【配图】无。</a:t>
            </a:r>
          </a:p>
          <a:p>
            <a:r>
              <a:t>【讲稿】重点讲归一化与‘命中强化只做一次’。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【配图】无。</a:t>
            </a:r>
          </a:p>
          <a:p>
            <a:r>
              <a:t>【讲稿】讲清‘为什么建议与执行分离’——可审计。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【配图】无。</a:t>
            </a:r>
          </a:p>
          <a:p>
            <a:r>
              <a:t>【讲稿】澄清‘什么能进长期库、什么时候检索什么’。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【配图】本页右侧预留图位：放 WebUI 截图（运行 python webui/server.py 后截取记忆详情抽屉、遗忘曲线、事件流）。</a:t>
            </a:r>
          </a:p>
          <a:p>
            <a:r>
              <a:t>【讲稿】展示可视化如何帮助理解系统。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【配图】可放消融图（docs/17 配图脚本生成）作背景。</a:t>
            </a:r>
          </a:p>
          <a:p>
            <a:r>
              <a:t>【讲稿】进入数据章节，先声明词袋环境。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【配图】无。</a:t>
            </a:r>
          </a:p>
          <a:p>
            <a:r>
              <a:t>【讲稿】强调‘对照是开关能力而不是删用例’。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【配图】建议放消融柱状图（docs/17 配图脚本：G2 vs G3 分类别 hit@5）。</a:t>
            </a:r>
          </a:p>
          <a:p>
            <a:r>
              <a:t>【讲稿】这是最硬的一条证据。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【配图】可放跨场次 WebUI 截图（第二场命中带‘往场沉淀’）或表格。</a:t>
            </a:r>
          </a:p>
          <a:p>
            <a:r>
              <a:t>【讲稿】对负结果要诚实：词袋下混合召回无增益。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【配图】可放遗忘曲线（WebUI 截图）或 DeepSeek 输出截图。</a:t>
            </a:r>
          </a:p>
          <a:p>
            <a:r>
              <a:t>【讲稿】强调限定词，避免被当成最终结论。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【配图】可放 docs/figures/fig2_campaign_trajectory.png 作背景。</a:t>
            </a:r>
          </a:p>
          <a:p>
            <a:r>
              <a:t>【讲稿】从‘能不能用’讲到‘怎么接’。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【配图】本页右侧预留图位：放 docs/figures/fig2_campaign_trajectory.png 或智戎桥接架构示意图。</a:t>
            </a:r>
          </a:p>
          <a:p>
            <a:r>
              <a:t>【讲稿】强调 P1（无结束信号）已有适配方案。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【配图】无。</a:t>
            </a:r>
          </a:p>
          <a:p>
            <a:r>
              <a:t>【讲稿】把‘方向性/示范性’讲清楚，再列行动项。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【配图】可放校徽（可选）。</a:t>
            </a:r>
          </a:p>
          <a:p>
            <a:r>
              <a:t>【讲稿】感谢，进入提问。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1F3A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8000" y="576000"/>
            <a:ext cx="576000" cy="2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8000" y="6228000"/>
            <a:ext cx="576000" cy="2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944000" y="576000"/>
            <a:ext cx="576000" cy="2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944000" y="6228000"/>
            <a:ext cx="576000" cy="2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8000" y="576000"/>
            <a:ext cx="21600" cy="43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8000" y="6033600"/>
            <a:ext cx="21600" cy="43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98400" y="576000"/>
            <a:ext cx="21600" cy="43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98400" y="6033600"/>
            <a:ext cx="21600" cy="43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220000" y="1944000"/>
            <a:ext cx="1764000" cy="21600"/>
          </a:xfrm>
          <a:prstGeom prst="rect">
            <a:avLst/>
          </a:prstGeom>
          <a:solidFill>
            <a:srgbClr val="9AB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440000" y="936000"/>
            <a:ext cx="936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C7D3E8"/>
                </a:solidFill>
                <a:latin typeface="Microsoft YaHei"/>
              </a:rPr>
              <a:t>GRADUATE PROJECT · FINAL REPORT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0000" y="2232000"/>
            <a:ext cx="10008000" cy="151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000" b="1">
                <a:solidFill>
                  <a:srgbClr val="FFFFFF"/>
                </a:solidFill>
                <a:latin typeface="Microsoft YaHei"/>
              </a:rPr>
              <a:t>面向作战规划智能体的</a:t>
            </a:r>
          </a:p>
          <a:p>
            <a:pPr algn="ctr"/>
            <a:r>
              <a:rPr sz="5000" b="1">
                <a:solidFill>
                  <a:srgbClr val="FFFFFF"/>
                </a:solidFill>
                <a:latin typeface="Microsoft YaHei"/>
              </a:rPr>
              <a:t>可进化外部记忆系统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40000" y="4104000"/>
            <a:ext cx="9360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0">
                <a:solidFill>
                  <a:srgbClr val="C7D3E8"/>
                </a:solidFill>
                <a:latin typeface="Microsoft YaHei"/>
              </a:rPr>
              <a:t>国防科技大学 · 课题3 · 长短期记忆系统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40000" y="4464000"/>
            <a:ext cx="9360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0">
                <a:solidFill>
                  <a:srgbClr val="C7D3E8"/>
                </a:solidFill>
                <a:latin typeface="Microsoft YaHei"/>
              </a:rPr>
              <a:t>小组：姓名一 / 姓名二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40000" y="4824000"/>
            <a:ext cx="9360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0">
                <a:solidFill>
                  <a:srgbClr val="C7D3E8"/>
                </a:solidFill>
                <a:latin typeface="Microsoft YaHei"/>
              </a:rPr>
              <a:t>2025年7月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6000" y="306000"/>
            <a:ext cx="504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6EBA"/>
                </a:solidFill>
                <a:latin typeface="Microsoft YaHei"/>
              </a:rPr>
              <a:t>CONTENTS</a:t>
            </a:r>
          </a:p>
        </p:txBody>
      </p:sp>
      <p:sp>
        <p:nvSpPr>
          <p:cNvPr id="3" name="Rectangle 2"/>
          <p:cNvSpPr/>
          <p:nvPr/>
        </p:nvSpPr>
        <p:spPr>
          <a:xfrm>
            <a:off x="648000" y="540000"/>
            <a:ext cx="144000" cy="900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0000" y="619200"/>
            <a:ext cx="1044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1F3A68"/>
                </a:solidFill>
                <a:latin typeface="Microsoft YaHei"/>
              </a:rPr>
              <a:t>目录 CONTENTS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8000" y="1458000"/>
            <a:ext cx="10800000" cy="144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080000" y="1655999"/>
            <a:ext cx="9900000" cy="684000"/>
          </a:xfrm>
          <a:prstGeom prst="roundRect">
            <a:avLst>
              <a:gd name="adj" fmla="val 8000"/>
            </a:avLst>
          </a:prstGeom>
          <a:solidFill>
            <a:srgbClr val="F7F9FC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59200" y="1745999"/>
            <a:ext cx="503999" cy="503999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59200" y="1771200"/>
            <a:ext cx="503999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Microsoft YaHe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2000" y="1835999"/>
            <a:ext cx="828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F3A68"/>
                </a:solidFill>
                <a:latin typeface="Microsoft YaHei"/>
              </a:rPr>
              <a:t>01 问题与思路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80000" y="2501999"/>
            <a:ext cx="9900000" cy="684000"/>
          </a:xfrm>
          <a:prstGeom prst="roundRect">
            <a:avLst>
              <a:gd name="adj" fmla="val 8000"/>
            </a:avLst>
          </a:prstGeom>
          <a:solidFill>
            <a:srgbClr val="F7F9FC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59200" y="2591999"/>
            <a:ext cx="503999" cy="503999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59200" y="2617200"/>
            <a:ext cx="503999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Microsoft YaHei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2000" y="2681999"/>
            <a:ext cx="828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F3A68"/>
                </a:solidFill>
                <a:latin typeface="Microsoft YaHei"/>
              </a:rPr>
              <a:t>02 相关工作与启发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80000" y="3348000"/>
            <a:ext cx="9900000" cy="684000"/>
          </a:xfrm>
          <a:prstGeom prst="roundRect">
            <a:avLst>
              <a:gd name="adj" fmla="val 8000"/>
            </a:avLst>
          </a:prstGeom>
          <a:solidFill>
            <a:srgbClr val="F7F9FC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59200" y="3438000"/>
            <a:ext cx="503999" cy="503999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59200" y="3463200"/>
            <a:ext cx="503999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Microsoft YaHei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72000" y="3528000"/>
            <a:ext cx="828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F3A68"/>
                </a:solidFill>
                <a:latin typeface="Microsoft YaHei"/>
              </a:rPr>
              <a:t>03 系统设计与实现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80000" y="4194000"/>
            <a:ext cx="9900000" cy="684000"/>
          </a:xfrm>
          <a:prstGeom prst="roundRect">
            <a:avLst>
              <a:gd name="adj" fmla="val 8000"/>
            </a:avLst>
          </a:prstGeom>
          <a:solidFill>
            <a:srgbClr val="F7F9FC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159200" y="4284000"/>
            <a:ext cx="503999" cy="503999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59200" y="4309200"/>
            <a:ext cx="503999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Microsoft YaHei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72000" y="4374000"/>
            <a:ext cx="828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F3A68"/>
                </a:solidFill>
                <a:latin typeface="Microsoft YaHei"/>
              </a:rPr>
              <a:t>04 实验设计与验证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80000" y="5040000"/>
            <a:ext cx="9900000" cy="684000"/>
          </a:xfrm>
          <a:prstGeom prst="roundRect">
            <a:avLst>
              <a:gd name="adj" fmla="val 8000"/>
            </a:avLst>
          </a:prstGeom>
          <a:solidFill>
            <a:srgbClr val="F7F9FC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159200" y="5130000"/>
            <a:ext cx="503999" cy="503999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59200" y="5155200"/>
            <a:ext cx="503999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Microsoft YaHei"/>
              </a:rPr>
              <a:t>05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872000" y="5220000"/>
            <a:ext cx="828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F3A68"/>
                </a:solidFill>
                <a:latin typeface="Microsoft YaHei"/>
              </a:rPr>
              <a:t>05 智戎接入与总结展望</a:t>
            </a:r>
          </a:p>
        </p:txBody>
      </p:sp>
      <p:sp>
        <p:nvSpPr>
          <p:cNvPr id="26" name="Rectangle 25"/>
          <p:cNvSpPr/>
          <p:nvPr/>
        </p:nvSpPr>
        <p:spPr>
          <a:xfrm>
            <a:off x="0" y="6606000"/>
            <a:ext cx="121932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8000" y="6660000"/>
            <a:ext cx="612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F6E"/>
                </a:solidFill>
                <a:latin typeface="Microsoft YaHei"/>
              </a:rPr>
              <a:t>国防科技大学 · 长短期记忆系统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60000" y="6660000"/>
            <a:ext cx="144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F6E"/>
                </a:solidFill>
                <a:latin typeface="Microsoft YaHei"/>
              </a:rPr>
              <a:t>2 / 28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1F3A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180000" y="1260000"/>
            <a:ext cx="2880000" cy="2880000"/>
          </a:xfrm>
          <a:prstGeom prst="ellipse">
            <a:avLst/>
          </a:prstGeom>
          <a:solidFill>
            <a:srgbClr val="2C4A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800000" y="1296000"/>
            <a:ext cx="5040000" cy="21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0" b="1">
                <a:solidFill>
                  <a:srgbClr val="4C689B"/>
                </a:solidFill>
                <a:latin typeface="Microsoft YaHei"/>
              </a:rPr>
              <a:t>01</a:t>
            </a:r>
          </a:p>
        </p:txBody>
      </p:sp>
      <p:sp>
        <p:nvSpPr>
          <p:cNvPr id="5" name="Rectangle 4"/>
          <p:cNvSpPr/>
          <p:nvPr/>
        </p:nvSpPr>
        <p:spPr>
          <a:xfrm>
            <a:off x="1872000" y="3671999"/>
            <a:ext cx="2160000" cy="36000"/>
          </a:xfrm>
          <a:prstGeom prst="rect">
            <a:avLst/>
          </a:prstGeom>
          <a:solidFill>
            <a:srgbClr val="9AB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00000" y="3888000"/>
            <a:ext cx="7920000" cy="1007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000" b="1">
                <a:solidFill>
                  <a:srgbClr val="FFFFFF"/>
                </a:solidFill>
                <a:latin typeface="Microsoft YaHei"/>
              </a:rPr>
              <a:t>问题与思路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72000" y="4896000"/>
            <a:ext cx="792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7D3E8"/>
                </a:solidFill>
                <a:latin typeface="Microsoft YaHei"/>
              </a:rPr>
              <a:t>PROBLEM &amp; APPROACH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6000" y="306000"/>
            <a:ext cx="504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6EBA"/>
                </a:solidFill>
                <a:latin typeface="Microsoft YaHei"/>
              </a:rPr>
              <a:t>01 · 问题与思路</a:t>
            </a:r>
          </a:p>
        </p:txBody>
      </p:sp>
      <p:sp>
        <p:nvSpPr>
          <p:cNvPr id="3" name="Rectangle 2"/>
          <p:cNvSpPr/>
          <p:nvPr/>
        </p:nvSpPr>
        <p:spPr>
          <a:xfrm>
            <a:off x="648000" y="540000"/>
            <a:ext cx="144000" cy="900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0000" y="619200"/>
            <a:ext cx="1044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1F3A68"/>
                </a:solidFill>
                <a:latin typeface="Microsoft YaHei"/>
              </a:rPr>
              <a:t>课题背景</a:t>
            </a:r>
          </a:p>
        </p:txBody>
      </p:sp>
      <p:sp>
        <p:nvSpPr>
          <p:cNvPr id="5" name="Rectangle 4"/>
          <p:cNvSpPr/>
          <p:nvPr/>
        </p:nvSpPr>
        <p:spPr>
          <a:xfrm>
            <a:off x="648000" y="1458000"/>
            <a:ext cx="10800000" cy="144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92000" y="18288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12000" y="1800000"/>
            <a:ext cx="9828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从零开始的问题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12000" y="2106000"/>
            <a:ext cx="9828000" cy="59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作战规划智能体以场次接任务，目标→查询→检索→规划→推演→复盘→下一场；模型与上下文都不保留跨场次状态，同类错误会反复出现。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792000" y="2761199"/>
            <a:ext cx="10620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2000" y="2962799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12000" y="2933999"/>
            <a:ext cx="9828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长上下文不够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12000" y="3240000"/>
            <a:ext cx="9828000" cy="59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扩展窗口只解决“当前提示词放得下”，窗口关闭后信息即失效；RAG 只解决外部知识供给，不解决经验如何沉淀、更新与淘汰。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2000" y="3895199"/>
            <a:ext cx="10620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92000" y="4096799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12000" y="4067999"/>
            <a:ext cx="9828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模型内记忆代价高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12000" y="4373999"/>
            <a:ext cx="9828000" cy="59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通过微调或状态注入改变模型本身，成本高且无法审计；军事场景需要可回放、可解释的记忆操作。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92000" y="5029199"/>
            <a:ext cx="10620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92000" y="52308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12000" y="5202000"/>
            <a:ext cx="9828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目标定位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12000" y="5508000"/>
            <a:ext cx="9828000" cy="59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在模型之外构建可读写、可演化、可审计的外部记忆系统，以“写入-检索-更新-淘汰”为生命周期。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92000" y="6163199"/>
            <a:ext cx="10620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0" y="6606000"/>
            <a:ext cx="121932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8000" y="6660000"/>
            <a:ext cx="612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F6E"/>
                </a:solidFill>
                <a:latin typeface="Microsoft YaHei"/>
              </a:rPr>
              <a:t>国防科技大学 · 长短期记忆系统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60000" y="6660000"/>
            <a:ext cx="144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F6E"/>
                </a:solidFill>
                <a:latin typeface="Microsoft YaHei"/>
              </a:rPr>
              <a:t>4 / 28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6000" y="306000"/>
            <a:ext cx="504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6EBA"/>
                </a:solidFill>
                <a:latin typeface="Microsoft YaHei"/>
              </a:rPr>
              <a:t>01 · 问题与思路</a:t>
            </a:r>
          </a:p>
        </p:txBody>
      </p:sp>
      <p:sp>
        <p:nvSpPr>
          <p:cNvPr id="3" name="Rectangle 2"/>
          <p:cNvSpPr/>
          <p:nvPr/>
        </p:nvSpPr>
        <p:spPr>
          <a:xfrm>
            <a:off x="648000" y="540000"/>
            <a:ext cx="144000" cy="900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0000" y="619200"/>
            <a:ext cx="1044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1F3A68"/>
                </a:solidFill>
                <a:latin typeface="Microsoft YaHei"/>
              </a:rPr>
              <a:t>五个失败模式</a:t>
            </a:r>
          </a:p>
        </p:txBody>
      </p:sp>
      <p:sp>
        <p:nvSpPr>
          <p:cNvPr id="5" name="Rectangle 4"/>
          <p:cNvSpPr/>
          <p:nvPr/>
        </p:nvSpPr>
        <p:spPr>
          <a:xfrm>
            <a:off x="648000" y="1458000"/>
            <a:ext cx="10800000" cy="144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92000" y="18288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400" b="1">
                <a:solidFill>
                  <a:srgbClr val="2F6EBA"/>
                </a:solidFill>
                <a:latin typeface="Microsoft YaHei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12000" y="1792799"/>
            <a:ext cx="856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F3A68"/>
                </a:solidFill>
                <a:latin typeface="Microsoft YaHei"/>
              </a:rPr>
              <a:t>P1 经验不积累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12000" y="2070000"/>
            <a:ext cx="8568000" cy="403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55F6E"/>
                </a:solidFill>
                <a:latin typeface="Microsoft YaHei"/>
              </a:rPr>
              <a:t>场次间无状态传递；第一场在隘口遇伏，第二场可能仍未派先遣侦察，失败教训没有载体。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10260000" y="1891295"/>
            <a:ext cx="1152000" cy="562463"/>
          </a:xfrm>
          <a:prstGeom prst="rect">
            <a:avLst/>
          </a:prstGeom>
          <a:solidFill>
            <a:srgbClr val="F2F4F8"/>
          </a:solidFill>
          <a:ln w="15240">
            <a:solidFill>
              <a:srgbClr val="2F6E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92000" y="2545200"/>
            <a:ext cx="10620000" cy="90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92000" y="27360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400" b="1">
                <a:solidFill>
                  <a:srgbClr val="2F6EBA"/>
                </a:solidFill>
                <a:latin typeface="Microsoft YaHei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12000" y="2699999"/>
            <a:ext cx="856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F3A68"/>
                </a:solidFill>
                <a:latin typeface="Microsoft YaHei"/>
              </a:rPr>
              <a:t>P2 上下文超限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12000" y="2977200"/>
            <a:ext cx="8568000" cy="403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55F6E"/>
                </a:solidFill>
                <a:latin typeface="Microsoft YaHei"/>
              </a:rPr>
              <a:t>场内战报与硬约束同时涌入，粗暴截断可能把“禁止越境”等约束切掉，规划易合规出错。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260000" y="2798495"/>
            <a:ext cx="1152000" cy="562463"/>
          </a:xfrm>
          <a:prstGeom prst="rect">
            <a:avLst/>
          </a:prstGeom>
          <a:solidFill>
            <a:srgbClr val="F2F4F8"/>
          </a:solidFill>
          <a:ln w="15240">
            <a:solidFill>
              <a:srgbClr val="2F6E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92000" y="3452400"/>
            <a:ext cx="10620000" cy="90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2000" y="3643199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400" b="1">
                <a:solidFill>
                  <a:srgbClr val="2F6EBA"/>
                </a:solidFill>
                <a:latin typeface="Microsoft YaHei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12000" y="3607200"/>
            <a:ext cx="856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F3A68"/>
                </a:solidFill>
                <a:latin typeface="Microsoft YaHei"/>
              </a:rPr>
              <a:t>P3 查询口径混杂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12000" y="3884399"/>
            <a:ext cx="8568000" cy="403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55F6E"/>
                </a:solidFill>
                <a:latin typeface="Microsoft YaHei"/>
              </a:rPr>
              <a:t>装备参数需要精确，经验教训需要语义泛化；同一路无法同时满足精确与召回。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0260000" y="3705696"/>
            <a:ext cx="1152000" cy="562463"/>
          </a:xfrm>
          <a:prstGeom prst="rect">
            <a:avLst/>
          </a:prstGeom>
          <a:solidFill>
            <a:srgbClr val="F2F4F8"/>
          </a:solidFill>
          <a:ln w="15240">
            <a:solidFill>
              <a:srgbClr val="2F6E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92000" y="4359600"/>
            <a:ext cx="10620000" cy="90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92000" y="45504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400" b="1">
                <a:solidFill>
                  <a:srgbClr val="2F6EBA"/>
                </a:solidFill>
                <a:latin typeface="Microsoft YaHei"/>
              </a:rPr>
              <a:t>04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12000" y="4514400"/>
            <a:ext cx="856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F3A68"/>
                </a:solidFill>
                <a:latin typeface="Microsoft YaHei"/>
              </a:rPr>
              <a:t>P4 库噪声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12000" y="4791600"/>
            <a:ext cx="8568000" cy="403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55F6E"/>
                </a:solidFill>
                <a:latin typeface="Microsoft YaHei"/>
              </a:rPr>
              <a:t>复盘无差别入库让长期库积累流水账，信号被噪声淹没，且无法回答“这条为什么在库中”。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260000" y="4612896"/>
            <a:ext cx="1152000" cy="562463"/>
          </a:xfrm>
          <a:prstGeom prst="rect">
            <a:avLst/>
          </a:prstGeom>
          <a:solidFill>
            <a:srgbClr val="F2F4F8"/>
          </a:solidFill>
          <a:ln w="15240">
            <a:solidFill>
              <a:srgbClr val="2F6E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92000" y="5266800"/>
            <a:ext cx="10620000" cy="90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92000" y="5457599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400" b="1">
                <a:solidFill>
                  <a:srgbClr val="2F6EBA"/>
                </a:solidFill>
                <a:latin typeface="Microsoft YaHei"/>
              </a:rPr>
              <a:t>05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12000" y="5421600"/>
            <a:ext cx="856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F3A68"/>
                </a:solidFill>
                <a:latin typeface="Microsoft YaHei"/>
              </a:rPr>
              <a:t>P5 目标检索弱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12000" y="5698799"/>
            <a:ext cx="8568000" cy="403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55F6E"/>
                </a:solidFill>
                <a:latin typeface="Microsoft YaHei"/>
              </a:rPr>
              <a:t>直接用任务目标一句话查询信息量太薄，规划不同阶段需要的记忆类型不同。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260000" y="5520096"/>
            <a:ext cx="1152000" cy="562463"/>
          </a:xfrm>
          <a:prstGeom prst="rect">
            <a:avLst/>
          </a:prstGeom>
          <a:solidFill>
            <a:srgbClr val="F2F4F8"/>
          </a:solidFill>
          <a:ln w="15240">
            <a:solidFill>
              <a:srgbClr val="2F6E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92000" y="6173999"/>
            <a:ext cx="10620000" cy="90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0" y="6606000"/>
            <a:ext cx="121932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8000" y="6660000"/>
            <a:ext cx="612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F6E"/>
                </a:solidFill>
                <a:latin typeface="Microsoft YaHei"/>
              </a:rPr>
              <a:t>国防科技大学 · 长短期记忆系统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260000" y="6660000"/>
            <a:ext cx="144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F6E"/>
                </a:solidFill>
                <a:latin typeface="Microsoft YaHei"/>
              </a:rPr>
              <a:t>5 / 28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6000" y="306000"/>
            <a:ext cx="504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6EBA"/>
                </a:solidFill>
                <a:latin typeface="Microsoft YaHei"/>
              </a:rPr>
              <a:t>01 · 问题与思路</a:t>
            </a:r>
          </a:p>
        </p:txBody>
      </p:sp>
      <p:sp>
        <p:nvSpPr>
          <p:cNvPr id="3" name="Rectangle 2"/>
          <p:cNvSpPr/>
          <p:nvPr/>
        </p:nvSpPr>
        <p:spPr>
          <a:xfrm>
            <a:off x="648000" y="540000"/>
            <a:ext cx="144000" cy="900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0000" y="619200"/>
            <a:ext cx="1044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1F3A68"/>
                </a:solidFill>
                <a:latin typeface="Microsoft YaHei"/>
              </a:rPr>
              <a:t>五个研究问题 RQ1-RQ5</a:t>
            </a:r>
          </a:p>
        </p:txBody>
      </p:sp>
      <p:sp>
        <p:nvSpPr>
          <p:cNvPr id="5" name="Rectangle 4"/>
          <p:cNvSpPr/>
          <p:nvPr/>
        </p:nvSpPr>
        <p:spPr>
          <a:xfrm>
            <a:off x="648000" y="1458000"/>
            <a:ext cx="10800000" cy="144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92000" y="1814400"/>
            <a:ext cx="1296000" cy="684000"/>
          </a:xfrm>
          <a:prstGeom prst="roundRect">
            <a:avLst>
              <a:gd name="adj" fmla="val 8000"/>
            </a:avLst>
          </a:prstGeom>
          <a:solidFill>
            <a:srgbClr val="E7EFF9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4000" y="1936800"/>
            <a:ext cx="1152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 b="1">
                <a:solidFill>
                  <a:srgbClr val="2F6EBA"/>
                </a:solidFill>
                <a:latin typeface="Microsoft YaHei"/>
              </a:rPr>
              <a:t>P1/P5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32000" y="1853999"/>
            <a:ext cx="360000" cy="503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>
                <a:solidFill>
                  <a:srgbClr val="2F6EBA"/>
                </a:solidFill>
                <a:latin typeface="Microsoft YaHei"/>
              </a:rPr>
              <a:t>→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64000" y="1782000"/>
            <a:ext cx="7523999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>
                <a:solidFill>
                  <a:srgbClr val="1F3A68"/>
                </a:solidFill>
                <a:latin typeface="Microsoft YaHei"/>
              </a:rPr>
              <a:t>RQ1 双库贡献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64000" y="2095200"/>
            <a:ext cx="7523999" cy="367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>
                <a:solidFill>
                  <a:srgbClr val="555F6E"/>
                </a:solidFill>
                <a:latin typeface="Microsoft YaHei"/>
              </a:rPr>
              <a:t>事实/经验分库是否在固定用例集上带来可测召回增益？对应 G2 vs G3 消融。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332000" y="1872000"/>
            <a:ext cx="1080000" cy="544319"/>
          </a:xfrm>
          <a:prstGeom prst="rect">
            <a:avLst/>
          </a:prstGeom>
          <a:solidFill>
            <a:srgbClr val="F2F4F8"/>
          </a:solidFill>
          <a:ln w="15240">
            <a:solidFill>
              <a:srgbClr val="2F6E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92000" y="2556000"/>
            <a:ext cx="10620000" cy="90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92000" y="2721600"/>
            <a:ext cx="1296000" cy="684000"/>
          </a:xfrm>
          <a:prstGeom prst="roundRect">
            <a:avLst>
              <a:gd name="adj" fmla="val 8000"/>
            </a:avLst>
          </a:prstGeom>
          <a:solidFill>
            <a:srgbClr val="E7EFF9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4000" y="2844000"/>
            <a:ext cx="1152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 b="1">
                <a:solidFill>
                  <a:srgbClr val="2F6EBA"/>
                </a:solidFill>
                <a:latin typeface="Microsoft YaHei"/>
              </a:rPr>
              <a:t>P1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32000" y="2761199"/>
            <a:ext cx="360000" cy="503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>
                <a:solidFill>
                  <a:srgbClr val="2F6EBA"/>
                </a:solidFill>
                <a:latin typeface="Microsoft YaHei"/>
              </a:rPr>
              <a:t>→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64000" y="2689200"/>
            <a:ext cx="7523999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>
                <a:solidFill>
                  <a:srgbClr val="1F3A68"/>
                </a:solidFill>
                <a:latin typeface="Microsoft YaHei"/>
              </a:rPr>
              <a:t>RQ2 跨场次复用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64000" y="3002400"/>
            <a:ext cx="7523999" cy="367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>
                <a:solidFill>
                  <a:srgbClr val="555F6E"/>
                </a:solidFill>
                <a:latin typeface="Microsoft YaHei"/>
              </a:rPr>
              <a:t>第一场复盘写入能否被第二场召回？处理组 0.833 vs 对照 0。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0332000" y="2779200"/>
            <a:ext cx="1080000" cy="544319"/>
          </a:xfrm>
          <a:prstGeom prst="rect">
            <a:avLst/>
          </a:prstGeom>
          <a:solidFill>
            <a:srgbClr val="F2F4F8"/>
          </a:solidFill>
          <a:ln w="15240">
            <a:solidFill>
              <a:srgbClr val="2F6E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92000" y="3463199"/>
            <a:ext cx="10620000" cy="90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792000" y="3628800"/>
            <a:ext cx="1296000" cy="684000"/>
          </a:xfrm>
          <a:prstGeom prst="roundRect">
            <a:avLst>
              <a:gd name="adj" fmla="val 8000"/>
            </a:avLst>
          </a:prstGeom>
          <a:solidFill>
            <a:srgbClr val="E7EFF9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4000" y="3751200"/>
            <a:ext cx="1152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 b="1">
                <a:solidFill>
                  <a:srgbClr val="2F6EBA"/>
                </a:solidFill>
                <a:latin typeface="Microsoft YaHei"/>
              </a:rPr>
              <a:t>P3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232000" y="3668400"/>
            <a:ext cx="360000" cy="503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>
                <a:solidFill>
                  <a:srgbClr val="2F6EBA"/>
                </a:solidFill>
                <a:latin typeface="Microsoft YaHei"/>
              </a:rPr>
              <a:t>→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64000" y="3596400"/>
            <a:ext cx="7523999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>
                <a:solidFill>
                  <a:srgbClr val="1F3A68"/>
                </a:solidFill>
                <a:latin typeface="Microsoft YaHei"/>
              </a:rPr>
              <a:t>RQ3 检索策略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664000" y="3909600"/>
            <a:ext cx="7523999" cy="367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>
                <a:solidFill>
                  <a:srgbClr val="555F6E"/>
                </a:solidFill>
                <a:latin typeface="Microsoft YaHei"/>
              </a:rPr>
              <a:t>三路融合相对单路是否有增益？词袋下召回未胜出，排序/干扰压制更好。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0332000" y="3686400"/>
            <a:ext cx="1080000" cy="544319"/>
          </a:xfrm>
          <a:prstGeom prst="rect">
            <a:avLst/>
          </a:prstGeom>
          <a:solidFill>
            <a:srgbClr val="F2F4F8"/>
          </a:solidFill>
          <a:ln w="15240">
            <a:solidFill>
              <a:srgbClr val="2F6E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92000" y="4370400"/>
            <a:ext cx="10620000" cy="90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792000" y="4536000"/>
            <a:ext cx="1296000" cy="684000"/>
          </a:xfrm>
          <a:prstGeom prst="roundRect">
            <a:avLst>
              <a:gd name="adj" fmla="val 8000"/>
            </a:avLst>
          </a:prstGeom>
          <a:solidFill>
            <a:srgbClr val="E7EFF9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64000" y="4658400"/>
            <a:ext cx="1152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 b="1">
                <a:solidFill>
                  <a:srgbClr val="2F6EBA"/>
                </a:solidFill>
                <a:latin typeface="Microsoft YaHei"/>
              </a:rPr>
              <a:t>P2/P4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232000" y="4575600"/>
            <a:ext cx="360000" cy="503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>
                <a:solidFill>
                  <a:srgbClr val="2F6EBA"/>
                </a:solidFill>
                <a:latin typeface="Microsoft YaHei"/>
              </a:rPr>
              <a:t>→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664000" y="4503600"/>
            <a:ext cx="7523999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>
                <a:solidFill>
                  <a:srgbClr val="1F3A68"/>
                </a:solidFill>
                <a:latin typeface="Microsoft YaHei"/>
              </a:rPr>
              <a:t>RQ4 滤噪与遗忘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664000" y="4816800"/>
            <a:ext cx="7523999" cy="367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>
                <a:solidFill>
                  <a:srgbClr val="555F6E"/>
                </a:solidFill>
                <a:latin typeface="Microsoft YaHei"/>
              </a:rPr>
              <a:t>阈值能否滤除负例、遗忘是否不误删保护记忆？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0332000" y="4593600"/>
            <a:ext cx="1080000" cy="544319"/>
          </a:xfrm>
          <a:prstGeom prst="rect">
            <a:avLst/>
          </a:prstGeom>
          <a:solidFill>
            <a:srgbClr val="F2F4F8"/>
          </a:solidFill>
          <a:ln w="15240">
            <a:solidFill>
              <a:srgbClr val="2F6E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92000" y="5277599"/>
            <a:ext cx="10620000" cy="90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792000" y="5443200"/>
            <a:ext cx="1296000" cy="684000"/>
          </a:xfrm>
          <a:prstGeom prst="roundRect">
            <a:avLst>
              <a:gd name="adj" fmla="val 8000"/>
            </a:avLst>
          </a:prstGeom>
          <a:solidFill>
            <a:srgbClr val="E7EFF9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64000" y="5565600"/>
            <a:ext cx="1152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 b="1">
                <a:solidFill>
                  <a:srgbClr val="2F6EBA"/>
                </a:solidFill>
                <a:latin typeface="Microsoft YaHei"/>
              </a:rPr>
              <a:t>P4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232000" y="5482799"/>
            <a:ext cx="360000" cy="503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>
                <a:solidFill>
                  <a:srgbClr val="2F6EBA"/>
                </a:solidFill>
                <a:latin typeface="Microsoft YaHei"/>
              </a:rPr>
              <a:t>→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664000" y="5410800"/>
            <a:ext cx="7523999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>
                <a:solidFill>
                  <a:srgbClr val="1F3A68"/>
                </a:solidFill>
                <a:latin typeface="Microsoft YaHei"/>
              </a:rPr>
              <a:t>RQ5 真实模型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664000" y="5723999"/>
            <a:ext cx="7523999" cy="367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>
                <a:solidFill>
                  <a:srgbClr val="555F6E"/>
                </a:solidFill>
                <a:latin typeface="Microsoft YaHei"/>
              </a:rPr>
              <a:t>DeepSeek 是否实际引用装载记忆？T6 引用率 1.00。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0332000" y="5500800"/>
            <a:ext cx="1080000" cy="544319"/>
          </a:xfrm>
          <a:prstGeom prst="rect">
            <a:avLst/>
          </a:prstGeom>
          <a:solidFill>
            <a:srgbClr val="F2F4F8"/>
          </a:solidFill>
          <a:ln w="15240">
            <a:solidFill>
              <a:srgbClr val="2F6E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2000" y="6184800"/>
            <a:ext cx="10620000" cy="90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0" y="6606000"/>
            <a:ext cx="121932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48000" y="6660000"/>
            <a:ext cx="612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F6E"/>
                </a:solidFill>
                <a:latin typeface="Microsoft YaHei"/>
              </a:rPr>
              <a:t>国防科技大学 · 长短期记忆系统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260000" y="6660000"/>
            <a:ext cx="144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F6E"/>
                </a:solidFill>
                <a:latin typeface="Microsoft YaHei"/>
              </a:rPr>
              <a:t>6 / 28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6000" y="306000"/>
            <a:ext cx="504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6EBA"/>
                </a:solidFill>
                <a:latin typeface="Microsoft YaHei"/>
              </a:rPr>
              <a:t>01 · 问题与思路</a:t>
            </a:r>
          </a:p>
        </p:txBody>
      </p:sp>
      <p:sp>
        <p:nvSpPr>
          <p:cNvPr id="3" name="Rectangle 2"/>
          <p:cNvSpPr/>
          <p:nvPr/>
        </p:nvSpPr>
        <p:spPr>
          <a:xfrm>
            <a:off x="648000" y="540000"/>
            <a:ext cx="144000" cy="900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0000" y="619200"/>
            <a:ext cx="1044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1F3A68"/>
                </a:solidFill>
                <a:latin typeface="Microsoft YaHei"/>
              </a:rPr>
              <a:t>总体思路</a:t>
            </a:r>
          </a:p>
        </p:txBody>
      </p:sp>
      <p:sp>
        <p:nvSpPr>
          <p:cNvPr id="5" name="Rectangle 4"/>
          <p:cNvSpPr/>
          <p:nvPr/>
        </p:nvSpPr>
        <p:spPr>
          <a:xfrm>
            <a:off x="648000" y="1458000"/>
            <a:ext cx="10800000" cy="144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20000" y="1655999"/>
            <a:ext cx="5220000" cy="2015999"/>
          </a:xfrm>
          <a:prstGeom prst="roundRect">
            <a:avLst>
              <a:gd name="adj" fmla="val 8000"/>
            </a:avLst>
          </a:prstGeom>
          <a:solidFill>
            <a:srgbClr val="F2F4F8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20000" y="1655999"/>
            <a:ext cx="79200" cy="2015999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6000" y="1800000"/>
            <a:ext cx="576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2F6EBA"/>
                </a:solidFill>
                <a:latin typeface="Microsoft YaHe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2000" y="2106000"/>
            <a:ext cx="4716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外部系统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2000" y="2501999"/>
            <a:ext cx="4716000" cy="1079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555F6E"/>
                </a:solidFill>
                <a:latin typeface="Microsoft YaHei"/>
              </a:rPr>
              <a:t>把记忆从上下文窗口搬到独立系统，可写、可检索、可更新、可淘汰；短期管当前场次，长期管跨场次知识。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28000" y="1655999"/>
            <a:ext cx="5220000" cy="2015999"/>
          </a:xfrm>
          <a:prstGeom prst="roundRect">
            <a:avLst>
              <a:gd name="adj" fmla="val 8000"/>
            </a:avLst>
          </a:prstGeom>
          <a:solidFill>
            <a:srgbClr val="F2F4F8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28000" y="1655999"/>
            <a:ext cx="79200" cy="2015999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44000" y="1800000"/>
            <a:ext cx="576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2F6EBA"/>
                </a:solidFill>
                <a:latin typeface="Microsoft YaHei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80000" y="2106000"/>
            <a:ext cx="4716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复盘晋升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80000" y="2501999"/>
            <a:ext cx="4716000" cy="1079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555F6E"/>
                </a:solidFill>
                <a:latin typeface="Microsoft YaHei"/>
              </a:rPr>
              <a:t>短期→长期只留一条写通道，即场次结束后的复盘；三道门控：复盘驱动、类别判定、语义查重，每次操作进审计日志。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20000" y="3887999"/>
            <a:ext cx="5220000" cy="2015999"/>
          </a:xfrm>
          <a:prstGeom prst="roundRect">
            <a:avLst>
              <a:gd name="adj" fmla="val 8000"/>
            </a:avLst>
          </a:prstGeom>
          <a:solidFill>
            <a:srgbClr val="F2F4F8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20000" y="3887999"/>
            <a:ext cx="79200" cy="2015999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36000" y="4031999"/>
            <a:ext cx="576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2F6EBA"/>
                </a:solidFill>
                <a:latin typeface="Microsoft YaHei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72000" y="4338000"/>
            <a:ext cx="4716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建议-执行分离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72000" y="4733999"/>
            <a:ext cx="4716000" cy="1079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555F6E"/>
                </a:solidFill>
                <a:latin typeface="Microsoft YaHei"/>
              </a:rPr>
              <a:t>LLM/规则只负责提候选，写入、合并、遗忘、抽象由确定性代码执行；保证“为什么删、从哪来”可审计。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28000" y="3887999"/>
            <a:ext cx="5220000" cy="2015999"/>
          </a:xfrm>
          <a:prstGeom prst="roundRect">
            <a:avLst>
              <a:gd name="adj" fmla="val 8000"/>
            </a:avLst>
          </a:prstGeom>
          <a:solidFill>
            <a:srgbClr val="F2F4F8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28000" y="3887999"/>
            <a:ext cx="79200" cy="2015999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4000" y="4031999"/>
            <a:ext cx="576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2F6EBA"/>
                </a:solidFill>
                <a:latin typeface="Microsoft YaHei"/>
              </a:rPr>
              <a:t>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80000" y="4338000"/>
            <a:ext cx="4716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阶段感知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80000" y="4733999"/>
            <a:ext cx="4716000" cy="1079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555F6E"/>
                </a:solidFill>
                <a:latin typeface="Microsoft YaHei"/>
              </a:rPr>
              <a:t>查询按 MDMP 七阶段生成，阶段匹配记忆加亲和分；复盘教训归因到阶段，让“方案拟制”优先看到历史战例。</a:t>
            </a:r>
          </a:p>
        </p:txBody>
      </p:sp>
      <p:sp>
        <p:nvSpPr>
          <p:cNvPr id="26" name="Rectangle 25"/>
          <p:cNvSpPr/>
          <p:nvPr/>
        </p:nvSpPr>
        <p:spPr>
          <a:xfrm>
            <a:off x="0" y="6606000"/>
            <a:ext cx="121932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8000" y="6660000"/>
            <a:ext cx="612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F6E"/>
                </a:solidFill>
                <a:latin typeface="Microsoft YaHei"/>
              </a:rPr>
              <a:t>国防科技大学 · 长短期记忆系统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60000" y="6660000"/>
            <a:ext cx="144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F6E"/>
                </a:solidFill>
                <a:latin typeface="Microsoft YaHei"/>
              </a:rPr>
              <a:t>7 / 28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1F3A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180000" y="1260000"/>
            <a:ext cx="2880000" cy="2880000"/>
          </a:xfrm>
          <a:prstGeom prst="ellipse">
            <a:avLst/>
          </a:prstGeom>
          <a:solidFill>
            <a:srgbClr val="2C4A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800000" y="1296000"/>
            <a:ext cx="5040000" cy="21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0" b="1">
                <a:solidFill>
                  <a:srgbClr val="4C689B"/>
                </a:solidFill>
                <a:latin typeface="Microsoft YaHei"/>
              </a:rPr>
              <a:t>02</a:t>
            </a:r>
          </a:p>
        </p:txBody>
      </p:sp>
      <p:sp>
        <p:nvSpPr>
          <p:cNvPr id="5" name="Rectangle 4"/>
          <p:cNvSpPr/>
          <p:nvPr/>
        </p:nvSpPr>
        <p:spPr>
          <a:xfrm>
            <a:off x="1872000" y="3671999"/>
            <a:ext cx="2160000" cy="36000"/>
          </a:xfrm>
          <a:prstGeom prst="rect">
            <a:avLst/>
          </a:prstGeom>
          <a:solidFill>
            <a:srgbClr val="9AB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00000" y="3888000"/>
            <a:ext cx="7920000" cy="1007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000" b="1">
                <a:solidFill>
                  <a:srgbClr val="FFFFFF"/>
                </a:solidFill>
                <a:latin typeface="Microsoft YaHei"/>
              </a:rPr>
              <a:t>相关工作与启发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72000" y="4896000"/>
            <a:ext cx="792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7D3E8"/>
                </a:solidFill>
                <a:latin typeface="Microsoft YaHei"/>
              </a:rPr>
              <a:t>RELATED WORK &amp; INSPIRATION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6000" y="306000"/>
            <a:ext cx="504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6EBA"/>
                </a:solidFill>
                <a:latin typeface="Microsoft YaHei"/>
              </a:rPr>
              <a:t>02 · 相关工作与启发</a:t>
            </a:r>
          </a:p>
        </p:txBody>
      </p:sp>
      <p:sp>
        <p:nvSpPr>
          <p:cNvPr id="3" name="Rectangle 2"/>
          <p:cNvSpPr/>
          <p:nvPr/>
        </p:nvSpPr>
        <p:spPr>
          <a:xfrm>
            <a:off x="648000" y="540000"/>
            <a:ext cx="144000" cy="900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0000" y="619200"/>
            <a:ext cx="1044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1F3A68"/>
                </a:solidFill>
                <a:latin typeface="Microsoft YaHei"/>
              </a:rPr>
              <a:t>上下文组织与工作记忆</a:t>
            </a:r>
          </a:p>
        </p:txBody>
      </p:sp>
      <p:sp>
        <p:nvSpPr>
          <p:cNvPr id="5" name="Rectangle 4"/>
          <p:cNvSpPr/>
          <p:nvPr/>
        </p:nvSpPr>
        <p:spPr>
          <a:xfrm>
            <a:off x="648000" y="1458000"/>
            <a:ext cx="10800000" cy="144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92000" y="18288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12000" y="1800000"/>
            <a:ext cx="9828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综述框架（Zhang 2024）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12000" y="2106000"/>
            <a:ext cx="9828000" cy="59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把记忆工作归纳为“形式-操作-应用”三层；本文补齐“写、更新、遗忘”闭环并把每步做成可审计事件。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792000" y="2761199"/>
            <a:ext cx="10620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2000" y="2962799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12000" y="2933999"/>
            <a:ext cx="9828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MemGPT 分层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12000" y="3240000"/>
            <a:ext cx="9828000" cy="59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主上下文+外部存档；本文采用分层，但改成确定性阈值换页（0.7预警/1.0压缩），保证可复现可消融。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2000" y="3895199"/>
            <a:ext cx="10620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92000" y="4096799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12000" y="4067999"/>
            <a:ext cx="9828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SCM 控制器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12000" y="4373999"/>
            <a:ext cx="9828000" cy="59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显式决定何时读/写/归档；本文沿用“控制器唯一调度”，但把写长期库收窄为复盘晋升一条通道。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92000" y="5029199"/>
            <a:ext cx="10620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92000" y="52308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12000" y="5202000"/>
            <a:ext cx="9828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LLMLingua/ICAE 压缩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12000" y="5508000"/>
            <a:ext cx="9828000" cy="59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借用位置偏置与“只压历史不压约束”，压缩器本身留作后续扩展。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92000" y="6163199"/>
            <a:ext cx="10620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0" y="6606000"/>
            <a:ext cx="121932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8000" y="6660000"/>
            <a:ext cx="612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F6E"/>
                </a:solidFill>
                <a:latin typeface="Microsoft YaHei"/>
              </a:rPr>
              <a:t>国防科技大学 · 长短期记忆系统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60000" y="6660000"/>
            <a:ext cx="144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F6E"/>
                </a:solidFill>
                <a:latin typeface="Microsoft YaHei"/>
              </a:rPr>
              <a:t>9 / 28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6000" y="306000"/>
            <a:ext cx="504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6EBA"/>
                </a:solidFill>
                <a:latin typeface="Microsoft YaHei"/>
              </a:rPr>
              <a:t>02 · 相关工作与启发</a:t>
            </a:r>
          </a:p>
        </p:txBody>
      </p:sp>
      <p:sp>
        <p:nvSpPr>
          <p:cNvPr id="3" name="Rectangle 2"/>
          <p:cNvSpPr/>
          <p:nvPr/>
        </p:nvSpPr>
        <p:spPr>
          <a:xfrm>
            <a:off x="648000" y="540000"/>
            <a:ext cx="144000" cy="900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0000" y="619200"/>
            <a:ext cx="1044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1F3A68"/>
                </a:solidFill>
                <a:latin typeface="Microsoft YaHei"/>
              </a:rPr>
              <a:t>长期存储与检索</a:t>
            </a:r>
          </a:p>
        </p:txBody>
      </p:sp>
      <p:sp>
        <p:nvSpPr>
          <p:cNvPr id="5" name="Rectangle 4"/>
          <p:cNvSpPr/>
          <p:nvPr/>
        </p:nvSpPr>
        <p:spPr>
          <a:xfrm>
            <a:off x="648000" y="1458000"/>
            <a:ext cx="10800000" cy="144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92000" y="16920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1">
                <a:solidFill>
                  <a:srgbClr val="2F6EBA"/>
                </a:solidFill>
                <a:latin typeface="Microsoft YaHei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12000" y="1713600"/>
            <a:ext cx="9828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F3A68"/>
                </a:solidFill>
                <a:latin typeface="Microsoft YaHei"/>
              </a:rPr>
              <a:t>ChatDB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12000" y="1951200"/>
            <a:ext cx="9828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555F6E"/>
                </a:solidFill>
                <a:latin typeface="Microsoft YaHei"/>
              </a:rPr>
              <a:t>数据库即符号记忆 → 只保留属性精确过滤，不实现全量 NL→SQL。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792000" y="2178000"/>
            <a:ext cx="10620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2000" y="22500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1">
                <a:solidFill>
                  <a:srgbClr val="2F6EBA"/>
                </a:solidFill>
                <a:latin typeface="Microsoft YaHei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12000" y="2271600"/>
            <a:ext cx="9828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F3A68"/>
                </a:solidFill>
                <a:latin typeface="Microsoft YaHei"/>
              </a:rPr>
              <a:t>ExpeL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12000" y="2509200"/>
            <a:ext cx="9828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555F6E"/>
                </a:solidFill>
                <a:latin typeface="Microsoft YaHei"/>
              </a:rPr>
              <a:t>经验库+向量召回 → 补齐重要性加权与 SQLite 持久化。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2000" y="2736000"/>
            <a:ext cx="10620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92000" y="28080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1">
                <a:solidFill>
                  <a:srgbClr val="2F6EBA"/>
                </a:solidFill>
                <a:latin typeface="Microsoft YaHei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12000" y="2829600"/>
            <a:ext cx="9828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F3A68"/>
                </a:solidFill>
                <a:latin typeface="Microsoft YaHei"/>
              </a:rPr>
              <a:t>Reflexion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12000" y="3067200"/>
            <a:ext cx="9828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555F6E"/>
                </a:solidFill>
                <a:latin typeface="Microsoft YaHei"/>
              </a:rPr>
              <a:t>语言反思 → 采用语言形式经验，不采用在线强化。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92000" y="3294000"/>
            <a:ext cx="10620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92000" y="33660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1">
                <a:solidFill>
                  <a:srgbClr val="2F6EBA"/>
                </a:solidFill>
                <a:latin typeface="Microsoft YaHei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12000" y="3387600"/>
            <a:ext cx="9828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F3A68"/>
                </a:solidFill>
                <a:latin typeface="Microsoft YaHei"/>
              </a:rPr>
              <a:t>MemoryBank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12000" y="3625200"/>
            <a:ext cx="9828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555F6E"/>
                </a:solidFill>
                <a:latin typeface="Microsoft YaHei"/>
              </a:rPr>
              <a:t>艾宾浩斯遗忘+召唤强化 → 增加 importance≥2 保护线。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92000" y="3851999"/>
            <a:ext cx="10620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92000" y="39240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1">
                <a:solidFill>
                  <a:srgbClr val="2F6EBA"/>
                </a:solidFill>
                <a:latin typeface="Microsoft YaHei"/>
              </a:rPr>
              <a:t>05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12000" y="3945600"/>
            <a:ext cx="9828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F3A68"/>
                </a:solidFill>
                <a:latin typeface="Microsoft YaHei"/>
              </a:rPr>
              <a:t>Zep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12000" y="4183200"/>
            <a:ext cx="9828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555F6E"/>
                </a:solidFill>
                <a:latin typeface="Microsoft YaHei"/>
              </a:rPr>
              <a:t>时序知识图谱+溯源 → 采用溯源字段，不采用图存储。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92000" y="4410000"/>
            <a:ext cx="10620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92000" y="44820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1">
                <a:solidFill>
                  <a:srgbClr val="2F6EBA"/>
                </a:solidFill>
                <a:latin typeface="Microsoft YaHei"/>
              </a:rPr>
              <a:t>06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12000" y="4503600"/>
            <a:ext cx="9828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F3A68"/>
                </a:solidFill>
                <a:latin typeface="Microsoft YaHei"/>
              </a:rPr>
              <a:t>MIRIX/TiM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12000" y="4741200"/>
            <a:ext cx="9828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555F6E"/>
                </a:solidFill>
                <a:latin typeface="Microsoft YaHei"/>
              </a:rPr>
              <a:t>多路策略与显式检索计划 → 压缩为三路融合。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92000" y="4968000"/>
            <a:ext cx="10620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0" y="6606000"/>
            <a:ext cx="121932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8000" y="6660000"/>
            <a:ext cx="612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F6E"/>
                </a:solidFill>
                <a:latin typeface="Microsoft YaHei"/>
              </a:rPr>
              <a:t>国防科技大学 · 长短期记忆系统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260000" y="6660000"/>
            <a:ext cx="144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F6E"/>
                </a:solidFill>
                <a:latin typeface="Microsoft YaHei"/>
              </a:rPr>
              <a:t>10 / 28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6000" y="306000"/>
            <a:ext cx="504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6EBA"/>
                </a:solidFill>
                <a:latin typeface="Microsoft YaHei"/>
              </a:rPr>
              <a:t>02 · 相关工作与启发</a:t>
            </a:r>
          </a:p>
        </p:txBody>
      </p:sp>
      <p:sp>
        <p:nvSpPr>
          <p:cNvPr id="3" name="Rectangle 2"/>
          <p:cNvSpPr/>
          <p:nvPr/>
        </p:nvSpPr>
        <p:spPr>
          <a:xfrm>
            <a:off x="648000" y="540000"/>
            <a:ext cx="144000" cy="900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0000" y="619200"/>
            <a:ext cx="1044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1F3A68"/>
                </a:solidFill>
                <a:latin typeface="Microsoft YaHei"/>
              </a:rPr>
              <a:t>记忆进化与设计依据</a:t>
            </a:r>
          </a:p>
        </p:txBody>
      </p:sp>
      <p:sp>
        <p:nvSpPr>
          <p:cNvPr id="5" name="Rectangle 4"/>
          <p:cNvSpPr/>
          <p:nvPr/>
        </p:nvSpPr>
        <p:spPr>
          <a:xfrm>
            <a:off x="648000" y="1458000"/>
            <a:ext cx="10800000" cy="144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92000" y="1692000"/>
            <a:ext cx="648000" cy="288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92000" y="1782000"/>
            <a:ext cx="531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F3A68"/>
                </a:solidFill>
                <a:latin typeface="Microsoft YaHei"/>
              </a:rPr>
              <a:t>借鉴 / 启发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2000" y="2167200"/>
            <a:ext cx="251999" cy="251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>
                <a:solidFill>
                  <a:srgbClr val="2F6EBA"/>
                </a:solidFill>
                <a:latin typeface="Microsoft YaHei"/>
              </a:rPr>
              <a:t>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0000" y="2167200"/>
            <a:ext cx="4878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>
                <a:solidFill>
                  <a:srgbClr val="1F3A68"/>
                </a:solidFill>
                <a:latin typeface="Microsoft YaHei"/>
              </a:rPr>
              <a:t>PREMem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0000" y="2376000"/>
            <a:ext cx="487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555F6E"/>
                </a:solidFill>
                <a:latin typeface="Microsoft YaHei"/>
              </a:rPr>
              <a:t>θ 相似度去重 → 写入前查重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000" y="2797200"/>
            <a:ext cx="251999" cy="251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>
                <a:solidFill>
                  <a:srgbClr val="2F6EBA"/>
                </a:solidFill>
                <a:latin typeface="Microsoft YaHei"/>
              </a:rP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0000" y="2797200"/>
            <a:ext cx="4878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>
                <a:solidFill>
                  <a:srgbClr val="1F3A68"/>
                </a:solidFill>
                <a:latin typeface="Microsoft YaHei"/>
              </a:rPr>
              <a:t>StructMem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0000" y="3006000"/>
            <a:ext cx="487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555F6E"/>
                </a:solidFill>
                <a:latin typeface="Microsoft YaHei"/>
              </a:rPr>
              <a:t>跨事件整合 → “抽象”操作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2000" y="3427200"/>
            <a:ext cx="251999" cy="251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>
                <a:solidFill>
                  <a:srgbClr val="2F6EBA"/>
                </a:solidFill>
                <a:latin typeface="Microsoft YaHei"/>
              </a:rPr>
              <a:t>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0000" y="3427200"/>
            <a:ext cx="4878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>
                <a:solidFill>
                  <a:srgbClr val="1F3A68"/>
                </a:solidFill>
                <a:latin typeface="Microsoft YaHei"/>
              </a:rPr>
              <a:t>MemSkill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80000" y="3636000"/>
            <a:ext cx="487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555F6E"/>
                </a:solidFill>
                <a:latin typeface="Microsoft YaHei"/>
              </a:rPr>
              <a:t>操作类型化 → MemoryOp 枚举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2000" y="4057200"/>
            <a:ext cx="251999" cy="251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>
                <a:solidFill>
                  <a:srgbClr val="2F6EBA"/>
                </a:solidFill>
                <a:latin typeface="Microsoft YaHei"/>
              </a:rPr>
              <a:t>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80000" y="4057200"/>
            <a:ext cx="4878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>
                <a:solidFill>
                  <a:srgbClr val="1F3A68"/>
                </a:solidFill>
                <a:latin typeface="Microsoft YaHei"/>
              </a:rPr>
              <a:t>Mem-α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0000" y="4266000"/>
            <a:ext cx="487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555F6E"/>
                </a:solidFill>
                <a:latin typeface="Microsoft YaHei"/>
              </a:rPr>
              <a:t>建议-执行分离 → 核心架构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92000" y="4716000"/>
            <a:ext cx="5310000" cy="72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678000" y="1692000"/>
            <a:ext cx="648000" cy="288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78000" y="1782000"/>
            <a:ext cx="531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F3A68"/>
                </a:solidFill>
                <a:latin typeface="Microsoft YaHei"/>
              </a:rPr>
              <a:t>注意 / 边界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78000" y="2167200"/>
            <a:ext cx="251999" cy="251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>
                <a:solidFill>
                  <a:srgbClr val="2F6EBA"/>
                </a:solidFill>
                <a:latin typeface="Microsoft YaHei"/>
              </a:rPr>
              <a:t>•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66000" y="2167200"/>
            <a:ext cx="4878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>
                <a:solidFill>
                  <a:srgbClr val="1F3A68"/>
                </a:solidFill>
                <a:latin typeface="Microsoft YaHei"/>
              </a:rPr>
              <a:t>不采用完整聚类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66000" y="2376000"/>
            <a:ext cx="487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555F6E"/>
                </a:solidFill>
                <a:latin typeface="Microsoft YaHei"/>
              </a:rPr>
              <a:t>50 条量级收益不明显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78000" y="2797200"/>
            <a:ext cx="251999" cy="251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>
                <a:solidFill>
                  <a:srgbClr val="2F6EBA"/>
                </a:solidFill>
                <a:latin typeface="Microsoft YaHei"/>
              </a:rPr>
              <a:t>•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66000" y="2797200"/>
            <a:ext cx="4878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>
                <a:solidFill>
                  <a:srgbClr val="1F3A68"/>
                </a:solidFill>
                <a:latin typeface="Microsoft YaHei"/>
              </a:rPr>
              <a:t>不采用在线强化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66000" y="3006000"/>
            <a:ext cx="487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555F6E"/>
                </a:solidFill>
                <a:latin typeface="Microsoft YaHei"/>
              </a:rPr>
              <a:t>战场奖励信号不稳定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78000" y="3427200"/>
            <a:ext cx="251999" cy="251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>
                <a:solidFill>
                  <a:srgbClr val="2F6EBA"/>
                </a:solidFill>
                <a:latin typeface="Microsoft YaHei"/>
              </a:rPr>
              <a:t>•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66000" y="3427200"/>
            <a:ext cx="4878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>
                <a:solidFill>
                  <a:srgbClr val="1F3A68"/>
                </a:solidFill>
                <a:latin typeface="Microsoft YaHei"/>
              </a:rPr>
              <a:t>不采用图存储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66000" y="3636000"/>
            <a:ext cx="487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555F6E"/>
                </a:solidFill>
                <a:latin typeface="Microsoft YaHei"/>
              </a:rPr>
              <a:t>构建纠错成本高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78000" y="4057200"/>
            <a:ext cx="251999" cy="251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>
                <a:solidFill>
                  <a:srgbClr val="2F6EBA"/>
                </a:solidFill>
                <a:latin typeface="Microsoft YaHei"/>
              </a:rPr>
              <a:t>•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966000" y="4057200"/>
            <a:ext cx="4878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>
                <a:solidFill>
                  <a:srgbClr val="1F3A68"/>
                </a:solidFill>
                <a:latin typeface="Microsoft YaHei"/>
              </a:rPr>
              <a:t>领域化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966000" y="4266000"/>
            <a:ext cx="487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555F6E"/>
                </a:solidFill>
                <a:latin typeface="Microsoft YaHei"/>
              </a:rPr>
              <a:t>保护线、精确绕过阈值、阶段供给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678000" y="4716000"/>
            <a:ext cx="5310000" cy="72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6606000"/>
            <a:ext cx="121932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8000" y="6660000"/>
            <a:ext cx="612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F6E"/>
                </a:solidFill>
                <a:latin typeface="Microsoft YaHei"/>
              </a:rPr>
              <a:t>国防科技大学 · 长短期记忆系统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260000" y="6660000"/>
            <a:ext cx="144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F6E"/>
                </a:solidFill>
                <a:latin typeface="Microsoft YaHei"/>
              </a:rPr>
              <a:t>11 / 28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1F3A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180000" y="1260000"/>
            <a:ext cx="2880000" cy="2880000"/>
          </a:xfrm>
          <a:prstGeom prst="ellipse">
            <a:avLst/>
          </a:prstGeom>
          <a:solidFill>
            <a:srgbClr val="2C4A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800000" y="1296000"/>
            <a:ext cx="5040000" cy="21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0" b="1">
                <a:solidFill>
                  <a:srgbClr val="4C689B"/>
                </a:solidFill>
                <a:latin typeface="Microsoft YaHei"/>
              </a:rPr>
              <a:t>03</a:t>
            </a:r>
          </a:p>
        </p:txBody>
      </p:sp>
      <p:sp>
        <p:nvSpPr>
          <p:cNvPr id="5" name="Rectangle 4"/>
          <p:cNvSpPr/>
          <p:nvPr/>
        </p:nvSpPr>
        <p:spPr>
          <a:xfrm>
            <a:off x="1872000" y="3671999"/>
            <a:ext cx="2160000" cy="36000"/>
          </a:xfrm>
          <a:prstGeom prst="rect">
            <a:avLst/>
          </a:prstGeom>
          <a:solidFill>
            <a:srgbClr val="9AB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00000" y="3888000"/>
            <a:ext cx="7920000" cy="1007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000" b="1">
                <a:solidFill>
                  <a:srgbClr val="FFFFFF"/>
                </a:solidFill>
                <a:latin typeface="Microsoft YaHei"/>
              </a:rPr>
              <a:t>系统设计与实现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72000" y="4896000"/>
            <a:ext cx="792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7D3E8"/>
                </a:solidFill>
                <a:latin typeface="Microsoft YaHei"/>
              </a:rPr>
              <a:t>DESIGN &amp; IMPLEMENTATION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6000" y="306000"/>
            <a:ext cx="504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6EBA"/>
                </a:solidFill>
                <a:latin typeface="Microsoft YaHei"/>
              </a:rPr>
              <a:t>03 · 系统设计与实现</a:t>
            </a:r>
          </a:p>
        </p:txBody>
      </p:sp>
      <p:sp>
        <p:nvSpPr>
          <p:cNvPr id="3" name="Rectangle 2"/>
          <p:cNvSpPr/>
          <p:nvPr/>
        </p:nvSpPr>
        <p:spPr>
          <a:xfrm>
            <a:off x="648000" y="540000"/>
            <a:ext cx="144000" cy="900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0000" y="619200"/>
            <a:ext cx="1044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1F3A68"/>
                </a:solidFill>
                <a:latin typeface="Microsoft YaHei"/>
              </a:rPr>
              <a:t>总体架构</a:t>
            </a:r>
          </a:p>
        </p:txBody>
      </p:sp>
      <p:sp>
        <p:nvSpPr>
          <p:cNvPr id="5" name="Rectangle 4"/>
          <p:cNvSpPr/>
          <p:nvPr/>
        </p:nvSpPr>
        <p:spPr>
          <a:xfrm>
            <a:off x="648000" y="1458000"/>
            <a:ext cx="10800000" cy="144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20000" y="1655999"/>
            <a:ext cx="6408000" cy="756000"/>
          </a:xfrm>
          <a:prstGeom prst="roundRect">
            <a:avLst>
              <a:gd name="adj" fmla="val 8000"/>
            </a:avLst>
          </a:prstGeom>
          <a:solidFill>
            <a:srgbClr val="F2F4F8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20000" y="1655999"/>
            <a:ext cx="79200" cy="756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82000" y="1720799"/>
            <a:ext cx="540000" cy="36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2F6EBA"/>
                </a:solidFill>
                <a:latin typeface="Microsoft YaHe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96000" y="1710000"/>
            <a:ext cx="5616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F3A68"/>
                </a:solidFill>
                <a:latin typeface="Microsoft YaHei"/>
              </a:rPr>
              <a:t>四层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96000" y="1915199"/>
            <a:ext cx="5616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55F6E"/>
                </a:solidFill>
                <a:latin typeface="Microsoft YaHei"/>
              </a:rPr>
              <a:t>模型层/能力层/跨切面/编排层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20000" y="2491200"/>
            <a:ext cx="6408000" cy="756000"/>
          </a:xfrm>
          <a:prstGeom prst="roundRect">
            <a:avLst>
              <a:gd name="adj" fmla="val 8000"/>
            </a:avLst>
          </a:prstGeom>
          <a:solidFill>
            <a:srgbClr val="F2F4F8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20000" y="2491200"/>
            <a:ext cx="79200" cy="756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82000" y="2556000"/>
            <a:ext cx="540000" cy="36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2F6EBA"/>
                </a:solidFill>
                <a:latin typeface="Microsoft YaHei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96000" y="2545200"/>
            <a:ext cx="5616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F3A68"/>
                </a:solidFill>
                <a:latin typeface="Microsoft YaHei"/>
              </a:rPr>
              <a:t>能力层四模块互不依赖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96000" y="2750400"/>
            <a:ext cx="5616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55F6E"/>
                </a:solidFill>
                <a:latin typeface="Microsoft YaHei"/>
              </a:rPr>
              <a:t>短期、长期、检索、进化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20000" y="3326400"/>
            <a:ext cx="6408000" cy="756000"/>
          </a:xfrm>
          <a:prstGeom prst="roundRect">
            <a:avLst>
              <a:gd name="adj" fmla="val 8000"/>
            </a:avLst>
          </a:prstGeom>
          <a:solidFill>
            <a:srgbClr val="F2F4F8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20000" y="3326400"/>
            <a:ext cx="79200" cy="756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82000" y="3391200"/>
            <a:ext cx="540000" cy="36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2F6EBA"/>
                </a:solidFill>
                <a:latin typeface="Microsoft YaHei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96000" y="3380400"/>
            <a:ext cx="5616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F3A68"/>
                </a:solidFill>
                <a:latin typeface="Microsoft YaHei"/>
              </a:rPr>
              <a:t>两层之间唯一写通道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96000" y="3585600"/>
            <a:ext cx="5616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55F6E"/>
                </a:solidFill>
                <a:latin typeface="Microsoft YaHei"/>
              </a:rPr>
              <a:t>复盘晋升 + 三道边界门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20000" y="4161600"/>
            <a:ext cx="6408000" cy="756000"/>
          </a:xfrm>
          <a:prstGeom prst="roundRect">
            <a:avLst>
              <a:gd name="adj" fmla="val 8000"/>
            </a:avLst>
          </a:prstGeom>
          <a:solidFill>
            <a:srgbClr val="F2F4F8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20000" y="4161600"/>
            <a:ext cx="79200" cy="756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82000" y="4226400"/>
            <a:ext cx="540000" cy="36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2F6EBA"/>
                </a:solidFill>
                <a:latin typeface="Microsoft YaHei"/>
              </a:rPr>
              <a:t>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96000" y="4215600"/>
            <a:ext cx="5616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F3A68"/>
                </a:solidFill>
                <a:latin typeface="Microsoft YaHei"/>
              </a:rPr>
              <a:t>可独立消融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96000" y="4420800"/>
            <a:ext cx="5616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55F6E"/>
                </a:solidFill>
                <a:latin typeface="Microsoft YaHei"/>
              </a:rPr>
              <a:t>依赖注入实现 G0-G6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703999" y="1655999"/>
            <a:ext cx="3780000" cy="4104000"/>
          </a:xfrm>
          <a:prstGeom prst="rect">
            <a:avLst/>
          </a:prstGeom>
          <a:solidFill>
            <a:srgbClr val="F2F4F8"/>
          </a:solidFill>
          <a:ln w="15240">
            <a:solidFill>
              <a:srgbClr val="2F6E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0" y="6606000"/>
            <a:ext cx="121932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8000" y="6660000"/>
            <a:ext cx="612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F6E"/>
                </a:solidFill>
                <a:latin typeface="Microsoft YaHei"/>
              </a:rPr>
              <a:t>国防科技大学 · 长短期记忆系统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60000" y="6660000"/>
            <a:ext cx="144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F6E"/>
                </a:solidFill>
                <a:latin typeface="Microsoft YaHei"/>
              </a:rPr>
              <a:t>13 / 28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6000" y="306000"/>
            <a:ext cx="504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6EBA"/>
                </a:solidFill>
                <a:latin typeface="Microsoft YaHei"/>
              </a:rPr>
              <a:t>03 · 系统设计与实现</a:t>
            </a:r>
          </a:p>
        </p:txBody>
      </p:sp>
      <p:sp>
        <p:nvSpPr>
          <p:cNvPr id="3" name="Rectangle 2"/>
          <p:cNvSpPr/>
          <p:nvPr/>
        </p:nvSpPr>
        <p:spPr>
          <a:xfrm>
            <a:off x="648000" y="540000"/>
            <a:ext cx="144000" cy="900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0000" y="619200"/>
            <a:ext cx="1044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1F3A68"/>
                </a:solidFill>
                <a:latin typeface="Microsoft YaHei"/>
              </a:rPr>
              <a:t>短期工作记忆</a:t>
            </a:r>
          </a:p>
        </p:txBody>
      </p:sp>
      <p:sp>
        <p:nvSpPr>
          <p:cNvPr id="5" name="Rectangle 4"/>
          <p:cNvSpPr/>
          <p:nvPr/>
        </p:nvSpPr>
        <p:spPr>
          <a:xfrm>
            <a:off x="648000" y="1458000"/>
            <a:ext cx="10800000" cy="144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20000" y="1584000"/>
            <a:ext cx="10728000" cy="540000"/>
          </a:xfrm>
          <a:prstGeom prst="roundRect">
            <a:avLst>
              <a:gd name="adj" fmla="val 8000"/>
            </a:avLst>
          </a:prstGeom>
          <a:solidFill>
            <a:srgbClr val="F2F4F8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20000" y="1584000"/>
            <a:ext cx="79200" cy="540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0000" y="1735200"/>
            <a:ext cx="9936000" cy="34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22830"/>
                </a:solidFill>
                <a:latin typeface="Microsoft YaHei"/>
              </a:rPr>
              <a:t>槽位保存目标/约束/查询/消息；约束永不压缩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20000" y="2196000"/>
            <a:ext cx="10728000" cy="540000"/>
          </a:xfrm>
          <a:prstGeom prst="roundRect">
            <a:avLst>
              <a:gd name="adj" fmla="val 8000"/>
            </a:avLst>
          </a:prstGeom>
          <a:solidFill>
            <a:srgbClr val="F2F4F8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20000" y="2196000"/>
            <a:ext cx="79200" cy="540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00000" y="2347200"/>
            <a:ext cx="9936000" cy="34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22830"/>
                </a:solidFill>
                <a:latin typeface="Microsoft YaHei"/>
              </a:rPr>
              <a:t>FIFO 超阈值触发压缩，被驱逐消息进入归档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20000" y="2808000"/>
            <a:ext cx="10728000" cy="540000"/>
          </a:xfrm>
          <a:prstGeom prst="roundRect">
            <a:avLst>
              <a:gd name="adj" fmla="val 8000"/>
            </a:avLst>
          </a:prstGeom>
          <a:solidFill>
            <a:srgbClr val="F2F4F8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20000" y="2808000"/>
            <a:ext cx="79200" cy="540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0000" y="2862000"/>
            <a:ext cx="9936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F3A68"/>
                </a:solidFill>
                <a:latin typeface="Microsoft YaHei"/>
              </a:rPr>
              <a:t>伪代码如下（memsys/short_term/working_memory.py）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00000" y="3067200"/>
            <a:ext cx="9936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55F6E"/>
                </a:solidFill>
                <a:latin typeface="Microsoft YaHei"/>
              </a:rPr>
              <a:t/>
            </a:r>
          </a:p>
        </p:txBody>
      </p:sp>
      <p:sp>
        <p:nvSpPr>
          <p:cNvPr id="16" name="Rectangle 15"/>
          <p:cNvSpPr/>
          <p:nvPr/>
        </p:nvSpPr>
        <p:spPr>
          <a:xfrm>
            <a:off x="720000" y="3096000"/>
            <a:ext cx="10728000" cy="251999"/>
          </a:xfrm>
          <a:prstGeom prst="rect">
            <a:avLst/>
          </a:prstGeom>
          <a:solidFill>
            <a:srgbClr val="1F3A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00000" y="3124800"/>
            <a:ext cx="2880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Microsoft YaHei"/>
              </a:rPr>
              <a:t>代码 / 伪代码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20000" y="3347999"/>
            <a:ext cx="10728000" cy="2844000"/>
          </a:xfrm>
          <a:prstGeom prst="rect">
            <a:avLst/>
          </a:prstGeom>
          <a:solidFill>
            <a:srgbClr val="F2F4F8"/>
          </a:solidFill>
          <a:ln w="1524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6000" y="3437999"/>
            <a:ext cx="10296000" cy="259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F3A68"/>
                </a:solidFill>
                <a:latin typeface="Consolas"/>
              </a:rPr>
              <a:t>def render(slot):</a:t>
            </a:r>
          </a:p>
          <a:p>
            <a:pPr algn="l"/>
            <a:r>
              <a:rPr sz="1200" b="0">
                <a:solidFill>
                  <a:srgbClr val="1F3A68"/>
                </a:solidFill>
                <a:latin typeface="Consolas"/>
              </a:rPr>
              <a:t>    parts = [阶段, 目标, 约束]          # 头部：不可压缩</a:t>
            </a:r>
          </a:p>
          <a:p>
            <a:pPr algn="l"/>
            <a:r>
              <a:rPr sz="1200" b="0">
                <a:solidFill>
                  <a:srgbClr val="1F3A68"/>
                </a:solidFill>
                <a:latin typeface="Consolas"/>
              </a:rPr>
              <a:t>    if slot.loaded_briefs:</a:t>
            </a:r>
          </a:p>
          <a:p>
            <a:pPr algn="l"/>
            <a:r>
              <a:rPr sz="1200" b="0">
                <a:solidFill>
                  <a:srgbClr val="1F3A68"/>
                </a:solidFill>
                <a:latin typeface="Consolas"/>
              </a:rPr>
              <a:t>        parts.append('【装载记忆】' + 逐条brief)</a:t>
            </a:r>
          </a:p>
          <a:p>
            <a:pPr algn="l"/>
            <a:r>
              <a:rPr sz="1200" b="0">
                <a:solidFill>
                  <a:srgbClr val="1F3A68"/>
                </a:solidFill>
                <a:latin typeface="Consolas"/>
              </a:rPr>
              <a:t>    parts.append(查询列表)               # 审计</a:t>
            </a:r>
          </a:p>
          <a:p>
            <a:pPr algn="l"/>
            <a:r>
              <a:rPr sz="1200" b="0">
                <a:solidFill>
                  <a:srgbClr val="1F3A68"/>
                </a:solidFill>
                <a:latin typeface="Consolas"/>
              </a:rPr>
              <a:t>    parts.append(最新消息[-20:])</a:t>
            </a:r>
          </a:p>
          <a:p>
            <a:pPr algn="l"/>
            <a:r>
              <a:rPr sz="1200" b="0">
                <a:solidFill>
                  <a:srgbClr val="1F3A68"/>
                </a:solidFill>
                <a:latin typeface="Consolas"/>
              </a:rPr>
              <a:t>    return '\n'.join(parts)</a:t>
            </a:r>
          </a:p>
          <a:p>
            <a:pPr algn="l"/>
            <a:r>
              <a:rPr sz="1200" b="0">
                <a:solidFill>
                  <a:srgbClr val="1F3A68"/>
                </a:solidFill>
                <a:latin typeface="Consolas"/>
              </a:rPr>
              <a:t/>
            </a:r>
          </a:p>
          <a:p>
            <a:pPr algn="l"/>
            <a:r>
              <a:rPr sz="1200" b="0">
                <a:solidFill>
                  <a:srgbClr val="1F3A68"/>
                </a:solidFill>
                <a:latin typeface="Consolas"/>
              </a:rPr>
              <a:t>def flush(slot, llm):</a:t>
            </a:r>
          </a:p>
          <a:p>
            <a:pPr algn="l"/>
            <a:r>
              <a:rPr sz="1200" b="0">
                <a:solidFill>
                  <a:srgbClr val="1F3A68"/>
                </a:solidFill>
                <a:latin typeface="Consolas"/>
              </a:rPr>
              <a:t>    evicted = slot.fifo.pop(前半)</a:t>
            </a:r>
          </a:p>
          <a:p>
            <a:pPr algn="l"/>
            <a:r>
              <a:rPr sz="1200" b="0">
                <a:solidFill>
                  <a:srgbClr val="1F3A68"/>
                </a:solidFill>
                <a:latin typeface="Consolas"/>
              </a:rPr>
              <a:t>    slot.summary = llm.summarize(old + evicted)</a:t>
            </a:r>
          </a:p>
          <a:p>
            <a:pPr algn="l"/>
            <a:r>
              <a:rPr sz="1200" b="0">
                <a:solidFill>
                  <a:srgbClr val="1F3A68"/>
                </a:solidFill>
                <a:latin typeface="Consolas"/>
              </a:rPr>
              <a:t>    slot.archived.append(evicted)        # 归档不丢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606000"/>
            <a:ext cx="121932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8000" y="6660000"/>
            <a:ext cx="612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F6E"/>
                </a:solidFill>
                <a:latin typeface="Microsoft YaHei"/>
              </a:rPr>
              <a:t>国防科技大学 · 长短期记忆系统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260000" y="6660000"/>
            <a:ext cx="144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F6E"/>
                </a:solidFill>
                <a:latin typeface="Microsoft YaHei"/>
              </a:rPr>
              <a:t>14 / 28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6000" y="306000"/>
            <a:ext cx="504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6EBA"/>
                </a:solidFill>
                <a:latin typeface="Microsoft YaHei"/>
              </a:rPr>
              <a:t>03 · 系统设计与实现</a:t>
            </a:r>
          </a:p>
        </p:txBody>
      </p:sp>
      <p:sp>
        <p:nvSpPr>
          <p:cNvPr id="3" name="Rectangle 2"/>
          <p:cNvSpPr/>
          <p:nvPr/>
        </p:nvSpPr>
        <p:spPr>
          <a:xfrm>
            <a:off x="648000" y="540000"/>
            <a:ext cx="144000" cy="900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0000" y="619200"/>
            <a:ext cx="1044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1F3A68"/>
                </a:solidFill>
                <a:latin typeface="Microsoft YaHei"/>
              </a:rPr>
              <a:t>长期双库</a:t>
            </a:r>
          </a:p>
        </p:txBody>
      </p:sp>
      <p:sp>
        <p:nvSpPr>
          <p:cNvPr id="5" name="Rectangle 4"/>
          <p:cNvSpPr/>
          <p:nvPr/>
        </p:nvSpPr>
        <p:spPr>
          <a:xfrm>
            <a:off x="648000" y="1458000"/>
            <a:ext cx="10800000" cy="144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20000" y="1584000"/>
            <a:ext cx="10728000" cy="540000"/>
          </a:xfrm>
          <a:prstGeom prst="roundRect">
            <a:avLst>
              <a:gd name="adj" fmla="val 8000"/>
            </a:avLst>
          </a:prstGeom>
          <a:solidFill>
            <a:srgbClr val="F2F4F8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20000" y="1584000"/>
            <a:ext cx="79200" cy="540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0000" y="1638000"/>
            <a:ext cx="9936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F3A68"/>
                </a:solidFill>
                <a:latin typeface="Microsoft YaHei"/>
              </a:rPr>
              <a:t>事实库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00000" y="1843200"/>
            <a:ext cx="9936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55F6E"/>
                </a:solidFill>
                <a:latin typeface="Microsoft YaHei"/>
              </a:rPr>
              <a:t>SQLite + 属性精确；经验库：向量语义召回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20000" y="2196000"/>
            <a:ext cx="10728000" cy="540000"/>
          </a:xfrm>
          <a:prstGeom prst="roundRect">
            <a:avLst>
              <a:gd name="adj" fmla="val 8000"/>
            </a:avLst>
          </a:prstGeom>
          <a:solidFill>
            <a:srgbClr val="F2F4F8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20000" y="2196000"/>
            <a:ext cx="79200" cy="540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00000" y="2347200"/>
            <a:ext cx="9936000" cy="34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22830"/>
                </a:solidFill>
                <a:latin typeface="Microsoft YaHei"/>
              </a:rPr>
              <a:t>attrs 精确命中绕过 min_score（构造性相关）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20000" y="2808000"/>
            <a:ext cx="10728000" cy="540000"/>
          </a:xfrm>
          <a:prstGeom prst="roundRect">
            <a:avLst>
              <a:gd name="adj" fmla="val 8000"/>
            </a:avLst>
          </a:prstGeom>
          <a:solidFill>
            <a:srgbClr val="F2F4F8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20000" y="2808000"/>
            <a:ext cx="79200" cy="540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00000" y="2862000"/>
            <a:ext cx="9936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F3A68"/>
                </a:solidFill>
                <a:latin typeface="Microsoft YaHei"/>
              </a:rPr>
              <a:t>接口示例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0000" y="3067200"/>
            <a:ext cx="9936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55F6E"/>
                </a:solidFill>
                <a:latin typeface="Microsoft YaHei"/>
              </a:rPr>
              <a:t/>
            </a:r>
          </a:p>
        </p:txBody>
      </p:sp>
      <p:sp>
        <p:nvSpPr>
          <p:cNvPr id="17" name="Rectangle 16"/>
          <p:cNvSpPr/>
          <p:nvPr/>
        </p:nvSpPr>
        <p:spPr>
          <a:xfrm>
            <a:off x="720000" y="3096000"/>
            <a:ext cx="10728000" cy="251999"/>
          </a:xfrm>
          <a:prstGeom prst="rect">
            <a:avLst/>
          </a:prstGeom>
          <a:solidFill>
            <a:srgbClr val="1F3A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00000" y="3124800"/>
            <a:ext cx="2880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Microsoft YaHei"/>
              </a:rPr>
              <a:t>代码 / 伪代码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20000" y="3347999"/>
            <a:ext cx="10728000" cy="2844000"/>
          </a:xfrm>
          <a:prstGeom prst="rect">
            <a:avLst/>
          </a:prstGeom>
          <a:solidFill>
            <a:srgbClr val="F2F4F8"/>
          </a:solidFill>
          <a:ln w="1524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6000" y="3437999"/>
            <a:ext cx="10296000" cy="259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F3A68"/>
                </a:solidFill>
                <a:latin typeface="Consolas"/>
              </a:rPr>
              <a:t># 事实精确：属性过滤</a:t>
            </a:r>
          </a:p>
          <a:p>
            <a:pPr algn="l"/>
            <a:r>
              <a:rPr sz="1200" b="0">
                <a:solidFill>
                  <a:srgbClr val="1F3A68"/>
                </a:solidFill>
                <a:latin typeface="Consolas"/>
              </a:rPr>
              <a:t>hits_exact = factual.search_attrs({'装备': 'T-90'})</a:t>
            </a:r>
          </a:p>
          <a:p>
            <a:pPr algn="l"/>
            <a:r>
              <a:rPr sz="1200" b="0">
                <a:solidFill>
                  <a:srgbClr val="1F3A68"/>
                </a:solidFill>
                <a:latin typeface="Consolas"/>
              </a:rPr>
              <a:t># 经验语义：向量召回</a:t>
            </a:r>
          </a:p>
          <a:p>
            <a:pPr algn="l"/>
            <a:r>
              <a:rPr sz="1200" b="0">
                <a:solidFill>
                  <a:srgbClr val="1F3A68"/>
                </a:solidFill>
                <a:latin typeface="Consolas"/>
              </a:rPr>
              <a:t>hits_sem = experiential.search('夜战侦察教训')</a:t>
            </a:r>
          </a:p>
          <a:p>
            <a:pPr algn="l"/>
            <a:r>
              <a:rPr sz="1200" b="0">
                <a:solidFill>
                  <a:srgbClr val="1F3A68"/>
                </a:solidFill>
                <a:latin typeface="Consolas"/>
              </a:rPr>
              <a:t># 融合时：attrs 命中即相关，不参与相似度阈值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606000"/>
            <a:ext cx="121932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8000" y="6660000"/>
            <a:ext cx="612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F6E"/>
                </a:solidFill>
                <a:latin typeface="Microsoft YaHei"/>
              </a:rPr>
              <a:t>国防科技大学 · 长短期记忆系统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60000" y="6660000"/>
            <a:ext cx="144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F6E"/>
                </a:solidFill>
                <a:latin typeface="Microsoft YaHei"/>
              </a:rPr>
              <a:t>15 / 28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6000" y="306000"/>
            <a:ext cx="504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6EBA"/>
                </a:solidFill>
                <a:latin typeface="Microsoft YaHei"/>
              </a:rPr>
              <a:t>03 · 系统设计与实现</a:t>
            </a:r>
          </a:p>
        </p:txBody>
      </p:sp>
      <p:sp>
        <p:nvSpPr>
          <p:cNvPr id="3" name="Rectangle 2"/>
          <p:cNvSpPr/>
          <p:nvPr/>
        </p:nvSpPr>
        <p:spPr>
          <a:xfrm>
            <a:off x="648000" y="540000"/>
            <a:ext cx="144000" cy="900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0000" y="619200"/>
            <a:ext cx="1044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1F3A68"/>
                </a:solidFill>
                <a:latin typeface="Microsoft YaHei"/>
              </a:rPr>
              <a:t>混合检索：三路融合 + 单路</a:t>
            </a:r>
          </a:p>
        </p:txBody>
      </p:sp>
      <p:sp>
        <p:nvSpPr>
          <p:cNvPr id="5" name="Rectangle 4"/>
          <p:cNvSpPr/>
          <p:nvPr/>
        </p:nvSpPr>
        <p:spPr>
          <a:xfrm>
            <a:off x="648000" y="1458000"/>
            <a:ext cx="10800000" cy="144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20000" y="1584000"/>
            <a:ext cx="10728000" cy="540000"/>
          </a:xfrm>
          <a:prstGeom prst="roundRect">
            <a:avLst>
              <a:gd name="adj" fmla="val 8000"/>
            </a:avLst>
          </a:prstGeom>
          <a:solidFill>
            <a:srgbClr val="F2F4F8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20000" y="1584000"/>
            <a:ext cx="79200" cy="540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0000" y="1735200"/>
            <a:ext cx="9936000" cy="34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22830"/>
                </a:solidFill>
                <a:latin typeface="Microsoft YaHei"/>
              </a:rPr>
              <a:t>vector/BM25/SQL 三路；hybrid 加权累加，single 便于消融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20000" y="2196000"/>
            <a:ext cx="10728000" cy="540000"/>
          </a:xfrm>
          <a:prstGeom prst="roundRect">
            <a:avLst>
              <a:gd name="adj" fmla="val 8000"/>
            </a:avLst>
          </a:prstGeom>
          <a:solidFill>
            <a:srgbClr val="F2F4F8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20000" y="2196000"/>
            <a:ext cx="79200" cy="540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00000" y="2250000"/>
            <a:ext cx="9936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F3A68"/>
                </a:solidFill>
                <a:latin typeface="Microsoft YaHei"/>
              </a:rPr>
              <a:t>归一化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2455200"/>
            <a:ext cx="9936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55F6E"/>
                </a:solidFill>
                <a:latin typeface="Microsoft YaHei"/>
              </a:rPr>
              <a:t>向量余弦、BM25 查询自匹配上界、SQL 恒 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20000" y="2808000"/>
            <a:ext cx="10728000" cy="540000"/>
          </a:xfrm>
          <a:prstGeom prst="roundRect">
            <a:avLst>
              <a:gd name="adj" fmla="val 8000"/>
            </a:avLst>
          </a:prstGeom>
          <a:solidFill>
            <a:srgbClr val="F2F4F8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20000" y="2808000"/>
            <a:ext cx="79200" cy="540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00000" y="2862000"/>
            <a:ext cx="9936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F3A68"/>
                </a:solidFill>
                <a:latin typeface="Microsoft YaHei"/>
              </a:rPr>
              <a:t>公式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0000" y="3067200"/>
            <a:ext cx="9936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55F6E"/>
                </a:solidFill>
                <a:latin typeface="Microsoft YaHei"/>
              </a:rPr>
              <a:t>s_hybrid = Σ w_r·n_r(id)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20000" y="3096000"/>
            <a:ext cx="10728000" cy="251999"/>
          </a:xfrm>
          <a:prstGeom prst="rect">
            <a:avLst/>
          </a:prstGeom>
          <a:solidFill>
            <a:srgbClr val="1F3A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00000" y="3124800"/>
            <a:ext cx="2880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Microsoft YaHei"/>
              </a:rPr>
              <a:t>代码 / 伪代码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20000" y="3347999"/>
            <a:ext cx="10728000" cy="2844000"/>
          </a:xfrm>
          <a:prstGeom prst="rect">
            <a:avLst/>
          </a:prstGeom>
          <a:solidFill>
            <a:srgbClr val="F2F4F8"/>
          </a:solidFill>
          <a:ln w="1524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6000" y="3437999"/>
            <a:ext cx="10296000" cy="259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F3A68"/>
                </a:solidFill>
                <a:latin typeface="Consolas"/>
              </a:rPr>
              <a:t>def retrieve(q, mode='hybrid', top_k=5):</a:t>
            </a:r>
          </a:p>
          <a:p>
            <a:pPr algn="l"/>
            <a:r>
              <a:rPr sz="1200" b="0">
                <a:solidFill>
                  <a:srgbClr val="1F3A68"/>
                </a:solidFill>
                <a:latin typeface="Consolas"/>
              </a:rPr>
              <a:t>    pool = [route(q, q.route)]</a:t>
            </a:r>
          </a:p>
          <a:p>
            <a:pPr algn="l"/>
            <a:r>
              <a:rPr sz="1200" b="0">
                <a:solidFill>
                  <a:srgbClr val="1F3A68"/>
                </a:solidFill>
                <a:latin typeface="Consolas"/>
              </a:rPr>
              <a:t>    if mode == 'hybrid':</a:t>
            </a:r>
          </a:p>
          <a:p>
            <a:pPr algn="l"/>
            <a:r>
              <a:rPr sz="1200" b="0">
                <a:solidFill>
                  <a:srgbClr val="1F3A68"/>
                </a:solidFill>
                <a:latin typeface="Consolas"/>
              </a:rPr>
              <a:t>        pool += [route(q, alt) for alt in routes</a:t>
            </a:r>
          </a:p>
          <a:p>
            <a:pPr algn="l"/>
            <a:r>
              <a:rPr sz="1200" b="0">
                <a:solidFill>
                  <a:srgbClr val="1F3A68"/>
                </a:solidFill>
                <a:latin typeface="Consolas"/>
              </a:rPr>
              <a:t>                 if alt != q.route]</a:t>
            </a:r>
          </a:p>
          <a:p>
            <a:pPr algn="l"/>
            <a:r>
              <a:rPr sz="1200" b="0">
                <a:solidFill>
                  <a:srgbClr val="1F3A68"/>
                </a:solidFill>
                <a:latin typeface="Consolas"/>
              </a:rPr>
              <a:t>    pool = [normalize(r) for r in pool]</a:t>
            </a:r>
          </a:p>
          <a:p>
            <a:pPr algn="l"/>
            <a:r>
              <a:rPr sz="1200" b="0">
                <a:solidFill>
                  <a:srgbClr val="1F3A68"/>
                </a:solidFill>
                <a:latin typeface="Consolas"/>
              </a:rPr>
              <a:t>    fused = aggregate_by_id(pool, weights)  # 多路累加</a:t>
            </a:r>
          </a:p>
          <a:p>
            <a:pPr algn="l"/>
            <a:r>
              <a:rPr sz="1200" b="0">
                <a:solidFill>
                  <a:srgbClr val="1F3A68"/>
                </a:solidFill>
                <a:latin typeface="Consolas"/>
              </a:rPr>
              <a:t>    if q.stage: fused = add_stage_bonus(fused, q.stage)</a:t>
            </a:r>
          </a:p>
          <a:p>
            <a:pPr algn="l"/>
            <a:r>
              <a:rPr sz="1200" b="0">
                <a:solidFill>
                  <a:srgbClr val="1F3A68"/>
                </a:solidFill>
                <a:latin typeface="Consolas"/>
              </a:rPr>
              <a:t>    ranked = [x for x in sorted(fused, reverse=True)</a:t>
            </a:r>
          </a:p>
          <a:p>
            <a:pPr algn="l"/>
            <a:r>
              <a:rPr sz="1200" b="0">
                <a:solidFill>
                  <a:srgbClr val="1F3A68"/>
                </a:solidFill>
                <a:latin typeface="Consolas"/>
              </a:rPr>
              <a:t>              if x.score &gt;= min_score][:top_k]</a:t>
            </a:r>
          </a:p>
          <a:p>
            <a:pPr algn="l"/>
            <a:r>
              <a:rPr sz="1200" b="0">
                <a:solidFill>
                  <a:srgbClr val="1F3A68"/>
                </a:solidFill>
                <a:latin typeface="Consolas"/>
              </a:rPr>
              <a:t>    for r in ranked: r.entry.mark_recalled()</a:t>
            </a:r>
          </a:p>
          <a:p>
            <a:pPr algn="l"/>
            <a:r>
              <a:rPr sz="1200" b="0">
                <a:solidFill>
                  <a:srgbClr val="1F3A68"/>
                </a:solidFill>
                <a:latin typeface="Consolas"/>
              </a:rPr>
              <a:t>    return ranked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606000"/>
            <a:ext cx="121932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8000" y="6660000"/>
            <a:ext cx="612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F6E"/>
                </a:solidFill>
                <a:latin typeface="Microsoft YaHei"/>
              </a:rPr>
              <a:t>国防科技大学 · 长短期记忆系统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60000" y="6660000"/>
            <a:ext cx="144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F6E"/>
                </a:solidFill>
                <a:latin typeface="Microsoft YaHei"/>
              </a:rPr>
              <a:t>16 / 28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6000" y="306000"/>
            <a:ext cx="504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6EBA"/>
                </a:solidFill>
                <a:latin typeface="Microsoft YaHei"/>
              </a:rPr>
              <a:t>03 · 系统设计与实现</a:t>
            </a:r>
          </a:p>
        </p:txBody>
      </p:sp>
      <p:sp>
        <p:nvSpPr>
          <p:cNvPr id="3" name="Rectangle 2"/>
          <p:cNvSpPr/>
          <p:nvPr/>
        </p:nvSpPr>
        <p:spPr>
          <a:xfrm>
            <a:off x="648000" y="540000"/>
            <a:ext cx="144000" cy="900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0000" y="619200"/>
            <a:ext cx="1044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1F3A68"/>
                </a:solidFill>
                <a:latin typeface="Microsoft YaHei"/>
              </a:rPr>
              <a:t>记忆进化：写/合/忘/抽</a:t>
            </a:r>
          </a:p>
        </p:txBody>
      </p:sp>
      <p:sp>
        <p:nvSpPr>
          <p:cNvPr id="5" name="Rectangle 4"/>
          <p:cNvSpPr/>
          <p:nvPr/>
        </p:nvSpPr>
        <p:spPr>
          <a:xfrm>
            <a:off x="648000" y="1458000"/>
            <a:ext cx="10800000" cy="144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20000" y="1584000"/>
            <a:ext cx="10728000" cy="540000"/>
          </a:xfrm>
          <a:prstGeom prst="roundRect">
            <a:avLst>
              <a:gd name="adj" fmla="val 8000"/>
            </a:avLst>
          </a:prstGeom>
          <a:solidFill>
            <a:srgbClr val="F2F4F8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20000" y="1584000"/>
            <a:ext cx="79200" cy="540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0000" y="1638000"/>
            <a:ext cx="9936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F3A68"/>
                </a:solidFill>
                <a:latin typeface="Microsoft YaHei"/>
              </a:rPr>
              <a:t>建议-执行分离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00000" y="1843200"/>
            <a:ext cx="9936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55F6E"/>
                </a:solidFill>
                <a:latin typeface="Microsoft YaHei"/>
              </a:rPr>
              <a:t>LLM 提候选，确定性代码执行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20000" y="2196000"/>
            <a:ext cx="10728000" cy="540000"/>
          </a:xfrm>
          <a:prstGeom prst="roundRect">
            <a:avLst>
              <a:gd name="adj" fmla="val 8000"/>
            </a:avLst>
          </a:prstGeom>
          <a:solidFill>
            <a:srgbClr val="F2F4F8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20000" y="2196000"/>
            <a:ext cx="79200" cy="540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00000" y="2250000"/>
            <a:ext cx="9936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F3A68"/>
                </a:solidFill>
                <a:latin typeface="Microsoft YaHei"/>
              </a:rPr>
              <a:t>遗忘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0000" y="2455200"/>
            <a:ext cx="9936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55F6E"/>
                </a:solidFill>
                <a:latin typeface="Microsoft YaHei"/>
              </a:rPr>
              <a:t>R=e^{-t/S}，命中 S+1；importance≥2 保护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20000" y="2808000"/>
            <a:ext cx="10728000" cy="540000"/>
          </a:xfrm>
          <a:prstGeom prst="roundRect">
            <a:avLst>
              <a:gd name="adj" fmla="val 8000"/>
            </a:avLst>
          </a:prstGeom>
          <a:solidFill>
            <a:srgbClr val="F2F4F8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20000" y="2808000"/>
            <a:ext cx="79200" cy="540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0000" y="2862000"/>
            <a:ext cx="9936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F3A68"/>
                </a:solidFill>
                <a:latin typeface="Microsoft YaHei"/>
              </a:rPr>
              <a:t>抽象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0000" y="3067200"/>
            <a:ext cx="9936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55F6E"/>
                </a:solidFill>
                <a:latin typeface="Microsoft YaHei"/>
              </a:rPr>
              <a:t>≥2 条新经验 → 一条通用教训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20000" y="3096000"/>
            <a:ext cx="10728000" cy="251999"/>
          </a:xfrm>
          <a:prstGeom prst="rect">
            <a:avLst/>
          </a:prstGeom>
          <a:solidFill>
            <a:srgbClr val="1F3A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00000" y="3124800"/>
            <a:ext cx="2880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Microsoft YaHei"/>
              </a:rPr>
              <a:t>代码 / 伪代码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20000" y="3347999"/>
            <a:ext cx="10728000" cy="2844000"/>
          </a:xfrm>
          <a:prstGeom prst="rect">
            <a:avLst/>
          </a:prstGeom>
          <a:solidFill>
            <a:srgbClr val="F2F4F8"/>
          </a:solidFill>
          <a:ln w="1524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36000" y="3437999"/>
            <a:ext cx="10296000" cy="259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F3A68"/>
                </a:solidFill>
                <a:latin typeface="Consolas"/>
              </a:rPr>
              <a:t>def evolve_from_review(review, session_id):</a:t>
            </a:r>
          </a:p>
          <a:p>
            <a:pPr algn="l"/>
            <a:r>
              <a:rPr sz="1200" b="0">
                <a:solidFill>
                  <a:srgbClr val="1F3A68"/>
                </a:solidFill>
                <a:latin typeface="Consolas"/>
              </a:rPr>
              <a:t>    ops = llm.extract_memory_ops(review)</a:t>
            </a:r>
          </a:p>
          <a:p>
            <a:pPr algn="l"/>
            <a:r>
              <a:rPr sz="1200" b="0">
                <a:solidFill>
                  <a:srgbClr val="1F3A68"/>
                </a:solidFill>
                <a:latin typeface="Consolas"/>
              </a:rPr>
              <a:t>    for op in ops:</a:t>
            </a:r>
          </a:p>
          <a:p>
            <a:pPr algn="l"/>
            <a:r>
              <a:rPr sz="1200" b="0">
                <a:solidFill>
                  <a:srgbClr val="1F3A68"/>
                </a:solidFill>
                <a:latin typeface="Consolas"/>
              </a:rPr>
              <a:t>        if not boundary.promote(op.content): continue</a:t>
            </a:r>
          </a:p>
          <a:p>
            <a:pPr algn="l"/>
            <a:r>
              <a:rPr sz="1200" b="0">
                <a:solidFill>
                  <a:srgbClr val="1F3A68"/>
                </a:solidFill>
                <a:latin typeface="Consolas"/>
              </a:rPr>
              <a:t>        if write(op) is None: skipped += 1</a:t>
            </a:r>
          </a:p>
          <a:p>
            <a:pPr algn="l"/>
            <a:r>
              <a:rPr sz="1200" b="0">
                <a:solidFill>
                  <a:srgbClr val="1F3A68"/>
                </a:solidFill>
                <a:latin typeface="Consolas"/>
              </a:rPr>
              <a:t>    merge_new_entries()</a:t>
            </a:r>
          </a:p>
          <a:p>
            <a:pPr algn="l"/>
            <a:r>
              <a:rPr sz="1200" b="0">
                <a:solidFill>
                  <a:srgbClr val="1F3A68"/>
                </a:solidFill>
                <a:latin typeface="Consolas"/>
              </a:rPr>
              <a:t>    forget()</a:t>
            </a:r>
          </a:p>
          <a:p>
            <a:pPr algn="l"/>
            <a:r>
              <a:rPr sz="1200" b="0">
                <a:solidFill>
                  <a:srgbClr val="1F3A68"/>
                </a:solidFill>
                <a:latin typeface="Consolas"/>
              </a:rPr>
              <a:t>    if len(new_experiences) &gt;= 2: abstract()</a:t>
            </a:r>
          </a:p>
          <a:p>
            <a:pPr algn="l"/>
            <a:r>
              <a:rPr sz="1200" b="0">
                <a:solidFill>
                  <a:srgbClr val="1F3A68"/>
                </a:solidFill>
                <a:latin typeface="Consolas"/>
              </a:rPr>
              <a:t/>
            </a:r>
          </a:p>
          <a:p>
            <a:pPr algn="l"/>
            <a:r>
              <a:rPr sz="1200" b="0">
                <a:solidFill>
                  <a:srgbClr val="1F3A68"/>
                </a:solidFill>
                <a:latin typeface="Consolas"/>
              </a:rPr>
              <a:t># 遗忘核心</a:t>
            </a:r>
          </a:p>
          <a:p>
            <a:pPr algn="l"/>
            <a:r>
              <a:rPr sz="1200" b="0">
                <a:solidFill>
                  <a:srgbClr val="1F3A68"/>
                </a:solidFill>
                <a:latin typeface="Consolas"/>
              </a:rPr>
              <a:t>R = math.exp(-t / max(S, 1e-6))</a:t>
            </a:r>
          </a:p>
          <a:p>
            <a:pPr algn="l"/>
            <a:r>
              <a:rPr sz="1200" b="0">
                <a:solidFill>
                  <a:srgbClr val="1F3A68"/>
                </a:solidFill>
                <a:latin typeface="Consolas"/>
              </a:rPr>
              <a:t># 命中强化：S += 1, t 重置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606000"/>
            <a:ext cx="121932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8000" y="6660000"/>
            <a:ext cx="612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F6E"/>
                </a:solidFill>
                <a:latin typeface="Microsoft YaHei"/>
              </a:rPr>
              <a:t>国防科技大学 · 长短期记忆系统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60000" y="6660000"/>
            <a:ext cx="144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F6E"/>
                </a:solidFill>
                <a:latin typeface="Microsoft YaHei"/>
              </a:rPr>
              <a:t>17 / 28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6000" y="306000"/>
            <a:ext cx="504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6EBA"/>
                </a:solidFill>
                <a:latin typeface="Microsoft YaHei"/>
              </a:rPr>
              <a:t>03 · 系统设计与实现</a:t>
            </a:r>
          </a:p>
        </p:txBody>
      </p:sp>
      <p:sp>
        <p:nvSpPr>
          <p:cNvPr id="3" name="Rectangle 2"/>
          <p:cNvSpPr/>
          <p:nvPr/>
        </p:nvSpPr>
        <p:spPr>
          <a:xfrm>
            <a:off x="648000" y="540000"/>
            <a:ext cx="144000" cy="900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0000" y="619200"/>
            <a:ext cx="1044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1F3A68"/>
                </a:solidFill>
                <a:latin typeface="Microsoft YaHei"/>
              </a:rPr>
              <a:t>边界门控与阶段感知</a:t>
            </a:r>
          </a:p>
        </p:txBody>
      </p:sp>
      <p:sp>
        <p:nvSpPr>
          <p:cNvPr id="5" name="Rectangle 4"/>
          <p:cNvSpPr/>
          <p:nvPr/>
        </p:nvSpPr>
        <p:spPr>
          <a:xfrm>
            <a:off x="648000" y="1458000"/>
            <a:ext cx="10800000" cy="144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20000" y="1655999"/>
            <a:ext cx="10728000" cy="756000"/>
          </a:xfrm>
          <a:prstGeom prst="roundRect">
            <a:avLst>
              <a:gd name="adj" fmla="val 8000"/>
            </a:avLst>
          </a:prstGeom>
          <a:solidFill>
            <a:srgbClr val="F2F4F8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20000" y="1655999"/>
            <a:ext cx="79200" cy="756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82000" y="1720799"/>
            <a:ext cx="540000" cy="36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2F6EBA"/>
                </a:solidFill>
                <a:latin typeface="Microsoft YaHe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96000" y="1710000"/>
            <a:ext cx="9936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F3A68"/>
                </a:solidFill>
                <a:latin typeface="Microsoft YaHei"/>
              </a:rPr>
              <a:t>复盘晋升经三道门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96000" y="1915199"/>
            <a:ext cx="9936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55F6E"/>
                </a:solidFill>
                <a:latin typeface="Microsoft YaHei"/>
              </a:rPr>
              <a:t>复盘驱动、类别判定、语义查重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20000" y="2491200"/>
            <a:ext cx="10728000" cy="756000"/>
          </a:xfrm>
          <a:prstGeom prst="roundRect">
            <a:avLst>
              <a:gd name="adj" fmla="val 8000"/>
            </a:avLst>
          </a:prstGeom>
          <a:solidFill>
            <a:srgbClr val="F2F4F8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20000" y="2491200"/>
            <a:ext cx="79200" cy="756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82000" y="2556000"/>
            <a:ext cx="540000" cy="36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2F6EBA"/>
                </a:solidFill>
                <a:latin typeface="Microsoft YaHei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96000" y="2642400"/>
            <a:ext cx="9936000" cy="34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22830"/>
                </a:solidFill>
                <a:latin typeface="Microsoft YaHei"/>
              </a:rPr>
              <a:t>每次判定写入审计日志（boundary）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20000" y="3326400"/>
            <a:ext cx="10728000" cy="756000"/>
          </a:xfrm>
          <a:prstGeom prst="roundRect">
            <a:avLst>
              <a:gd name="adj" fmla="val 8000"/>
            </a:avLst>
          </a:prstGeom>
          <a:solidFill>
            <a:srgbClr val="F2F4F8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20000" y="3326400"/>
            <a:ext cx="79200" cy="756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82000" y="3391200"/>
            <a:ext cx="540000" cy="36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2F6EBA"/>
                </a:solidFill>
                <a:latin typeface="Microsoft YaHei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96000" y="3477600"/>
            <a:ext cx="9936000" cy="34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22830"/>
                </a:solidFill>
                <a:latin typeface="Microsoft YaHei"/>
              </a:rPr>
              <a:t>查询按 MDMP 七阶段生成，阶段匹配记忆加亲和分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20000" y="4161600"/>
            <a:ext cx="10728000" cy="756000"/>
          </a:xfrm>
          <a:prstGeom prst="roundRect">
            <a:avLst>
              <a:gd name="adj" fmla="val 8000"/>
            </a:avLst>
          </a:prstGeom>
          <a:solidFill>
            <a:srgbClr val="F2F4F8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20000" y="4161600"/>
            <a:ext cx="79200" cy="756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82000" y="4226400"/>
            <a:ext cx="540000" cy="36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2F6EBA"/>
                </a:solidFill>
                <a:latin typeface="Microsoft YaHei"/>
              </a:rPr>
              <a:t>04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96000" y="4312800"/>
            <a:ext cx="9936000" cy="34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22830"/>
                </a:solidFill>
                <a:latin typeface="Microsoft YaHei"/>
              </a:rPr>
              <a:t>复盘教训归因到阶段，供同阶段检索优先召回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6606000"/>
            <a:ext cx="121932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8000" y="6660000"/>
            <a:ext cx="612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F6E"/>
                </a:solidFill>
                <a:latin typeface="Microsoft YaHei"/>
              </a:rPr>
              <a:t>国防科技大学 · 长短期记忆系统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260000" y="6660000"/>
            <a:ext cx="144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F6E"/>
                </a:solidFill>
                <a:latin typeface="Microsoft YaHei"/>
              </a:rPr>
              <a:t>18 / 28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6000" y="306000"/>
            <a:ext cx="504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6EBA"/>
                </a:solidFill>
                <a:latin typeface="Microsoft YaHei"/>
              </a:rPr>
              <a:t>03 · 系统设计与实现</a:t>
            </a:r>
          </a:p>
        </p:txBody>
      </p:sp>
      <p:sp>
        <p:nvSpPr>
          <p:cNvPr id="3" name="Rectangle 2"/>
          <p:cNvSpPr/>
          <p:nvPr/>
        </p:nvSpPr>
        <p:spPr>
          <a:xfrm>
            <a:off x="648000" y="540000"/>
            <a:ext cx="144000" cy="900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0000" y="619200"/>
            <a:ext cx="1044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1F3A68"/>
                </a:solidFill>
                <a:latin typeface="Microsoft YaHei"/>
              </a:rPr>
              <a:t>WebUI 可视化</a:t>
            </a:r>
          </a:p>
        </p:txBody>
      </p:sp>
      <p:sp>
        <p:nvSpPr>
          <p:cNvPr id="5" name="Rectangle 4"/>
          <p:cNvSpPr/>
          <p:nvPr/>
        </p:nvSpPr>
        <p:spPr>
          <a:xfrm>
            <a:off x="648000" y="1458000"/>
            <a:ext cx="10800000" cy="144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20000" y="1655999"/>
            <a:ext cx="6408000" cy="756000"/>
          </a:xfrm>
          <a:prstGeom prst="roundRect">
            <a:avLst>
              <a:gd name="adj" fmla="val 8000"/>
            </a:avLst>
          </a:prstGeom>
          <a:solidFill>
            <a:srgbClr val="F2F4F8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20000" y="1655999"/>
            <a:ext cx="79200" cy="756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82000" y="1720799"/>
            <a:ext cx="540000" cy="36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2F6EBA"/>
                </a:solidFill>
                <a:latin typeface="Microsoft YaHe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96000" y="1807199"/>
            <a:ext cx="5616000" cy="34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22830"/>
                </a:solidFill>
                <a:latin typeface="Microsoft YaHei"/>
              </a:rPr>
              <a:t>后台 /api 与前端三栏；左右栏页签化，避免过长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20000" y="2491200"/>
            <a:ext cx="6408000" cy="756000"/>
          </a:xfrm>
          <a:prstGeom prst="roundRect">
            <a:avLst>
              <a:gd name="adj" fmla="val 8000"/>
            </a:avLst>
          </a:prstGeom>
          <a:solidFill>
            <a:srgbClr val="F2F4F8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20000" y="2491200"/>
            <a:ext cx="79200" cy="756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82000" y="2556000"/>
            <a:ext cx="540000" cy="36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2F6EBA"/>
                </a:solidFill>
                <a:latin typeface="Microsoft YaHei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96000" y="2545200"/>
            <a:ext cx="5616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F3A68"/>
                </a:solidFill>
                <a:latin typeface="Microsoft YaHei"/>
              </a:rPr>
              <a:t>记忆详情抽屉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96000" y="2750400"/>
            <a:ext cx="5616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55F6E"/>
                </a:solidFill>
                <a:latin typeface="Microsoft YaHei"/>
              </a:rPr>
              <a:t>总览/单条历史/遗忘日志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20000" y="3326400"/>
            <a:ext cx="6408000" cy="756000"/>
          </a:xfrm>
          <a:prstGeom prst="roundRect">
            <a:avLst>
              <a:gd name="adj" fmla="val 8000"/>
            </a:avLst>
          </a:prstGeom>
          <a:solidFill>
            <a:srgbClr val="F2F4F8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20000" y="3326400"/>
            <a:ext cx="79200" cy="756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82000" y="3391200"/>
            <a:ext cx="540000" cy="36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2F6EBA"/>
                </a:solidFill>
                <a:latin typeface="Microsoft YaHei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96000" y="3380400"/>
            <a:ext cx="5616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F3A68"/>
                </a:solidFill>
                <a:latin typeface="Microsoft YaHei"/>
              </a:rPr>
              <a:t>遗忘曲线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96000" y="3585600"/>
            <a:ext cx="5616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55F6E"/>
                </a:solidFill>
                <a:latin typeface="Microsoft YaHei"/>
              </a:rPr>
              <a:t>R=e^{-t/S} 与‘立即召回 S+1’对比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20000" y="4161600"/>
            <a:ext cx="6408000" cy="756000"/>
          </a:xfrm>
          <a:prstGeom prst="roundRect">
            <a:avLst>
              <a:gd name="adj" fmla="val 8000"/>
            </a:avLst>
          </a:prstGeom>
          <a:solidFill>
            <a:srgbClr val="F2F4F8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20000" y="4161600"/>
            <a:ext cx="79200" cy="756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82000" y="4226400"/>
            <a:ext cx="540000" cy="36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2F6EBA"/>
                </a:solidFill>
                <a:latin typeface="Microsoft YaHei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96000" y="4312800"/>
            <a:ext cx="5616000" cy="34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22830"/>
                </a:solidFill>
                <a:latin typeface="Microsoft YaHei"/>
              </a:rPr>
              <a:t>战役进度条、库健康度分布条、事件流点击展开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703999" y="1655999"/>
            <a:ext cx="3780000" cy="4104000"/>
          </a:xfrm>
          <a:prstGeom prst="rect">
            <a:avLst/>
          </a:prstGeom>
          <a:solidFill>
            <a:srgbClr val="F2F4F8"/>
          </a:solidFill>
          <a:ln w="15240">
            <a:solidFill>
              <a:srgbClr val="2F6E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0" y="6606000"/>
            <a:ext cx="121932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8000" y="6660000"/>
            <a:ext cx="612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F6E"/>
                </a:solidFill>
                <a:latin typeface="Microsoft YaHei"/>
              </a:rPr>
              <a:t>国防科技大学 · 长短期记忆系统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260000" y="6660000"/>
            <a:ext cx="144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F6E"/>
                </a:solidFill>
                <a:latin typeface="Microsoft YaHei"/>
              </a:rPr>
              <a:t>19 / 28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1F3A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180000" y="1260000"/>
            <a:ext cx="2880000" cy="2880000"/>
          </a:xfrm>
          <a:prstGeom prst="ellipse">
            <a:avLst/>
          </a:prstGeom>
          <a:solidFill>
            <a:srgbClr val="2C4A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800000" y="1296000"/>
            <a:ext cx="5040000" cy="21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0" b="1">
                <a:solidFill>
                  <a:srgbClr val="4C689B"/>
                </a:solidFill>
                <a:latin typeface="Microsoft YaHei"/>
              </a:rPr>
              <a:t>04</a:t>
            </a:r>
          </a:p>
        </p:txBody>
      </p:sp>
      <p:sp>
        <p:nvSpPr>
          <p:cNvPr id="5" name="Rectangle 4"/>
          <p:cNvSpPr/>
          <p:nvPr/>
        </p:nvSpPr>
        <p:spPr>
          <a:xfrm>
            <a:off x="1872000" y="3671999"/>
            <a:ext cx="2160000" cy="36000"/>
          </a:xfrm>
          <a:prstGeom prst="rect">
            <a:avLst/>
          </a:prstGeom>
          <a:solidFill>
            <a:srgbClr val="9AB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00000" y="3888000"/>
            <a:ext cx="7920000" cy="1007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000" b="1">
                <a:solidFill>
                  <a:srgbClr val="FFFFFF"/>
                </a:solidFill>
                <a:latin typeface="Microsoft YaHei"/>
              </a:rPr>
              <a:t>实验设计与验证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72000" y="4896000"/>
            <a:ext cx="792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7D3E8"/>
                </a:solidFill>
                <a:latin typeface="Microsoft YaHei"/>
              </a:rPr>
              <a:t>EXPERIMENTS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6000" y="306000"/>
            <a:ext cx="504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6EBA"/>
                </a:solidFill>
                <a:latin typeface="Microsoft YaHei"/>
              </a:rPr>
              <a:t>04 · 实验设计与验证</a:t>
            </a:r>
          </a:p>
        </p:txBody>
      </p:sp>
      <p:sp>
        <p:nvSpPr>
          <p:cNvPr id="3" name="Rectangle 2"/>
          <p:cNvSpPr/>
          <p:nvPr/>
        </p:nvSpPr>
        <p:spPr>
          <a:xfrm>
            <a:off x="648000" y="540000"/>
            <a:ext cx="144000" cy="900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0000" y="619200"/>
            <a:ext cx="1044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1F3A68"/>
                </a:solidFill>
                <a:latin typeface="Microsoft YaHei"/>
              </a:rPr>
              <a:t>数据集与评估协议</a:t>
            </a:r>
          </a:p>
        </p:txBody>
      </p:sp>
      <p:sp>
        <p:nvSpPr>
          <p:cNvPr id="5" name="Rectangle 4"/>
          <p:cNvSpPr/>
          <p:nvPr/>
        </p:nvSpPr>
        <p:spPr>
          <a:xfrm>
            <a:off x="648000" y="1458000"/>
            <a:ext cx="10800000" cy="144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92000" y="16920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1">
                <a:solidFill>
                  <a:srgbClr val="2F6EBA"/>
                </a:solidFill>
                <a:latin typeface="Microsoft YaHei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12000" y="1771200"/>
            <a:ext cx="9828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22830"/>
                </a:solidFill>
                <a:latin typeface="Microsoft YaHei"/>
              </a:rPr>
              <a:t>自建 50 条 8 类测试集（A-H），避免关键词共现</a:t>
            </a:r>
          </a:p>
        </p:txBody>
      </p:sp>
      <p:sp>
        <p:nvSpPr>
          <p:cNvPr id="8" name="Rectangle 7"/>
          <p:cNvSpPr/>
          <p:nvPr/>
        </p:nvSpPr>
        <p:spPr>
          <a:xfrm>
            <a:off x="792000" y="2178000"/>
            <a:ext cx="10620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2000" y="22500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1">
                <a:solidFill>
                  <a:srgbClr val="2F6EBA"/>
                </a:solidFill>
                <a:latin typeface="Microsoft YaHei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12000" y="2329200"/>
            <a:ext cx="9828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22830"/>
                </a:solidFill>
                <a:latin typeface="Microsoft YaHei"/>
              </a:rPr>
              <a:t>固定用例集，依赖注入开关能力（G0-G6）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92000" y="2736000"/>
            <a:ext cx="10620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92000" y="28080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1">
                <a:solidFill>
                  <a:srgbClr val="2F6EBA"/>
                </a:solidFill>
                <a:latin typeface="Microsoft YaHei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12000" y="2829600"/>
            <a:ext cx="9828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F3A68"/>
                </a:solidFill>
                <a:latin typeface="Microsoft YaHei"/>
              </a:rPr>
              <a:t>检索指标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12000" y="3067200"/>
            <a:ext cx="9828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555F6E"/>
                </a:solidFill>
                <a:latin typeface="Microsoft YaHei"/>
              </a:rPr>
              <a:t>hit@3/5、MRR、NDCG；任务层：引用/约束/噪声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92000" y="3294000"/>
            <a:ext cx="10620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2000" y="33660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1">
                <a:solidFill>
                  <a:srgbClr val="2F6EBA"/>
                </a:solidFill>
                <a:latin typeface="Microsoft YaHei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12000" y="3387600"/>
            <a:ext cx="9828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F3A68"/>
                </a:solidFill>
                <a:latin typeface="Microsoft YaHei"/>
              </a:rPr>
              <a:t>统计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12000" y="3625200"/>
            <a:ext cx="9828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555F6E"/>
                </a:solidFill>
                <a:latin typeface="Microsoft YaHei"/>
              </a:rPr>
              <a:t>随机基线、bootstrap CI、配对置换检验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92000" y="3851999"/>
            <a:ext cx="10620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0" y="6606000"/>
            <a:ext cx="121932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8000" y="6660000"/>
            <a:ext cx="612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F6E"/>
                </a:solidFill>
                <a:latin typeface="Microsoft YaHei"/>
              </a:rPr>
              <a:t>国防科技大学 · 长短期记忆系统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260000" y="6660000"/>
            <a:ext cx="144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F6E"/>
                </a:solidFill>
                <a:latin typeface="Microsoft YaHei"/>
              </a:rPr>
              <a:t>21 / 28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6000" y="306000"/>
            <a:ext cx="504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6EBA"/>
                </a:solidFill>
                <a:latin typeface="Microsoft YaHei"/>
              </a:rPr>
              <a:t>04 · 实验设计与验证</a:t>
            </a:r>
          </a:p>
        </p:txBody>
      </p:sp>
      <p:sp>
        <p:nvSpPr>
          <p:cNvPr id="3" name="Rectangle 2"/>
          <p:cNvSpPr/>
          <p:nvPr/>
        </p:nvSpPr>
        <p:spPr>
          <a:xfrm>
            <a:off x="648000" y="540000"/>
            <a:ext cx="144000" cy="900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0000" y="619200"/>
            <a:ext cx="1044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1F3A68"/>
                </a:solidFill>
                <a:latin typeface="Microsoft YaHei"/>
              </a:rPr>
              <a:t>双库贡献（RQ1）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648000" y="1458000"/>
            <a:ext cx="10800000" cy="144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20000" y="1728000"/>
            <a:ext cx="2439000" cy="198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0000" y="2070000"/>
            <a:ext cx="2439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1F3A68"/>
                </a:solidFill>
                <a:latin typeface="Microsoft YaHei"/>
              </a:rPr>
              <a:t>0.636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7999" y="2646000"/>
            <a:ext cx="2223000" cy="737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>
                <a:solidFill>
                  <a:srgbClr val="555F6E"/>
                </a:solidFill>
                <a:latin typeface="Microsoft YaHei"/>
              </a:rPr>
              <a:t>G3 双库全开 hit@5（G2 为 0.341）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3483000" y="1728000"/>
            <a:ext cx="2439000" cy="198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83000" y="2070000"/>
            <a:ext cx="2439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1F3A68"/>
                </a:solidFill>
                <a:latin typeface="Microsoft YaHei"/>
              </a:rPr>
              <a:t>p=0.0001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91000" y="2646000"/>
            <a:ext cx="2223000" cy="737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>
                <a:solidFill>
                  <a:srgbClr val="555F6E"/>
                </a:solidFill>
                <a:latin typeface="Microsoft YaHei"/>
              </a:rPr>
              <a:t>配对置换检验，n=44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46000" y="1728000"/>
            <a:ext cx="2439000" cy="198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46000" y="2070000"/>
            <a:ext cx="2439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1F3A68"/>
                </a:solidFill>
                <a:latin typeface="Microsoft YaHei"/>
              </a:rPr>
              <a:t>0.357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54000" y="2646000"/>
            <a:ext cx="2223000" cy="737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>
                <a:solidFill>
                  <a:srgbClr val="555F6E"/>
                </a:solidFill>
                <a:latin typeface="Microsoft YaHei"/>
              </a:rPr>
              <a:t>随机基线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009000" y="1728000"/>
            <a:ext cx="2439000" cy="198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09000" y="2070000"/>
            <a:ext cx="2439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1F3A68"/>
                </a:solidFill>
                <a:latin typeface="Microsoft YaHei"/>
              </a:rPr>
              <a:t>0.625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17000" y="2646000"/>
            <a:ext cx="2223000" cy="737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>
                <a:solidFill>
                  <a:srgbClr val="555F6E"/>
                </a:solidFill>
                <a:latin typeface="Microsoft YaHei"/>
              </a:rPr>
              <a:t>C 类残余失分（词袋局限）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6606000"/>
            <a:ext cx="121932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8000" y="6660000"/>
            <a:ext cx="612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F6E"/>
                </a:solidFill>
                <a:latin typeface="Microsoft YaHei"/>
              </a:rPr>
              <a:t>国防科技大学 · 长短期记忆系统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60000" y="6660000"/>
            <a:ext cx="144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F6E"/>
                </a:solidFill>
                <a:latin typeface="Microsoft YaHei"/>
              </a:rPr>
              <a:t>22 / 28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6000" y="306000"/>
            <a:ext cx="504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6EBA"/>
                </a:solidFill>
                <a:latin typeface="Microsoft YaHei"/>
              </a:rPr>
              <a:t>04 · 实验设计与验证</a:t>
            </a:r>
          </a:p>
        </p:txBody>
      </p:sp>
      <p:sp>
        <p:nvSpPr>
          <p:cNvPr id="3" name="Rectangle 2"/>
          <p:cNvSpPr/>
          <p:nvPr/>
        </p:nvSpPr>
        <p:spPr>
          <a:xfrm>
            <a:off x="648000" y="540000"/>
            <a:ext cx="144000" cy="900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0000" y="619200"/>
            <a:ext cx="1044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F3A68"/>
                </a:solidFill>
                <a:latin typeface="Microsoft YaHei"/>
              </a:rPr>
              <a:t>跨场次与检索策略（RQ2/RQ3）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648000" y="1458000"/>
            <a:ext cx="10800000" cy="144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92000" y="16920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1">
                <a:solidFill>
                  <a:srgbClr val="2F6EBA"/>
                </a:solidFill>
                <a:latin typeface="Microsoft YaHei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12000" y="1713600"/>
            <a:ext cx="9828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F3A68"/>
                </a:solidFill>
                <a:latin typeface="Microsoft YaHei"/>
              </a:rPr>
              <a:t>跨场次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12000" y="1951200"/>
            <a:ext cx="9828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555F6E"/>
                </a:solidFill>
                <a:latin typeface="Microsoft YaHei"/>
              </a:rPr>
              <a:t>处理组 0.833 vs 对照 0，负控 0</a:t>
            </a:r>
          </a:p>
        </p:txBody>
      </p:sp>
      <p:sp>
        <p:nvSpPr>
          <p:cNvPr id="9" name="Rectangle 8"/>
          <p:cNvSpPr/>
          <p:nvPr/>
        </p:nvSpPr>
        <p:spPr>
          <a:xfrm>
            <a:off x="792000" y="2178000"/>
            <a:ext cx="10620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2000" y="22500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1">
                <a:solidFill>
                  <a:srgbClr val="2F6EBA"/>
                </a:solidFill>
                <a:latin typeface="Microsoft YaHei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12000" y="2329200"/>
            <a:ext cx="9828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22830"/>
                </a:solidFill>
                <a:latin typeface="Microsoft YaHei"/>
              </a:rPr>
              <a:t>p=0.059，样本有限 → 方向性证据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92000" y="2736000"/>
            <a:ext cx="10620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2000" y="28080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1">
                <a:solidFill>
                  <a:srgbClr val="2F6EBA"/>
                </a:solidFill>
                <a:latin typeface="Microsoft YaHei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12000" y="2829600"/>
            <a:ext cx="9828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F3A68"/>
                </a:solidFill>
                <a:latin typeface="Microsoft YaHei"/>
              </a:rPr>
              <a:t>检索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12000" y="3067200"/>
            <a:ext cx="9828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555F6E"/>
                </a:solidFill>
                <a:latin typeface="Microsoft YaHei"/>
              </a:rPr>
              <a:t>hybrid 0.857 vs vector 0.929（词袋）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92000" y="3294000"/>
            <a:ext cx="10620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92000" y="33660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1">
                <a:solidFill>
                  <a:srgbClr val="2F6EBA"/>
                </a:solidFill>
                <a:latin typeface="Microsoft YaHei"/>
              </a:rPr>
              <a:t>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12000" y="3445200"/>
            <a:ext cx="9828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22830"/>
                </a:solidFill>
                <a:latin typeface="Microsoft YaHei"/>
              </a:rPr>
              <a:t>但干扰压制 hybrid 1.0 &gt; 单路 ≤0.875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92000" y="3851999"/>
            <a:ext cx="10620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92000" y="39240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1">
                <a:solidFill>
                  <a:srgbClr val="2F6EBA"/>
                </a:solidFill>
                <a:latin typeface="Microsoft YaHei"/>
              </a:rPr>
              <a:t>05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12000" y="3945600"/>
            <a:ext cx="9828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F3A68"/>
                </a:solidFill>
                <a:latin typeface="Microsoft YaHei"/>
              </a:rPr>
              <a:t>结论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12000" y="4183200"/>
            <a:ext cx="9828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555F6E"/>
                </a:solidFill>
                <a:latin typeface="Microsoft YaHei"/>
              </a:rPr>
              <a:t>混合价值在排序，真向量再定召回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92000" y="4410000"/>
            <a:ext cx="10620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0" y="6606000"/>
            <a:ext cx="121932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000" y="6660000"/>
            <a:ext cx="612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F6E"/>
                </a:solidFill>
                <a:latin typeface="Microsoft YaHei"/>
              </a:rPr>
              <a:t>国防科技大学 · 长短期记忆系统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60000" y="6660000"/>
            <a:ext cx="144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F6E"/>
                </a:solidFill>
                <a:latin typeface="Microsoft YaHei"/>
              </a:rPr>
              <a:t>23 / 28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6000" y="306000"/>
            <a:ext cx="504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6EBA"/>
                </a:solidFill>
                <a:latin typeface="Microsoft YaHei"/>
              </a:rPr>
              <a:t>04 · 实验设计与验证</a:t>
            </a:r>
          </a:p>
        </p:txBody>
      </p:sp>
      <p:sp>
        <p:nvSpPr>
          <p:cNvPr id="3" name="Rectangle 2"/>
          <p:cNvSpPr/>
          <p:nvPr/>
        </p:nvSpPr>
        <p:spPr>
          <a:xfrm>
            <a:off x="648000" y="540000"/>
            <a:ext cx="144000" cy="900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0000" y="619200"/>
            <a:ext cx="1044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F3A68"/>
                </a:solidFill>
                <a:latin typeface="Microsoft YaHei"/>
              </a:rPr>
              <a:t>滤噪、遗忘与真实模型（RQ4/RQ5）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648000" y="1458000"/>
            <a:ext cx="10800000" cy="144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20000" y="1728000"/>
            <a:ext cx="2439000" cy="198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0000" y="2070000"/>
            <a:ext cx="2439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1F3A68"/>
                </a:solidFill>
                <a:latin typeface="Microsoft YaHei"/>
              </a:rPr>
              <a:t>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7999" y="2646000"/>
            <a:ext cx="2223000" cy="737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>
                <a:solidFill>
                  <a:srgbClr val="555F6E"/>
                </a:solidFill>
                <a:latin typeface="Microsoft YaHei"/>
              </a:rPr>
              <a:t>负例返回率（min_score=0.16）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3483000" y="1728000"/>
            <a:ext cx="2439000" cy="198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83000" y="2070000"/>
            <a:ext cx="2439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1F3A68"/>
                </a:solidFill>
                <a:latin typeface="Microsoft YaHei"/>
              </a:rPr>
              <a:t>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91000" y="2646000"/>
            <a:ext cx="2223000" cy="737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>
                <a:solidFill>
                  <a:srgbClr val="555F6E"/>
                </a:solidFill>
                <a:latin typeface="Microsoft YaHei"/>
              </a:rPr>
              <a:t>遗忘误删，保护线有效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46000" y="1728000"/>
            <a:ext cx="2439000" cy="198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46000" y="2070000"/>
            <a:ext cx="2439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1F3A68"/>
                </a:solidFill>
                <a:latin typeface="Microsoft YaHei"/>
              </a:rPr>
              <a:t>1.00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54000" y="2646000"/>
            <a:ext cx="2223000" cy="737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>
                <a:solidFill>
                  <a:srgbClr val="555F6E"/>
                </a:solidFill>
                <a:latin typeface="Microsoft YaHei"/>
              </a:rPr>
              <a:t>DeepSeek 引用率（20/20）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009000" y="1728000"/>
            <a:ext cx="2439000" cy="198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09000" y="2070000"/>
            <a:ext cx="2439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1F3A68"/>
                </a:solidFill>
                <a:latin typeface="Microsoft YaHei"/>
              </a:rPr>
              <a:t>0.857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17000" y="2646000"/>
            <a:ext cx="2223000" cy="737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>
                <a:solidFill>
                  <a:srgbClr val="555F6E"/>
                </a:solidFill>
                <a:latin typeface="Microsoft YaHei"/>
              </a:rPr>
              <a:t>正例 hit@5 保持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6606000"/>
            <a:ext cx="121932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8000" y="6660000"/>
            <a:ext cx="612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F6E"/>
                </a:solidFill>
                <a:latin typeface="Microsoft YaHei"/>
              </a:rPr>
              <a:t>国防科技大学 · 长短期记忆系统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60000" y="6660000"/>
            <a:ext cx="144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F6E"/>
                </a:solidFill>
                <a:latin typeface="Microsoft YaHei"/>
              </a:rPr>
              <a:t>24 / 28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1F3A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180000" y="1260000"/>
            <a:ext cx="2880000" cy="2880000"/>
          </a:xfrm>
          <a:prstGeom prst="ellipse">
            <a:avLst/>
          </a:prstGeom>
          <a:solidFill>
            <a:srgbClr val="2C4A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800000" y="1296000"/>
            <a:ext cx="5040000" cy="21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0" b="1">
                <a:solidFill>
                  <a:srgbClr val="4C689B"/>
                </a:solidFill>
                <a:latin typeface="Microsoft YaHei"/>
              </a:rPr>
              <a:t>05</a:t>
            </a:r>
          </a:p>
        </p:txBody>
      </p:sp>
      <p:sp>
        <p:nvSpPr>
          <p:cNvPr id="5" name="Rectangle 4"/>
          <p:cNvSpPr/>
          <p:nvPr/>
        </p:nvSpPr>
        <p:spPr>
          <a:xfrm>
            <a:off x="1872000" y="3671999"/>
            <a:ext cx="2160000" cy="36000"/>
          </a:xfrm>
          <a:prstGeom prst="rect">
            <a:avLst/>
          </a:prstGeom>
          <a:solidFill>
            <a:srgbClr val="9AB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00000" y="3888000"/>
            <a:ext cx="7920000" cy="1007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000" b="1">
                <a:solidFill>
                  <a:srgbClr val="FFFFFF"/>
                </a:solidFill>
                <a:latin typeface="Microsoft YaHei"/>
              </a:rPr>
              <a:t>智戎接入与总结展望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72000" y="4896000"/>
            <a:ext cx="792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7D3E8"/>
                </a:solidFill>
                <a:latin typeface="Microsoft YaHei"/>
              </a:rPr>
              <a:t>INTEGRATION &amp; OUTLOOK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6000" y="306000"/>
            <a:ext cx="504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6EBA"/>
                </a:solidFill>
                <a:latin typeface="Microsoft YaHei"/>
              </a:rPr>
              <a:t>05 · 智戎接入与总结展望</a:t>
            </a:r>
          </a:p>
        </p:txBody>
      </p:sp>
      <p:sp>
        <p:nvSpPr>
          <p:cNvPr id="3" name="Rectangle 2"/>
          <p:cNvSpPr/>
          <p:nvPr/>
        </p:nvSpPr>
        <p:spPr>
          <a:xfrm>
            <a:off x="648000" y="540000"/>
            <a:ext cx="144000" cy="900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0000" y="619200"/>
            <a:ext cx="1044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1F3A68"/>
                </a:solidFill>
                <a:latin typeface="Microsoft YaHei"/>
              </a:rPr>
              <a:t>智戎事件驱动适配（P0 落地）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648000" y="1458000"/>
            <a:ext cx="10800000" cy="144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20000" y="1655999"/>
            <a:ext cx="6408000" cy="756000"/>
          </a:xfrm>
          <a:prstGeom prst="roundRect">
            <a:avLst>
              <a:gd name="adj" fmla="val 8000"/>
            </a:avLst>
          </a:prstGeom>
          <a:solidFill>
            <a:srgbClr val="F2F4F8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20000" y="1655999"/>
            <a:ext cx="79200" cy="756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82000" y="1720799"/>
            <a:ext cx="540000" cy="36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2F6EBA"/>
                </a:solidFill>
                <a:latin typeface="Microsoft YaHe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96000" y="1710000"/>
            <a:ext cx="5616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F3A68"/>
                </a:solidFill>
                <a:latin typeface="Microsoft YaHei"/>
              </a:rPr>
              <a:t>hook_evolve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96000" y="1915199"/>
            <a:ext cx="5616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55F6E"/>
                </a:solidFill>
                <a:latin typeface="Microsoft YaHei"/>
              </a:rPr>
              <a:t>不依赖‘场次结束’，可随时触发进化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20000" y="2491200"/>
            <a:ext cx="6408000" cy="756000"/>
          </a:xfrm>
          <a:prstGeom prst="roundRect">
            <a:avLst>
              <a:gd name="adj" fmla="val 8000"/>
            </a:avLst>
          </a:prstGeom>
          <a:solidFill>
            <a:srgbClr val="F2F4F8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20000" y="2491200"/>
            <a:ext cx="79200" cy="756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82000" y="2556000"/>
            <a:ext cx="540000" cy="36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2F6EBA"/>
                </a:solidFill>
                <a:latin typeface="Microsoft YaHei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96000" y="2545200"/>
            <a:ext cx="5616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F3A68"/>
                </a:solidFill>
                <a:latin typeface="Microsoft YaHei"/>
              </a:rPr>
              <a:t>结构化反馈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96000" y="2750400"/>
            <a:ext cx="5616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55F6E"/>
                </a:solidFill>
                <a:latin typeface="Microsoft YaHei"/>
              </a:rPr>
              <a:t>AFSIM 数值/事件 → 复盘文本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20000" y="3326400"/>
            <a:ext cx="6408000" cy="756000"/>
          </a:xfrm>
          <a:prstGeom prst="roundRect">
            <a:avLst>
              <a:gd name="adj" fmla="val 8000"/>
            </a:avLst>
          </a:prstGeom>
          <a:solidFill>
            <a:srgbClr val="F2F4F8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20000" y="3326400"/>
            <a:ext cx="79200" cy="756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82000" y="3391200"/>
            <a:ext cx="540000" cy="36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2F6EBA"/>
                </a:solidFill>
                <a:latin typeface="Microsoft YaHei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96000" y="3380400"/>
            <a:ext cx="5616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F3A68"/>
                </a:solidFill>
                <a:latin typeface="Microsoft YaHei"/>
              </a:rPr>
              <a:t>normalize_task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96000" y="3585600"/>
            <a:ext cx="5616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55F6E"/>
                </a:solidFill>
                <a:latin typeface="Microsoft YaHei"/>
              </a:rPr>
              <a:t>结构化任务 → goal/constraints/queries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20000" y="4161600"/>
            <a:ext cx="6408000" cy="756000"/>
          </a:xfrm>
          <a:prstGeom prst="roundRect">
            <a:avLst>
              <a:gd name="adj" fmla="val 8000"/>
            </a:avLst>
          </a:prstGeom>
          <a:solidFill>
            <a:srgbClr val="F2F4F8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20000" y="4161600"/>
            <a:ext cx="79200" cy="756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82000" y="4226400"/>
            <a:ext cx="540000" cy="36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2F6EBA"/>
                </a:solidFill>
                <a:latin typeface="Microsoft YaHei"/>
              </a:rPr>
              <a:t>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96000" y="4215600"/>
            <a:ext cx="5616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F3A68"/>
                </a:solidFill>
                <a:latin typeface="Microsoft YaHei"/>
              </a:rPr>
              <a:t>domain_check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96000" y="4420800"/>
            <a:ext cx="5616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55F6E"/>
                </a:solidFill>
                <a:latin typeface="Microsoft YaHei"/>
              </a:rPr>
              <a:t>领域巡检 + min_score 建议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703999" y="1655999"/>
            <a:ext cx="3780000" cy="4104000"/>
          </a:xfrm>
          <a:prstGeom prst="rect">
            <a:avLst/>
          </a:prstGeom>
          <a:solidFill>
            <a:srgbClr val="F2F4F8"/>
          </a:solidFill>
          <a:ln w="15240">
            <a:solidFill>
              <a:srgbClr val="2F6E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0" y="6606000"/>
            <a:ext cx="121932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8000" y="6660000"/>
            <a:ext cx="612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F6E"/>
                </a:solidFill>
                <a:latin typeface="Microsoft YaHei"/>
              </a:rPr>
              <a:t>国防科技大学 · 长短期记忆系统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60000" y="6660000"/>
            <a:ext cx="144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F6E"/>
                </a:solidFill>
                <a:latin typeface="Microsoft YaHei"/>
              </a:rPr>
              <a:t>26 / 28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6000" y="306000"/>
            <a:ext cx="504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6EBA"/>
                </a:solidFill>
                <a:latin typeface="Microsoft YaHei"/>
              </a:rPr>
              <a:t>05 · 智戎接入与总结展望</a:t>
            </a:r>
          </a:p>
        </p:txBody>
      </p:sp>
      <p:sp>
        <p:nvSpPr>
          <p:cNvPr id="3" name="Rectangle 2"/>
          <p:cNvSpPr/>
          <p:nvPr/>
        </p:nvSpPr>
        <p:spPr>
          <a:xfrm>
            <a:off x="648000" y="540000"/>
            <a:ext cx="144000" cy="900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0000" y="619200"/>
            <a:ext cx="1044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1F3A68"/>
                </a:solidFill>
                <a:latin typeface="Microsoft YaHei"/>
              </a:rPr>
              <a:t>总结与展望</a:t>
            </a:r>
          </a:p>
        </p:txBody>
      </p:sp>
      <p:sp>
        <p:nvSpPr>
          <p:cNvPr id="5" name="Rectangle 4"/>
          <p:cNvSpPr/>
          <p:nvPr/>
        </p:nvSpPr>
        <p:spPr>
          <a:xfrm>
            <a:off x="648000" y="1458000"/>
            <a:ext cx="10800000" cy="144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20000" y="1655999"/>
            <a:ext cx="10728000" cy="756000"/>
          </a:xfrm>
          <a:prstGeom prst="roundRect">
            <a:avLst>
              <a:gd name="adj" fmla="val 8000"/>
            </a:avLst>
          </a:prstGeom>
          <a:solidFill>
            <a:srgbClr val="F2F4F8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20000" y="1655999"/>
            <a:ext cx="79200" cy="756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82000" y="1720799"/>
            <a:ext cx="540000" cy="36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2F6EBA"/>
                </a:solidFill>
                <a:latin typeface="Microsoft YaHe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96000" y="1710000"/>
            <a:ext cx="9936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F3A68"/>
                </a:solidFill>
                <a:latin typeface="Microsoft YaHei"/>
              </a:rPr>
              <a:t>结论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96000" y="1915199"/>
            <a:ext cx="9936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55F6E"/>
                </a:solidFill>
                <a:latin typeface="Microsoft YaHei"/>
              </a:rPr>
              <a:t>分层与进化机制在词袋固定设置下有效（p=0.0001）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20000" y="2491200"/>
            <a:ext cx="10728000" cy="756000"/>
          </a:xfrm>
          <a:prstGeom prst="roundRect">
            <a:avLst>
              <a:gd name="adj" fmla="val 8000"/>
            </a:avLst>
          </a:prstGeom>
          <a:solidFill>
            <a:srgbClr val="F2F4F8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20000" y="2491200"/>
            <a:ext cx="79200" cy="756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82000" y="2556000"/>
            <a:ext cx="540000" cy="36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2F6EBA"/>
                </a:solidFill>
                <a:latin typeface="Microsoft YaHei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96000" y="2642400"/>
            <a:ext cx="9936000" cy="34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22830"/>
                </a:solidFill>
                <a:latin typeface="Microsoft YaHei"/>
              </a:rPr>
              <a:t>真实模型验证了检索-生成链路可用（引用率 1.00）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20000" y="3326400"/>
            <a:ext cx="10728000" cy="756000"/>
          </a:xfrm>
          <a:prstGeom prst="roundRect">
            <a:avLst>
              <a:gd name="adj" fmla="val 8000"/>
            </a:avLst>
          </a:prstGeom>
          <a:solidFill>
            <a:srgbClr val="F2F4F8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20000" y="3326400"/>
            <a:ext cx="79200" cy="756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82000" y="3391200"/>
            <a:ext cx="540000" cy="36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2F6EBA"/>
                </a:solidFill>
                <a:latin typeface="Microsoft YaHei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96000" y="3380400"/>
            <a:ext cx="9936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F3A68"/>
                </a:solidFill>
                <a:latin typeface="Microsoft YaHei"/>
              </a:rPr>
              <a:t>下一步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96000" y="3585600"/>
            <a:ext cx="9936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55F6E"/>
                </a:solidFill>
                <a:latin typeface="Microsoft YaHei"/>
              </a:rPr>
              <a:t>真向量重跑与重标定 min_score/θ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20000" y="4161600"/>
            <a:ext cx="10728000" cy="756000"/>
          </a:xfrm>
          <a:prstGeom prst="roundRect">
            <a:avLst>
              <a:gd name="adj" fmla="val 8000"/>
            </a:avLst>
          </a:prstGeom>
          <a:solidFill>
            <a:srgbClr val="F2F4F8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20000" y="4161600"/>
            <a:ext cx="79200" cy="756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82000" y="4226400"/>
            <a:ext cx="540000" cy="36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2F6EBA"/>
                </a:solidFill>
                <a:latin typeface="Microsoft YaHei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96000" y="4215600"/>
            <a:ext cx="9936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F3A68"/>
                </a:solidFill>
                <a:latin typeface="Microsoft YaHei"/>
              </a:rPr>
              <a:t>下一步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96000" y="4420800"/>
            <a:ext cx="9936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55F6E"/>
                </a:solidFill>
                <a:latin typeface="Microsoft YaHei"/>
              </a:rPr>
              <a:t>H 类扩至 20 条、知识锚定、冲突仲裁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20000" y="4996800"/>
            <a:ext cx="10728000" cy="756000"/>
          </a:xfrm>
          <a:prstGeom prst="roundRect">
            <a:avLst>
              <a:gd name="adj" fmla="val 8000"/>
            </a:avLst>
          </a:prstGeom>
          <a:solidFill>
            <a:srgbClr val="F2F4F8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20000" y="4996800"/>
            <a:ext cx="79200" cy="756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82000" y="5061600"/>
            <a:ext cx="540000" cy="36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2F6EBA"/>
                </a:solidFill>
                <a:latin typeface="Microsoft YaHei"/>
              </a:rPr>
              <a:t>05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96000" y="5050800"/>
            <a:ext cx="9936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F3A68"/>
                </a:solidFill>
                <a:latin typeface="Microsoft YaHei"/>
              </a:rPr>
              <a:t>下一步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296000" y="5256000"/>
            <a:ext cx="9936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55F6E"/>
                </a:solidFill>
                <a:latin typeface="Microsoft YaHei"/>
              </a:rPr>
              <a:t>智戎真实链路联调与领域巡检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606000"/>
            <a:ext cx="121932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8000" y="6660000"/>
            <a:ext cx="612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F6E"/>
                </a:solidFill>
                <a:latin typeface="Microsoft YaHei"/>
              </a:rPr>
              <a:t>国防科技大学 · 长短期记忆系统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260000" y="6660000"/>
            <a:ext cx="144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F6E"/>
                </a:solidFill>
                <a:latin typeface="Microsoft YaHei"/>
              </a:rPr>
              <a:t>27 / 28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1F3A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8000" y="576000"/>
            <a:ext cx="576000" cy="2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8000" y="6228000"/>
            <a:ext cx="576000" cy="2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944000" y="576000"/>
            <a:ext cx="576000" cy="2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944000" y="6228000"/>
            <a:ext cx="576000" cy="2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8000" y="576000"/>
            <a:ext cx="21600" cy="43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8000" y="6033600"/>
            <a:ext cx="21600" cy="43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98400" y="576000"/>
            <a:ext cx="21600" cy="43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98400" y="6033600"/>
            <a:ext cx="21600" cy="43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80000" y="2592000"/>
            <a:ext cx="10008000" cy="10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Microsoft YaHei"/>
              </a:rPr>
              <a:t>感谢聆听 · 欢迎交流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0000" y="4104000"/>
            <a:ext cx="10008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C7D3E8"/>
                </a:solidFill>
                <a:latin typeface="Microsoft YaHei"/>
              </a:rPr>
              <a:t>国防科技大学 · 课题3 · 长短期记忆系统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