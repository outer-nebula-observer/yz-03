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23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【配图】封面可放校徽（可选）；无需其他图。</a:t>
            </a:r>
          </a:p>
          <a:p>
            <a:r>
              <a:t>【讲稿】各位老师好，我们小组汇报的课题是《面向作战规划智能体的可进化外部记忆系统》。系统面向场次制规划任务，目标是在模型之外建立可读写、可演化、可审计的记忆。汇报分五个部分：问题与思路、相关工作与启发、系统设计与实现、实验设计与验证、智戎接入与总结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【讲稿】汇报主线是五步：先讲清问题，再说明我们从已有工作里借鉴了什么，然后给出系统设计与代码实现，接着用消融和真模型验证，最后讲智戎接入与下一步。重点在第 3、4 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【配图】章首主视觉可用 docs/figures/ppt/ppt_session_cycle.svg（竖版 900×1060）。</a:t>
            </a:r>
          </a:p>
          <a:p>
            <a:r>
              <a:t>【讲稿】第一章先界定问题：为什么场次制规划需要外部记忆。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【配图】右侧大图位 10.9×12.9cm，放 docs/figures/ppt/ppt_session_cycle.svg（PPT 已插入同名 PNG）：场次循环 + 状态不跨场次。</a:t>
            </a:r>
          </a:p>
          <a:p>
            <a:r>
              <a:t>【讲稿】作战规划智能体按场次接任务：目标→查询→检索→规划→推演→复盘→下一场。模型权重与上下文都不保留跨场次状态，所以同类错误会反复出现。长上下文只解决容量，RAG 只解决知识供给，都不解决经验沉淀、更新与淘汰。因此我们要在模型之外构建可读写、可演化、可审计的外部记忆系统。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【配图】每行右侧小图位 3.2×2.0cm，依次放 docs/figures/ppt/ppt_p1.svg ~ ppt_p5.svg（PPT 已插入同名 PNG）。</a:t>
            </a:r>
          </a:p>
          <a:p>
            <a:r>
              <a:t>【讲稿】我们把问题拆成五个失败模式：P1 经验不积累；P2 上下文超限导致硬约束丢失；P3 参数精确查询与经验语义查询混用单路；P4 复盘无差别入库让库变日志；P5 直接用目标文本查询信息量太薄。这五个问题分别对应后面的设计取舍。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【配图】每行右侧小图位，依次放 docs/figures/ppt/ppt_rq1.svg ~ ppt_rq5.svg（PPT 已插入同名 PNG），体现 P→RQ 映射。</a:t>
            </a:r>
          </a:p>
          <a:p>
            <a:r>
              <a:t>【讲稿】由五个失败模式引申出五个研究问题：RQ1 双库贡献、RQ2 跨场次复用、RQ3 检索策略、RQ4 滤噪与遗忘、RQ5 真实模型。每个 RQ 都对应可量化的实验，后面实验章节会逐一回答。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【配图】建议把 docs/figures/ppt/ppt_four_principles.svg（1000×560）放在 2×2 卡片旁或做成半页图。</a:t>
            </a:r>
          </a:p>
          <a:p>
            <a:r>
              <a:t>【讲稿】总体思路四句话：把记忆做成可演化的外部系统；短期到长期只留复盘晋升一条写通道；LLM 只提候选、确定性代码执行写合忘抽；查询按 MDMP 阶段生成并给对口记忆加分。这四点分别回应前面的失败模式。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【配图】章首主视觉可用 docs/figures/ppt/ppt_architecture.svg。</a:t>
            </a:r>
          </a:p>
          <a:p>
            <a:r>
              <a:t>【讲稿】第二章梳理相关工作，说明我们借鉴了什么、不采用什么。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docs/figures/ppt/ppt_context_layers.svg（常驻关键区/装载记忆/滚动消息三层）。</a:t>
            </a:r>
          </a:p>
          <a:p>
            <a:r>
              <a:t>【讲稿】上下文管理上，综述给出“形式-操作-应用”框架；MemGPT 提出主上下文+外部存档，我们采用分层但把换页改成确定性阈值，保证可复现；SCM 强调控制器决定读写归档，我们沿用但把写长期库收窄为复盘晋升；LLMLingua/ICAE 的压缩我们只借用位置偏置和“只压历史不压约束”。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docs/figures/ppt/ppt_dual_store.svg（事实库/经验库 + 三路读取）。</a:t>
            </a:r>
          </a:p>
          <a:p>
            <a:r>
              <a:t>【讲稿】长期存储与检索上，ChatDB 的数据库即符号记忆让我们保留属性精确过滤；ExpeL 的经验库+向量召回让我们保留经验语义；Reflexion 的语言反思、MemoryBank 的遗忘曲线、Zep 的溯源字段、MIRIX/TiM 的多路检索分别对应我们的经验表示、遗忘保护线、溯源和路由设计。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docs/figures/ppt/ppt_evolution_ops.svg（写入/合并/遗忘/抽象四操作）。</a:t>
            </a:r>
          </a:p>
          <a:p>
            <a:r>
              <a:t>【讲稿】记忆进化上，PREMem 的相似度去重、StructMem 的跨事件整合、MemSkill 的操作类型化、Mem-α 的建议-执行分离，分别启发了我们的写入查重、抽象、MemoryOp 枚举和整体架构。差异在组合方式与军事场景限定：保护线、精确命中绕过阈值、阶段化供给。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【配图】章首主视觉可用 docs/figures/ppt/ppt_architecture.svg。</a:t>
            </a:r>
          </a:p>
          <a:p>
            <a:r>
              <a:t>【讲稿】第三章进入系统设计与实现，先看总体架构，再看短期、长期、检索、进化的具体代码。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【配图】右侧大图位 10.9×12.9cm，放 docs/figures/ppt/ppt_architecture.svg（PPT 已插入同名 PNG）。</a:t>
            </a:r>
          </a:p>
          <a:p>
            <a:r>
              <a:t>【讲稿】系统分四层：模型层统一数据对象，能力层分短期/长期/检索/进化，跨切面负责边界与阶段，编排层由控制器和管线调度。四能力层互不 import，只通过 schema 对象通信，因此可以独立开关做消融。短期到长期只经复盘晋升，并有三道边界门和审计日志。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docs/figures/ppt/ppt_fifo_summary.svg（FIFO→递归摘要→归档）。</a:t>
            </a:r>
          </a:p>
          <a:p>
            <a:r>
              <a:t>【讲稿】短期工作记忆用槽位保存目标、约束、查询和消息，约束永不压缩。FIFO 超阈值时把最旧消息移出，递归生成摘要，原文进入归档供复盘。渲染顺序刻意使用首尾位置偏置：关键信息放头部、近期消息放尾部。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docs/figures/ppt/ppt_dual_store.svg（双库接口与三路读取）。</a:t>
            </a:r>
          </a:p>
          <a:p>
            <a:r>
              <a:t>【讲稿】长期记忆分事实库和经验库：事实库用 SQLite 和属性精确过滤，经验库用向量语义召回。属性精确命中绕过 min_score，因为查询方显式指定条件时命中即相关。这样参数查询不会被相似度阈值卡住，经验查询也能跨措辞召回。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docs/figures/ppt/ppt_hybrid_retrieval.svg（三路融合/归一/阶段亲和）。</a:t>
            </a:r>
          </a:p>
          <a:p>
            <a:r>
              <a:t>【讲稿】检索层把 vector、BM25、SQL 三路放在一起：hybrid 模式三路加权累加，single 模式只走一路供消融。归一化时向量取余弦、BM25 用查询自匹配作上界、SQL 恒为 1；然后叠加阶段亲和、过滤 min_score，对最终结果只做一次命中强化，避免同一记忆被强化多次。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docs/figures/ppt/ppt_forgetting_curve.svg（R=e^{-t/S} 与 S+1）。</a:t>
            </a:r>
          </a:p>
          <a:p>
            <a:r>
              <a:t>【讲稿】进化采用建议-执行分离：LLM 从复盘中提候选，确定性代码执行写入、合并、遗忘、抽象。遗忘用艾宾浩斯公式 R=e^{-t/S}，命中一次 S 加一并重置时间；importance≥2 的记忆受保护。这样既保证记忆会淘汰，也保证失败教训不会被误删。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docs/figures/ppt/ppt_boundary_stages.svg（复盘驱动→类别门→查重→阶段）。</a:t>
            </a:r>
          </a:p>
          <a:p>
            <a:r>
              <a:t>【讲稿】短期内容进入长期库必须过三道门：复盘驱动、类别判定、语义查重，每次判定写入审计日志。阶段感知则把查询按 MDMP 七阶段生成，阶段匹配的记忆加亲和分，复盘教训按阶段归因，让后续同阶段优先召回。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【配图】右侧大图位 10.9×12.9cm，放 docs/figures/ppt/ppt_webui.svg（PPT 已插入同名 PNG）：三栏/抽屉/遗忘曲线。</a:t>
            </a:r>
          </a:p>
          <a:p>
            <a:r>
              <a:t>【讲稿】WebUI 用三栏页签化布局：左输入、中运行、右产出，长内容折叠为页签。记忆详情抽屉展示总览、单条历史和遗忘日志；遗忘曲线把 R=e^{-t/S} 和“立即召回 S+1”放在一起对比；还有战役进度条、库健康度分布条和可展开的事件流。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【配图】章首主视觉可用 docs/figures/ppt/ppt_ablation.svg。</a:t>
            </a:r>
          </a:p>
          <a:p>
            <a:r>
              <a:t>【讲稿】第四章是实验设计与验证，先讲数据集和协议，再按 RQ 给结果。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docs/figures/ppt/ppt_testset.svg（50 条 8 类结构）。</a:t>
            </a:r>
          </a:p>
          <a:p>
            <a:r>
              <a:t>【讲稿】实验用的测试集是自建 50 条 8 类，查询与答案刻意避免关键词共现。所有组在固定用例集上跑，通过依赖注入开关能力，而不是删减用例；跨场次 gold 在运行期解析。指标分检索层和任务层，统计用随机基线、bootstrap 置信区间和配对置换检验，种子固定 42。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docs/figures/ppt/ppt_ablation.svg（G2/G3 柱状 + 随机基线）。</a:t>
            </a:r>
          </a:p>
          <a:p>
            <a:r>
              <a:t>【讲稿】RQ1 实验是 G2 仅事实库对 G3 双库全开，同为 44 条固定用例。结果 G2 hit@5=0.341，G3=0.636，Δ=0.295，配对置换 p=0.0001，两组置信区间不重叠。分类别看，增益全部来自经验类，事实类没有下降，说明双库分层不是冗余，经验库是经验查询的必要条件。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docs/figures/ppt/ppt_cross_session.svg（第一场复盘→第二场召回）。</a:t>
            </a:r>
          </a:p>
          <a:p>
            <a:r>
              <a:t>【讲稿】RQ2 的做法是第一场先跑复盘写入经验，第二场用相关查询检索，gold 为运行期写入条目，对照不写第一场，另设负控。处理组 hit@5=0.833、对照 0、负控 0，机制路径完整；但样本只有 6 条，p=0.059，只能算方向性证据。RQ3 比较 hybrid 与单路：词袋下 hybrid 召回未胜出，但干扰压制更好，说明混合价值在排序，需真向量复测。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【配图】建议组合插入 docs/figures/ppt/ppt_min_score.svg、ppt_forgetting_curve.svg、ppt_deepseek.svg（三选一或上下组合）。</a:t>
            </a:r>
          </a:p>
          <a:p>
            <a:r>
              <a:t>【讲稿】RQ4 包含两个实验：滤噪扫描 min_score 的四个取值，0.16 时负例返回率归零、正例 hit@5=0.857；遗忘实验把时间戳回拨 30 天后运行 forget，未保护删 10/10，保护和新写入删 0，误删为 0。RQ5 用 DeepSeek 验证 20 项全过，T6 规划引用率 1.00、约束满足 1.00。需要强调这些都在 MockEmbedding 之上且为单次运行，属于示范性证据。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【配图】章首主视觉可用 docs/figures/ppt/ppt_zhirong.svg。</a:t>
            </a:r>
          </a:p>
          <a:p>
            <a:r>
              <a:t>【讲稿】第五章讲智戎接入与总结展望。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【配图】右侧大图位 10.9×12.9cm，放 docs/figures/ppt/ppt_zhirong.svg（PPT 已插入同名 PNG）：三挂接点→事件驱动。</a:t>
            </a:r>
          </a:p>
          <a:p>
            <a:r>
              <a:t>【讲稿】智戎平台可能没有“场次结束”和“复盘文本”，所以我们做了 P0 适配：hook_evolve 不依赖场次结束，可以随时触发进化；结构化反馈把 AFSIM 的数值和事件转成复盘文本；normalize_task 把结构化任务转成 goal/constraints/queries；domain_check 用于真实数据的领域巡检和阈值建议。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【配图】建议插入 docs/figures/ppt/ppt_roadmap.svg（下一步四步路线）。</a:t>
            </a:r>
          </a:p>
          <a:p>
            <a:r>
              <a:t>【讲稿】总结两条结论：分层与进化机制在词袋固定设置下有效，双库 p=0.0001；真模型验证了检索-生成链路可用，引用率 1.00。下一步四件事：真向量重跑并重标定、H 类扩到 20 条、补知识锚定和冲突仲裁、接入智戎真实链路。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【配图】感谢页可放校徽（可选）。</a:t>
            </a:r>
          </a:p>
          <a:p>
            <a:r>
              <a:t>【讲稿】我的汇报到此结束，感谢各位老师，欢迎提问。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44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4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0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80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984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984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20000" y="1944000"/>
            <a:ext cx="1764000" cy="216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0000" y="936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7D3E8"/>
                </a:solidFill>
                <a:latin typeface="Microsoft YaHei"/>
              </a:rPr>
              <a:t>GRADUATE PROJECT · FINAL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2232000"/>
            <a:ext cx="10008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Microsoft YaHei"/>
              </a:rPr>
              <a:t>面向作战规划智能体的</a:t>
            </a:r>
          </a:p>
          <a:p>
            <a:pPr algn="ctr"/>
            <a:r>
              <a:rPr sz="5000" b="1">
                <a:solidFill>
                  <a:srgbClr val="FFFFFF"/>
                </a:solidFill>
                <a:latin typeface="Microsoft YaHei"/>
              </a:rPr>
              <a:t>可进化外部记忆系统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410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国防科技大学 · 课题3 · 长短期记忆系统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4464000"/>
            <a:ext cx="9360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小组：</a:t>
            </a:r>
            <a:r>
              <a:rPr lang="zh-CN" altLang="en-US" sz="1700">
                <a:solidFill>
                  <a:srgbClr val="C7D3E8"/>
                </a:solidFill>
                <a:latin typeface="Microsoft YaHei"/>
              </a:rPr>
              <a:t>应昱成 刘雨瑕</a:t>
            </a:r>
            <a:endParaRPr sz="1700">
              <a:solidFill>
                <a:srgbClr val="C7D3E8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40000" y="482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2025年7月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C6483F9-6D8F-9372-0425-1BBA0E6AE1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046" y="803153"/>
            <a:ext cx="1458542" cy="11624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80000" y="1655999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9200" y="1745999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3543" y="1789201"/>
            <a:ext cx="5831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5942" y="17892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问题与思路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2501999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9200" y="2591999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3543" y="2635201"/>
            <a:ext cx="5831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5942" y="26352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相关工作与启发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3348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59200" y="3438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3543" y="3481201"/>
            <a:ext cx="5831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5942" y="3481201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0000" y="4194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59200" y="4284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3543" y="4327201"/>
            <a:ext cx="5831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5942" y="4327201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实验设计与验证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0000" y="5040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59200" y="5130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3543" y="5173201"/>
            <a:ext cx="5831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5942" y="5173201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智戎接入与总结展望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问题与思路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PROBLEM &amp;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课题背景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从零开始的问题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作战规划智能体以场次接任务，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目标→查询→检索→规划→推演→复盘→下一场</a:t>
            </a:r>
            <a:r>
              <a:rPr sz="1400" b="0">
                <a:solidFill>
                  <a:srgbClr val="555F6E"/>
                </a:solidFill>
                <a:latin typeface="Microsoft YaHei"/>
              </a:rPr>
              <a:t>；模型与上下文都不保留跨场次状态，同类错误会反复出现。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长上下文不够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扩展窗口只解决“当前提示词放得下”，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窗口关闭后信息即失效</a:t>
            </a:r>
            <a:endParaRPr lang="en-US" sz="1400" b="0">
              <a:solidFill>
                <a:srgbClr val="FF0000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RAG 只解决外部知识供给，不解决经验如何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沉淀、更新与淘汰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模型内记忆代价高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通过微调或状态注入改变模型本身，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成本高</a:t>
            </a:r>
            <a:r>
              <a:rPr sz="1400" b="0">
                <a:solidFill>
                  <a:srgbClr val="555F6E"/>
                </a:solidFill>
                <a:latin typeface="Microsoft YaHei"/>
              </a:rPr>
              <a:t>且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无法审计</a:t>
            </a:r>
            <a:endParaRPr lang="en-US" sz="1400" b="0">
              <a:solidFill>
                <a:srgbClr val="FF0000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军事场景需要可回放、可解释的记忆操作</a:t>
            </a:r>
            <a:endParaRPr lang="en-US" sz="1400" b="0">
              <a:solidFill>
                <a:srgbClr val="555F6E"/>
              </a:solidFill>
              <a:latin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目标定位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在模型之外构建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可读写、可演化、可审计</a:t>
            </a:r>
            <a:r>
              <a:rPr sz="1400" b="0">
                <a:solidFill>
                  <a:srgbClr val="555F6E"/>
                </a:solidFill>
                <a:latin typeface="Microsoft YaHei"/>
              </a:rPr>
              <a:t>的外部记忆系统</a:t>
            </a:r>
            <a:endParaRPr lang="en-US" sz="1400" b="0">
              <a:solidFill>
                <a:srgbClr val="555F6E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以</a:t>
            </a:r>
            <a:r>
              <a:rPr sz="1400" b="0">
                <a:solidFill>
                  <a:srgbClr val="FF0000"/>
                </a:solidFill>
                <a:latin typeface="Microsoft YaHei"/>
              </a:rPr>
              <a:t>“写入-检索-更新-淘汰”</a:t>
            </a:r>
            <a:r>
              <a:rPr sz="1400" b="0">
                <a:solidFill>
                  <a:srgbClr val="555F6E"/>
                </a:solidFill>
                <a:latin typeface="Microsoft YaHei"/>
              </a:rPr>
              <a:t>为生命周期。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pt_session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五个失败模式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92799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P1 经验不积累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6170" y="1665026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场次间无</a:t>
            </a:r>
            <a:r>
              <a:rPr sz="1600" b="0">
                <a:solidFill>
                  <a:srgbClr val="FF0000"/>
                </a:solidFill>
                <a:latin typeface="Microsoft YaHei"/>
              </a:rPr>
              <a:t>状态传递</a:t>
            </a:r>
            <a:r>
              <a:rPr lang="zh-CN" altLang="en-US" sz="1600" b="0">
                <a:solidFill>
                  <a:srgbClr val="555F6E"/>
                </a:solidFill>
                <a:latin typeface="Microsoft YaHei"/>
              </a:rPr>
              <a:t>：</a:t>
            </a:r>
            <a:endParaRPr lang="en-US" altLang="zh-CN" sz="1600" b="0">
              <a:solidFill>
                <a:srgbClr val="555F6E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第一场在隘口遇伏，第二场可能仍未派先遣侦察，失败教训没有载体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5452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000" y="2736000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2699999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P2 上下文超限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6170" y="2559359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场内</a:t>
            </a:r>
            <a:r>
              <a:rPr sz="1600" b="0">
                <a:solidFill>
                  <a:srgbClr val="FF0000"/>
                </a:solidFill>
                <a:latin typeface="Microsoft YaHei"/>
              </a:rPr>
              <a:t>战报与硬约束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同时涌入</a:t>
            </a:r>
            <a:endParaRPr lang="en-US" sz="1600" b="0">
              <a:solidFill>
                <a:srgbClr val="555F6E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粗暴截断可能把“禁止越境”等约束切掉，规划易合规出错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4524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3643199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4012" y="3512319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装备参数需要精确，经验教训需要语义泛化</a:t>
            </a:r>
            <a:endParaRPr lang="en-US" sz="1600" b="0">
              <a:solidFill>
                <a:srgbClr val="555F6E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同一路无法同时满足</a:t>
            </a:r>
            <a:r>
              <a:rPr sz="1600" b="0">
                <a:solidFill>
                  <a:srgbClr val="FF0000"/>
                </a:solidFill>
                <a:latin typeface="Microsoft YaHei"/>
              </a:rPr>
              <a:t>精确与召回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43596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000" y="4550400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4514400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P4 库噪声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4012" y="4427728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复盘无差别入库让长期库积累流水账，信号被</a:t>
            </a:r>
            <a:r>
              <a:rPr sz="1600" b="0">
                <a:solidFill>
                  <a:srgbClr val="FF0000"/>
                </a:solidFill>
                <a:latin typeface="Microsoft YaHei"/>
              </a:rPr>
              <a:t>噪声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淹没</a:t>
            </a:r>
            <a:endParaRPr lang="en-US" sz="1600" b="0">
              <a:solidFill>
                <a:srgbClr val="555F6E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且无法回答“这条</a:t>
            </a:r>
            <a:r>
              <a:rPr sz="1600" b="0">
                <a:solidFill>
                  <a:srgbClr val="FF0000"/>
                </a:solidFill>
                <a:latin typeface="Microsoft YaHei"/>
              </a:rPr>
              <a:t>为什么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在库中”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52668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000" y="5457599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0" y="5421600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P5 目标检索弱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8294" y="5343276"/>
            <a:ext cx="676596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直接用任务目标一句话查询信息量太薄</a:t>
            </a:r>
            <a:endParaRPr lang="en-US" sz="1600" b="0">
              <a:solidFill>
                <a:srgbClr val="555F6E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55F6E"/>
                </a:solidFill>
                <a:latin typeface="Microsoft YaHei"/>
              </a:rPr>
              <a:t>规划</a:t>
            </a:r>
            <a:r>
              <a:rPr sz="1600" b="0">
                <a:solidFill>
                  <a:srgbClr val="FF0000"/>
                </a:solidFill>
                <a:latin typeface="Microsoft YaHei"/>
              </a:rPr>
              <a:t>不同阶段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需要的记忆类型不同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000" y="61739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5 / 28</a:t>
            </a:r>
          </a:p>
        </p:txBody>
      </p:sp>
      <p:pic>
        <p:nvPicPr>
          <p:cNvPr id="40" name="图形 39">
            <a:extLst>
              <a:ext uri="{FF2B5EF4-FFF2-40B4-BE49-F238E27FC236}">
                <a16:creationId xmlns:a16="http://schemas.microsoft.com/office/drawing/2014/main" id="{7A038CD1-F9ED-2D42-25C7-315579661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88" y="1669088"/>
            <a:ext cx="2437485" cy="812495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47242581-DA1F-3DC0-82AB-184F3AD58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588" y="2586792"/>
            <a:ext cx="2437485" cy="812495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033ACAEA-7A8F-4B8F-F732-20FD36FE0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588" y="3504496"/>
            <a:ext cx="2437485" cy="812495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1DDDB0EA-6816-4090-B02A-F1841C889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588" y="4422200"/>
            <a:ext cx="2437485" cy="812495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7AF5C58F-3695-9206-4FBB-643FC31C7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588" y="5339904"/>
            <a:ext cx="2437485" cy="812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五个研究问题 RQ1-RQ5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2000" y="18144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9740" y="1970645"/>
            <a:ext cx="9605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F6EBA"/>
                </a:solidFill>
                <a:latin typeface="Microsoft YaHei"/>
              </a:rPr>
              <a:t>P1/P5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8539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5560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2000" y="27216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4160" y="2877845"/>
            <a:ext cx="5116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F6EBA"/>
                </a:solidFill>
                <a:latin typeface="Microsoft YaHei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2000" y="27611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34631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2000" y="36288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4160" y="3785045"/>
            <a:ext cx="5116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F6EBA"/>
                </a:solidFill>
                <a:latin typeface="Microsoft YaHei"/>
              </a:rP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2000" y="3668400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43704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92000" y="45360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9740" y="4692245"/>
            <a:ext cx="9605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F6EBA"/>
                </a:solidFill>
                <a:latin typeface="Microsoft YaHei"/>
              </a:rPr>
              <a:t>P2/P4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2000" y="4575600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000" y="52775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92000" y="54432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4160" y="5599445"/>
            <a:ext cx="5116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F6EBA"/>
                </a:solidFill>
                <a:latin typeface="Microsoft YaHei"/>
              </a:rPr>
              <a:t>P4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2000" y="54827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2000" y="61848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6 / 28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ED8D2FED-0A7A-0BDF-F498-6E4C08A2BCAA}"/>
              </a:ext>
            </a:extLst>
          </p:cNvPr>
          <p:cNvSpPr txBox="1"/>
          <p:nvPr/>
        </p:nvSpPr>
        <p:spPr>
          <a:xfrm>
            <a:off x="2859059" y="1857834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1</a:t>
            </a:r>
          </a:p>
        </p:txBody>
      </p:sp>
      <p:sp>
        <p:nvSpPr>
          <p:cNvPr id="52" name="TextBox 6">
            <a:extLst>
              <a:ext uri="{FF2B5EF4-FFF2-40B4-BE49-F238E27FC236}">
                <a16:creationId xmlns:a16="http://schemas.microsoft.com/office/drawing/2014/main" id="{89523276-B6C8-E77E-2677-2830EB1C0AE0}"/>
              </a:ext>
            </a:extLst>
          </p:cNvPr>
          <p:cNvSpPr txBox="1"/>
          <p:nvPr/>
        </p:nvSpPr>
        <p:spPr>
          <a:xfrm>
            <a:off x="3579059" y="1821833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P1 经验不积累</a:t>
            </a:r>
          </a:p>
        </p:txBody>
      </p:sp>
      <p:sp>
        <p:nvSpPr>
          <p:cNvPr id="54" name="TextBox 7">
            <a:extLst>
              <a:ext uri="{FF2B5EF4-FFF2-40B4-BE49-F238E27FC236}">
                <a16:creationId xmlns:a16="http://schemas.microsoft.com/office/drawing/2014/main" id="{518F5DD9-BEBF-A68D-3A29-DA4D10087536}"/>
              </a:ext>
            </a:extLst>
          </p:cNvPr>
          <p:cNvSpPr txBox="1"/>
          <p:nvPr/>
        </p:nvSpPr>
        <p:spPr>
          <a:xfrm>
            <a:off x="5393229" y="1694060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</a:t>
            </a:r>
            <a:r>
              <a:rPr lang="en-US" altLang="zh-CN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经验分库是否在固定用例集上带来可测召回增益？</a:t>
            </a:r>
            <a:br>
              <a:rPr lang="en-US" altLang="zh-CN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 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G2 vs G3 </a:t>
            </a:r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</a:t>
            </a:r>
          </a:p>
        </p:txBody>
      </p:sp>
      <p:sp>
        <p:nvSpPr>
          <p:cNvPr id="56" name="TextBox 11">
            <a:extLst>
              <a:ext uri="{FF2B5EF4-FFF2-40B4-BE49-F238E27FC236}">
                <a16:creationId xmlns:a16="http://schemas.microsoft.com/office/drawing/2014/main" id="{D3375240-BDD4-D6BF-AFCE-ECCA445BB610}"/>
              </a:ext>
            </a:extLst>
          </p:cNvPr>
          <p:cNvSpPr txBox="1"/>
          <p:nvPr/>
        </p:nvSpPr>
        <p:spPr>
          <a:xfrm>
            <a:off x="2859059" y="2765034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2</a:t>
            </a:r>
          </a:p>
        </p:txBody>
      </p:sp>
      <p:sp>
        <p:nvSpPr>
          <p:cNvPr id="58" name="TextBox 12">
            <a:extLst>
              <a:ext uri="{FF2B5EF4-FFF2-40B4-BE49-F238E27FC236}">
                <a16:creationId xmlns:a16="http://schemas.microsoft.com/office/drawing/2014/main" id="{79B808DE-B47B-1660-EEA0-97391D32DEF9}"/>
              </a:ext>
            </a:extLst>
          </p:cNvPr>
          <p:cNvSpPr txBox="1"/>
          <p:nvPr/>
        </p:nvSpPr>
        <p:spPr>
          <a:xfrm>
            <a:off x="3579059" y="2729033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P2 上下文超限</a:t>
            </a: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98D06D4D-23D0-3BF3-85DC-0AB708086CEF}"/>
              </a:ext>
            </a:extLst>
          </p:cNvPr>
          <p:cNvSpPr txBox="1"/>
          <p:nvPr/>
        </p:nvSpPr>
        <p:spPr>
          <a:xfrm>
            <a:off x="5393229" y="2588393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第一场复盘写入能否被第二场召回？</a:t>
            </a:r>
            <a:br>
              <a:rPr lang="en-US" altLang="zh-CN" sz="1600" b="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处理组 </a:t>
            </a:r>
            <a:r>
              <a:rPr lang="en-US" altLang="zh-CN"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0.833 vs </a:t>
            </a:r>
            <a:r>
              <a:rPr lang="zh-CN" altLang="en-US"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 </a:t>
            </a:r>
            <a:r>
              <a:rPr lang="en-US" altLang="zh-CN"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600" b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17">
            <a:extLst>
              <a:ext uri="{FF2B5EF4-FFF2-40B4-BE49-F238E27FC236}">
                <a16:creationId xmlns:a16="http://schemas.microsoft.com/office/drawing/2014/main" id="{903BACBB-4DBE-344B-C7CA-1098394224E8}"/>
              </a:ext>
            </a:extLst>
          </p:cNvPr>
          <p:cNvSpPr txBox="1"/>
          <p:nvPr/>
        </p:nvSpPr>
        <p:spPr>
          <a:xfrm>
            <a:off x="2859059" y="3672233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3</a:t>
            </a:r>
          </a:p>
        </p:txBody>
      </p:sp>
      <p:sp>
        <p:nvSpPr>
          <p:cNvPr id="64" name="TextBox 19">
            <a:extLst>
              <a:ext uri="{FF2B5EF4-FFF2-40B4-BE49-F238E27FC236}">
                <a16:creationId xmlns:a16="http://schemas.microsoft.com/office/drawing/2014/main" id="{61FC6A36-0C48-A38E-AD29-9B72940CE42C}"/>
              </a:ext>
            </a:extLst>
          </p:cNvPr>
          <p:cNvSpPr txBox="1"/>
          <p:nvPr/>
        </p:nvSpPr>
        <p:spPr>
          <a:xfrm>
            <a:off x="5421071" y="3541353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三路融合相对单路是否有增益？</a:t>
            </a:r>
            <a:br>
              <a:rPr lang="en-US" altLang="zh-CN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词袋下召回未胜出，排序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干扰压制更好</a:t>
            </a:r>
          </a:p>
        </p:txBody>
      </p:sp>
      <p:sp>
        <p:nvSpPr>
          <p:cNvPr id="66" name="TextBox 23">
            <a:extLst>
              <a:ext uri="{FF2B5EF4-FFF2-40B4-BE49-F238E27FC236}">
                <a16:creationId xmlns:a16="http://schemas.microsoft.com/office/drawing/2014/main" id="{86A73608-840A-B1C8-8A3F-69E80B0D2224}"/>
              </a:ext>
            </a:extLst>
          </p:cNvPr>
          <p:cNvSpPr txBox="1"/>
          <p:nvPr/>
        </p:nvSpPr>
        <p:spPr>
          <a:xfrm>
            <a:off x="2859059" y="4579434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4</a:t>
            </a:r>
          </a:p>
        </p:txBody>
      </p:sp>
      <p:sp>
        <p:nvSpPr>
          <p:cNvPr id="68" name="TextBox 24">
            <a:extLst>
              <a:ext uri="{FF2B5EF4-FFF2-40B4-BE49-F238E27FC236}">
                <a16:creationId xmlns:a16="http://schemas.microsoft.com/office/drawing/2014/main" id="{7E64591B-DF5D-9095-3E57-C2BE18FD953B}"/>
              </a:ext>
            </a:extLst>
          </p:cNvPr>
          <p:cNvSpPr txBox="1"/>
          <p:nvPr/>
        </p:nvSpPr>
        <p:spPr>
          <a:xfrm>
            <a:off x="3579059" y="4543434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P4 库噪声</a:t>
            </a:r>
          </a:p>
        </p:txBody>
      </p:sp>
      <p:sp>
        <p:nvSpPr>
          <p:cNvPr id="70" name="TextBox 25">
            <a:extLst>
              <a:ext uri="{FF2B5EF4-FFF2-40B4-BE49-F238E27FC236}">
                <a16:creationId xmlns:a16="http://schemas.microsoft.com/office/drawing/2014/main" id="{07BEEE40-70FA-267F-9457-1E9198B48C67}"/>
              </a:ext>
            </a:extLst>
          </p:cNvPr>
          <p:cNvSpPr txBox="1"/>
          <p:nvPr/>
        </p:nvSpPr>
        <p:spPr>
          <a:xfrm>
            <a:off x="5421071" y="4456762"/>
            <a:ext cx="693383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阈值能否滤除负例？</a:t>
            </a:r>
            <a:br>
              <a:rPr lang="en-US" altLang="zh-CN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遗忘是否不误删保护记忆？</a:t>
            </a:r>
          </a:p>
        </p:txBody>
      </p:sp>
      <p:sp>
        <p:nvSpPr>
          <p:cNvPr id="72" name="TextBox 29">
            <a:extLst>
              <a:ext uri="{FF2B5EF4-FFF2-40B4-BE49-F238E27FC236}">
                <a16:creationId xmlns:a16="http://schemas.microsoft.com/office/drawing/2014/main" id="{D9DABA44-20B2-5169-38CE-96E513E692D8}"/>
              </a:ext>
            </a:extLst>
          </p:cNvPr>
          <p:cNvSpPr txBox="1"/>
          <p:nvPr/>
        </p:nvSpPr>
        <p:spPr>
          <a:xfrm>
            <a:off x="2859059" y="5486633"/>
            <a:ext cx="575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rgbClr val="2F6EBA"/>
                </a:solidFill>
                <a:latin typeface="Microsoft YaHei"/>
              </a:rPr>
              <a:t>P</a:t>
            </a:r>
            <a:r>
              <a:rPr sz="2400" b="1">
                <a:solidFill>
                  <a:srgbClr val="2F6EBA"/>
                </a:solidFill>
                <a:latin typeface="Microsoft YaHei"/>
              </a:rPr>
              <a:t>5</a:t>
            </a:r>
          </a:p>
        </p:txBody>
      </p:sp>
      <p:sp>
        <p:nvSpPr>
          <p:cNvPr id="74" name="TextBox 30">
            <a:extLst>
              <a:ext uri="{FF2B5EF4-FFF2-40B4-BE49-F238E27FC236}">
                <a16:creationId xmlns:a16="http://schemas.microsoft.com/office/drawing/2014/main" id="{6C83C2ED-9420-A2F4-A91C-5C716108A635}"/>
              </a:ext>
            </a:extLst>
          </p:cNvPr>
          <p:cNvSpPr txBox="1"/>
          <p:nvPr/>
        </p:nvSpPr>
        <p:spPr>
          <a:xfrm>
            <a:off x="3579059" y="5450634"/>
            <a:ext cx="75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P5 目标检索弱</a:t>
            </a:r>
          </a:p>
        </p:txBody>
      </p:sp>
      <p:sp>
        <p:nvSpPr>
          <p:cNvPr id="76" name="TextBox 31">
            <a:extLst>
              <a:ext uri="{FF2B5EF4-FFF2-40B4-BE49-F238E27FC236}">
                <a16:creationId xmlns:a16="http://schemas.microsoft.com/office/drawing/2014/main" id="{2B188CC7-7D4F-16C2-B3FB-7F5B3A29D578}"/>
              </a:ext>
            </a:extLst>
          </p:cNvPr>
          <p:cNvSpPr txBox="1"/>
          <p:nvPr/>
        </p:nvSpPr>
        <p:spPr>
          <a:xfrm>
            <a:off x="5465353" y="5372310"/>
            <a:ext cx="676596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大模型是否实际引用装载记忆？</a:t>
            </a:r>
            <a:br>
              <a:rPr lang="en-US" altLang="zh-CN" sz="1600">
                <a:solidFill>
                  <a:srgbClr val="555F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T6 </a:t>
            </a:r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引用率 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1.00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8" name="图形 77">
            <a:extLst>
              <a:ext uri="{FF2B5EF4-FFF2-40B4-BE49-F238E27FC236}">
                <a16:creationId xmlns:a16="http://schemas.microsoft.com/office/drawing/2014/main" id="{C1B7AF87-B870-86D1-E579-D15DF7316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48647" y="1698122"/>
            <a:ext cx="2437485" cy="812495"/>
          </a:xfrm>
          <a:prstGeom prst="rect">
            <a:avLst/>
          </a:prstGeom>
        </p:spPr>
      </p:pic>
      <p:pic>
        <p:nvPicPr>
          <p:cNvPr id="80" name="图形 79">
            <a:extLst>
              <a:ext uri="{FF2B5EF4-FFF2-40B4-BE49-F238E27FC236}">
                <a16:creationId xmlns:a16="http://schemas.microsoft.com/office/drawing/2014/main" id="{E95959CB-2E45-D8B6-1D88-1D1A3327D3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48647" y="2615826"/>
            <a:ext cx="2437485" cy="812495"/>
          </a:xfrm>
          <a:prstGeom prst="rect">
            <a:avLst/>
          </a:prstGeom>
        </p:spPr>
      </p:pic>
      <p:pic>
        <p:nvPicPr>
          <p:cNvPr id="82" name="图形 81">
            <a:extLst>
              <a:ext uri="{FF2B5EF4-FFF2-40B4-BE49-F238E27FC236}">
                <a16:creationId xmlns:a16="http://schemas.microsoft.com/office/drawing/2014/main" id="{6E5573FB-E6F5-CCC3-FC55-B3D445959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48647" y="3533530"/>
            <a:ext cx="2437485" cy="812495"/>
          </a:xfrm>
          <a:prstGeom prst="rect">
            <a:avLst/>
          </a:prstGeom>
        </p:spPr>
      </p:pic>
      <p:pic>
        <p:nvPicPr>
          <p:cNvPr id="84" name="图形 83">
            <a:extLst>
              <a:ext uri="{FF2B5EF4-FFF2-40B4-BE49-F238E27FC236}">
                <a16:creationId xmlns:a16="http://schemas.microsoft.com/office/drawing/2014/main" id="{2DD86A09-AE95-2E4F-3E90-BB6E901F6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848647" y="4451234"/>
            <a:ext cx="2437485" cy="812495"/>
          </a:xfrm>
          <a:prstGeom prst="rect">
            <a:avLst/>
          </a:prstGeom>
        </p:spPr>
      </p:pic>
      <p:pic>
        <p:nvPicPr>
          <p:cNvPr id="86" name="图形 85">
            <a:extLst>
              <a:ext uri="{FF2B5EF4-FFF2-40B4-BE49-F238E27FC236}">
                <a16:creationId xmlns:a16="http://schemas.microsoft.com/office/drawing/2014/main" id="{501D8D2C-EBCF-576F-AD4C-53591B40D7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848647" y="5368938"/>
            <a:ext cx="2437485" cy="812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总体思路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0000" y="1655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655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000" y="1800000"/>
            <a:ext cx="731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2000" y="1861202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外部系统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501999"/>
            <a:ext cx="471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F6E"/>
                </a:solidFill>
                <a:latin typeface="Microsoft YaHei"/>
              </a:rPr>
              <a:t>把记忆从上下文窗口搬到独立系统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可写、可检索、可更新、可淘汰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短期管当前场次，长期管跨场次知识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8000" y="1655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28000" y="1655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4000" y="1800000"/>
            <a:ext cx="731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1861202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复盘晋升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501999"/>
            <a:ext cx="471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F6E"/>
                </a:solidFill>
                <a:latin typeface="Microsoft YaHei"/>
              </a:rPr>
              <a:t>短期→长期只留一条写通道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三道门控：复盘驱动、类别判定、语义查重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每次操作进审计日志。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3887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0000" y="3887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6000" y="4031999"/>
            <a:ext cx="731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4093202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建议-执行分离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" y="4733999"/>
            <a:ext cx="471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F6E"/>
                </a:solidFill>
                <a:latin typeface="Microsoft YaHei"/>
              </a:rPr>
              <a:t>LLM/规则只负责提候选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写入、合并、遗忘、抽象由确定性代码执行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保证“为什么删、从哪来”可审计。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00" y="3887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28000" y="3887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4000" y="4031999"/>
            <a:ext cx="731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000" y="4093202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阶段感知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733999"/>
            <a:ext cx="471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F6E"/>
                </a:solidFill>
                <a:latin typeface="Microsoft YaHei"/>
              </a:rPr>
              <a:t>查询按 MDMP 七阶段生成</a:t>
            </a:r>
            <a:br>
              <a:rPr lang="en-US" b="0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复盘教训归因到阶段</a:t>
            </a:r>
            <a:br>
              <a:rPr lang="en-US">
                <a:solidFill>
                  <a:srgbClr val="555F6E"/>
                </a:solidFill>
                <a:latin typeface="Microsoft YaHei"/>
              </a:rPr>
            </a:br>
            <a:r>
              <a:rPr b="0">
                <a:solidFill>
                  <a:srgbClr val="555F6E"/>
                </a:solidFill>
                <a:latin typeface="Microsoft YaHei"/>
              </a:rPr>
              <a:t>让“方案拟制”优先看到历史战例。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相关工作与启发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RELATED WORK &amp; INSPIRATION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上下文组织与工作记忆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综述框架（Zhang 2024）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67200"/>
            <a:ext cx="98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E"/>
                </a:solidFill>
                <a:latin typeface="Microsoft YaHei"/>
              </a:rPr>
              <a:t>把记忆工作归纳为“形式-操作-应用”三层</a:t>
            </a:r>
            <a:br>
              <a:rPr lang="en-US" sz="1600" b="0">
                <a:solidFill>
                  <a:srgbClr val="555F6E"/>
                </a:solidFill>
                <a:latin typeface="Microsoft YaHei"/>
              </a:rPr>
            </a:br>
            <a:r>
              <a:rPr sz="1600" b="0">
                <a:solidFill>
                  <a:srgbClr val="555F6E"/>
                </a:solidFill>
                <a:latin typeface="Microsoft YaHei"/>
              </a:rPr>
              <a:t>本文补齐“写、更新、遗忘”闭环并把每步做成可审计事件。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MemGPT 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301200"/>
            <a:ext cx="98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E"/>
                </a:solidFill>
                <a:latin typeface="Microsoft YaHei"/>
              </a:rPr>
              <a:t>主上下文+外部存档</a:t>
            </a:r>
            <a:br>
              <a:rPr lang="en-US" sz="1600" b="0">
                <a:solidFill>
                  <a:srgbClr val="555F6E"/>
                </a:solidFill>
                <a:latin typeface="Microsoft YaHei"/>
              </a:rPr>
            </a:br>
            <a:r>
              <a:rPr sz="1600" b="0">
                <a:solidFill>
                  <a:srgbClr val="555F6E"/>
                </a:solidFill>
                <a:latin typeface="Microsoft YaHei"/>
              </a:rPr>
              <a:t>本文采用分层，但改成确定性阈值换页（0.7预警/1.0压缩），保证可复现可消融。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SCM 控制器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435199"/>
            <a:ext cx="98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E"/>
                </a:solidFill>
                <a:latin typeface="Microsoft YaHei"/>
              </a:rPr>
              <a:t>显式决定何时读/写/归档</a:t>
            </a:r>
            <a:br>
              <a:rPr lang="en-US" sz="1600" b="0">
                <a:solidFill>
                  <a:srgbClr val="555F6E"/>
                </a:solidFill>
                <a:latin typeface="Microsoft YaHei"/>
              </a:rPr>
            </a:br>
            <a:r>
              <a:rPr sz="1600" b="0">
                <a:solidFill>
                  <a:srgbClr val="555F6E"/>
                </a:solidFill>
                <a:latin typeface="Microsoft YaHei"/>
              </a:rPr>
              <a:t>本文沿用“控制器唯一调度”，但把写长期库收窄为复盘晋升一条通道。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LLMLingua/ICAE 压缩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69200"/>
            <a:ext cx="982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E"/>
                </a:solidFill>
                <a:latin typeface="Microsoft YaHei"/>
              </a:rPr>
              <a:t>借用位置偏置与“只压历史不压约束”，压缩器本身留作后续扩展。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长期存储与检索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69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1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ChatDB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95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数据库即符号记忆 → 只保留属性精确过滤，不实现全量 NL→SQL。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17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124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145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ExpeL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383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经验库+向量召回 → 补齐重要性加权与 SQLite 持久化。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610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255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577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Reflexion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2815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语言反思 → 采用语言形式经验，不采用在线强化。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042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2988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009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MemoryBank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247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艾宾浩斯遗忘+召唤强化 → 增加 importance≥2 保护线。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3474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000" y="3420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3441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Zep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3679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时序知识图谱+溯源 → 采用溯源字段，不采用图存储。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3906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000" y="38519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387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MIRIX/TiM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411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多路策略与显式检索计划 → 压缩为三路融合。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433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记忆进化与设计依据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2000" y="1692000"/>
            <a:ext cx="648000" cy="288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000" y="1782000"/>
            <a:ext cx="531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借鉴 / 启发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16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16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PREMem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37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θ 相似度去重 → 写入前查重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79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79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StructMem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00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跨事件整合 → “抽象”操作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2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342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MemSkill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63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操作类型化 → MemoryOp 枚举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05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05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Mem-α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26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建议-执行分离 → 核心架构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716000"/>
            <a:ext cx="5310000" cy="72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8000" y="1692000"/>
            <a:ext cx="648000" cy="288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8000" y="1782000"/>
            <a:ext cx="531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注意 / 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8000" y="216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000" y="216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不采用完整聚类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6000" y="237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50 条量级收益不明显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8000" y="279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6000" y="279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不采用在线强化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00" y="300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战场奖励信号不稳定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000" y="342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6000" y="342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不采用图存储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6000" y="363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构建纠错成本高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000" y="405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6000" y="405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领域化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6000" y="426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保护线、精确绕过阈值、阶段供给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8000" y="4716000"/>
            <a:ext cx="5310000" cy="72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DESIGN &amp;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四层架构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模型层统一数据对象，能力层分短期/长期/检索/进化，跨切面处理边界与阶段，编排层由控制器与管线调度。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模块解耦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四个能力层互不 import，只通过 schema 对象通信，为独立消融提供物理基础。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唯一写通道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短期→长期只经复盘晋升，经三道边界门，每次判定写入审计日志。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可独立消融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通过依赖注入开关能力，G0-G6 固定用例集验证。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pt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短期工作记忆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槽位保存目标/约束/查询/消息；约束永不压缩，保证规划合规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FIFO 超阈值触发递归摘要，被驱逐消息进入归档区供复盘晋升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渲染顺序刻意使用首尾位置偏置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关键信息放头部，近期消息放尾部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render</a:t>
            </a:r>
            <a:r>
              <a:rPr sz="1100">
                <a:solidFill>
                  <a:srgbClr val="303030"/>
                </a:solidFill>
                <a:latin typeface="Consolas"/>
              </a:rPr>
              <a:t>(slot):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parts = [阶段, 目标, 约束]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slot.loaded_briefs: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parts.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C0504D"/>
                </a:solidFill>
                <a:latin typeface="Consolas"/>
              </a:rPr>
              <a:t>'【装载记忆】'</a:t>
            </a:r>
            <a:r>
              <a:rPr sz="1100">
                <a:solidFill>
                  <a:srgbClr val="303030"/>
                </a:solidFill>
                <a:latin typeface="Consolas"/>
              </a:rPr>
              <a:t> + briefs)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parts.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(查询列表)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parts.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(最新消息[-</a:t>
            </a:r>
            <a:r>
              <a:rPr sz="1100">
                <a:solidFill>
                  <a:srgbClr val="7B4FA6"/>
                </a:solidFill>
                <a:latin typeface="Consolas"/>
              </a:rPr>
              <a:t>20</a:t>
            </a:r>
            <a:r>
              <a:rPr sz="1100">
                <a:solidFill>
                  <a:srgbClr val="303030"/>
                </a:solidFill>
                <a:latin typeface="Consolas"/>
              </a:rPr>
              <a:t>:])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return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'\n'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join</a:t>
            </a:r>
            <a:r>
              <a:rPr sz="1100">
                <a:solidFill>
                  <a:srgbClr val="303030"/>
                </a:solidFill>
                <a:latin typeface="Consolas"/>
              </a:rPr>
              <a:t>(parts)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303030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flush</a:t>
            </a:r>
            <a:r>
              <a:rPr sz="1100">
                <a:solidFill>
                  <a:srgbClr val="303030"/>
                </a:solidFill>
                <a:latin typeface="Consolas"/>
              </a:rPr>
              <a:t>(slot, llm):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evicted = slot.fifo.</a:t>
            </a:r>
            <a:r>
              <a:rPr sz="1100" b="1">
                <a:solidFill>
                  <a:srgbClr val="2F6EBA"/>
                </a:solidFill>
                <a:latin typeface="Consolas"/>
              </a:rPr>
              <a:t>pop</a:t>
            </a:r>
            <a:r>
              <a:rPr sz="1100">
                <a:solidFill>
                  <a:srgbClr val="303030"/>
                </a:solidFill>
                <a:latin typeface="Consolas"/>
              </a:rPr>
              <a:t>(前半)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slot.summary = llm.</a:t>
            </a:r>
            <a:r>
              <a:rPr sz="1100" b="1">
                <a:solidFill>
                  <a:srgbClr val="2F6EBA"/>
                </a:solidFill>
                <a:latin typeface="Consolas"/>
              </a:rPr>
              <a:t>summarize</a:t>
            </a:r>
            <a:r>
              <a:rPr sz="1100">
                <a:solidFill>
                  <a:srgbClr val="303030"/>
                </a:solidFill>
                <a:latin typeface="Consolas"/>
              </a:rPr>
              <a:t>(旧摘要 + evicted)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slot.archived.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(evicted)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长期双库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事实库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SQLite+属性精确；经验库：向量语义召回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attrs 精确命中绕过 min_score——查询方显式指定条件即构造性相关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接口示例与融合策略如下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hits_exact = factual.</a:t>
            </a:r>
            <a:r>
              <a:rPr sz="1100" b="1">
                <a:solidFill>
                  <a:srgbClr val="2F6EBA"/>
                </a:solidFill>
                <a:latin typeface="Consolas"/>
              </a:rPr>
              <a:t>search_attrs</a:t>
            </a:r>
            <a:r>
              <a:rPr sz="1100">
                <a:solidFill>
                  <a:srgbClr val="303030"/>
                </a:solidFill>
                <a:latin typeface="Consolas"/>
              </a:rPr>
              <a:t>({</a:t>
            </a:r>
            <a:r>
              <a:rPr sz="1100">
                <a:solidFill>
                  <a:srgbClr val="C0504D"/>
                </a:solidFill>
                <a:latin typeface="Consolas"/>
              </a:rPr>
              <a:t>'装备'</a:t>
            </a:r>
            <a:r>
              <a:rPr sz="1100">
                <a:solidFill>
                  <a:srgbClr val="303030"/>
                </a:solidFill>
                <a:latin typeface="Consolas"/>
              </a:rPr>
              <a:t>: </a:t>
            </a:r>
            <a:r>
              <a:rPr sz="1100">
                <a:solidFill>
                  <a:srgbClr val="C0504D"/>
                </a:solidFill>
                <a:latin typeface="Consolas"/>
              </a:rPr>
              <a:t>'T-90'</a:t>
            </a:r>
            <a:r>
              <a:rPr sz="1100">
                <a:solidFill>
                  <a:srgbClr val="303030"/>
                </a:solidFill>
                <a:latin typeface="Consolas"/>
              </a:rPr>
              <a:t>})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hits_sem = experiential.</a:t>
            </a:r>
            <a:r>
              <a:rPr sz="1100" b="1">
                <a:solidFill>
                  <a:srgbClr val="2F6EBA"/>
                </a:solidFill>
                <a:latin typeface="Consolas"/>
              </a:rPr>
              <a:t>search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C0504D"/>
                </a:solidFill>
                <a:latin typeface="Consolas"/>
              </a:rPr>
              <a:t>'夜战侦察教训'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融合时：attrs 命中即相关，不参与相似度阈值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混合检索：三路融合 + 单路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vector/BM25/SQL 三路；hybrid 加权累加，single 供消融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归一化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向量余弦、BM25 查询自匹配上界、SQL 恒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s_hybrid = Σ w_r·n_r(id)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retrieve</a:t>
            </a:r>
            <a:r>
              <a:rPr sz="1100">
                <a:solidFill>
                  <a:srgbClr val="303030"/>
                </a:solidFill>
                <a:latin typeface="Consolas"/>
              </a:rPr>
              <a:t>(q, mode=</a:t>
            </a:r>
            <a:r>
              <a:rPr sz="1100">
                <a:solidFill>
                  <a:srgbClr val="C0504D"/>
                </a:solidFill>
                <a:latin typeface="Consolas"/>
              </a:rPr>
              <a:t>'hybrid'</a:t>
            </a:r>
            <a:r>
              <a:rPr sz="1100">
                <a:solidFill>
                  <a:srgbClr val="303030"/>
                </a:solidFill>
                <a:latin typeface="Consolas"/>
              </a:rPr>
              <a:t>, top_k=</a:t>
            </a:r>
            <a:r>
              <a:rPr sz="1100">
                <a:solidFill>
                  <a:srgbClr val="7B4FA6"/>
                </a:solidFill>
                <a:latin typeface="Consolas"/>
              </a:rPr>
              <a:t>5</a:t>
            </a:r>
            <a:r>
              <a:rPr sz="1100">
                <a:solidFill>
                  <a:srgbClr val="303030"/>
                </a:solidFill>
                <a:latin typeface="Consolas"/>
              </a:rPr>
              <a:t>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pool = [</a:t>
            </a:r>
            <a:r>
              <a:rPr sz="1100" b="1">
                <a:solidFill>
                  <a:srgbClr val="2F6EBA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(q, q.route)]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mode == </a:t>
            </a:r>
            <a:r>
              <a:rPr sz="1100">
                <a:solidFill>
                  <a:srgbClr val="C0504D"/>
                </a:solidFill>
                <a:latin typeface="Consolas"/>
              </a:rPr>
              <a:t>'hybrid'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pool += [</a:t>
            </a:r>
            <a:r>
              <a:rPr sz="1100" b="1">
                <a:solidFill>
                  <a:srgbClr val="2F6EBA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(q, alt)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alt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routes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alt != q.route]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pool = [</a:t>
            </a:r>
            <a:r>
              <a:rPr sz="1100" b="1">
                <a:solidFill>
                  <a:srgbClr val="2F6EBA"/>
                </a:solidFill>
                <a:latin typeface="Consolas"/>
              </a:rPr>
              <a:t>normalize</a:t>
            </a:r>
            <a:r>
              <a:rPr sz="1100">
                <a:solidFill>
                  <a:srgbClr val="303030"/>
                </a:solidFill>
                <a:latin typeface="Consolas"/>
              </a:rPr>
              <a:t>(r)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r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pool]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fused = </a:t>
            </a:r>
            <a:r>
              <a:rPr sz="1100" b="1">
                <a:solidFill>
                  <a:srgbClr val="2F6EBA"/>
                </a:solidFill>
                <a:latin typeface="Consolas"/>
              </a:rPr>
              <a:t>aggregate_by_id</a:t>
            </a:r>
            <a:r>
              <a:rPr sz="1100">
                <a:solidFill>
                  <a:srgbClr val="303030"/>
                </a:solidFill>
                <a:latin typeface="Consolas"/>
              </a:rPr>
              <a:t>(pool, weights)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q.stage: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fused = </a:t>
            </a:r>
            <a:r>
              <a:rPr sz="1100" b="1">
                <a:solidFill>
                  <a:srgbClr val="2F6EBA"/>
                </a:solidFill>
                <a:latin typeface="Consolas"/>
              </a:rPr>
              <a:t>add_stage_bonus</a:t>
            </a:r>
            <a:r>
              <a:rPr sz="1100">
                <a:solidFill>
                  <a:srgbClr val="303030"/>
                </a:solidFill>
                <a:latin typeface="Consolas"/>
              </a:rPr>
              <a:t>(fused, q.stage)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ranked = [x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x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sorted</a:t>
            </a:r>
            <a:r>
              <a:rPr sz="1100">
                <a:solidFill>
                  <a:srgbClr val="303030"/>
                </a:solidFill>
                <a:latin typeface="Consolas"/>
              </a:rPr>
              <a:t>(fused, reverse=</a:t>
            </a:r>
            <a:r>
              <a:rPr sz="1100" b="1">
                <a:solidFill>
                  <a:srgbClr val="1F3A68"/>
                </a:solidFill>
                <a:latin typeface="Consolas"/>
              </a:rPr>
              <a:t>True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x.score &gt;= min_score][:top_k]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r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ranked: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r.entry.</a:t>
            </a:r>
            <a:r>
              <a:rPr sz="1100" b="1">
                <a:solidFill>
                  <a:srgbClr val="2F6EBA"/>
                </a:solidFill>
                <a:latin typeface="Consolas"/>
              </a:rPr>
              <a:t>mark_recalled</a:t>
            </a:r>
            <a:r>
              <a:rPr sz="1100">
                <a:solidFill>
                  <a:srgbClr val="303030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return</a:t>
            </a:r>
            <a:r>
              <a:rPr sz="1100">
                <a:solidFill>
                  <a:srgbClr val="303030"/>
                </a:solidFill>
                <a:latin typeface="Consolas"/>
              </a:rPr>
              <a:t> ranked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记忆进化：写/合/忘/抽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建议-执行分离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LLM 提候选，确定性代码执行写/合/忘/抽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R=e^{-t/S}，命中 S+1；importance≥2 保护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同场新经验≥2 条触发抽象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evolve_from_review</a:t>
            </a:r>
            <a:r>
              <a:rPr sz="1100">
                <a:solidFill>
                  <a:srgbClr val="303030"/>
                </a:solidFill>
                <a:latin typeface="Consolas"/>
              </a:rPr>
              <a:t>(review, session_id):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ops = llm.</a:t>
            </a:r>
            <a:r>
              <a:rPr sz="1100" b="1">
                <a:solidFill>
                  <a:srgbClr val="2F6EBA"/>
                </a:solidFill>
                <a:latin typeface="Consolas"/>
              </a:rPr>
              <a:t>extract_memory_ops</a:t>
            </a:r>
            <a:r>
              <a:rPr sz="1100">
                <a:solidFill>
                  <a:srgbClr val="303030"/>
                </a:solidFill>
                <a:latin typeface="Consolas"/>
              </a:rPr>
              <a:t>(review)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op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ops: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not</a:t>
            </a:r>
            <a:r>
              <a:rPr sz="1100">
                <a:solidFill>
                  <a:srgbClr val="303030"/>
                </a:solidFill>
                <a:latin typeface="Consolas"/>
              </a:rPr>
              <a:t> boundary.</a:t>
            </a:r>
            <a:r>
              <a:rPr sz="1100" b="1">
                <a:solidFill>
                  <a:srgbClr val="2F6EBA"/>
                </a:solidFill>
                <a:latin typeface="Consolas"/>
              </a:rPr>
              <a:t>promote</a:t>
            </a:r>
            <a:r>
              <a:rPr sz="1100">
                <a:solidFill>
                  <a:srgbClr val="303030"/>
                </a:solidFill>
                <a:latin typeface="Consolas"/>
              </a:rPr>
              <a:t>(op.content):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continue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write</a:t>
            </a:r>
            <a:r>
              <a:rPr sz="1100">
                <a:solidFill>
                  <a:srgbClr val="303030"/>
                </a:solidFill>
                <a:latin typeface="Consolas"/>
              </a:rPr>
              <a:t>(op) is </a:t>
            </a:r>
            <a:r>
              <a:rPr sz="1100" b="1">
                <a:solidFill>
                  <a:srgbClr val="1F3A68"/>
                </a:solidFill>
                <a:latin typeface="Consolas"/>
              </a:rPr>
              <a:t>None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skipped +=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merge_new_entries</a:t>
            </a:r>
            <a:r>
              <a:rPr sz="1100">
                <a:solidFill>
                  <a:srgbClr val="303030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forget</a:t>
            </a:r>
            <a:r>
              <a:rPr sz="1100">
                <a:solidFill>
                  <a:srgbClr val="303030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len</a:t>
            </a:r>
            <a:r>
              <a:rPr sz="1100">
                <a:solidFill>
                  <a:srgbClr val="303030"/>
                </a:solidFill>
                <a:latin typeface="Consolas"/>
              </a:rPr>
              <a:t>(new_experiences) &gt;= </a:t>
            </a:r>
            <a:r>
              <a:rPr sz="1100">
                <a:solidFill>
                  <a:srgbClr val="7B4FA6"/>
                </a:solidFill>
                <a:latin typeface="Consolas"/>
              </a:rPr>
              <a:t>2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abstract</a:t>
            </a:r>
            <a:r>
              <a:rPr sz="1100">
                <a:solidFill>
                  <a:srgbClr val="303030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303030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遗忘核心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R = </a:t>
            </a:r>
            <a:r>
              <a:rPr sz="1100" b="1">
                <a:solidFill>
                  <a:srgbClr val="2F6EBA"/>
                </a:solidFill>
                <a:latin typeface="Consolas"/>
              </a:rPr>
              <a:t>exp</a:t>
            </a:r>
            <a:r>
              <a:rPr sz="1100">
                <a:solidFill>
                  <a:srgbClr val="303030"/>
                </a:solidFill>
                <a:latin typeface="Consolas"/>
              </a:rPr>
              <a:t>(-t / </a:t>
            </a:r>
            <a:r>
              <a:rPr sz="1100" b="1">
                <a:solidFill>
                  <a:srgbClr val="2F6EBA"/>
                </a:solidFill>
                <a:latin typeface="Consolas"/>
              </a:rPr>
              <a:t>max</a:t>
            </a:r>
            <a:r>
              <a:rPr sz="1100">
                <a:solidFill>
                  <a:srgbClr val="303030"/>
                </a:solidFill>
                <a:latin typeface="Consolas"/>
              </a:rPr>
              <a:t>(S,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  <a:r>
              <a:rPr sz="1100">
                <a:solidFill>
                  <a:srgbClr val="303030"/>
                </a:solidFill>
                <a:latin typeface="Consolas"/>
              </a:rPr>
              <a:t>e-</a:t>
            </a:r>
            <a:r>
              <a:rPr sz="1100">
                <a:solidFill>
                  <a:srgbClr val="7B4FA6"/>
                </a:solidFill>
                <a:latin typeface="Consolas"/>
              </a:rPr>
              <a:t>6</a:t>
            </a:r>
            <a:r>
              <a:rPr sz="1100">
                <a:solidFill>
                  <a:srgbClr val="303030"/>
                </a:solidFill>
                <a:latin typeface="Consolas"/>
              </a:rPr>
              <a:t>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命中强化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S +=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  <a:r>
              <a:rPr sz="1100">
                <a:solidFill>
                  <a:srgbClr val="303030"/>
                </a:solidFill>
                <a:latin typeface="Consolas"/>
              </a:rPr>
              <a:t>; t 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边界门控与阶段感知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复盘驱动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只有场次复盘文本才能触发晋升，流水账被挡在门外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类别判定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事实/经验分别进入对应存储，避免类型混乱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语义查重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写入前 θ 余弦去重，重复经验不重复入库；每次判定写审计日志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阶段感知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查询按 MDMP 七阶段生成，阶段匹配记忆加亲和分，复盘教训归因到阶段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WebUI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三栏页签化布局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左输入/中运行/右产出，长内容折叠为页签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记忆详情抽屉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总览/单条历史/遗忘日志，支持点击展开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R=e^{-t/S} 与‘立即召回 S+1’对比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战役进度条、库健康度分布条、事件流点击展开详情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pt_web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实验设计与验证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EXPERIMENTS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数据集与评估协议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实验目标与 RQ 对应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围绕 RQ1-RQ5 设计五组实验；每组独立 controller，避免跨组污染；固定 44 条检索用例，H 类 6 条单独跑跨场次流程。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测试集构建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自建 50 条 8 类（A-H），覆盖属性/事实/经验/词法/负例/干扰/阶段/跨场次；查询与答案刻意避免关键词共现，负例只测噪声。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对照与开关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G0-G6 通过依赖注入开关能力（空经验库/空检索器），不删减用例；跨场次 gold 在运行期解析，避免种子记忆被误当沉淀。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指标与统计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检索层 hit@3/5、MRR、NDCG；任务层 引用率/约束满足/噪声污染；统计用随机基线、bootstrap CI、配对置换检验，种子固定 42。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双库贡献（RQ1）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2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G3 双库全开 hit@5（G2 为 0.341）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1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1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p=0.0001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配对置换检验（n=44）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0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随机基线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9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9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0.625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9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C 类转述命中（词袋局限）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59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56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实验设计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87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G2 仅事实库 vs G3 双库全开，44 条固定检索用例，依赖注入开关经验库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435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000" y="455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452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置信区间与分类别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483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G3 CI=[0.500,0.773] 与 G2 CI=[0.205,0.477] 不重叠；增益来自经验类，事实类不降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531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000" y="551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548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解读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579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分层不是冗余，经验库是经验查询的必要条件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627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Microsoft YaHei"/>
              </a:rPr>
              <a:t>跨场次与检索策略（RQ2/RQ3）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RQ2 实验设计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第一场先跑复盘，把‘教训/经验’写入经验库；第二场用相关查询检索，gold 为运行期写入条目；对照不写第一场；另设负控（渡河教训 vs 巷战查询）。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RQ2 结果与解释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处理组 hit@5=0.833、对照 0、负控 0；p=0.059 但 n=6 样本有限，只能算方向性证据——机制路径完整，需要扩容到 20 条再下结论。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RQ3 实验设计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同一批检索用例分别跑 hybrid 与 vector/bm25/sql 单路；权重变体（α.7 等）做敏感性；指标含 hit@5、MRR、干扰压制。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RQ3 结果与解释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词袋下 hybrid 0.857 未超 vector 0.929；但干扰压制 1.0 优于单路 ≤0.875；结论：混合的价值在排序，召回增益需真向量复测。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Microsoft YaHei"/>
              </a:rPr>
              <a:t>滤噪、遗忘与真实模型（RQ4/RQ5）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2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负例返回率（min_score=0.16）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1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1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遗忘误删（保护线有效）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0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DeepSeek 引用率（20/20）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9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9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0.857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9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正例 hit@5 保持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59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56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滤噪实验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87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E 扫描 0.05/0.10/0.16/0.25，0.16 为当前网格拐点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435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000" y="455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452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遗忘实验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483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合成老化 30 天 forget，未保护删 10/10，保护/新写 0；S+1 显著延长寿命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531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000" y="551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548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真模型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579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20/20 通过，T6 引用 1.00、约束 1.00；限定词袋/单次，示范性证据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627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智戎接入与总结展望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INTEGRATION &amp; OUTLOOK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05 · 智戎接入与总结展望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智戎事件驱动适配（P0 落地）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hook_evolve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不依赖‘场次结束’，可随时触发进化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结构化反馈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AFSIM 数值/事件转复盘文本，失败补‘教训’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normalize_task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结构化任务 → goal/constraints/queries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domain_check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领域巡检 + min_score 建议，等待真实数据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pt_zhir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05 · 智戎接入与总结展望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2000" y="1728000"/>
            <a:ext cx="4914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17351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结  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088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2095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分层有效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6000" y="2311200"/>
            <a:ext cx="4338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结构层结论在词袋固定设置下稳定，双库 p=0.0001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4103999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6000" y="4111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真模型可用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4327199"/>
            <a:ext cx="4338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DeepSeek 引用率 1.00，检索-生成链路打通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8000" y="1728000"/>
            <a:ext cx="4914000" cy="19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6000" y="17351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8000" y="2088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2000" y="2095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真向量复测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2000" y="2311200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重跑消融并重标定 min_score/θ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8000" y="3240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000" y="3247200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数据扩容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2000" y="3463199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H 类扩至 20 条，让 p 值有意义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8000" y="4392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2000" y="4399200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机制补全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2000" y="4615199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知识锚定、冲突仲裁、软删除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8000" y="5543999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000" y="5551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智戎联调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2000" y="5767200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真实链路与领域巡检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6000" y="1771200"/>
            <a:ext cx="3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8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44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44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0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80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984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984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0000" y="2592000"/>
            <a:ext cx="1000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</a:rPr>
              <a:t>感谢聆听 · 欢迎交流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4104000"/>
            <a:ext cx="100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7D3E8"/>
                </a:solidFill>
                <a:latin typeface="Microsoft YaHei"/>
              </a:rPr>
              <a:t>国防科技大学 · 课题3 · 长短期记忆系统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3294</Words>
  <Application>Microsoft Office PowerPoint</Application>
  <PresentationFormat>自定义</PresentationFormat>
  <Paragraphs>504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Microsoft YaHei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应昱成</dc:creator>
  <cp:keywords/>
  <dc:description>generated using python-pptx</dc:description>
  <cp:lastModifiedBy>昱成 应</cp:lastModifiedBy>
  <cp:revision>7</cp:revision>
  <dcterms:created xsi:type="dcterms:W3CDTF">2013-01-27T09:14:16Z</dcterms:created>
  <dcterms:modified xsi:type="dcterms:W3CDTF">2026-09-19T04:16:20Z</dcterms:modified>
  <cp:category/>
</cp:coreProperties>
</file>