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2.svg" ContentType="image/svg+xml"/>
  <Override PartName="/ppt/media/image103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6.svg" ContentType="image/svg+xml"/>
  <Override PartName="/ppt/media/image28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99"/>
  </p:handoutMasterIdLst>
  <p:sldIdLst>
    <p:sldId id="256" r:id="rId3"/>
    <p:sldId id="402" r:id="rId4"/>
    <p:sldId id="480" r:id="rId5"/>
    <p:sldId id="376" r:id="rId7"/>
    <p:sldId id="451" r:id="rId8"/>
    <p:sldId id="452" r:id="rId9"/>
    <p:sldId id="515" r:id="rId10"/>
    <p:sldId id="457" r:id="rId11"/>
    <p:sldId id="454" r:id="rId12"/>
    <p:sldId id="459" r:id="rId13"/>
    <p:sldId id="460" r:id="rId14"/>
    <p:sldId id="461" r:id="rId15"/>
    <p:sldId id="462" r:id="rId16"/>
    <p:sldId id="463" r:id="rId17"/>
    <p:sldId id="493" r:id="rId18"/>
    <p:sldId id="464" r:id="rId19"/>
    <p:sldId id="465" r:id="rId20"/>
    <p:sldId id="507" r:id="rId21"/>
    <p:sldId id="514" r:id="rId22"/>
    <p:sldId id="509" r:id="rId23"/>
    <p:sldId id="466" r:id="rId24"/>
    <p:sldId id="483" r:id="rId25"/>
    <p:sldId id="484" r:id="rId26"/>
    <p:sldId id="467" r:id="rId27"/>
    <p:sldId id="490" r:id="rId28"/>
    <p:sldId id="489" r:id="rId29"/>
    <p:sldId id="468" r:id="rId30"/>
    <p:sldId id="487" r:id="rId31"/>
    <p:sldId id="491" r:id="rId32"/>
    <p:sldId id="488" r:id="rId33"/>
    <p:sldId id="492" r:id="rId34"/>
    <p:sldId id="416" r:id="rId35"/>
    <p:sldId id="417" r:id="rId36"/>
    <p:sldId id="258" r:id="rId37"/>
    <p:sldId id="418" r:id="rId38"/>
    <p:sldId id="419" r:id="rId39"/>
    <p:sldId id="420" r:id="rId40"/>
    <p:sldId id="421" r:id="rId41"/>
    <p:sldId id="422" r:id="rId42"/>
    <p:sldId id="423" r:id="rId43"/>
    <p:sldId id="424" r:id="rId44"/>
    <p:sldId id="425" r:id="rId45"/>
    <p:sldId id="436" r:id="rId46"/>
    <p:sldId id="437" r:id="rId47"/>
    <p:sldId id="517" r:id="rId48"/>
    <p:sldId id="518" r:id="rId49"/>
    <p:sldId id="519" r:id="rId50"/>
    <p:sldId id="520" r:id="rId51"/>
    <p:sldId id="449" r:id="rId52"/>
    <p:sldId id="522" r:id="rId53"/>
    <p:sldId id="521" r:id="rId54"/>
    <p:sldId id="441" r:id="rId55"/>
    <p:sldId id="442" r:id="rId56"/>
    <p:sldId id="426" r:id="rId57"/>
    <p:sldId id="427" r:id="rId58"/>
    <p:sldId id="428" r:id="rId59"/>
    <p:sldId id="429" r:id="rId60"/>
    <p:sldId id="430" r:id="rId61"/>
    <p:sldId id="431" r:id="rId62"/>
    <p:sldId id="432" r:id="rId63"/>
    <p:sldId id="433" r:id="rId64"/>
    <p:sldId id="438" r:id="rId65"/>
    <p:sldId id="439" r:id="rId66"/>
    <p:sldId id="523" r:id="rId67"/>
    <p:sldId id="303" r:id="rId68"/>
    <p:sldId id="309" r:id="rId69"/>
    <p:sldId id="310" r:id="rId70"/>
    <p:sldId id="512" r:id="rId71"/>
    <p:sldId id="513" r:id="rId72"/>
    <p:sldId id="524" r:id="rId73"/>
    <p:sldId id="440" r:id="rId74"/>
    <p:sldId id="373" r:id="rId75"/>
    <p:sldId id="411" r:id="rId76"/>
    <p:sldId id="495" r:id="rId77"/>
    <p:sldId id="500" r:id="rId78"/>
    <p:sldId id="542" r:id="rId79"/>
    <p:sldId id="548" r:id="rId80"/>
    <p:sldId id="545" r:id="rId81"/>
    <p:sldId id="541" r:id="rId82"/>
    <p:sldId id="546" r:id="rId83"/>
    <p:sldId id="540" r:id="rId84"/>
    <p:sldId id="410" r:id="rId85"/>
    <p:sldId id="471" r:id="rId86"/>
    <p:sldId id="412" r:id="rId87"/>
    <p:sldId id="549" r:id="rId88"/>
    <p:sldId id="502" r:id="rId89"/>
    <p:sldId id="534" r:id="rId90"/>
    <p:sldId id="535" r:id="rId91"/>
    <p:sldId id="536" r:id="rId92"/>
    <p:sldId id="525" r:id="rId93"/>
    <p:sldId id="532" r:id="rId94"/>
    <p:sldId id="372" r:id="rId95"/>
    <p:sldId id="415" r:id="rId96"/>
    <p:sldId id="370" r:id="rId97"/>
    <p:sldId id="506" r:id="rId98"/>
  </p:sldIdLst>
  <p:sldSz cx="9144000" cy="5143500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34" userDrawn="1">
          <p15:clr>
            <a:srgbClr val="A4A3A4"/>
          </p15:clr>
        </p15:guide>
        <p15:guide id="2" pos="21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34"/>
        <p:guide pos="21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handoutMaster" Target="handoutMasters/handoutMaster1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2" Type="http://schemas.openxmlformats.org/officeDocument/2006/relationships/tableStyles" Target="tableStyles.xml"/><Relationship Id="rId101" Type="http://schemas.openxmlformats.org/officeDocument/2006/relationships/viewProps" Target="viewProps.xml"/><Relationship Id="rId100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3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3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2748056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3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2748056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228034" y="361652"/>
            <a:ext cx="1735931" cy="97646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1392362"/>
            <a:ext cx="9753600" cy="113920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2748056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2748056"/>
            <a:ext cx="5283200" cy="1451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大模型生成内容最受诟病的问题之一就是</a:t>
            </a:r>
            <a:r>
              <a:rPr lang="en-US" altLang="zh-CN"/>
              <a:t>“</a:t>
            </a:r>
            <a:r>
              <a:rPr lang="zh-CN" altLang="en-US"/>
              <a:t>幻觉</a:t>
            </a:r>
            <a:r>
              <a:rPr lang="en-US" altLang="zh-CN"/>
              <a:t>”</a:t>
            </a:r>
            <a:r>
              <a:rPr lang="zh-CN" altLang="en-US"/>
              <a:t>，凭空编造假信息会直接给指挥决策带来致命风险，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大模型生成内容最受诟病的问题之一就是</a:t>
            </a:r>
            <a:r>
              <a:rPr lang="en-US" altLang="zh-CN"/>
              <a:t>“</a:t>
            </a:r>
            <a:r>
              <a:rPr lang="zh-CN" altLang="en-US"/>
              <a:t>幻觉</a:t>
            </a:r>
            <a:r>
              <a:rPr lang="en-US" altLang="zh-CN"/>
              <a:t>”</a:t>
            </a:r>
            <a:r>
              <a:rPr lang="zh-CN" altLang="en-US"/>
              <a:t>，凭空编造假信息会直接给指挥决策带来致命风险，检索增强生成技术刚好解决这个痛点。</a:t>
            </a:r>
            <a:r>
              <a:rPr lang="en-US" altLang="zh-CN"/>
              <a:t>
</a:t>
            </a:r>
            <a:r>
              <a:rPr lang="zh-CN" altLang="en-US"/>
              <a:t>它依托真实知识库生成内容，从源头守住信息可靠性的底线。基础大模型本身不用频繁改动，只需要灵活更新外部知识库就能完成知识迭代，实现知识的动态刷新。</a:t>
            </a:r>
            <a:r>
              <a:rPr lang="en-US" altLang="zh-CN"/>
              <a:t>
</a:t>
            </a:r>
            <a:r>
              <a:rPr lang="zh-CN" altLang="en-US"/>
              <a:t>生成的每一个决策结论都能直接溯源到原始情报，大幅提升推理过程的可信度。对比从头微调大模型的方案，它的算力开销更小，实施周期更短，整体落地成本也更低，是非常适合落地指挥决策场景的技术方案。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首次提出**检索增强生成 </a:t>
            </a:r>
            <a:r>
              <a:rPr lang="en-US" altLang="zh-CN"/>
              <a:t>RAG**</a:t>
            </a:r>
            <a:r>
              <a:rPr lang="zh-CN" altLang="en-US"/>
              <a:t>范式，把**参数化记忆（预训练大生成模型）**和**非参数化记忆（外部检索文档库）**结合，解决纯参数大模型知识固化、易幻觉、知识难更新的痛点。</a:t>
            </a:r>
            <a:endParaRPr lang="zh-CN" altLang="en-US"/>
          </a:p>
          <a:p>
            <a:r>
              <a:rPr lang="zh-CN" altLang="en-US"/>
              <a:t>首次提出 </a:t>
            </a:r>
            <a:r>
              <a:rPr lang="en-US" altLang="zh-CN"/>
              <a:t>RAG </a:t>
            </a:r>
            <a:r>
              <a:rPr lang="zh-CN" altLang="en-US"/>
              <a:t>检索增强生成范式，融合参数化模型记忆与非参数化外部文档库，来缓解纯大模型幻觉、知识固化难更新的问题。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预训练语言模型将知识存储在模型参数（参数化记忆），但存在显著缺陷：知识更新困难、输出容易幻觉、无法溯源事实依据。</a:t>
            </a:r>
            <a:endParaRPr lang="zh-CN" altLang="en-US"/>
          </a:p>
          <a:p>
            <a:r>
              <a:rPr lang="zh-CN" altLang="en-US"/>
              <a:t>2. 此前 </a:t>
            </a:r>
            <a:r>
              <a:rPr lang="en-US" altLang="zh-CN"/>
              <a:t>REALM、ORQA </a:t>
            </a:r>
            <a:r>
              <a:rPr lang="zh-CN" altLang="en-US"/>
              <a:t>等检索 + 模型方案，仅局限于**抽取式问答**，没有面向通用生成 </a:t>
            </a:r>
            <a:r>
              <a:rPr lang="en-US" altLang="zh-CN"/>
              <a:t>seq2seq </a:t>
            </a:r>
            <a:r>
              <a:rPr lang="zh-CN" altLang="en-US"/>
              <a:t>任务。</a:t>
            </a:r>
            <a:endParaRPr lang="zh-CN" altLang="en-US"/>
          </a:p>
          <a:p>
            <a:r>
              <a:rPr lang="zh-CN" altLang="en-US"/>
              <a:t>3. 本文目标：提出通用微调框架 </a:t>
            </a:r>
            <a:r>
              <a:rPr lang="en-US" altLang="zh-CN"/>
              <a:t>RAG，</a:t>
            </a:r>
            <a:r>
              <a:rPr lang="zh-CN" altLang="en-US"/>
              <a:t>把检索能力接入预训练 </a:t>
            </a:r>
            <a:r>
              <a:rPr lang="en-US" altLang="zh-CN"/>
              <a:t>seq2seq </a:t>
            </a:r>
            <a:r>
              <a:rPr lang="zh-CN" altLang="en-US"/>
              <a:t>模型，适配各类知识密集 </a:t>
            </a:r>
            <a:r>
              <a:rPr lang="en-US" altLang="zh-CN"/>
              <a:t>NLP </a:t>
            </a:r>
            <a:r>
              <a:rPr lang="zh-CN" altLang="en-US"/>
              <a:t>任务。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核心方法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RAG </a:t>
            </a:r>
            <a:r>
              <a:rPr lang="zh-CN" altLang="en-US"/>
              <a:t>由两大组件构成：**检索器 </a:t>
            </a:r>
            <a:r>
              <a:rPr lang="en-US" altLang="zh-CN"/>
              <a:t>Retriever** + **</a:t>
            </a:r>
            <a:r>
              <a:rPr lang="zh-CN" altLang="en-US"/>
              <a:t>生成器 </a:t>
            </a:r>
            <a:r>
              <a:rPr lang="en-US" altLang="zh-CN"/>
              <a:t>Generator**，</a:t>
            </a:r>
            <a:r>
              <a:rPr lang="zh-CN" altLang="en-US"/>
              <a:t>将检索文档视作隐变量做端到端微调，文档编码器冻结，只微调查询编码器与生成器。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**检索器（</a:t>
            </a:r>
            <a:r>
              <a:rPr lang="en-US" altLang="zh-CN"/>
              <a:t>DPR </a:t>
            </a:r>
            <a:r>
              <a:rPr lang="zh-CN" altLang="en-US"/>
              <a:t>双编码器）**</a:t>
            </a:r>
            <a:endParaRPr lang="zh-CN" altLang="en-US"/>
          </a:p>
          <a:p>
            <a:r>
              <a:rPr lang="zh-CN" altLang="en-US"/>
              <a:t>   - 基于 </a:t>
            </a:r>
            <a:r>
              <a:rPr lang="en-US" altLang="zh-CN"/>
              <a:t>BERT </a:t>
            </a:r>
            <a:r>
              <a:rPr lang="zh-CN" altLang="en-US"/>
              <a:t>的双编码器：查询编码器把问题编码向量，文档编码器把文档块编码向量；通过内积相似度召回 </a:t>
            </a:r>
            <a:r>
              <a:rPr lang="en-US" altLang="zh-CN"/>
              <a:t>Top‑K </a:t>
            </a:r>
            <a:r>
              <a:rPr lang="zh-CN" altLang="en-US"/>
              <a:t>文档，使用 </a:t>
            </a:r>
            <a:r>
              <a:rPr lang="en-US" altLang="zh-CN"/>
              <a:t>FAISS </a:t>
            </a:r>
            <a:r>
              <a:rPr lang="zh-CN" altLang="en-US"/>
              <a:t>做 </a:t>
            </a:r>
            <a:r>
              <a:rPr lang="en-US" altLang="zh-CN"/>
              <a:t>MIPS </a:t>
            </a:r>
            <a:r>
              <a:rPr lang="zh-CN" altLang="en-US"/>
              <a:t>快速近邻检索。</a:t>
            </a:r>
            <a:endParaRPr lang="zh-CN" altLang="en-US"/>
          </a:p>
          <a:p>
            <a:r>
              <a:rPr lang="zh-CN" altLang="en-US"/>
              <a:t>   - 文档库：使用 2018‑12 维基百科，切分为 100 词的文本块，共 2100 万文档。</a:t>
            </a:r>
            <a:endParaRPr lang="zh-CN" altLang="en-US"/>
          </a:p>
          <a:p>
            <a:r>
              <a:rPr lang="zh-CN" altLang="en-US"/>
              <a:t>2. **生成器（</a:t>
            </a:r>
            <a:r>
              <a:rPr lang="en-US" altLang="zh-CN"/>
              <a:t>BART‑large）**</a:t>
            </a:r>
            <a:endParaRPr lang="en-US" altLang="zh-CN"/>
          </a:p>
          <a:p>
            <a:r>
              <a:rPr lang="zh-CN" altLang="en-US"/>
              <a:t>   - 将查询文本与检索得到的文档拼接输入 </a:t>
            </a:r>
            <a:r>
              <a:rPr lang="en-US" altLang="zh-CN"/>
              <a:t>BART，</a:t>
            </a:r>
            <a:r>
              <a:rPr lang="zh-CN" altLang="en-US"/>
              <a:t>做自回归生成。</a:t>
            </a:r>
            <a:endParaRPr lang="zh-CN" altLang="en-US"/>
          </a:p>
          <a:p>
            <a:r>
              <a:rPr lang="zh-CN" altLang="en-US"/>
              <a:t>3. **两种 </a:t>
            </a:r>
            <a:r>
              <a:rPr lang="en-US" altLang="zh-CN"/>
              <a:t>RAG </a:t>
            </a:r>
            <a:r>
              <a:rPr lang="zh-CN" altLang="en-US"/>
              <a:t>变体（对隐文档做边缘概率归一，数学公式定义）**</a:t>
            </a:r>
            <a:endParaRPr lang="zh-CN" altLang="en-US"/>
          </a:p>
          <a:p>
            <a:r>
              <a:rPr lang="en-US" altLang="zh-CN"/>
              <a:t>   - **RAG‑Sequence**：</a:t>
            </a:r>
            <a:r>
              <a:rPr lang="zh-CN" altLang="en-US"/>
              <a:t>整个输出序列共用同一份检索文档；对每一个 </a:t>
            </a:r>
            <a:r>
              <a:rPr lang="en-US" altLang="zh-CN"/>
              <a:t>top‑k </a:t>
            </a:r>
            <a:r>
              <a:rPr lang="zh-CN" altLang="en-US"/>
              <a:t>文档生成完整序列，加权求和概率。解码开销大，有「彻底解码」和「快速解码」两种实现。适合短答案任务，开放域 </a:t>
            </a:r>
            <a:r>
              <a:rPr lang="en-US" altLang="zh-CN"/>
              <a:t>QA </a:t>
            </a:r>
            <a:r>
              <a:rPr lang="zh-CN" altLang="en-US"/>
              <a:t>上效果更好。</a:t>
            </a:r>
            <a:endParaRPr lang="zh-CN" altLang="en-US"/>
          </a:p>
          <a:p>
            <a:r>
              <a:rPr lang="en-US" altLang="zh-CN"/>
              <a:t>   - **RAG‑Token**：**</a:t>
            </a:r>
            <a:r>
              <a:rPr lang="zh-CN" altLang="en-US"/>
              <a:t>每个生成 </a:t>
            </a:r>
            <a:r>
              <a:rPr lang="en-US" altLang="zh-CN"/>
              <a:t>token </a:t>
            </a:r>
            <a:r>
              <a:rPr lang="zh-CN" altLang="en-US"/>
              <a:t>可以来自不同检索文档**，每一步 </a:t>
            </a:r>
            <a:r>
              <a:rPr lang="en-US" altLang="zh-CN"/>
              <a:t>token </a:t>
            </a:r>
            <a:r>
              <a:rPr lang="zh-CN" altLang="en-US"/>
              <a:t>生成时，对全部召回文档做概率求和；可以融合多篇文档信息，解码简单，适合长文本生成任务，例如问题生成。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序列分类任务下两者等价，把类别当作长度为 1 的输出序列。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4. **训练与解码**</a:t>
            </a:r>
            <a:endParaRPr lang="zh-CN" altLang="en-US"/>
          </a:p>
          <a:p>
            <a:r>
              <a:rPr lang="zh-CN" altLang="en-US"/>
              <a:t>   - 训练：最小化目标序列负对数似然；**不需要检索结果的监督标签**，弱监督。冻结文档编码器，仅更新查询编码器和 </a:t>
            </a:r>
            <a:r>
              <a:rPr lang="en-US" altLang="zh-CN"/>
              <a:t>BART </a:t>
            </a:r>
            <a:r>
              <a:rPr lang="zh-CN" altLang="en-US"/>
              <a:t>生成器。</a:t>
            </a:r>
            <a:endParaRPr lang="zh-CN" altLang="en-US"/>
          </a:p>
          <a:p>
            <a:r>
              <a:rPr lang="zh-CN" altLang="en-US"/>
              <a:t>   - 解码：</a:t>
            </a:r>
            <a:r>
              <a:rPr lang="en-US" altLang="zh-CN"/>
              <a:t>RAG‑Token </a:t>
            </a:r>
            <a:r>
              <a:rPr lang="zh-CN" altLang="en-US"/>
              <a:t>直接用标准 </a:t>
            </a:r>
            <a:r>
              <a:rPr lang="en-US" altLang="zh-CN"/>
              <a:t>beam search；RAG‑Sequence </a:t>
            </a:r>
            <a:r>
              <a:rPr lang="zh-CN" altLang="en-US"/>
              <a:t>需要对每篇文档分别 </a:t>
            </a:r>
            <a:r>
              <a:rPr lang="en-US" altLang="zh-CN"/>
              <a:t>beam </a:t>
            </a:r>
            <a:r>
              <a:rPr lang="zh-CN" altLang="en-US"/>
              <a:t>搜索，再合并候选结果。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核心解决**原版 </a:t>
            </a:r>
            <a:r>
              <a:rPr lang="en-US" altLang="zh-CN"/>
              <a:t>RAG </a:t>
            </a:r>
            <a:r>
              <a:rPr lang="zh-CN" altLang="en-US"/>
              <a:t>领域适配能力差**的问题。原版 </a:t>
            </a:r>
            <a:r>
              <a:rPr lang="en-US" altLang="zh-CN"/>
              <a:t>RAG </a:t>
            </a:r>
            <a:r>
              <a:rPr lang="zh-CN" altLang="en-US"/>
              <a:t>基于维基百科预训练的 </a:t>
            </a:r>
            <a:r>
              <a:rPr lang="en-US" altLang="zh-CN"/>
              <a:t>DPR </a:t>
            </a:r>
            <a:r>
              <a:rPr lang="zh-CN" altLang="en-US"/>
              <a:t>检索器，迁移到医疗、新闻、对话等垂直领域时性能大幅下滑；本文提出 </a:t>
            </a:r>
            <a:r>
              <a:rPr lang="en-US" altLang="zh-CN"/>
              <a:t>RAG‑end2end，</a:t>
            </a:r>
            <a:r>
              <a:rPr lang="zh-CN" altLang="en-US"/>
              <a:t>实现检索器 + 生成器联合端到端训练，同时引入辅助重构任务，显著提升垂直领域开放域问答效果。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原版 </a:t>
            </a:r>
            <a:r>
              <a:rPr lang="en-US" altLang="zh-CN"/>
              <a:t>RAG </a:t>
            </a:r>
            <a:r>
              <a:rPr lang="zh-CN" altLang="en-US"/>
              <a:t>架构：检索器 </a:t>
            </a:r>
            <a:r>
              <a:rPr lang="en-US" altLang="zh-CN"/>
              <a:t>DPR </a:t>
            </a:r>
            <a:r>
              <a:rPr lang="zh-CN" altLang="en-US"/>
              <a:t>包含**问题编码器、文档编码器**；生成器 </a:t>
            </a:r>
            <a:r>
              <a:rPr lang="en-US" altLang="zh-CN"/>
              <a:t>BART。</a:t>
            </a:r>
            <a:r>
              <a:rPr lang="zh-CN" altLang="en-US"/>
              <a:t>微调时**仅更新问题编码器，文档编码器被完全冻结**，知识库文档的向量表示不再变化。</a:t>
            </a:r>
            <a:endParaRPr lang="zh-CN" altLang="en-US"/>
          </a:p>
          <a:p>
            <a:r>
              <a:rPr lang="en-US" altLang="zh-CN"/>
              <a:t>2. DPR </a:t>
            </a:r>
            <a:r>
              <a:rPr lang="zh-CN" altLang="en-US"/>
              <a:t>本身在维基百科数据集上预训练，当迁移到 </a:t>
            </a:r>
            <a:r>
              <a:rPr lang="en-US" altLang="zh-CN"/>
              <a:t>COVID‑19、</a:t>
            </a:r>
            <a:r>
              <a:rPr lang="zh-CN" altLang="en-US"/>
              <a:t>新闻、对话这类领域，文档分布差异大，冻结的文档编码器产出的向量不匹配目标领域语义，检索召回效果变差，拉低整体问答性能。</a:t>
            </a:r>
            <a:endParaRPr lang="zh-CN" altLang="en-US"/>
          </a:p>
          <a:p>
            <a:r>
              <a:rPr lang="zh-CN" altLang="en-US"/>
              <a:t>3. 现实场景中，垂直领域很难获取「问题‑标准答案文档‑答案」三元组标注数据；</a:t>
            </a:r>
            <a:r>
              <a:rPr lang="en-US" altLang="zh-CN"/>
              <a:t>REALM </a:t>
            </a:r>
            <a:r>
              <a:rPr lang="zh-CN" altLang="en-US"/>
              <a:t>虽然支持检索器端到端训练，但不开源、预训练成本极高。原版 </a:t>
            </a:r>
            <a:r>
              <a:rPr lang="en-US" altLang="zh-CN"/>
              <a:t>RAG </a:t>
            </a:r>
            <a:r>
              <a:rPr lang="zh-CN" altLang="en-US"/>
              <a:t>没有针对领域适配做端到端联合优化。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关键发现：**只微调问题编码器、固定文档编码器，会造成领域迁移后性能退化；检索器的适配是 </a:t>
            </a:r>
            <a:r>
              <a:rPr lang="en-US" altLang="zh-CN"/>
              <a:t>RAG </a:t>
            </a:r>
            <a:r>
              <a:rPr lang="zh-CN" altLang="en-US"/>
              <a:t>垂直领域落地的关键。**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 RAG‑end2end </a:t>
            </a:r>
            <a:r>
              <a:rPr lang="zh-CN" altLang="en-US"/>
              <a:t>方法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1、异步端到端联合训练（核心改进一）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原版 </a:t>
            </a:r>
            <a:r>
              <a:rPr lang="en-US" altLang="zh-CN"/>
              <a:t>RAG：</a:t>
            </a:r>
            <a:r>
              <a:rPr lang="zh-CN" altLang="en-US"/>
              <a:t>只更新 </a:t>
            </a:r>
            <a:r>
              <a:rPr lang="en-US" altLang="zh-CN"/>
              <a:t>DPR </a:t>
            </a:r>
            <a:r>
              <a:rPr lang="zh-CN" altLang="en-US"/>
              <a:t>的问题编码器，文档编码器固定，知识库向量索引全程不变。</a:t>
            </a:r>
            <a:endParaRPr lang="zh-CN" altLang="en-US"/>
          </a:p>
          <a:p>
            <a:r>
              <a:rPr lang="en-US" altLang="zh-CN"/>
              <a:t>RAG‑end2end：**</a:t>
            </a:r>
            <a:r>
              <a:rPr lang="zh-CN" altLang="en-US"/>
              <a:t>问题编码器、文档编码器、</a:t>
            </a:r>
            <a:r>
              <a:rPr lang="en-US" altLang="zh-CN"/>
              <a:t>BART </a:t>
            </a:r>
            <a:r>
              <a:rPr lang="zh-CN" altLang="en-US"/>
              <a:t>生成器全部参与训练更新**。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难点：知识库文档数量巨大，如果每一步训练都重新编码全部文档、重建 </a:t>
            </a:r>
            <a:r>
              <a:rPr lang="en-US" altLang="zh-CN"/>
              <a:t>FAISS </a:t>
            </a:r>
            <a:r>
              <a:rPr lang="zh-CN" altLang="en-US"/>
              <a:t>索引，</a:t>
            </a:r>
            <a:r>
              <a:rPr lang="en-US" altLang="zh-CN"/>
              <a:t>GPU/CPU </a:t>
            </a:r>
            <a:r>
              <a:rPr lang="zh-CN" altLang="en-US"/>
              <a:t>开销爆炸，训练无法进行。</a:t>
            </a:r>
            <a:endParaRPr lang="zh-CN" altLang="en-US"/>
          </a:p>
          <a:p>
            <a:r>
              <a:rPr lang="zh-CN" altLang="en-US"/>
              <a:t>- 解决方案：**异步多进程架构**</a:t>
            </a:r>
            <a:endParaRPr lang="zh-CN" altLang="en-US"/>
          </a:p>
          <a:p>
            <a:r>
              <a:rPr lang="zh-CN" altLang="en-US"/>
              <a:t>1）主训练进程：执行前向、反向传播，更新 </a:t>
            </a:r>
            <a:r>
              <a:rPr lang="en-US" altLang="zh-CN"/>
              <a:t>DPR </a:t>
            </a:r>
            <a:r>
              <a:rPr lang="zh-CN" altLang="en-US"/>
              <a:t>两个编码器、</a:t>
            </a:r>
            <a:r>
              <a:rPr lang="en-US" altLang="zh-CN"/>
              <a:t>BART；</a:t>
            </a:r>
            <a:endParaRPr lang="en-US" altLang="zh-CN"/>
          </a:p>
          <a:p>
            <a:r>
              <a:rPr lang="zh-CN" altLang="en-US"/>
              <a:t>2）独立 </a:t>
            </a:r>
            <a:r>
              <a:rPr lang="en-US" altLang="zh-CN"/>
              <a:t>GPU </a:t>
            </a:r>
            <a:r>
              <a:rPr lang="zh-CN" altLang="en-US"/>
              <a:t>子进程：使用更新后的文档编码器，对全部文档重新编码；</a:t>
            </a:r>
            <a:endParaRPr lang="zh-CN" altLang="en-US"/>
          </a:p>
          <a:p>
            <a:r>
              <a:rPr lang="zh-CN" altLang="en-US"/>
              <a:t>3）独立 </a:t>
            </a:r>
            <a:r>
              <a:rPr lang="en-US" altLang="zh-CN"/>
              <a:t>CPU </a:t>
            </a:r>
            <a:r>
              <a:rPr lang="zh-CN" altLang="en-US"/>
              <a:t>子进程：用新向量重建 </a:t>
            </a:r>
            <a:r>
              <a:rPr lang="en-US" altLang="zh-CN"/>
              <a:t>FAISS </a:t>
            </a:r>
            <a:r>
              <a:rPr lang="zh-CN" altLang="en-US"/>
              <a:t>索引；</a:t>
            </a:r>
            <a:endParaRPr lang="zh-CN" altLang="en-US"/>
          </a:p>
          <a:p>
            <a:r>
              <a:rPr lang="zh-CN" altLang="en-US"/>
              <a:t>新索引构建完成后再加载进主训练循环；旧索引继续用于训练，允许存在一定的向量 “滞后”，换取训练可行性。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2、语句重构辅助任务 </a:t>
            </a:r>
            <a:r>
              <a:rPr lang="en-US" altLang="zh-CN"/>
              <a:t>Statement‑Reconstruction（</a:t>
            </a:r>
            <a:r>
              <a:rPr lang="zh-CN" altLang="en-US"/>
              <a:t>核心改进二）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增加辅助训练信号，提升检索器对领域文本的理解。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输入一条领域语句（摘要 / 总结句），添加特殊控制 </a:t>
            </a:r>
            <a:r>
              <a:rPr lang="en-US" altLang="zh-CN"/>
              <a:t>token `&lt;p&gt;`；</a:t>
            </a:r>
            <a:endParaRPr lang="en-US" altLang="zh-CN"/>
          </a:p>
          <a:p>
            <a:r>
              <a:rPr lang="zh-CN" altLang="en-US"/>
              <a:t>2. 模型以这条语句作为 </a:t>
            </a:r>
            <a:r>
              <a:rPr lang="en-US" altLang="zh-CN"/>
              <a:t>query </a:t>
            </a:r>
            <a:r>
              <a:rPr lang="zh-CN" altLang="en-US"/>
              <a:t>去检索知识库；</a:t>
            </a:r>
            <a:endParaRPr lang="zh-CN" altLang="en-US"/>
          </a:p>
          <a:p>
            <a:r>
              <a:rPr lang="zh-CN" altLang="en-US"/>
              <a:t>3. 强制生成器仅依靠检索回来的文档片段，重构出原始输入语句；</a:t>
            </a:r>
            <a:endParaRPr lang="zh-CN" altLang="en-US"/>
          </a:p>
          <a:p>
            <a:r>
              <a:rPr lang="zh-CN" altLang="en-US"/>
              <a:t>4. 训练集的输入语句不会出现在知识库中，防止直接复制过拟合。</a:t>
            </a:r>
            <a:endParaRPr lang="zh-CN" altLang="en-US"/>
          </a:p>
          <a:p>
            <a:r>
              <a:rPr lang="zh-CN" altLang="en-US"/>
              <a:t>5. 训练混合两类损失：**</a:t>
            </a:r>
            <a:r>
              <a:rPr lang="en-US" altLang="zh-CN"/>
              <a:t>QA </a:t>
            </a:r>
            <a:r>
              <a:rPr lang="zh-CN" altLang="en-US"/>
              <a:t>问答损失 + 重构任务损失**；使用特殊 </a:t>
            </a:r>
            <a:r>
              <a:rPr lang="en-US" altLang="zh-CN"/>
              <a:t>token </a:t>
            </a:r>
            <a:r>
              <a:rPr lang="zh-CN" altLang="en-US"/>
              <a:t>区分两种任务输入格式。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实验设置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Self‑RAG（Self‑Reflective Retrieval‑Augmented Generation）2023 </a:t>
            </a:r>
            <a:r>
              <a:rPr lang="zh-CN" altLang="en-US"/>
              <a:t>年提出，核心创新：**让大模型自带自省能力，按需触发检索，并且生成反思标记做自我评判**。传统 </a:t>
            </a:r>
            <a:r>
              <a:rPr lang="en-US" altLang="zh-CN"/>
              <a:t>RAG </a:t>
            </a:r>
            <a:r>
              <a:rPr lang="zh-CN" altLang="en-US"/>
              <a:t>固定检索 </a:t>
            </a:r>
            <a:r>
              <a:rPr lang="en-US" altLang="zh-CN"/>
              <a:t>K </a:t>
            </a:r>
            <a:r>
              <a:rPr lang="zh-CN" altLang="en-US"/>
              <a:t>篇文档，不管问题是否需要外部知识，还缺少对检索文档与生成内容一致性校验；</a:t>
            </a:r>
            <a:r>
              <a:rPr lang="en-US" altLang="zh-CN"/>
              <a:t>Self‑RAG </a:t>
            </a:r>
            <a:r>
              <a:rPr lang="zh-CN" altLang="en-US"/>
              <a:t>把检索、生成、自我批判统一在同一个大模型，推理阶段可控制模型行为，降低幻觉，提升引用准确性。开源，基于 </a:t>
            </a:r>
            <a:r>
              <a:rPr lang="en-US" altLang="zh-CN"/>
              <a:t>Llama‑2‑7B/13B </a:t>
            </a:r>
            <a:r>
              <a:rPr lang="zh-CN" altLang="en-US"/>
              <a:t>基座。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传统 </a:t>
            </a:r>
            <a:r>
              <a:rPr lang="en-US" altLang="zh-CN"/>
              <a:t>RAG：</a:t>
            </a:r>
            <a:r>
              <a:rPr lang="zh-CN" altLang="en-US"/>
              <a:t>输入问题就固定检索若干文档，**无条件检索**。</a:t>
            </a:r>
            <a:endParaRPr lang="zh-CN" altLang="en-US"/>
          </a:p>
          <a:p>
            <a:r>
              <a:rPr lang="zh-CN" altLang="en-US"/>
              <a:t>   - 缺点：不需要事实检索的创作类任务（写个人随笔）也强行引入检索片段，引入噪声；</a:t>
            </a:r>
            <a:endParaRPr lang="zh-CN" altLang="en-US"/>
          </a:p>
          <a:p>
            <a:r>
              <a:rPr lang="zh-CN" altLang="en-US"/>
              <a:t>   - 没有校验：模型不一定遵守检索到的证据，生成内容和检索文档矛盾，产生幻觉，引用不可靠。</a:t>
            </a:r>
            <a:endParaRPr lang="zh-CN" altLang="en-US"/>
          </a:p>
          <a:p>
            <a:r>
              <a:rPr lang="zh-CN" altLang="en-US"/>
              <a:t>2. 现有改进方案：大多是推理时外挂独立打分模型过滤文档，推理开销大；缺少端到端训练，不能让模型学会 “什么时候该检索”。</a:t>
            </a:r>
            <a:endParaRPr lang="zh-CN" altLang="en-US"/>
          </a:p>
          <a:p>
            <a:r>
              <a:rPr lang="zh-CN" altLang="en-US"/>
              <a:t>3. 本文目标：训练单一大模型，实现**按需检索 + 分段自省评判**，兼顾知识问答的事实性与创作任务的灵活性。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核心概念：反思标记（</a:t>
            </a:r>
            <a:r>
              <a:rPr lang="en-US" altLang="zh-CN"/>
              <a:t>Reflection Tokens）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属于特殊 </a:t>
            </a:r>
            <a:r>
              <a:rPr lang="en-US" altLang="zh-CN"/>
              <a:t>token，</a:t>
            </a:r>
            <a:r>
              <a:rPr lang="zh-CN" altLang="en-US"/>
              <a:t>和普通文本一起作为模型输出，分为四大类：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**Retrieve**：</a:t>
            </a:r>
            <a:r>
              <a:rPr lang="zh-CN" altLang="en-US"/>
              <a:t>是否需要调用检索器（</a:t>
            </a:r>
            <a:r>
              <a:rPr lang="en-US" altLang="zh-CN"/>
              <a:t>Yes / No / Continue）；</a:t>
            </a:r>
            <a:r>
              <a:rPr lang="zh-CN" altLang="en-US"/>
              <a:t>每生成一个片段前判断。</a:t>
            </a:r>
            <a:endParaRPr lang="zh-CN" altLang="en-US"/>
          </a:p>
          <a:p>
            <a:r>
              <a:rPr lang="en-US" altLang="zh-CN"/>
              <a:t>2. **ISREL（Is‑Relevant）**：</a:t>
            </a:r>
            <a:r>
              <a:rPr lang="zh-CN" altLang="en-US"/>
              <a:t>检索文档对当前输入是否有用：</a:t>
            </a:r>
            <a:r>
              <a:rPr lang="en-US" altLang="zh-CN"/>
              <a:t>Relevant / Irrelevant。</a:t>
            </a:r>
            <a:endParaRPr lang="en-US" altLang="zh-CN"/>
          </a:p>
          <a:p>
            <a:r>
              <a:rPr lang="en-US" altLang="zh-CN"/>
              <a:t>3. **ISSUP（Is‑Supported）**：</a:t>
            </a:r>
            <a:r>
              <a:rPr lang="zh-CN" altLang="en-US"/>
              <a:t>生成的片段内容是否被检索文档证据支持：</a:t>
            </a:r>
            <a:r>
              <a:rPr lang="en-US" altLang="zh-CN"/>
              <a:t>Fully supported / Partially supported / No support/Contradictory。</a:t>
            </a:r>
            <a:endParaRPr lang="en-US" altLang="zh-CN"/>
          </a:p>
          <a:p>
            <a:r>
              <a:rPr lang="en-US" altLang="zh-CN"/>
              <a:t>4. **ISUSE（Is‑Useful）**：</a:t>
            </a:r>
            <a:r>
              <a:rPr lang="zh-CN" altLang="en-US"/>
              <a:t>整段回答对用户问题的有用程度，1‑5 分。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关键点：**推理阶段不再需要外部 </a:t>
            </a:r>
            <a:r>
              <a:rPr lang="en-US" altLang="zh-CN"/>
              <a:t>critic </a:t>
            </a:r>
            <a:r>
              <a:rPr lang="zh-CN" altLang="en-US"/>
              <a:t>模型**，生成器 </a:t>
            </a:r>
            <a:r>
              <a:rPr lang="en-US" altLang="zh-CN"/>
              <a:t>LM </a:t>
            </a:r>
            <a:r>
              <a:rPr lang="zh-CN" altLang="en-US"/>
              <a:t>自己输出这些反思标记。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整体框架：训练 + 推理两阶段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阶段 1：训练流程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分为两步，先训 </a:t>
            </a:r>
            <a:r>
              <a:rPr lang="en-US" altLang="zh-CN"/>
              <a:t>Critic，</a:t>
            </a:r>
            <a:r>
              <a:rPr lang="zh-CN" altLang="en-US"/>
              <a:t>再训 </a:t>
            </a:r>
            <a:r>
              <a:rPr lang="en-US" altLang="zh-CN"/>
              <a:t>Generator </a:t>
            </a:r>
            <a:r>
              <a:rPr lang="zh-CN" altLang="en-US"/>
              <a:t>生成器。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**训练 </a:t>
            </a:r>
            <a:r>
              <a:rPr lang="en-US" altLang="zh-CN"/>
              <a:t>Critic </a:t>
            </a:r>
            <a:r>
              <a:rPr lang="zh-CN" altLang="en-US"/>
              <a:t>评判模型**</a:t>
            </a:r>
            <a:endParaRPr lang="zh-CN" altLang="en-US"/>
          </a:p>
          <a:p>
            <a:r>
              <a:rPr lang="zh-CN" altLang="en-US"/>
              <a:t>   - 使用 </a:t>
            </a:r>
            <a:r>
              <a:rPr lang="en-US" altLang="zh-CN"/>
              <a:t>GPT‑4 </a:t>
            </a:r>
            <a:r>
              <a:rPr lang="zh-CN" altLang="en-US"/>
              <a:t>标注大量反思标记数据（</a:t>
            </a:r>
            <a:r>
              <a:rPr lang="en-US" altLang="zh-CN"/>
              <a:t>Retrieve、ISREL、ISSUP、ISUSE）；</a:t>
            </a:r>
            <a:endParaRPr lang="en-US" altLang="zh-CN"/>
          </a:p>
          <a:p>
            <a:r>
              <a:rPr lang="zh-CN" altLang="en-US"/>
              <a:t>   - 把标注好的数据蒸馏到 </a:t>
            </a:r>
            <a:r>
              <a:rPr lang="en-US" altLang="zh-CN"/>
              <a:t>Llama‑2 </a:t>
            </a:r>
            <a:r>
              <a:rPr lang="zh-CN" altLang="en-US"/>
              <a:t>得到本地 </a:t>
            </a:r>
            <a:r>
              <a:rPr lang="en-US" altLang="zh-CN"/>
              <a:t>Critic </a:t>
            </a:r>
            <a:r>
              <a:rPr lang="zh-CN" altLang="en-US"/>
              <a:t>模型，用来离线生成反思标记，推理阶段不使用。</a:t>
            </a:r>
            <a:endParaRPr lang="zh-CN" altLang="en-US"/>
          </a:p>
          <a:p>
            <a:r>
              <a:rPr lang="zh-CN" altLang="en-US"/>
              <a:t>2. **构造生成器训练数据集，训练 </a:t>
            </a:r>
            <a:r>
              <a:rPr lang="en-US" altLang="zh-CN"/>
              <a:t>Generator </a:t>
            </a:r>
            <a:r>
              <a:rPr lang="zh-CN" altLang="en-US"/>
              <a:t>主模型**</a:t>
            </a:r>
            <a:endParaRPr lang="zh-CN" altLang="en-US"/>
          </a:p>
          <a:p>
            <a:r>
              <a:rPr lang="zh-CN" altLang="en-US"/>
              <a:t>   - 使用 </a:t>
            </a:r>
            <a:r>
              <a:rPr lang="en-US" altLang="zh-CN"/>
              <a:t>Critic </a:t>
            </a:r>
            <a:r>
              <a:rPr lang="zh-CN" altLang="en-US"/>
              <a:t>离线处理海量指令数据，自动插入检索文档、反思标记；</a:t>
            </a:r>
            <a:endParaRPr lang="zh-CN" altLang="en-US"/>
          </a:p>
          <a:p>
            <a:r>
              <a:rPr lang="zh-CN" altLang="en-US"/>
              <a:t>   - 训练目标：标准自回归 </a:t>
            </a:r>
            <a:r>
              <a:rPr lang="en-US" altLang="zh-CN"/>
              <a:t>next‑token </a:t>
            </a:r>
            <a:r>
              <a:rPr lang="zh-CN" altLang="en-US"/>
              <a:t>预测，让模型同时学会输出普通文本 + 反思标记；检索文档部分不计入 </a:t>
            </a:r>
            <a:r>
              <a:rPr lang="en-US" altLang="zh-CN"/>
              <a:t>loss。</a:t>
            </a:r>
            <a:endParaRPr lang="en-US" altLang="zh-CN"/>
          </a:p>
          <a:p>
            <a:r>
              <a:rPr lang="zh-CN" altLang="en-US"/>
              <a:t>   - 训练数据集合：15 万条，覆盖开放域 </a:t>
            </a:r>
            <a:r>
              <a:rPr lang="en-US" altLang="zh-CN"/>
              <a:t>QA、</a:t>
            </a:r>
            <a:r>
              <a:rPr lang="zh-CN" altLang="en-US"/>
              <a:t>事实校验、长文本生成等多类任务。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阶段 2：推理流程（算法）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按**片段 </a:t>
            </a:r>
            <a:r>
              <a:rPr lang="en-US" altLang="zh-CN"/>
              <a:t>segment**</a:t>
            </a:r>
            <a:r>
              <a:rPr lang="zh-CN" altLang="en-US"/>
              <a:t>逐段生成（默认以句子为片段单位）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模型输出`</a:t>
            </a:r>
            <a:r>
              <a:rPr lang="en-US" altLang="zh-CN"/>
              <a:t>Retrieve`</a:t>
            </a:r>
            <a:r>
              <a:rPr lang="zh-CN" altLang="en-US"/>
              <a:t>标记：</a:t>
            </a:r>
            <a:endParaRPr lang="zh-CN" altLang="en-US"/>
          </a:p>
          <a:p>
            <a:r>
              <a:rPr lang="zh-CN" altLang="en-US"/>
              <a:t>   - 若`</a:t>
            </a:r>
            <a:r>
              <a:rPr lang="en-US" altLang="zh-CN"/>
              <a:t>Retrieve=No`：</a:t>
            </a:r>
            <a:r>
              <a:rPr lang="zh-CN" altLang="en-US"/>
              <a:t>不检索，直接生成回答片段，输出 </a:t>
            </a:r>
            <a:r>
              <a:rPr lang="en-US" altLang="zh-CN"/>
              <a:t>ISUSE </a:t>
            </a:r>
            <a:r>
              <a:rPr lang="zh-CN" altLang="en-US"/>
              <a:t>做自我评估；</a:t>
            </a:r>
            <a:endParaRPr lang="zh-CN" altLang="en-US"/>
          </a:p>
          <a:p>
            <a:r>
              <a:rPr lang="zh-CN" altLang="en-US"/>
              <a:t>   - 若`</a:t>
            </a:r>
            <a:r>
              <a:rPr lang="en-US" altLang="zh-CN"/>
              <a:t>Retrieve=Yes`：</a:t>
            </a:r>
            <a:r>
              <a:rPr lang="zh-CN" altLang="en-US"/>
              <a:t>调用检索器取出 </a:t>
            </a:r>
            <a:r>
              <a:rPr lang="en-US" altLang="zh-CN"/>
              <a:t>top‑K </a:t>
            </a:r>
            <a:r>
              <a:rPr lang="zh-CN" altLang="en-US"/>
              <a:t>文档，**多文档并行生成候选片段**；</a:t>
            </a:r>
            <a:endParaRPr lang="zh-CN" altLang="en-US"/>
          </a:p>
          <a:p>
            <a:r>
              <a:rPr lang="zh-CN" altLang="en-US"/>
              <a:t>2. 对每个候选：模型输出`</a:t>
            </a:r>
            <a:r>
              <a:rPr lang="en-US" altLang="zh-CN"/>
              <a:t>ISREL`（</a:t>
            </a:r>
            <a:r>
              <a:rPr lang="zh-CN" altLang="en-US"/>
              <a:t>文档相关性）、`</a:t>
            </a:r>
            <a:r>
              <a:rPr lang="en-US" altLang="zh-CN"/>
              <a:t>ISSUP`（</a:t>
            </a:r>
            <a:r>
              <a:rPr lang="zh-CN" altLang="en-US"/>
              <a:t>证据支持度）；</a:t>
            </a:r>
            <a:endParaRPr lang="zh-CN" altLang="en-US"/>
          </a:p>
          <a:p>
            <a:r>
              <a:rPr lang="zh-CN" altLang="en-US"/>
              <a:t>3. **片段级束搜索**：综合原始生成概率 + 反思标记的加权分数对候选打分；权重是超参数，测试时可调，不用重训模型；</a:t>
            </a:r>
            <a:endParaRPr lang="zh-CN" altLang="en-US"/>
          </a:p>
          <a:p>
            <a:r>
              <a:rPr lang="zh-CN" altLang="en-US"/>
              <a:t>4. 选出最优片段，循环直到生成结束。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两大推理控制能力：</a:t>
            </a:r>
            <a:endParaRPr lang="zh-CN" altLang="en-US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1. 自适应检索阈值：调节触发检索的概率阈值，事实任务调高检索频率，创意写作调低；</a:t>
            </a:r>
            <a:endParaRPr lang="zh-CN" altLang="en-US"/>
          </a:p>
          <a:p>
            <a:r>
              <a:rPr lang="zh-CN" altLang="en-US"/>
              <a:t>&gt; 2. 软 / 硬约束：调高 </a:t>
            </a:r>
            <a:r>
              <a:rPr lang="en-US" altLang="zh-CN"/>
              <a:t>ISSUP </a:t>
            </a:r>
            <a:r>
              <a:rPr lang="zh-CN" altLang="en-US"/>
              <a:t>权重，模型会优先输出被证据支持的文本，提升引用精度；不需要重新训练，仅推理调参。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Plan∗RAG </a:t>
            </a:r>
            <a:r>
              <a:rPr lang="zh-CN" altLang="en-US"/>
              <a:t>是面向**多跳推理 </a:t>
            </a:r>
            <a:r>
              <a:rPr lang="en-US" altLang="zh-CN"/>
              <a:t>RAG**</a:t>
            </a:r>
            <a:r>
              <a:rPr lang="zh-CN" altLang="en-US"/>
              <a:t>的推理时规划框架。现有</a:t>
            </a:r>
            <a:r>
              <a:rPr lang="en-US" altLang="zh-CN"/>
              <a:t>RAG</a:t>
            </a:r>
            <a:r>
              <a:rPr lang="zh-CN" altLang="en-US"/>
              <a:t>、</a:t>
            </a:r>
            <a:r>
              <a:rPr lang="en-US" altLang="zh-CN"/>
              <a:t>Self‑RAG </a:t>
            </a:r>
            <a:r>
              <a:rPr lang="zh-CN" altLang="en-US"/>
              <a:t>等方法，会把全部推理历史保存在大模型上下文窗口内，容易出现上下文溢出、推理计划破碎、错误传播、串行执行延迟高的问题。</a:t>
            </a:r>
            <a:r>
              <a:rPr lang="en-US" altLang="zh-CN"/>
              <a:t>Plan∗RAG </a:t>
            </a:r>
            <a:r>
              <a:rPr lang="zh-CN" altLang="en-US"/>
              <a:t>核心创新：**把推理计划外化成为 </a:t>
            </a:r>
            <a:r>
              <a:rPr lang="en-US" altLang="zh-CN"/>
              <a:t>DAG </a:t>
            </a:r>
            <a:r>
              <a:rPr lang="zh-CN" altLang="en-US"/>
              <a:t>有向无环图数据结构，脱离 </a:t>
            </a:r>
            <a:r>
              <a:rPr lang="en-US" altLang="zh-CN"/>
              <a:t>LM </a:t>
            </a:r>
            <a:r>
              <a:rPr lang="zh-CN" altLang="en-US"/>
              <a:t>上下文内存**；拆解出原子子查询，利用 </a:t>
            </a:r>
            <a:r>
              <a:rPr lang="en-US" altLang="zh-CN"/>
              <a:t>DAG </a:t>
            </a:r>
            <a:r>
              <a:rPr lang="zh-CN" altLang="en-US"/>
              <a:t>的依赖关系支持并行执行、受控的上下文输入、显式可调试的推理链路。框架具备模块化，可以和 </a:t>
            </a:r>
            <a:r>
              <a:rPr lang="en-US" altLang="zh-CN"/>
              <a:t>Self‑RAG </a:t>
            </a:r>
            <a:r>
              <a:rPr lang="zh-CN" altLang="en-US"/>
              <a:t>等现有 </a:t>
            </a:r>
            <a:r>
              <a:rPr lang="en-US" altLang="zh-CN"/>
              <a:t>RAG </a:t>
            </a:r>
            <a:r>
              <a:rPr lang="zh-CN" altLang="en-US"/>
              <a:t>方案组合增强多跳能力。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研究背景与现存方法缺陷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多跳问答（</a:t>
            </a:r>
            <a:r>
              <a:rPr lang="en-US" altLang="zh-CN"/>
              <a:t>HotpotQA </a:t>
            </a:r>
            <a:r>
              <a:rPr lang="zh-CN" altLang="en-US"/>
              <a:t>等）需要多步检索、逐步推导中间事实。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**普通 </a:t>
            </a:r>
            <a:r>
              <a:rPr lang="en-US" altLang="zh-CN"/>
              <a:t>RAG**：</a:t>
            </a:r>
            <a:r>
              <a:rPr lang="zh-CN" altLang="en-US"/>
              <a:t>一次性检索，缺少中间拆解，很难获取中间必需事实。</a:t>
            </a:r>
            <a:endParaRPr lang="zh-CN" altLang="en-US"/>
          </a:p>
          <a:p>
            <a:r>
              <a:rPr lang="en-US" altLang="zh-CN"/>
              <a:t>2. **CoT‑RAG**：</a:t>
            </a:r>
            <a:r>
              <a:rPr lang="zh-CN" altLang="en-US"/>
              <a:t>在上下文做链式思考，全部推理步骤累积在上下文，容易幻觉。</a:t>
            </a:r>
            <a:endParaRPr lang="zh-CN" altLang="en-US"/>
          </a:p>
          <a:p>
            <a:r>
              <a:rPr lang="en-US" altLang="zh-CN"/>
              <a:t>3. **ReAct**：Thought‑Action‑Observation </a:t>
            </a:r>
            <a:r>
              <a:rPr lang="zh-CN" altLang="en-US"/>
              <a:t>循环，全部历史保留在上下文，随步数增加上下文膨胀，容易丢失实体依赖、错误向后传播，只能串行执行。</a:t>
            </a:r>
            <a:endParaRPr lang="zh-CN" altLang="en-US"/>
          </a:p>
          <a:p>
            <a:r>
              <a:rPr lang="zh-CN" altLang="en-US"/>
              <a:t>4. **普通查询分解 </a:t>
            </a:r>
            <a:r>
              <a:rPr lang="en-US" altLang="zh-CN"/>
              <a:t>QD‑RAG**：</a:t>
            </a:r>
            <a:r>
              <a:rPr lang="zh-CN" altLang="en-US"/>
              <a:t>拆分为子问题，但是子问题之间缺少显式依赖表达，子查询不能动态填入前面步骤得到的结果。</a:t>
            </a:r>
            <a:endParaRPr lang="zh-CN" altLang="en-US"/>
          </a:p>
          <a:p>
            <a:r>
              <a:rPr lang="en-US" altLang="zh-CN"/>
              <a:t>5. **Self‑RAG**：</a:t>
            </a:r>
            <a:r>
              <a:rPr lang="zh-CN" altLang="en-US"/>
              <a:t>自省自适应检索，但推理逻辑依然隐式保存在上下文窗口。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共性痛点：推理计划全部放在 </a:t>
            </a:r>
            <a:r>
              <a:rPr lang="en-US" altLang="zh-CN"/>
              <a:t>LM </a:t>
            </a:r>
            <a:r>
              <a:rPr lang="zh-CN" altLang="en-US"/>
              <a:t>上下文内部；无法利用子问题之间的条件独立性，只能串行执行；上下文随推理步数线性膨胀。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Plan∗RAG </a:t>
            </a:r>
            <a:r>
              <a:rPr lang="zh-CN" altLang="en-US"/>
              <a:t>的核心洞察：把推理计划作为独立的 </a:t>
            </a:r>
            <a:r>
              <a:rPr lang="en-US" altLang="zh-CN"/>
              <a:t>DAG </a:t>
            </a:r>
            <a:r>
              <a:rPr lang="zh-CN" altLang="en-US"/>
              <a:t>数据结构拿出来，不寄生在模型上下文里。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节点：原子子查询（一次检索就可以回答，无需继续拆分）</a:t>
            </a:r>
            <a:endParaRPr lang="zh-CN" altLang="en-US"/>
          </a:p>
          <a:p>
            <a:r>
              <a:rPr lang="zh-CN" altLang="en-US"/>
              <a:t>- 边：子查询之间的依赖关系；使用特殊标记⟨</a:t>
            </a:r>
            <a:r>
              <a:rPr lang="en-US" altLang="zh-CN"/>
              <a:t>A I.J⟩，</a:t>
            </a:r>
            <a:r>
              <a:rPr lang="zh-CN" altLang="en-US"/>
              <a:t>运行时会替换为父节点的答案，实现动态子查询。</a:t>
            </a:r>
            <a:endParaRPr lang="zh-CN" altLang="en-US"/>
          </a:p>
          <a:p>
            <a:r>
              <a:rPr lang="zh-CN" altLang="en-US"/>
              <a:t>- 同一深度、互相独立的节点可以并行执行，降低延迟；每个节点只传入其父节点信息，而不是全部历史，控制上下文长度。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整体框架两大阶段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阶段 1：生成推理 </a:t>
            </a:r>
            <a:r>
              <a:rPr lang="en-US" altLang="zh-CN"/>
              <a:t>DAG </a:t>
            </a:r>
            <a:r>
              <a:rPr lang="zh-CN" altLang="en-US"/>
              <a:t>计划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输入原始问题，</a:t>
            </a:r>
            <a:r>
              <a:rPr lang="en-US" altLang="zh-CN"/>
              <a:t>LLM </a:t>
            </a:r>
            <a:r>
              <a:rPr lang="zh-CN" altLang="en-US"/>
              <a:t>输出 </a:t>
            </a:r>
            <a:r>
              <a:rPr lang="en-US" altLang="zh-CN"/>
              <a:t>DAG </a:t>
            </a:r>
            <a:r>
              <a:rPr lang="zh-CN" altLang="en-US"/>
              <a:t>推理计划；每个子查询可以包含占位标记`⟨</a:t>
            </a:r>
            <a:r>
              <a:rPr lang="en-US" altLang="zh-CN"/>
              <a:t>A I.J⟩`，</a:t>
            </a:r>
            <a:r>
              <a:rPr lang="zh-CN" altLang="en-US"/>
              <a:t>代表该子查询依赖节点 (</a:t>
            </a:r>
            <a:r>
              <a:rPr lang="en-US" altLang="zh-CN"/>
              <a:t>I.J) </a:t>
            </a:r>
            <a:r>
              <a:rPr lang="zh-CN" altLang="en-US"/>
              <a:t>输出的答案。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两种生成 </a:t>
            </a:r>
            <a:r>
              <a:rPr lang="en-US" altLang="zh-CN"/>
              <a:t>DAG </a:t>
            </a:r>
            <a:r>
              <a:rPr lang="zh-CN" altLang="en-US"/>
              <a:t>的途径：</a:t>
            </a:r>
            <a:endParaRPr lang="zh-CN" altLang="en-US"/>
          </a:p>
          <a:p>
            <a:r>
              <a:rPr lang="zh-CN" altLang="en-US"/>
              <a:t>&gt; 1）强提示词，直接调用能力强的大模型生成 </a:t>
            </a:r>
            <a:r>
              <a:rPr lang="en-US" altLang="zh-CN"/>
              <a:t>DAG；</a:t>
            </a:r>
            <a:endParaRPr lang="en-US" altLang="zh-CN"/>
          </a:p>
          <a:p>
            <a:r>
              <a:rPr lang="zh-CN" altLang="en-US"/>
              <a:t>&gt; 2）小模型 </a:t>
            </a:r>
            <a:r>
              <a:rPr lang="en-US" altLang="zh-CN"/>
              <a:t>LoRA </a:t>
            </a:r>
            <a:r>
              <a:rPr lang="zh-CN" altLang="en-US"/>
              <a:t>微调，使用少量（几千条）“问题‑</a:t>
            </a:r>
            <a:r>
              <a:rPr lang="en-US" altLang="zh-CN"/>
              <a:t>DAG” </a:t>
            </a:r>
            <a:r>
              <a:rPr lang="zh-CN" altLang="en-US"/>
              <a:t>样本，小模型也可以生成合格 </a:t>
            </a:r>
            <a:r>
              <a:rPr lang="en-US" altLang="zh-CN"/>
              <a:t>DAG。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### 阶段 2：</a:t>
            </a:r>
            <a:r>
              <a:rPr lang="en-US" altLang="zh-CN"/>
              <a:t>DAG </a:t>
            </a:r>
            <a:r>
              <a:rPr lang="zh-CN" altLang="en-US"/>
              <a:t>遍历执行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按照 </a:t>
            </a:r>
            <a:r>
              <a:rPr lang="en-US" altLang="zh-CN"/>
              <a:t>DAG </a:t>
            </a:r>
            <a:r>
              <a:rPr lang="zh-CN" altLang="en-US"/>
              <a:t>深度逐层处理；同一深度互不依赖的子查询**并行执行**。</a:t>
            </a:r>
            <a:endParaRPr lang="zh-CN" altLang="en-US"/>
          </a:p>
          <a:p>
            <a:r>
              <a:rPr lang="zh-CN" altLang="en-US"/>
              <a:t>2. 对每个子查询：把占位标记替换为父节点已经得到的答案，生成完整可检索的原子子问题。</a:t>
            </a:r>
            <a:endParaRPr lang="zh-CN" altLang="en-US"/>
          </a:p>
          <a:p>
            <a:r>
              <a:rPr lang="zh-CN" altLang="en-US"/>
              <a:t>3. 子查询做检索，结合父节点答案、检索文档，得到本子查询的输出。</a:t>
            </a:r>
            <a:endParaRPr lang="zh-CN" altLang="en-US"/>
          </a:p>
          <a:p>
            <a:r>
              <a:rPr lang="zh-CN" altLang="en-US"/>
              <a:t>4. 收集全部子查询结果，聚合得到最终答案。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两种变体：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**Plan∗RAG**：</a:t>
            </a:r>
            <a:r>
              <a:rPr lang="zh-CN" altLang="en-US"/>
              <a:t>复用原始问题的检索文档，不再为子查询重新检索；开销低。</a:t>
            </a:r>
            <a:endParaRPr lang="zh-CN" altLang="en-US"/>
          </a:p>
          <a:p>
            <a:r>
              <a:rPr lang="en-US" altLang="zh-CN"/>
              <a:t>2. **Plan∗RAG‑SubQ**：**</a:t>
            </a:r>
            <a:r>
              <a:rPr lang="zh-CN" altLang="en-US"/>
              <a:t>每个原子子查询单独执行检索**，获取针对性文档；检索精度更高，开销更大。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关键优势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✅**并行计算**：独立子问题并行，相比串行 </a:t>
            </a:r>
            <a:r>
              <a:rPr lang="en-US" altLang="zh-CN"/>
              <a:t>ReAct/QD‑RAG，</a:t>
            </a:r>
            <a:r>
              <a:rPr lang="zh-CN" altLang="en-US"/>
              <a:t>总推理时间下降。</a:t>
            </a:r>
            <a:endParaRPr lang="zh-CN" altLang="en-US"/>
          </a:p>
          <a:p>
            <a:r>
              <a:rPr lang="zh-CN" altLang="en-US"/>
              <a:t>2. ✅**受控上下文窗口**：每个节点只输入父节点的答案，而不是全部推理历史；上下文不会无限膨胀。</a:t>
            </a:r>
            <a:endParaRPr lang="zh-CN" altLang="en-US"/>
          </a:p>
          <a:p>
            <a:r>
              <a:rPr lang="zh-CN" altLang="en-US"/>
              <a:t>3. ✅**原子动态子查询**：依靠⟨</a:t>
            </a:r>
            <a:r>
              <a:rPr lang="en-US" altLang="zh-CN"/>
              <a:t>A I.J⟩</a:t>
            </a:r>
            <a:r>
              <a:rPr lang="zh-CN" altLang="en-US"/>
              <a:t>动态填入中间结果，生成精准检索 </a:t>
            </a:r>
            <a:r>
              <a:rPr lang="en-US" altLang="zh-CN"/>
              <a:t>query，</a:t>
            </a:r>
            <a:r>
              <a:rPr lang="zh-CN" altLang="en-US"/>
              <a:t>提升检索 </a:t>
            </a:r>
            <a:r>
              <a:rPr lang="en-US" altLang="zh-CN"/>
              <a:t>precision/recall。</a:t>
            </a:r>
            <a:endParaRPr lang="en-US" altLang="zh-CN"/>
          </a:p>
          <a:p>
            <a:r>
              <a:rPr lang="zh-CN" altLang="en-US"/>
              <a:t>4. ✅**可调试、可回溯**：</a:t>
            </a:r>
            <a:r>
              <a:rPr lang="en-US" altLang="zh-CN"/>
              <a:t>DAG </a:t>
            </a:r>
            <a:r>
              <a:rPr lang="zh-CN" altLang="en-US"/>
              <a:t>是显式数据结构，错误可以定位到具体节点；未来可扩展自动纠错回退。</a:t>
            </a:r>
            <a:endParaRPr lang="zh-CN" altLang="en-US"/>
          </a:p>
          <a:p>
            <a:r>
              <a:rPr lang="zh-CN" altLang="en-US"/>
              <a:t>5. ✅**模块化兼容**：</a:t>
            </a:r>
            <a:r>
              <a:rPr lang="en-US" altLang="zh-CN"/>
              <a:t>DAG </a:t>
            </a:r>
            <a:r>
              <a:rPr lang="zh-CN" altLang="en-US"/>
              <a:t>节点内部可以接入 </a:t>
            </a:r>
            <a:r>
              <a:rPr lang="en-US" altLang="zh-CN"/>
              <a:t>Self‑RAG </a:t>
            </a:r>
            <a:r>
              <a:rPr lang="zh-CN" altLang="en-US"/>
              <a:t>等任意 </a:t>
            </a:r>
            <a:r>
              <a:rPr lang="en-US" altLang="zh-CN"/>
              <a:t>RAG </a:t>
            </a:r>
            <a:r>
              <a:rPr lang="zh-CN" altLang="en-US"/>
              <a:t>系统，即 </a:t>
            </a:r>
            <a:r>
              <a:rPr lang="en-US" altLang="zh-CN"/>
              <a:t>Plan∗‑Self‑RAG </a:t>
            </a:r>
            <a:r>
              <a:rPr lang="zh-CN" altLang="en-US"/>
              <a:t>组合方案。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## LazyGraphRAG：</a:t>
            </a:r>
            <a:r>
              <a:rPr lang="zh-CN" altLang="en-US"/>
              <a:t>索引阶段（几乎无 </a:t>
            </a:r>
            <a:r>
              <a:rPr lang="en-US" altLang="zh-CN"/>
              <a:t>LLM）,</a:t>
            </a:r>
            <a:r>
              <a:rPr lang="zh-CN" altLang="en-US">
                <a:sym typeface="+mn-ea"/>
              </a:rPr>
              <a:t>使用传统 </a:t>
            </a:r>
            <a:r>
              <a:rPr lang="en-US" altLang="zh-CN">
                <a:sym typeface="+mn-ea"/>
              </a:rPr>
              <a:t>NLP </a:t>
            </a:r>
            <a:r>
              <a:rPr lang="zh-CN" altLang="en-US">
                <a:sym typeface="+mn-ea"/>
              </a:rPr>
              <a:t>名词短语抽取，共现关系构建概念共现图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1. 文本分块；**使用传统 </a:t>
            </a:r>
            <a:r>
              <a:rPr lang="en-US" altLang="zh-CN"/>
              <a:t>NLP </a:t>
            </a:r>
            <a:r>
              <a:rPr lang="zh-CN" altLang="en-US"/>
              <a:t>名词短语抽取（非 </a:t>
            </a:r>
            <a:r>
              <a:rPr lang="en-US" altLang="zh-CN"/>
              <a:t>LLM）**</a:t>
            </a:r>
            <a:r>
              <a:rPr lang="zh-CN" altLang="en-US"/>
              <a:t>提取文本中的概念；</a:t>
            </a:r>
            <a:endParaRPr lang="zh-CN" altLang="en-US"/>
          </a:p>
          <a:p>
            <a:r>
              <a:rPr lang="zh-CN" altLang="en-US"/>
              <a:t>2. 根据名词短语的**共现关系构建概念共现图**：同一块文本同时出现的名词概念之间建立边；</a:t>
            </a:r>
            <a:endParaRPr lang="zh-CN" altLang="en-US"/>
          </a:p>
          <a:p>
            <a:r>
              <a:rPr lang="zh-CN" altLang="en-US"/>
              <a:t>3. 使用 </a:t>
            </a:r>
            <a:r>
              <a:rPr lang="en-US" altLang="zh-CN"/>
              <a:t>Leiden </a:t>
            </a:r>
            <a:r>
              <a:rPr lang="zh-CN" altLang="en-US"/>
              <a:t>算法做图社区检测，得到分层的社区结构；**不调用 </a:t>
            </a:r>
            <a:r>
              <a:rPr lang="en-US" altLang="zh-CN"/>
              <a:t>LLM </a:t>
            </a:r>
            <a:r>
              <a:rPr lang="zh-CN" altLang="en-US"/>
              <a:t>生成任何社区摘要、实体描述**，只保留图拓扑结构；</a:t>
            </a:r>
            <a:endParaRPr lang="zh-CN" altLang="en-US"/>
          </a:p>
          <a:p>
            <a:r>
              <a:rPr lang="zh-CN" altLang="en-US"/>
              <a:t>4. 同时构建普通向量索引，用于块级语义检索。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索引输出：**概念共现图（只有拓扑结构，无 </a:t>
            </a:r>
            <a:r>
              <a:rPr lang="en-US" altLang="zh-CN"/>
              <a:t>LLM </a:t>
            </a:r>
            <a:r>
              <a:rPr lang="zh-CN" altLang="en-US"/>
              <a:t>生成文本摘要） + 向量库**。没有 </a:t>
            </a:r>
            <a:r>
              <a:rPr lang="en-US" altLang="zh-CN"/>
              <a:t>LLM </a:t>
            </a:r>
            <a:r>
              <a:rPr lang="zh-CN" altLang="en-US"/>
              <a:t>产出的结构化知识摘要，这是和原版 </a:t>
            </a:r>
            <a:r>
              <a:rPr lang="en-US" altLang="zh-CN"/>
              <a:t>GraphRAG </a:t>
            </a:r>
            <a:r>
              <a:rPr lang="zh-CN" altLang="en-US"/>
              <a:t>最大区别。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首先解决基础问题：什么是多模态？ 从词源角度看 </a:t>
            </a:r>
            <a:r>
              <a:rPr lang="en-US" altLang="zh-CN"/>
              <a:t>PPT </a:t>
            </a:r>
            <a:r>
              <a:rPr lang="zh-CN" altLang="en-US"/>
              <a:t>里的英文释义，</a:t>
            </a:r>
            <a:r>
              <a:rPr lang="en-US" altLang="zh-CN"/>
              <a:t>multimodal </a:t>
            </a:r>
            <a:r>
              <a:rPr lang="zh-CN" altLang="en-US"/>
              <a:t>形容词，指包含多种模式、多种分布极值。统计学里多峰分布叫 </a:t>
            </a:r>
            <a:r>
              <a:rPr lang="en-US" altLang="zh-CN"/>
              <a:t>multimodal，</a:t>
            </a:r>
            <a:r>
              <a:rPr lang="zh-CN" altLang="en-US"/>
              <a:t>而我们 </a:t>
            </a:r>
            <a:r>
              <a:rPr lang="en-US" altLang="zh-CN"/>
              <a:t>NLP、</a:t>
            </a:r>
            <a:r>
              <a:rPr lang="zh-CN" altLang="en-US"/>
              <a:t>计算机视觉领域定义有明确边界：本课程语境下，多模态 = 文本 + 一种或多种异构感知信息，包含图像、音频、语音、电磁频谱、视频，课程核心以图像 + 文本为主要研究载体。</a:t>
            </a:r>
            <a:endParaRPr lang="zh-CN" altLang="en-US"/>
          </a:p>
          <a:p>
            <a:r>
              <a:rPr lang="zh-CN" altLang="en-US"/>
              <a:t>类比人类感知 </a:t>
            </a:r>
            <a:r>
              <a:rPr lang="en-US" altLang="zh-CN"/>
              <a:t>PPT：</a:t>
            </a:r>
            <a:r>
              <a:rPr lang="zh-CN" altLang="en-US"/>
              <a:t>人依靠视觉、听觉、嗅觉、触觉同步接收外界信息，天然是多模态生物。机器想要还原真实世界、还原真实战场，就必须学习多模态联合理解，而不是只处理纯文字。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传统 </a:t>
            </a:r>
            <a:r>
              <a:rPr lang="en-US" altLang="zh-CN"/>
              <a:t>LLM </a:t>
            </a:r>
            <a:r>
              <a:rPr lang="zh-CN" altLang="en-US"/>
              <a:t>知识抽取方法需要把全部实体、关系 </a:t>
            </a:r>
            <a:r>
              <a:rPr lang="en-US" altLang="zh-CN"/>
              <a:t>Schema </a:t>
            </a:r>
            <a:r>
              <a:rPr lang="zh-CN" altLang="en-US"/>
              <a:t>放进提示词，当本体规模大时会触发上下文溢出；无预定义 </a:t>
            </a:r>
            <a:r>
              <a:rPr lang="en-US" altLang="zh-CN"/>
              <a:t>Schema </a:t>
            </a:r>
            <a:r>
              <a:rPr lang="zh-CN" altLang="en-US"/>
              <a:t>场景下难以产出简洁、低冗余图谱；传统聚类归一算法容易出现过度泛化，把语义完全不同的关系合并为一类</a:t>
            </a:r>
            <a:r>
              <a:rPr lang="en-US" altLang="zh-CN"/>
              <a:t>arXiv。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## EDC </a:t>
            </a:r>
            <a:r>
              <a:rPr lang="zh-CN" altLang="en-US"/>
              <a:t>三阶段核心流水线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**Extract（</a:t>
            </a:r>
            <a:r>
              <a:rPr lang="zh-CN" altLang="en-US"/>
              <a:t>开放信息抽取）**：少样本提示大模型，不绑定固定 </a:t>
            </a:r>
            <a:r>
              <a:rPr lang="en-US" altLang="zh-CN"/>
              <a:t>Schema，</a:t>
            </a:r>
            <a:r>
              <a:rPr lang="zh-CN" altLang="en-US"/>
              <a:t>自由从文本抽取原始 &lt;主语，关系，宾语&gt; 三元组，得到原始开放知识图谱。</a:t>
            </a:r>
            <a:endParaRPr lang="zh-CN" altLang="en-US"/>
          </a:p>
          <a:p>
            <a:r>
              <a:rPr lang="en-US" altLang="zh-CN"/>
              <a:t>2. **Define（</a:t>
            </a:r>
            <a:r>
              <a:rPr lang="zh-CN" altLang="en-US"/>
              <a:t>模式定义）**：对抽取得到的每一个关系、实体类型，让 </a:t>
            </a:r>
            <a:r>
              <a:rPr lang="en-US" altLang="zh-CN"/>
              <a:t>LLM </a:t>
            </a:r>
            <a:r>
              <a:rPr lang="zh-CN" altLang="en-US"/>
              <a:t>生成自然语言语义定义，用于后续语义对齐。</a:t>
            </a:r>
            <a:endParaRPr lang="zh-CN" altLang="en-US"/>
          </a:p>
          <a:p>
            <a:r>
              <a:rPr lang="en-US" altLang="zh-CN"/>
              <a:t>3. **Canonicalize（</a:t>
            </a:r>
            <a:r>
              <a:rPr lang="zh-CN" altLang="en-US"/>
              <a:t>模式规范化）**：分为两种工作模式：</a:t>
            </a:r>
            <a:endParaRPr lang="zh-CN" altLang="en-US"/>
          </a:p>
          <a:p>
            <a:r>
              <a:rPr lang="zh-CN" altLang="en-US"/>
              <a:t>   - **目标对齐 </a:t>
            </a:r>
            <a:r>
              <a:rPr lang="en-US" altLang="zh-CN"/>
              <a:t>Target‑Alignment**：</a:t>
            </a:r>
            <a:r>
              <a:rPr lang="zh-CN" altLang="en-US"/>
              <a:t>已有预定义 </a:t>
            </a:r>
            <a:r>
              <a:rPr lang="en-US" altLang="zh-CN"/>
              <a:t>Schema，</a:t>
            </a:r>
            <a:r>
              <a:rPr lang="zh-CN" altLang="en-US"/>
              <a:t>通过向量相似度检索候选类型，再交由 </a:t>
            </a:r>
            <a:r>
              <a:rPr lang="en-US" altLang="zh-CN"/>
              <a:t>LLM </a:t>
            </a:r>
            <a:r>
              <a:rPr lang="zh-CN" altLang="en-US"/>
              <a:t>校验，将原始三元组对齐到给定本体；不匹配的三元组直接舍弃。</a:t>
            </a:r>
            <a:endParaRPr lang="zh-CN" altLang="en-US"/>
          </a:p>
          <a:p>
            <a:r>
              <a:rPr lang="zh-CN" altLang="en-US"/>
              <a:t>   - **自规范化 </a:t>
            </a:r>
            <a:r>
              <a:rPr lang="en-US" altLang="zh-CN"/>
              <a:t>Self‑Canonicalization**：</a:t>
            </a:r>
            <a:r>
              <a:rPr lang="zh-CN" altLang="en-US"/>
              <a:t>没有预定义 </a:t>
            </a:r>
            <a:r>
              <a:rPr lang="en-US" altLang="zh-CN"/>
              <a:t>Schema，</a:t>
            </a:r>
            <a:r>
              <a:rPr lang="zh-CN" altLang="en-US"/>
              <a:t>基于语义定义聚合等价关系，自动归纳生成 </a:t>
            </a:r>
            <a:r>
              <a:rPr lang="en-US" altLang="zh-CN"/>
              <a:t>Schema，</a:t>
            </a:r>
            <a:r>
              <a:rPr lang="zh-CN" altLang="en-US"/>
              <a:t>新关系直接加入本体。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传统知识库构建多采用**抽取式方法**，从文本中抽取实体与关系，适合百科类知识；但**常识知识大多是文本中隐式存在、不会显式写出**，抽取方法很难捕获。</a:t>
            </a:r>
            <a:endParaRPr lang="zh-CN" altLang="en-US"/>
          </a:p>
          <a:p>
            <a:r>
              <a:rPr lang="zh-CN" altLang="en-US"/>
              <a:t>现有常识知识库 </a:t>
            </a:r>
            <a:r>
              <a:rPr lang="en-US" altLang="zh-CN"/>
              <a:t>ATOMIC、ConceptNet </a:t>
            </a:r>
            <a:r>
              <a:rPr lang="zh-CN" altLang="en-US"/>
              <a:t>依靠人工标注构建，成本高、覆盖不全。</a:t>
            </a:r>
            <a:endParaRPr lang="zh-CN" altLang="en-US"/>
          </a:p>
          <a:p>
            <a:r>
              <a:rPr lang="zh-CN" altLang="en-US"/>
              <a:t>本文提出**</a:t>
            </a:r>
            <a:r>
              <a:rPr lang="en-US" altLang="zh-CN"/>
              <a:t>COMET（Commonsense Transformers）**：</a:t>
            </a:r>
            <a:r>
              <a:rPr lang="zh-CN" altLang="en-US"/>
              <a:t>利用预训练生成式语言模型，基于已有常识知识库种子三元组\((</a:t>
            </a:r>
            <a:r>
              <a:rPr lang="en-US" altLang="zh-CN"/>
              <a:t>s,r,o)\)</a:t>
            </a:r>
            <a:r>
              <a:rPr lang="zh-CN" altLang="en-US"/>
              <a:t>做微调，**生成全新的常识三元组，实现常识知识图谱自动补全与扩充**，不是从文本抽取，而是模型生成隐式常识。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任务定义：给定**主体 </a:t>
            </a:r>
            <a:r>
              <a:rPr lang="en-US" altLang="zh-CN"/>
              <a:t>s + </a:t>
            </a:r>
            <a:r>
              <a:rPr lang="zh-CN" altLang="en-US"/>
              <a:t>关系 </a:t>
            </a:r>
            <a:r>
              <a:rPr lang="en-US" altLang="zh-CN"/>
              <a:t>r**，</a:t>
            </a:r>
            <a:r>
              <a:rPr lang="zh-CN" altLang="en-US"/>
              <a:t>生成客体 </a:t>
            </a:r>
            <a:r>
              <a:rPr lang="en-US" altLang="zh-CN"/>
              <a:t>o，</a:t>
            </a:r>
            <a:r>
              <a:rPr lang="zh-CN" altLang="en-US"/>
              <a:t>得到完整常识三元组\((</a:t>
            </a:r>
            <a:r>
              <a:rPr lang="en-US" altLang="zh-CN"/>
              <a:t>s,r,o)\)。</a:t>
            </a:r>
            <a:endParaRPr lang="en-US" altLang="zh-CN"/>
          </a:p>
          <a:p>
            <a:r>
              <a:rPr lang="zh-CN" altLang="en-US"/>
              <a:t>&gt; 例：\(</a:t>
            </a:r>
            <a:r>
              <a:rPr lang="en-US" altLang="zh-CN"/>
              <a:t>s=\text{take a nap},\ r=\text{Causes} \rightarrow o=\text{have energy}\)。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## 2. 模型设计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COMET </a:t>
            </a:r>
            <a:r>
              <a:rPr lang="zh-CN" altLang="en-US"/>
              <a:t>基于 </a:t>
            </a:r>
            <a:r>
              <a:rPr lang="en-US" altLang="zh-CN"/>
              <a:t>GPT（Decoder‑only Transformer）</a:t>
            </a:r>
            <a:r>
              <a:rPr lang="zh-CN" altLang="en-US"/>
              <a:t>做微调，不改动 </a:t>
            </a:r>
            <a:r>
              <a:rPr lang="en-US" altLang="zh-CN"/>
              <a:t>Transformer </a:t>
            </a:r>
            <a:r>
              <a:rPr lang="zh-CN" altLang="en-US"/>
              <a:t>基础结构，重点设计输入序列格式：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**输入序列拼接格式**：`[</a:t>
            </a:r>
            <a:r>
              <a:rPr lang="en-US" altLang="zh-CN"/>
              <a:t>s</a:t>
            </a:r>
            <a:r>
              <a:rPr lang="zh-CN" altLang="en-US"/>
              <a:t>的</a:t>
            </a:r>
            <a:r>
              <a:rPr lang="en-US" altLang="zh-CN"/>
              <a:t>token] + [MASK</a:t>
            </a:r>
            <a:r>
              <a:rPr lang="zh-CN" altLang="en-US"/>
              <a:t>占位符] + [关系</a:t>
            </a:r>
            <a:r>
              <a:rPr lang="en-US" altLang="zh-CN"/>
              <a:t>r token] + [MASK</a:t>
            </a:r>
            <a:r>
              <a:rPr lang="zh-CN" altLang="en-US"/>
              <a:t>占位符] + [待生成</a:t>
            </a:r>
            <a:r>
              <a:rPr lang="en-US" altLang="zh-CN"/>
              <a:t>o]`</a:t>
            </a:r>
            <a:endParaRPr lang="en-US" altLang="zh-CN"/>
          </a:p>
          <a:p>
            <a:r>
              <a:rPr lang="en-US" altLang="zh-CN"/>
              <a:t>   - ATOMIC：</a:t>
            </a:r>
            <a:r>
              <a:rPr lang="zh-CN" altLang="en-US"/>
              <a:t>关系是单个特殊标记，只在`</a:t>
            </a:r>
            <a:r>
              <a:rPr lang="en-US" altLang="zh-CN"/>
              <a:t>s`</a:t>
            </a:r>
            <a:r>
              <a:rPr lang="zh-CN" altLang="en-US"/>
              <a:t>与`</a:t>
            </a:r>
            <a:r>
              <a:rPr lang="en-US" altLang="zh-CN"/>
              <a:t>r`</a:t>
            </a:r>
            <a:r>
              <a:rPr lang="zh-CN" altLang="en-US"/>
              <a:t>之间使用 </a:t>
            </a:r>
            <a:r>
              <a:rPr lang="en-US" altLang="zh-CN"/>
              <a:t>mask；</a:t>
            </a:r>
            <a:endParaRPr lang="en-US" altLang="zh-CN"/>
          </a:p>
          <a:p>
            <a:r>
              <a:rPr lang="en-US" altLang="zh-CN"/>
              <a:t>   - ConceptNet：</a:t>
            </a:r>
            <a:r>
              <a:rPr lang="zh-CN" altLang="en-US"/>
              <a:t>关系是多词自然语言短语，`</a:t>
            </a:r>
            <a:r>
              <a:rPr lang="en-US" altLang="zh-CN"/>
              <a:t>s‑r`、`r‑o`</a:t>
            </a:r>
            <a:r>
              <a:rPr lang="zh-CN" altLang="en-US"/>
              <a:t>两段都插入 </a:t>
            </a:r>
            <a:r>
              <a:rPr lang="en-US" altLang="zh-CN"/>
              <a:t>mask </a:t>
            </a:r>
            <a:r>
              <a:rPr lang="zh-CN" altLang="en-US"/>
              <a:t>占位。</a:t>
            </a:r>
            <a:endParaRPr lang="zh-CN" altLang="en-US"/>
          </a:p>
          <a:p>
            <a:r>
              <a:rPr lang="zh-CN" altLang="en-US"/>
              <a:t>2. **训练损失**：标准自回归负对数似然，最大化在输入\(</a:t>
            </a:r>
            <a:r>
              <a:rPr lang="en-US" altLang="zh-CN"/>
              <a:t>s,r\)</a:t>
            </a:r>
            <a:r>
              <a:rPr lang="zh-CN" altLang="en-US"/>
              <a:t>条件下生成客体</a:t>
            </a:r>
            <a:r>
              <a:rPr lang="en-US" altLang="zh-CN"/>
              <a:t>o</a:t>
            </a:r>
            <a:r>
              <a:rPr lang="zh-CN" altLang="en-US"/>
              <a:t>的条件概率。</a:t>
            </a:r>
            <a:endParaRPr lang="zh-CN" altLang="en-US"/>
          </a:p>
          <a:p>
            <a:r>
              <a:rPr lang="zh-CN" altLang="en-US"/>
              <a:t>3. **初始化**：权重复用 </a:t>
            </a:r>
            <a:r>
              <a:rPr lang="en-US" altLang="zh-CN"/>
              <a:t>OpenAI GPT </a:t>
            </a:r>
            <a:r>
              <a:rPr lang="zh-CN" altLang="en-US"/>
              <a:t>预训练权重；新增的关系特殊 </a:t>
            </a:r>
            <a:r>
              <a:rPr lang="en-US" altLang="zh-CN"/>
              <a:t>token </a:t>
            </a:r>
            <a:r>
              <a:rPr lang="zh-CN" altLang="en-US"/>
              <a:t>从正态分布随机初始化。</a:t>
            </a:r>
            <a:endParaRPr lang="zh-CN" altLang="en-US"/>
          </a:p>
          <a:p>
            <a:r>
              <a:rPr lang="zh-CN" altLang="en-US"/>
              <a:t>4. 模型配置：12 层、768 维隐层、12 头注意力，</a:t>
            </a:r>
            <a:r>
              <a:rPr lang="en-US" altLang="zh-CN"/>
              <a:t>GeLU </a:t>
            </a:r>
            <a:r>
              <a:rPr lang="zh-CN" altLang="en-US"/>
              <a:t>激活，</a:t>
            </a:r>
            <a:r>
              <a:rPr lang="en-US" altLang="zh-CN"/>
              <a:t>dropout=0.1。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重要 </a:t>
            </a:r>
            <a:r>
              <a:rPr lang="en-US" altLang="zh-CN"/>
              <a:t>ablation：**</a:t>
            </a:r>
            <a:r>
              <a:rPr lang="zh-CN" altLang="en-US"/>
              <a:t>去掉预训练权重、从零训练 </a:t>
            </a:r>
            <a:r>
              <a:rPr lang="en-US" altLang="zh-CN"/>
              <a:t>COMET，</a:t>
            </a:r>
            <a:r>
              <a:rPr lang="zh-CN" altLang="en-US"/>
              <a:t>效果大幅下降**，证明预训练大模型内部已经存储大量隐式常识，可以迁移用于知识生成。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首先解决基础问题：什么是多模态？ 从词源角度看 </a:t>
            </a:r>
            <a:r>
              <a:rPr lang="en-US" altLang="zh-CN"/>
              <a:t>PPT </a:t>
            </a:r>
            <a:r>
              <a:rPr lang="zh-CN" altLang="en-US"/>
              <a:t>里的英文释义，</a:t>
            </a:r>
            <a:r>
              <a:rPr lang="en-US" altLang="zh-CN"/>
              <a:t>multimodal </a:t>
            </a:r>
            <a:r>
              <a:rPr lang="zh-CN" altLang="en-US"/>
              <a:t>形容词，指包含多种模式、多种分布极值。统计学里多峰分布叫 </a:t>
            </a:r>
            <a:r>
              <a:rPr lang="en-US" altLang="zh-CN"/>
              <a:t>multimodal，</a:t>
            </a:r>
            <a:r>
              <a:rPr lang="zh-CN" altLang="en-US"/>
              <a:t>而我们 </a:t>
            </a:r>
            <a:r>
              <a:rPr lang="en-US" altLang="zh-CN"/>
              <a:t>NLP、</a:t>
            </a:r>
            <a:r>
              <a:rPr lang="zh-CN" altLang="en-US"/>
              <a:t>计算机视觉领域定义有明确边界：本课程语境下，多模态 = 文本 + 一种或多种异构感知信息，包含图像、音频、语音、电磁频谱、视频，课程核心以图像 + 文本为主要研究载体。</a:t>
            </a:r>
            <a:endParaRPr lang="zh-CN" altLang="en-US"/>
          </a:p>
          <a:p>
            <a:r>
              <a:rPr lang="zh-CN" altLang="en-US"/>
              <a:t>类比人类感知 </a:t>
            </a:r>
            <a:r>
              <a:rPr lang="en-US" altLang="zh-CN"/>
              <a:t>PPT：</a:t>
            </a:r>
            <a:r>
              <a:rPr lang="zh-CN" altLang="en-US"/>
              <a:t>人依靠视觉、听觉、嗅觉、触觉同步接收外界信息，天然是多模态生物。机器想要还原真实世界、还原真实战场，就必须学习多模态联合理解，而不是只处理纯文字。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Query decomposion-</a:t>
            </a:r>
            <a:r>
              <a:rPr lang="zh-CN" altLang="en-US"/>
              <a:t>本文聚焦**复杂查询下 </a:t>
            </a:r>
            <a:r>
              <a:rPr lang="en-US" altLang="zh-CN"/>
              <a:t>RAG </a:t>
            </a:r>
            <a:r>
              <a:rPr lang="zh-CN" altLang="en-US"/>
              <a:t>的查询分解与文档选择问题**。复杂问题拆分为多个子查询后，如果为每个子查询固定取回大量文档，会带来上下文溢出、噪声多、计算开销大；本文将该问题建模为**多臂老虎机（</a:t>
            </a:r>
            <a:r>
              <a:rPr lang="en-US" altLang="zh-CN"/>
              <a:t>MAB，</a:t>
            </a:r>
            <a:r>
              <a:rPr lang="zh-CN" altLang="en-US"/>
              <a:t>强化学习）**，在固定文档预算约束下，动态平衡「探索（尝试新子查询）」与「利用（深挖已有效果好的子查询）」，自适应选择子查询和文档，提升证据质量与长文本生成效果，同时拓展支持**层次化子查询分解**。</a:t>
            </a:r>
            <a:endParaRPr lang="zh-CN" altLang="en-US"/>
          </a:p>
          <a:p>
            <a:r>
              <a:rPr lang="zh-CN" altLang="en-US">
                <a:sym typeface="+mn-ea"/>
              </a:rPr>
              <a:t>1. 将 </a:t>
            </a:r>
            <a:r>
              <a:rPr lang="en-US" altLang="zh-CN">
                <a:sym typeface="+mn-ea"/>
              </a:rPr>
              <a:t>RAG </a:t>
            </a:r>
            <a:r>
              <a:rPr lang="zh-CN" altLang="en-US">
                <a:sym typeface="+mn-ea"/>
              </a:rPr>
              <a:t>查询‑分解‑文档选择形式化为**多臂老虎机 </a:t>
            </a:r>
            <a:r>
              <a:rPr lang="en-US" altLang="zh-CN">
                <a:sym typeface="+mn-ea"/>
              </a:rPr>
              <a:t>MAB </a:t>
            </a:r>
            <a:r>
              <a:rPr lang="zh-CN" altLang="en-US">
                <a:sym typeface="+mn-ea"/>
              </a:rPr>
              <a:t>问题**；使用 </a:t>
            </a:r>
            <a:r>
              <a:rPr lang="en-US" altLang="zh-CN">
                <a:sym typeface="+mn-ea"/>
              </a:rPr>
              <a:t>Thompson </a:t>
            </a:r>
            <a:r>
              <a:rPr lang="zh-CN" altLang="en-US">
                <a:sym typeface="+mn-ea"/>
              </a:rPr>
              <a:t>采样，基于伯努利 </a:t>
            </a:r>
            <a:r>
              <a:rPr lang="en-US" altLang="zh-CN">
                <a:sym typeface="+mn-ea"/>
              </a:rPr>
              <a:t>Beta </a:t>
            </a:r>
            <a:r>
              <a:rPr lang="zh-CN" altLang="en-US">
                <a:sym typeface="+mn-ea"/>
              </a:rPr>
              <a:t>后验分布估计每个子查询的信息效用；</a:t>
            </a:r>
            <a:endParaRPr lang="zh-CN" altLang="en-US"/>
          </a:p>
          <a:p>
            <a:r>
              <a:rPr lang="zh-CN" altLang="en-US">
                <a:sym typeface="+mn-ea"/>
              </a:rPr>
              <a:t>2. 设计综合奖励函数：融合**排序信号、文档多样性、探索激励项**，提升筛选文档质量；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研究背景与问题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复杂用户查询（多视角、否定、多实体）需要拆分为多个原子子查询再分别检索。</a:t>
            </a:r>
            <a:endParaRPr lang="zh-CN" altLang="en-US"/>
          </a:p>
          <a:p>
            <a:r>
              <a:rPr lang="zh-CN" altLang="en-US"/>
              <a:t>现有做法的缺陷：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固定策略：每个子查询取回固定数量文档。要么探索过多拿到大量噪声文档；要么过度利用少数子查询，信息覆盖不全；</a:t>
            </a:r>
            <a:endParaRPr lang="zh-CN" altLang="en-US"/>
          </a:p>
          <a:p>
            <a:r>
              <a:rPr lang="en-US" altLang="zh-CN"/>
              <a:t>2. LLM </a:t>
            </a:r>
            <a:r>
              <a:rPr lang="zh-CN" altLang="en-US"/>
              <a:t>上下文窗口有限，大量无关文档引入噪声，损害下游生成质量；</a:t>
            </a:r>
            <a:endParaRPr lang="zh-CN" altLang="en-US"/>
          </a:p>
          <a:p>
            <a:r>
              <a:rPr lang="zh-CN" altLang="en-US"/>
              <a:t>3. 缺少原则性机制：无法动态判断哪些子查询有高价值、每个子查询该取多少篇文档。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核心困境：**探索‑利用权衡**：是继续深挖当前表现好的子查询，还是尝试新的尚未验证的子查询。</a:t>
            </a:r>
            <a:endParaRPr lang="zh-CN" altLang="en-US"/>
          </a:p>
          <a:p>
            <a:r>
              <a:rPr lang="zh-CN" altLang="en-US"/>
              <a:t>&gt; 本文创新视角：把每个子查询看作老虎机的一个臂，每读取一篇文档获得相关性反馈，迭代更新对子查询效用的信念分布，在总文档预算限制下做动态选择。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核心贡献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将 </a:t>
            </a:r>
            <a:r>
              <a:rPr lang="en-US" altLang="zh-CN"/>
              <a:t>RAG </a:t>
            </a:r>
            <a:r>
              <a:rPr lang="zh-CN" altLang="en-US"/>
              <a:t>查询‑分解‑文档选择形式化为**多臂老虎机 </a:t>
            </a:r>
            <a:r>
              <a:rPr lang="en-US" altLang="zh-CN"/>
              <a:t>MAB </a:t>
            </a:r>
            <a:r>
              <a:rPr lang="zh-CN" altLang="en-US"/>
              <a:t>问题**；使用 </a:t>
            </a:r>
            <a:r>
              <a:rPr lang="en-US" altLang="zh-CN"/>
              <a:t>Thompson </a:t>
            </a:r>
            <a:r>
              <a:rPr lang="zh-CN" altLang="en-US"/>
              <a:t>采样，基于伯努利 </a:t>
            </a:r>
            <a:r>
              <a:rPr lang="en-US" altLang="zh-CN"/>
              <a:t>Beta </a:t>
            </a:r>
            <a:r>
              <a:rPr lang="zh-CN" altLang="en-US"/>
              <a:t>后验分布估计每个子查询的信息效用；</a:t>
            </a:r>
            <a:endParaRPr lang="zh-CN" altLang="en-US"/>
          </a:p>
          <a:p>
            <a:r>
              <a:rPr lang="zh-CN" altLang="en-US"/>
              <a:t>2. 设计综合奖励函数：融合**排序信号、文档多样性、探索激励项**，提升筛选文档质量；</a:t>
            </a:r>
            <a:endParaRPr lang="zh-CN" altLang="en-US"/>
          </a:p>
          <a:p>
            <a:r>
              <a:rPr lang="zh-CN" altLang="en-US"/>
              <a:t>3. 提出**带关联老虎机的层次化查询分解**：高价值子查询可以进一步拆解，子查询继承父节点后验分布；小预算下显著提升检索精度；</a:t>
            </a:r>
            <a:endParaRPr lang="zh-CN" altLang="en-US"/>
          </a:p>
          <a:p>
            <a:r>
              <a:rPr lang="zh-CN" altLang="en-US"/>
              <a:t>4. 在 </a:t>
            </a:r>
            <a:r>
              <a:rPr lang="en-US" altLang="zh-CN"/>
              <a:t>NeuCLIR、ResearchyQuestions </a:t>
            </a:r>
            <a:r>
              <a:rPr lang="zh-CN" altLang="en-US"/>
              <a:t>数据集验证，文档级精度提升 35%，</a:t>
            </a:r>
            <a:r>
              <a:rPr lang="en-US" altLang="zh-CN"/>
              <a:t>α‑nDCG </a:t>
            </a:r>
            <a:r>
              <a:rPr lang="zh-CN" altLang="en-US"/>
              <a:t>提升 15%，下游长报告生成的事实支持度、信息块覆盖率明显提升。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方法整体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1）基础设定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用户复杂问题 → </a:t>
            </a:r>
            <a:r>
              <a:rPr lang="en-US" altLang="zh-CN"/>
              <a:t>LLM </a:t>
            </a:r>
            <a:r>
              <a:rPr lang="zh-CN" altLang="en-US"/>
              <a:t>分解为 </a:t>
            </a:r>
            <a:r>
              <a:rPr lang="en-US" altLang="zh-CN"/>
              <a:t>K </a:t>
            </a:r>
            <a:r>
              <a:rPr lang="zh-CN" altLang="en-US"/>
              <a:t>个子查询\(\{</a:t>
            </a:r>
            <a:r>
              <a:rPr lang="en-US" altLang="zh-CN"/>
              <a:t>q_1 ... q_K\}\)；</a:t>
            </a:r>
            <a:endParaRPr lang="en-US" altLang="zh-CN"/>
          </a:p>
          <a:p>
            <a:r>
              <a:rPr lang="zh-CN" altLang="en-US"/>
              <a:t>- 每个子查询检索返回排好序的文档列表；</a:t>
            </a:r>
            <a:endParaRPr lang="zh-CN" altLang="en-US"/>
          </a:p>
          <a:p>
            <a:r>
              <a:rPr lang="en-US" altLang="zh-CN"/>
              <a:t>- b：</a:t>
            </a:r>
            <a:r>
              <a:rPr lang="zh-CN" altLang="en-US"/>
              <a:t>总文档预算（允许读取文档的上限，远小于全部候选文档总和）；</a:t>
            </a:r>
            <a:endParaRPr lang="zh-CN" altLang="en-US"/>
          </a:p>
          <a:p>
            <a:r>
              <a:rPr lang="zh-CN" altLang="en-US"/>
              <a:t>- 每个**子查询视为老虎机的一个臂**；拉取一个臂 = 读取该子查询排序列表中下一篇文档；读取文档后评估相关性，更新该臂的后验信念。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2）离散伯努利 </a:t>
            </a:r>
            <a:r>
              <a:rPr lang="en-US" altLang="zh-CN"/>
              <a:t>Thompson </a:t>
            </a:r>
            <a:r>
              <a:rPr lang="zh-CN" altLang="en-US"/>
              <a:t>采样（主模型）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初始化每个子查询 </a:t>
            </a:r>
            <a:r>
              <a:rPr lang="en-US" altLang="zh-CN"/>
              <a:t>Beta </a:t>
            </a:r>
            <a:r>
              <a:rPr lang="zh-CN" altLang="en-US"/>
              <a:t>先验\(</a:t>
            </a:r>
            <a:r>
              <a:rPr lang="en-US" altLang="zh-CN"/>
              <a:t>Beta(\alpha_i=1,\beta_i=1)\)；</a:t>
            </a:r>
            <a:endParaRPr lang="en-US" altLang="zh-CN"/>
          </a:p>
          <a:p>
            <a:r>
              <a:rPr lang="zh-CN" altLang="en-US"/>
              <a:t>2. 循环</a:t>
            </a:r>
            <a:r>
              <a:rPr lang="en-US" altLang="zh-CN"/>
              <a:t>b</a:t>
            </a:r>
            <a:r>
              <a:rPr lang="zh-CN" altLang="en-US"/>
              <a:t>次（预算耗尽停止）：</a:t>
            </a:r>
            <a:endParaRPr lang="zh-CN" altLang="en-US"/>
          </a:p>
          <a:p>
            <a:r>
              <a:rPr lang="zh-CN" altLang="en-US"/>
              <a:t>1）从每个子查询的 </a:t>
            </a:r>
            <a:r>
              <a:rPr lang="en-US" altLang="zh-CN"/>
              <a:t>Beta </a:t>
            </a:r>
            <a:r>
              <a:rPr lang="zh-CN" altLang="en-US"/>
              <a:t>分布采样效用值，选出效用最高的子查询臂；</a:t>
            </a:r>
            <a:endParaRPr lang="zh-CN" altLang="en-US"/>
          </a:p>
          <a:p>
            <a:r>
              <a:rPr lang="zh-CN" altLang="en-US"/>
              <a:t>2）读取该子查询还未访问过的下一篇文档；</a:t>
            </a:r>
            <a:endParaRPr lang="zh-CN" altLang="en-US"/>
          </a:p>
          <a:p>
            <a:r>
              <a:rPr lang="zh-CN" altLang="en-US"/>
              <a:t>3）得到文档相关性 </a:t>
            </a:r>
            <a:r>
              <a:rPr lang="en-US" altLang="zh-CN"/>
              <a:t>reward（</a:t>
            </a:r>
            <a:r>
              <a:rPr lang="zh-CN" altLang="en-US"/>
              <a:t>可以来自人工标注或者 </a:t>
            </a:r>
            <a:r>
              <a:rPr lang="en-US" altLang="zh-CN"/>
              <a:t>LLM </a:t>
            </a:r>
            <a:r>
              <a:rPr lang="zh-CN" altLang="en-US"/>
              <a:t>裁判）；</a:t>
            </a:r>
            <a:endParaRPr lang="zh-CN" altLang="en-US"/>
          </a:p>
          <a:p>
            <a:r>
              <a:rPr lang="zh-CN" altLang="en-US"/>
              <a:t>4）根据 </a:t>
            </a:r>
            <a:r>
              <a:rPr lang="en-US" altLang="zh-CN"/>
              <a:t>reward </a:t>
            </a:r>
            <a:r>
              <a:rPr lang="zh-CN" altLang="en-US"/>
              <a:t>更新对应臂的 </a:t>
            </a:r>
            <a:r>
              <a:rPr lang="en-US" altLang="zh-CN"/>
              <a:t>Beta </a:t>
            </a:r>
            <a:r>
              <a:rPr lang="zh-CN" altLang="en-US"/>
              <a:t>后验（正样本增大\(\</a:t>
            </a:r>
            <a:r>
              <a:rPr lang="en-US" altLang="zh-CN"/>
              <a:t>alpha\)，</a:t>
            </a:r>
            <a:r>
              <a:rPr lang="zh-CN" altLang="en-US"/>
              <a:t>负样本增大\(\</a:t>
            </a:r>
            <a:r>
              <a:rPr lang="en-US" altLang="zh-CN"/>
              <a:t>beta\)）；</a:t>
            </a:r>
            <a:endParaRPr lang="en-US" altLang="zh-CN"/>
          </a:p>
          <a:p>
            <a:r>
              <a:rPr lang="zh-CN" altLang="en-US"/>
              <a:t>3. 收集全部选中的文档送入 </a:t>
            </a:r>
            <a:r>
              <a:rPr lang="en-US" altLang="zh-CN"/>
              <a:t>RAG </a:t>
            </a:r>
            <a:r>
              <a:rPr lang="zh-CN" altLang="en-US"/>
              <a:t>做生成。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也提供高斯连续版本，但实验证明伯努利表现更好。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3）奖励函数设计（三大要素）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\(r\left(a_{t}, n\right)=</a:t>
            </a:r>
            <a:endParaRPr lang="en-US" altLang="zh-CN"/>
          </a:p>
          <a:p>
            <a:r>
              <a:rPr lang="en-US" altLang="zh-CN"/>
              <a:t>\frac{1}{k} \sum_{i=n}^{n+k-1} Relevance\left(d_{a_{t}, i}\right)</a:t>
            </a:r>
            <a:endParaRPr lang="en-US" altLang="zh-CN"/>
          </a:p>
          <a:p>
            <a:r>
              <a:rPr lang="en-US" altLang="zh-CN"/>
              <a:t>\cdot \left(1-\frac{max _{(i, j) \in O} cos (d_{a_{t}, n}, d_{i, j})+1}{2}\right)</a:t>
            </a:r>
            <a:endParaRPr lang="en-US" altLang="zh-CN"/>
          </a:p>
          <a:p>
            <a:r>
              <a:rPr lang="en-US" altLang="zh-CN"/>
              <a:t>+c \cdot \sqrt{\frac{log _{2}(n+1)}{n}}\)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1. **排序窗口信号**：取排序列表局部窗口 </a:t>
            </a:r>
            <a:r>
              <a:rPr lang="en-US" altLang="zh-CN"/>
              <a:t>k </a:t>
            </a:r>
            <a:r>
              <a:rPr lang="zh-CN" altLang="en-US"/>
              <a:t>篇文档平均相关性，利用检索器排序先验；</a:t>
            </a:r>
            <a:endParaRPr lang="zh-CN" altLang="en-US"/>
          </a:p>
          <a:p>
            <a:r>
              <a:rPr lang="zh-CN" altLang="en-US"/>
              <a:t>2. **多样性项**：计算与已选文档集合的余弦相似度，惩罚内容高度重复文档；</a:t>
            </a:r>
            <a:endParaRPr lang="zh-CN" altLang="en-US"/>
          </a:p>
          <a:p>
            <a:r>
              <a:rPr lang="en-US" altLang="zh-CN"/>
              <a:t>3. **UCB </a:t>
            </a:r>
            <a:r>
              <a:rPr lang="zh-CN" altLang="en-US"/>
              <a:t>探索激励项**：对采样次数很少的子查询给予奖励，保证不会完全忽略潜在有用的新子查询。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4）层次化查询分解 + 关联多臂老虎机 </a:t>
            </a:r>
            <a:r>
              <a:rPr lang="en-US" altLang="zh-CN"/>
              <a:t>Correlated MAB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简单单层分解能力有限，复杂问题需要多层递归拆解：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当某个子查询的期望效用超过阈值\(\</a:t>
            </a:r>
            <a:r>
              <a:rPr lang="en-US" altLang="zh-CN"/>
              <a:t>tau\)，</a:t>
            </a:r>
            <a:r>
              <a:rPr lang="zh-CN" altLang="en-US"/>
              <a:t>就把它进一步拆分为若干子子查询；</a:t>
            </a:r>
            <a:endParaRPr lang="zh-CN" altLang="en-US"/>
          </a:p>
          <a:p>
            <a:r>
              <a:rPr lang="zh-CN" altLang="en-US"/>
              <a:t>2. **子查询继承父节点的 </a:t>
            </a:r>
            <a:r>
              <a:rPr lang="en-US" altLang="zh-CN"/>
              <a:t>Beta </a:t>
            </a:r>
            <a:r>
              <a:rPr lang="zh-CN" altLang="en-US"/>
              <a:t>后验**：\(</a:t>
            </a:r>
            <a:r>
              <a:rPr lang="en-US" altLang="zh-CN"/>
              <a:t>Beta(\lambda\alpha_i,\lambda\beta_i)\)，\(\lambda\)</a:t>
            </a:r>
            <a:r>
              <a:rPr lang="zh-CN" altLang="en-US"/>
              <a:t>为继承系数；子查询从父的已有信念出发，不是完全无信息先验；</a:t>
            </a:r>
            <a:endParaRPr lang="zh-CN" altLang="en-US"/>
          </a:p>
          <a:p>
            <a:r>
              <a:rPr lang="zh-CN" altLang="en-US"/>
              <a:t>3. 子子查询加入老虎机臂集合参与后续采样。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效果：在小预算下，优先扩展高价值分支，避免无差别扩展全部子查询，显著提升精度。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Query Construction: </a:t>
            </a:r>
            <a:r>
              <a:rPr lang="zh-CN" altLang="en-US"/>
              <a:t>本文研究**知识图谱自然语言问题转结构化查询（语义解析）**任务：把用户自然语言问句 </a:t>
            </a:r>
            <a:r>
              <a:rPr lang="en-US" altLang="zh-CN"/>
              <a:t>NLQ </a:t>
            </a:r>
            <a:r>
              <a:rPr lang="zh-CN" altLang="en-US"/>
              <a:t>转化为 </a:t>
            </a:r>
            <a:r>
              <a:rPr lang="en-US" altLang="zh-CN"/>
              <a:t>SPARQL </a:t>
            </a:r>
            <a:r>
              <a:rPr lang="zh-CN" altLang="en-US"/>
              <a:t>类图结构化查询。传统方法主要依靠对自然语言做句法解析，容易遭遇**语义鸿沟**：自然语言表达逻辑和知识图谱实际 </a:t>
            </a:r>
            <a:r>
              <a:rPr lang="en-US" altLang="zh-CN"/>
              <a:t>schema </a:t>
            </a:r>
            <a:r>
              <a:rPr lang="zh-CN" altLang="en-US"/>
              <a:t>不一致；大规模图谱下子图匹配开销高。本文提出一套基于知识图谱嵌入的端到端框架，离线学习图谱嵌入，在线在向量空间推导查询图结构，提升效果与推理效率。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研究背景与挑战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任务定义：输入自然语言问题，输出由三元组模式构成的图结构化查询，在 </a:t>
            </a:r>
            <a:r>
              <a:rPr lang="en-US" altLang="zh-CN"/>
              <a:t>DBpedia </a:t>
            </a:r>
            <a:r>
              <a:rPr lang="zh-CN" altLang="en-US"/>
              <a:t>这类知识图谱上执行得到答案。</a:t>
            </a:r>
            <a:endParaRPr lang="zh-CN" altLang="en-US"/>
          </a:p>
          <a:p>
            <a:r>
              <a:rPr lang="zh-CN" altLang="en-US"/>
              <a:t>现存两大难点：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**实体 / 关系短语歧义**：自然语言一个短语，会映射到 </a:t>
            </a:r>
            <a:r>
              <a:rPr lang="en-US" altLang="zh-CN"/>
              <a:t>KG </a:t>
            </a:r>
            <a:r>
              <a:rPr lang="zh-CN" altLang="en-US"/>
              <a:t>中多个候选实体、候选关系，直接剪枝容易丢掉正确候选项；</a:t>
            </a:r>
            <a:endParaRPr lang="zh-CN" altLang="en-US"/>
          </a:p>
          <a:p>
            <a:r>
              <a:rPr lang="zh-CN" altLang="en-US"/>
              <a:t>2. **语义鸿沟（</a:t>
            </a:r>
            <a:r>
              <a:rPr lang="en-US" altLang="zh-CN"/>
              <a:t>Semantic Gap）**：</a:t>
            </a:r>
            <a:r>
              <a:rPr lang="zh-CN" altLang="en-US"/>
              <a:t>仅分析问句句法得到的查询结构，和知识图谱实际存储模式不一致，构造出无法执行的错误查询；</a:t>
            </a:r>
            <a:endParaRPr lang="zh-CN" altLang="en-US"/>
          </a:p>
          <a:p>
            <a:r>
              <a:rPr lang="zh-CN" altLang="en-US"/>
              <a:t>3. 传统方法大量依赖子图匹配，在百万级大规模知识图谱上计算代价高。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示例：问句 “</a:t>
            </a:r>
            <a:r>
              <a:rPr lang="en-US" altLang="zh-CN"/>
              <a:t>In which country do people speak Japanese”，</a:t>
            </a:r>
            <a:r>
              <a:rPr lang="zh-CN" altLang="en-US"/>
              <a:t>从字面句法会构造出`</a:t>
            </a:r>
            <a:r>
              <a:rPr lang="en-US" altLang="zh-CN"/>
              <a:t>people‑speak‑Japanese`，</a:t>
            </a:r>
            <a:r>
              <a:rPr lang="zh-CN" altLang="en-US"/>
              <a:t>但 </a:t>
            </a:r>
            <a:r>
              <a:rPr lang="en-US" altLang="zh-CN"/>
              <a:t>KG </a:t>
            </a:r>
            <a:r>
              <a:rPr lang="zh-CN" altLang="en-US"/>
              <a:t>里不存在这条三元组；真实正确查询需要绕到`</a:t>
            </a:r>
            <a:r>
              <a:rPr lang="en-US" altLang="zh-CN"/>
              <a:t>Person‑country‑Country`、`Person‑language‑Japanese`。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现有方案：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语义解析方法：依赖依存句法解析，不充分利用 </a:t>
            </a:r>
            <a:r>
              <a:rPr lang="en-US" altLang="zh-CN"/>
              <a:t>KG </a:t>
            </a:r>
            <a:r>
              <a:rPr lang="zh-CN" altLang="en-US"/>
              <a:t>本身结构信息，容易出现语义鸿沟；</a:t>
            </a:r>
            <a:endParaRPr lang="zh-CN" altLang="en-US"/>
          </a:p>
          <a:p>
            <a:r>
              <a:rPr lang="zh-CN" altLang="en-US"/>
              <a:t>- 模板方法：泛化差，未见模板的问句无法处理；</a:t>
            </a:r>
            <a:endParaRPr lang="zh-CN" altLang="en-US"/>
          </a:p>
          <a:p>
            <a:r>
              <a:rPr lang="zh-CN" altLang="en-US"/>
              <a:t>- 交互式方法：需要人工介入，速度慢；</a:t>
            </a:r>
            <a:endParaRPr lang="zh-CN" altLang="en-US"/>
          </a:p>
          <a:p>
            <a:r>
              <a:rPr lang="zh-CN" altLang="en-US"/>
              <a:t>- 早期嵌入方法：直接问答，不输出可解释结构化 </a:t>
            </a:r>
            <a:r>
              <a:rPr lang="en-US" altLang="zh-CN"/>
              <a:t>SPARQL </a:t>
            </a:r>
            <a:r>
              <a:rPr lang="zh-CN" altLang="en-US"/>
              <a:t>查询。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核心贡献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提出一套完整基于知识图谱嵌入的结构化查询生成框架，不需要大量 </a:t>
            </a:r>
            <a:r>
              <a:rPr lang="en-US" altLang="zh-CN"/>
              <a:t>NLQ </a:t>
            </a:r>
            <a:r>
              <a:rPr lang="zh-CN" altLang="en-US"/>
              <a:t>训练样本；</a:t>
            </a:r>
            <a:endParaRPr lang="zh-CN" altLang="en-US"/>
          </a:p>
          <a:p>
            <a:r>
              <a:rPr lang="en-US" altLang="zh-CN"/>
              <a:t>2. **GL‑KG（Generalized Local Knowledge Graph，</a:t>
            </a:r>
            <a:r>
              <a:rPr lang="zh-CN" altLang="en-US"/>
              <a:t>广义局部知识图谱）**：新的图嵌入学习方式，保留 </a:t>
            </a:r>
            <a:r>
              <a:rPr lang="en-US" altLang="zh-CN"/>
              <a:t>TransE </a:t>
            </a:r>
            <a:r>
              <a:rPr lang="zh-CN" altLang="en-US"/>
              <a:t>翻译机制，同时可以学习**类顶点（本体概念，如 </a:t>
            </a:r>
            <a:r>
              <a:rPr lang="en-US" altLang="zh-CN"/>
              <a:t>Film、Actor）**</a:t>
            </a:r>
            <a:r>
              <a:rPr lang="zh-CN" altLang="en-US"/>
              <a:t>之间的关系；</a:t>
            </a:r>
            <a:endParaRPr lang="zh-CN" altLang="en-US"/>
          </a:p>
          <a:p>
            <a:r>
              <a:rPr lang="zh-CN" altLang="en-US"/>
              <a:t>3. 设计算法，在嵌入向量空间推导最优查询图结构，再选择实体、关系候选组装最终查询；</a:t>
            </a:r>
            <a:endParaRPr lang="zh-CN" altLang="en-US"/>
          </a:p>
          <a:p>
            <a:r>
              <a:rPr lang="zh-CN" altLang="en-US"/>
              <a:t>4. 在 </a:t>
            </a:r>
            <a:r>
              <a:rPr lang="en-US" altLang="zh-CN"/>
              <a:t>QALD‑6 </a:t>
            </a:r>
            <a:r>
              <a:rPr lang="zh-CN" altLang="en-US"/>
              <a:t>数据集上验证，效果仅次于受控语言系统，推理速度优于子图匹配基线。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整体框架三大模块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整体分为**离线嵌入训练** + 在线三阶段流水线：短语映射 → 结构计算 → 查询生成。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离线阶段：基于 </a:t>
            </a:r>
            <a:r>
              <a:rPr lang="en-US" altLang="zh-CN"/>
              <a:t>GL‑KG </a:t>
            </a:r>
            <a:r>
              <a:rPr lang="zh-CN" altLang="en-US"/>
              <a:t>学习知识图谱嵌入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**局部知识图谱 </a:t>
            </a:r>
            <a:r>
              <a:rPr lang="en-US" altLang="zh-CN"/>
              <a:t>L‑KG**：</a:t>
            </a:r>
            <a:r>
              <a:rPr lang="zh-CN" altLang="en-US"/>
              <a:t>对每个顶点，收集它所有直接相连的三元组。</a:t>
            </a:r>
            <a:endParaRPr lang="zh-CN" altLang="en-US"/>
          </a:p>
          <a:p>
            <a:r>
              <a:rPr lang="zh-CN" altLang="en-US"/>
              <a:t>2. **广义局部知识图谱 </a:t>
            </a:r>
            <a:r>
              <a:rPr lang="en-US" altLang="zh-CN"/>
              <a:t>GL‑KG**：</a:t>
            </a:r>
            <a:r>
              <a:rPr lang="zh-CN" altLang="en-US"/>
              <a:t>把 </a:t>
            </a:r>
            <a:r>
              <a:rPr lang="en-US" altLang="zh-CN"/>
              <a:t>L‑KG </a:t>
            </a:r>
            <a:r>
              <a:rPr lang="zh-CN" altLang="en-US"/>
              <a:t>里实体替换为它对应的本体类（实体→它的 </a:t>
            </a:r>
            <a:r>
              <a:rPr lang="en-US" altLang="zh-CN"/>
              <a:t>class </a:t>
            </a:r>
            <a:r>
              <a:rPr lang="zh-CN" altLang="en-US"/>
              <a:t>类型），生成类‑类、类‑实体的广义三元组。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例如实体`</a:t>
            </a:r>
            <a:r>
              <a:rPr lang="en-US" altLang="zh-CN"/>
              <a:t>Tim Burton`</a:t>
            </a:r>
            <a:r>
              <a:rPr lang="zh-CN" altLang="en-US"/>
              <a:t>的三元组`(</a:t>
            </a:r>
            <a:r>
              <a:rPr lang="en-US" altLang="zh-CN"/>
              <a:t>Batman, director, Tim Burton)`</a:t>
            </a:r>
            <a:r>
              <a:rPr lang="zh-CN" altLang="en-US"/>
              <a:t>泛化为`(</a:t>
            </a:r>
            <a:r>
              <a:rPr lang="en-US" altLang="zh-CN"/>
              <a:t>Film, director, Person)`。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3. 损失函数：基于 </a:t>
            </a:r>
            <a:r>
              <a:rPr lang="en-US" altLang="zh-CN"/>
              <a:t>TransE </a:t>
            </a:r>
            <a:r>
              <a:rPr lang="zh-CN" altLang="en-US"/>
              <a:t>翻译思想，加入注意力权重，三元组出现频次越高权重越大；最大化顶点、边基于 </a:t>
            </a:r>
            <a:r>
              <a:rPr lang="en-US" altLang="zh-CN"/>
              <a:t>GL‑KG </a:t>
            </a:r>
            <a:r>
              <a:rPr lang="zh-CN" altLang="en-US"/>
              <a:t>的条件概率，负采样近似求解。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特性：①保持 </a:t>
            </a:r>
            <a:r>
              <a:rPr lang="en-US" altLang="zh-CN"/>
              <a:t>TransE </a:t>
            </a:r>
            <a:r>
              <a:rPr lang="zh-CN" altLang="en-US"/>
              <a:t>的\(</a:t>
            </a:r>
            <a:r>
              <a:rPr lang="en-US" altLang="zh-CN"/>
              <a:t>h+r≈t\)</a:t>
            </a:r>
            <a:r>
              <a:rPr lang="zh-CN" altLang="en-US"/>
              <a:t>翻译性质；②语义相近的实体 / 关系向量靠近；③能够学习本体类之间的关系，这是普通 </a:t>
            </a:r>
            <a:r>
              <a:rPr lang="en-US" altLang="zh-CN"/>
              <a:t>TransE </a:t>
            </a:r>
            <a:r>
              <a:rPr lang="zh-CN" altLang="en-US"/>
              <a:t>做不好的。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模块 1：</a:t>
            </a:r>
            <a:r>
              <a:rPr lang="en-US" altLang="zh-CN"/>
              <a:t>Phrase Mapping </a:t>
            </a:r>
            <a:r>
              <a:rPr lang="zh-CN" altLang="en-US"/>
              <a:t>短语映射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输入自然语言问句，输出实体短语、关系短语以及各自候选集合。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关键词提取，依存句法树修正实体 / 关系短语分类，纠正分类错误；</a:t>
            </a:r>
            <a:endParaRPr lang="zh-CN" altLang="en-US"/>
          </a:p>
          <a:p>
            <a:r>
              <a:rPr lang="zh-CN" altLang="en-US"/>
              <a:t>2. 检索得到每个短语对应的候选顶点、候选边；</a:t>
            </a:r>
            <a:endParaRPr lang="zh-CN" altLang="en-US"/>
          </a:p>
          <a:p>
            <a:r>
              <a:rPr lang="zh-CN" altLang="en-US"/>
              <a:t>3. 使用 </a:t>
            </a:r>
            <a:r>
              <a:rPr lang="en-US" altLang="zh-CN"/>
              <a:t>XGBoost </a:t>
            </a:r>
            <a:r>
              <a:rPr lang="zh-CN" altLang="en-US"/>
              <a:t>分类器做消歧，保留高概率候选集合；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输出：\(</a:t>
            </a:r>
            <a:r>
              <a:rPr lang="en-US" altLang="zh-CN"/>
              <a:t>C_v^i\)</a:t>
            </a:r>
            <a:r>
              <a:rPr lang="zh-CN" altLang="en-US"/>
              <a:t>实体候选集合，\(</a:t>
            </a:r>
            <a:r>
              <a:rPr lang="en-US" altLang="zh-CN"/>
              <a:t>C_e^j\)</a:t>
            </a:r>
            <a:r>
              <a:rPr lang="zh-CN" altLang="en-US"/>
              <a:t>关系候选集合。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模块 2：</a:t>
            </a:r>
            <a:r>
              <a:rPr lang="en-US" altLang="zh-CN"/>
              <a:t>Structure Computing </a:t>
            </a:r>
            <a:r>
              <a:rPr lang="zh-CN" altLang="en-US"/>
              <a:t>结构计算（核心）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将每个候选集合用集合内所有向量的均值代表该集合的嵌入；</a:t>
            </a:r>
            <a:endParaRPr lang="zh-CN" altLang="en-US"/>
          </a:p>
          <a:p>
            <a:r>
              <a:rPr lang="zh-CN" altLang="en-US"/>
              <a:t>2. 定义**结构矩阵**描述候选集合之间的连接；利用翻译损失\(\|</a:t>
            </a:r>
            <a:r>
              <a:rPr lang="en-US" altLang="zh-CN"/>
              <a:t>C_v^i + C_e^k - C_v^j\|_2^2\)</a:t>
            </a:r>
            <a:r>
              <a:rPr lang="zh-CN" altLang="en-US"/>
              <a:t>作为代价分数，代价越小结构越合理；</a:t>
            </a:r>
            <a:endParaRPr lang="zh-CN" altLang="en-US"/>
          </a:p>
          <a:p>
            <a:r>
              <a:rPr lang="zh-CN" altLang="en-US"/>
              <a:t>3. 设计搜索算法：先构造理想结构矩阵，如果不满足连通、无自环等约束，则尝试修改边的连接关系，搜索得到代价最低的**合法查询图结构**。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此阶段**还不选定具体实体、关系**，只确定 “哪几组候选集合之间应该用哪组候选边相连” 的拓扑。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模块 3：</a:t>
            </a:r>
            <a:r>
              <a:rPr lang="en-US" altLang="zh-CN"/>
              <a:t>Query Generation </a:t>
            </a:r>
            <a:r>
              <a:rPr lang="zh-CN" altLang="en-US"/>
              <a:t>查询生成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在已经确定的拓扑结构内，遍历从每个候选集合挑选一个顶点 / 关系，生成大量候选查询表示；</a:t>
            </a:r>
            <a:endParaRPr lang="zh-CN" altLang="en-US"/>
          </a:p>
          <a:p>
            <a:r>
              <a:rPr lang="zh-CN" altLang="en-US"/>
              <a:t>2. 同样使用 </a:t>
            </a:r>
            <a:r>
              <a:rPr lang="en-US" altLang="zh-CN"/>
              <a:t>TransE </a:t>
            </a:r>
            <a:r>
              <a:rPr lang="zh-CN" altLang="en-US"/>
              <a:t>翻译代价打分，选出全局最优三元组集合；</a:t>
            </a:r>
            <a:endParaRPr lang="zh-CN" altLang="en-US"/>
          </a:p>
          <a:p>
            <a:r>
              <a:rPr lang="zh-CN" altLang="en-US"/>
              <a:t>3. 将集合中的**类顶点替换为查询变量**，得到最终可执行的图结构化查询（</a:t>
            </a:r>
            <a:r>
              <a:rPr lang="en-US" altLang="zh-CN"/>
              <a:t>SPARQL </a:t>
            </a:r>
            <a:r>
              <a:rPr lang="zh-CN" altLang="en-US"/>
              <a:t>的三元组模式）。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启发式检索</a:t>
            </a:r>
            <a:r>
              <a:rPr lang="en-US" altLang="zh-CN"/>
              <a:t>-</a:t>
            </a:r>
            <a:r>
              <a:rPr lang="zh-CN" altLang="en-US"/>
              <a:t>面向**知识图谱问答 </a:t>
            </a:r>
            <a:r>
              <a:rPr lang="en-US" altLang="zh-CN"/>
              <a:t>KGQA**，</a:t>
            </a:r>
            <a:r>
              <a:rPr lang="zh-CN" altLang="en-US"/>
              <a:t>解决大模型推理幻觉、知识过时问题。不同于传统 </a:t>
            </a:r>
            <a:r>
              <a:rPr lang="en-US" altLang="zh-CN"/>
              <a:t>KGQA </a:t>
            </a:r>
            <a:r>
              <a:rPr lang="zh-CN" altLang="en-US"/>
              <a:t>要么做语义解析生成 </a:t>
            </a:r>
            <a:r>
              <a:rPr lang="en-US" altLang="zh-CN"/>
              <a:t>SPARQL（</a:t>
            </a:r>
            <a:r>
              <a:rPr lang="zh-CN" altLang="en-US"/>
              <a:t>生成失败就无答案），要么简单检索三元组丢给 </a:t>
            </a:r>
            <a:r>
              <a:rPr lang="en-US" altLang="zh-CN"/>
              <a:t>LLM（</a:t>
            </a:r>
            <a:r>
              <a:rPr lang="zh-CN" altLang="en-US"/>
              <a:t>忽略图谱结构）。</a:t>
            </a:r>
            <a:r>
              <a:rPr lang="en-US" altLang="zh-CN"/>
              <a:t>RoG </a:t>
            </a:r>
            <a:r>
              <a:rPr lang="zh-CN" altLang="en-US"/>
              <a:t>提出**规划‑检索‑推理（</a:t>
            </a:r>
            <a:r>
              <a:rPr lang="en-US" altLang="zh-CN"/>
              <a:t>Planning‑Retrieval‑Reasoning）**</a:t>
            </a:r>
            <a:r>
              <a:rPr lang="zh-CN" altLang="en-US"/>
              <a:t>框架：大模型先生成**关系路径（</a:t>
            </a:r>
            <a:r>
              <a:rPr lang="en-US" altLang="zh-CN"/>
              <a:t>relation path）**</a:t>
            </a:r>
            <a:r>
              <a:rPr lang="zh-CN" altLang="en-US"/>
              <a:t>作为推理计划，再在知识图谱中通过</a:t>
            </a:r>
            <a:r>
              <a:rPr lang="zh-CN" altLang="en-US">
                <a:sym typeface="+mn-ea"/>
              </a:rPr>
              <a:t>约束广度优先 </a:t>
            </a:r>
            <a:r>
              <a:rPr lang="en-US" altLang="zh-CN">
                <a:sym typeface="+mn-ea"/>
              </a:rPr>
              <a:t>BFS</a:t>
            </a:r>
            <a:r>
              <a:rPr lang="zh-CN" altLang="en-US"/>
              <a:t>检索出真实存在的推理路径实例，最后基于图谱真实路径完成回答，输出可解释推理过程。推理阶段规划模块可即插即用对接任意大模型。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基于学习的检索器</a:t>
            </a:r>
            <a:r>
              <a:rPr lang="en-US" altLang="zh-CN"/>
              <a:t>--</a:t>
            </a:r>
            <a:r>
              <a:rPr lang="zh-CN" altLang="en-US"/>
              <a:t>带时间约束的知识编辑下多跳问答（</a:t>
            </a:r>
            <a:r>
              <a:rPr lang="en-US" altLang="zh-CN"/>
              <a:t>Temporal Knowledge Editing Multi‑hop Question Answering）**。</a:t>
            </a:r>
            <a:r>
              <a:rPr lang="zh-CN" altLang="en-US"/>
              <a:t>现有内存式知识编辑方法采用非结构化文本向量检索，处理带有明确时间范围的多跳问题时，极易发生时间冲突，检索到错误时间版本的事实；参数编辑方法容易遗忘历史知识。本文提出 **</a:t>
            </a:r>
            <a:r>
              <a:rPr lang="en-US" altLang="zh-CN"/>
              <a:t>TEMPLE‑MQA**，</a:t>
            </a:r>
            <a:r>
              <a:rPr lang="zh-CN" altLang="en-US"/>
              <a:t>构建**时间感知图 </a:t>
            </a:r>
            <a:r>
              <a:rPr lang="en-US" altLang="zh-CN"/>
              <a:t>TAG（Time‑Aware Graph）**</a:t>
            </a:r>
            <a:r>
              <a:rPr lang="zh-CN" altLang="en-US"/>
              <a:t>结构化存储带时间戳的编辑知识；通过推理路径生成、结构化检索、联合推理完成多跳问答；同时构建全新数据集 </a:t>
            </a:r>
            <a:r>
              <a:rPr lang="en-US" altLang="zh-CN"/>
              <a:t>TKEMQA，</a:t>
            </a:r>
            <a:r>
              <a:rPr lang="zh-CN" altLang="en-US"/>
              <a:t>专门评测时间约束多跳知识编辑任务。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**知识编辑 </a:t>
            </a:r>
            <a:r>
              <a:rPr lang="en-US" altLang="zh-CN"/>
              <a:t>KE**：</a:t>
            </a:r>
            <a:r>
              <a:rPr lang="zh-CN" altLang="en-US"/>
              <a:t>在不重训大模型前提下更新事实知识，分为两类：</a:t>
            </a:r>
            <a:endParaRPr lang="zh-CN" altLang="en-US"/>
          </a:p>
          <a:p>
            <a:r>
              <a:rPr lang="zh-CN" altLang="en-US"/>
              <a:t>   - 参数式编辑：直接修改模型权重（</a:t>
            </a:r>
            <a:r>
              <a:rPr lang="en-US" altLang="zh-CN"/>
              <a:t>ROME、MEMIT），</a:t>
            </a:r>
            <a:r>
              <a:rPr lang="zh-CN" altLang="en-US"/>
              <a:t>擅长单跳，但多跳问答表现差，容易遗忘历史事实。</a:t>
            </a:r>
            <a:endParaRPr lang="zh-CN" altLang="en-US"/>
          </a:p>
          <a:p>
            <a:r>
              <a:rPr lang="zh-CN" altLang="en-US"/>
              <a:t>   - 内存式编辑：把修改后的事实存在外部存储器，推理时检索后输入上下文（</a:t>
            </a:r>
            <a:r>
              <a:rPr lang="en-US" altLang="zh-CN"/>
              <a:t>MeLLo、PokeMQA）；</a:t>
            </a:r>
            <a:r>
              <a:rPr lang="zh-CN" altLang="en-US"/>
              <a:t>现有方案把编辑知识保存为非结构化文本，依靠稠密向量检索。</a:t>
            </a:r>
            <a:endParaRPr lang="zh-CN" altLang="en-US"/>
          </a:p>
          <a:p>
            <a:r>
              <a:rPr lang="zh-CN" altLang="en-US"/>
              <a:t>2. **现有内存式方法的核心缺陷**：稠密语义检索**不感知时间约束**。问句带有时间范围时，语义相似但时间不匹配的事实会被召回，造成时间冲突，给出错误答案。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示例：问题 “</a:t>
            </a:r>
            <a:r>
              <a:rPr lang="en-US" altLang="zh-CN"/>
              <a:t>Tom </a:t>
            </a:r>
            <a:r>
              <a:rPr lang="zh-CN" altLang="en-US"/>
              <a:t>的公司在 2018‑2020 的所有者是谁？”，检索器召回 “2022 之后 </a:t>
            </a:r>
            <a:r>
              <a:rPr lang="en-US" altLang="zh-CN"/>
              <a:t>Twitter </a:t>
            </a:r>
            <a:r>
              <a:rPr lang="zh-CN" altLang="en-US"/>
              <a:t>所有者是 </a:t>
            </a:r>
            <a:r>
              <a:rPr lang="en-US" altLang="zh-CN"/>
              <a:t>Elon Musk”，</a:t>
            </a:r>
            <a:r>
              <a:rPr lang="zh-CN" altLang="en-US"/>
              <a:t>事实语义接近，但时间窗口完全不匹配。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3. 多跳知识编辑还存在**涟漪效应**：一条事实更新，会连锁影响后续推理步骤。现有方法反复迭代分解子问题，调用 </a:t>
            </a:r>
            <a:r>
              <a:rPr lang="en-US" altLang="zh-CN"/>
              <a:t>LLM </a:t>
            </a:r>
            <a:r>
              <a:rPr lang="zh-CN" altLang="en-US"/>
              <a:t>次数多，成本高。</a:t>
            </a:r>
            <a:endParaRPr lang="zh-CN" altLang="en-US"/>
          </a:p>
          <a:p>
            <a:r>
              <a:rPr lang="zh-CN" altLang="en-US"/>
              <a:t>4. 缺少专门评测**时间约束 + 多跳**的基准数据集，已有 </a:t>
            </a:r>
            <a:r>
              <a:rPr lang="en-US" altLang="zh-CN"/>
              <a:t>ATOKE </a:t>
            </a:r>
            <a:r>
              <a:rPr lang="zh-CN" altLang="en-US"/>
              <a:t>只支持单跳。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核心贡献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提出 </a:t>
            </a:r>
            <a:r>
              <a:rPr lang="en-US" altLang="zh-CN"/>
              <a:t>TEMPLE‑MQA，</a:t>
            </a:r>
            <a:r>
              <a:rPr lang="zh-CN" altLang="en-US"/>
              <a:t>内存式知识编辑框架，**时间感知图 </a:t>
            </a:r>
            <a:r>
              <a:rPr lang="en-US" altLang="zh-CN"/>
              <a:t>TAG**</a:t>
            </a:r>
            <a:r>
              <a:rPr lang="zh-CN" altLang="en-US"/>
              <a:t>结构化保存带起止时间戳的编辑事实，区分不同时间版本的同一关系。</a:t>
            </a:r>
            <a:endParaRPr lang="zh-CN" altLang="en-US"/>
          </a:p>
          <a:p>
            <a:r>
              <a:rPr lang="zh-CN" altLang="en-US"/>
              <a:t>2. 完整流水线：一步生成推理路径 + 结构化图检索 + 联合推理；不需要反复迭代分解子问题，降低推理开销。</a:t>
            </a:r>
            <a:endParaRPr lang="zh-CN" altLang="en-US"/>
          </a:p>
          <a:p>
            <a:r>
              <a:rPr lang="zh-CN" altLang="en-US"/>
              <a:t>3. 构建**</a:t>
            </a:r>
            <a:r>
              <a:rPr lang="en-US" altLang="zh-CN"/>
              <a:t>TKEMQA </a:t>
            </a:r>
            <a:r>
              <a:rPr lang="zh-CN" altLang="en-US"/>
              <a:t>数据集**：首个面向时间约束多跳知识编辑的评测基准，覆盖 1‑4 跳问题，包含更新知识、修正知识、历史知识。</a:t>
            </a:r>
            <a:endParaRPr lang="zh-CN" altLang="en-US"/>
          </a:p>
          <a:p>
            <a:r>
              <a:rPr lang="zh-CN" altLang="en-US"/>
              <a:t>4. 在 </a:t>
            </a:r>
            <a:r>
              <a:rPr lang="en-US" altLang="zh-CN"/>
              <a:t>MQUAKE、ATOKE、TKEMQA </a:t>
            </a:r>
            <a:r>
              <a:rPr lang="zh-CN" altLang="en-US"/>
              <a:t>上超过参数式、内存式基线；推理时间、</a:t>
            </a:r>
            <a:r>
              <a:rPr lang="en-US" altLang="zh-CN"/>
              <a:t>API </a:t>
            </a:r>
            <a:r>
              <a:rPr lang="zh-CN" altLang="en-US"/>
              <a:t>调用开销显著低于 </a:t>
            </a:r>
            <a:r>
              <a:rPr lang="en-US" altLang="zh-CN"/>
              <a:t>MeLLo、PokeMQA。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## 方法整体流水线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步骤 1：构建时间感知图 </a:t>
            </a:r>
            <a:r>
              <a:rPr lang="en-US" altLang="zh-CN"/>
              <a:t>TAG（Time‑Aware Graph）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1. **非结构化事实转结构化元组**：使用 </a:t>
            </a:r>
            <a:r>
              <a:rPr lang="en-US" altLang="zh-CN"/>
              <a:t>LLM </a:t>
            </a:r>
            <a:r>
              <a:rPr lang="zh-CN" altLang="en-US"/>
              <a:t>上下文提示，把原始编辑事实转为结构化：</a:t>
            </a:r>
            <a:endParaRPr lang="zh-CN" altLang="en-US"/>
          </a:p>
          <a:p>
            <a:r>
              <a:rPr lang="zh-CN" altLang="en-US"/>
              <a:t>`(主体</a:t>
            </a:r>
            <a:r>
              <a:rPr lang="en-US" altLang="zh-CN"/>
              <a:t>s, </a:t>
            </a:r>
            <a:r>
              <a:rPr lang="zh-CN" altLang="en-US"/>
              <a:t>关系</a:t>
            </a:r>
            <a:r>
              <a:rPr lang="en-US" altLang="zh-CN"/>
              <a:t>r, </a:t>
            </a:r>
            <a:r>
              <a:rPr lang="zh-CN" altLang="en-US"/>
              <a:t>客体</a:t>
            </a:r>
            <a:r>
              <a:rPr lang="en-US" altLang="zh-CN"/>
              <a:t>o, </a:t>
            </a:r>
            <a:r>
              <a:rPr lang="zh-CN" altLang="en-US"/>
              <a:t>起始时间</a:t>
            </a:r>
            <a:r>
              <a:rPr lang="en-US" altLang="zh-CN"/>
              <a:t>τ</a:t>
            </a:r>
            <a:r>
              <a:rPr lang="en-US" altLang="en-US"/>
              <a:t>ₛ,</a:t>
            </a:r>
            <a:r>
              <a:rPr lang="zh-CN" altLang="en-US"/>
              <a:t>结束时间</a:t>
            </a:r>
            <a:r>
              <a:rPr lang="en-US" altLang="zh-CN"/>
              <a:t>τ</a:t>
            </a:r>
            <a:r>
              <a:rPr lang="en-US" altLang="en-US"/>
              <a:t>ₑ,</a:t>
            </a:r>
            <a:r>
              <a:rPr lang="zh-CN" altLang="en-US"/>
              <a:t>客体概念</a:t>
            </a:r>
            <a:r>
              <a:rPr lang="en-US" altLang="zh-CN"/>
              <a:t>c(o))`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`c(o)`</a:t>
            </a:r>
            <a:r>
              <a:rPr lang="zh-CN" altLang="en-US"/>
              <a:t>客体概念：用于实体消歧，区分同一实体不同语义（如 </a:t>
            </a:r>
            <a:r>
              <a:rPr lang="en-US" altLang="zh-CN"/>
              <a:t>Washington </a:t>
            </a:r>
            <a:r>
              <a:rPr lang="zh-CN" altLang="en-US"/>
              <a:t>城市 / 人物）。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2. **实体别名增强**：从 </a:t>
            </a:r>
            <a:r>
              <a:rPr lang="en-US" altLang="zh-CN"/>
              <a:t>Wikidata </a:t>
            </a:r>
            <a:r>
              <a:rPr lang="zh-CN" altLang="en-US"/>
              <a:t>获取实体别名，扩充图中节点，提升检索召回。</a:t>
            </a:r>
            <a:endParaRPr lang="zh-CN" altLang="en-US"/>
          </a:p>
          <a:p>
            <a:r>
              <a:rPr lang="zh-CN" altLang="en-US"/>
              <a:t>3. 构建 </a:t>
            </a:r>
            <a:r>
              <a:rPr lang="en-US" altLang="zh-CN"/>
              <a:t>TAG </a:t>
            </a:r>
            <a:r>
              <a:rPr lang="zh-CN" altLang="en-US"/>
              <a:t>图：</a:t>
            </a:r>
            <a:endParaRPr lang="zh-CN" altLang="en-US"/>
          </a:p>
          <a:p>
            <a:r>
              <a:rPr lang="zh-CN" altLang="en-US"/>
              <a:t>   - 节点：实体；边存储：关系、客体概念、事实生效起止时间；</a:t>
            </a:r>
            <a:endParaRPr lang="zh-CN" altLang="en-US"/>
          </a:p>
          <a:p>
            <a:r>
              <a:rPr lang="zh-CN" altLang="en-US"/>
              <a:t>   - 同时保存**新版本更新事实与被覆盖的历史事实**，不会丢弃旧知识。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普通无时间的编辑也可以使用 </a:t>
            </a:r>
            <a:r>
              <a:rPr lang="en-US" altLang="zh-CN"/>
              <a:t>TAG，</a:t>
            </a:r>
            <a:r>
              <a:rPr lang="zh-CN" altLang="en-US"/>
              <a:t>只是不记录时间字段。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步骤 2：推理路径规划 </a:t>
            </a:r>
            <a:r>
              <a:rPr lang="en-US" altLang="zh-CN"/>
              <a:t>Planning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输入自然语言问题，**一次 </a:t>
            </a:r>
            <a:r>
              <a:rPr lang="en-US" altLang="zh-CN"/>
              <a:t>LLM </a:t>
            </a:r>
            <a:r>
              <a:rPr lang="zh-CN" altLang="en-US"/>
              <a:t>调用直接输出完整推理路径 </a:t>
            </a:r>
            <a:r>
              <a:rPr lang="en-US" altLang="zh-CN"/>
              <a:t>P + </a:t>
            </a:r>
            <a:r>
              <a:rPr lang="zh-CN" altLang="en-US"/>
              <a:t>问句的时间范围**，不需要迭代拆分多个子问题。</a:t>
            </a:r>
            <a:endParaRPr lang="zh-CN" altLang="en-US"/>
          </a:p>
          <a:p>
            <a:r>
              <a:rPr lang="zh-CN" altLang="en-US"/>
              <a:t>推理路径格式：`&lt;(</a:t>
            </a:r>
            <a:r>
              <a:rPr lang="en-US" altLang="zh-CN"/>
              <a:t>s₁,r₁,c(o₁)), (c(o₁),r₂,c(o₂))…&gt;`，</a:t>
            </a:r>
            <a:r>
              <a:rPr lang="zh-CN" altLang="en-US"/>
              <a:t>每一步包含：起始实体、关系、客体的概念类型，附带查询时间窗口。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和 </a:t>
            </a:r>
            <a:r>
              <a:rPr lang="en-US" altLang="zh-CN"/>
              <a:t>RoG </a:t>
            </a:r>
            <a:r>
              <a:rPr lang="zh-CN" altLang="en-US"/>
              <a:t>的关系路径不同：</a:t>
            </a:r>
            <a:r>
              <a:rPr lang="en-US" altLang="zh-CN"/>
              <a:t>TEMPLE‑MQA </a:t>
            </a:r>
            <a:r>
              <a:rPr lang="zh-CN" altLang="en-US"/>
              <a:t>路径包含**客体概念类型**，用于后续图检索过滤。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步骤 3：结构化检索 \(</a:t>
            </a:r>
            <a:r>
              <a:rPr lang="en-US" altLang="zh-CN"/>
              <a:t>R_{struct}\)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针对推理路径每一步`(</a:t>
            </a:r>
            <a:r>
              <a:rPr lang="en-US" altLang="zh-CN"/>
              <a:t>s</a:t>
            </a:r>
            <a:r>
              <a:rPr lang="en-US" altLang="en-US"/>
              <a:t>ᵢ,</a:t>
            </a:r>
            <a:r>
              <a:rPr lang="en-US" altLang="zh-CN"/>
              <a:t>r</a:t>
            </a:r>
            <a:r>
              <a:rPr lang="en-US" altLang="en-US"/>
              <a:t>ᵢ,</a:t>
            </a:r>
            <a:r>
              <a:rPr lang="en-US" altLang="zh-CN"/>
              <a:t>c(o</a:t>
            </a:r>
            <a:r>
              <a:rPr lang="en-US" altLang="en-US"/>
              <a:t>ᵢ),</a:t>
            </a:r>
            <a:r>
              <a:rPr lang="en-US" altLang="zh-CN"/>
              <a:t>τ</a:t>
            </a:r>
            <a:r>
              <a:rPr lang="en-US" altLang="en-US"/>
              <a:t>ₛ^</a:t>
            </a:r>
            <a:r>
              <a:rPr lang="en-US" altLang="zh-CN"/>
              <a:t>Q,τ</a:t>
            </a:r>
            <a:r>
              <a:rPr lang="en-US" altLang="en-US"/>
              <a:t>ₑ^</a:t>
            </a:r>
            <a:r>
              <a:rPr lang="en-US" altLang="zh-CN"/>
              <a:t>Q)`</a:t>
            </a:r>
            <a:r>
              <a:rPr lang="zh-CN" altLang="en-US"/>
              <a:t>执行两步检索：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**子图抽取过滤**：从 </a:t>
            </a:r>
            <a:r>
              <a:rPr lang="en-US" altLang="zh-CN"/>
              <a:t>TAG </a:t>
            </a:r>
            <a:r>
              <a:rPr lang="zh-CN" altLang="en-US"/>
              <a:t>取出 </a:t>
            </a:r>
            <a:r>
              <a:rPr lang="en-US" altLang="zh-CN"/>
              <a:t>s</a:t>
            </a:r>
            <a:r>
              <a:rPr lang="en-US" altLang="en-US"/>
              <a:t>ᵢ</a:t>
            </a:r>
            <a:r>
              <a:rPr lang="zh-CN" altLang="en-US"/>
              <a:t>的一跳子图；严格过滤掉**时间区间不与查询时间重叠**的边，直接排除时间冲突事实。</a:t>
            </a:r>
            <a:endParaRPr lang="zh-CN" altLang="en-US"/>
          </a:p>
          <a:p>
            <a:r>
              <a:rPr lang="zh-CN" altLang="en-US"/>
              <a:t>2. **重排序**：计算查询和候选边的**关系语义相似度 + 客体概念相似度**，取相似度最高的客体作为候选结果\(</a:t>
            </a:r>
            <a:r>
              <a:rPr lang="en-US" altLang="zh-CN"/>
              <a:t>o_R^*\)，</a:t>
            </a:r>
            <a:r>
              <a:rPr lang="zh-CN" altLang="en-US"/>
              <a:t>输出相似度分数\(\</a:t>
            </a:r>
            <a:r>
              <a:rPr lang="en-US" altLang="zh-CN"/>
              <a:t>alpha_R\)。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### 步骤 4：联合推理 </a:t>
            </a:r>
            <a:r>
              <a:rPr lang="en-US" altLang="zh-CN"/>
              <a:t>Joint Reasoning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设置相似度阈值\(\</a:t>
            </a:r>
            <a:r>
              <a:rPr lang="en-US" altLang="zh-CN"/>
              <a:t>theta\)：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- 如果\(\</a:t>
            </a:r>
            <a:r>
              <a:rPr lang="en-US" altLang="zh-CN"/>
              <a:t>alpha_R&gt;\theta\)：</a:t>
            </a:r>
            <a:r>
              <a:rPr lang="zh-CN" altLang="en-US"/>
              <a:t>直接使用图检索得到的实体\(</a:t>
            </a:r>
            <a:r>
              <a:rPr lang="en-US" altLang="zh-CN"/>
              <a:t>o_R^*\)</a:t>
            </a:r>
            <a:r>
              <a:rPr lang="zh-CN" altLang="en-US"/>
              <a:t>作为该步输出；</a:t>
            </a:r>
            <a:endParaRPr lang="zh-CN" altLang="en-US"/>
          </a:p>
          <a:p>
            <a:r>
              <a:rPr lang="zh-CN" altLang="en-US"/>
              <a:t>- 如果检索结果置信不足：调用 </a:t>
            </a:r>
            <a:r>
              <a:rPr lang="en-US" altLang="zh-CN"/>
              <a:t>LLM </a:t>
            </a:r>
            <a:r>
              <a:rPr lang="zh-CN" altLang="en-US"/>
              <a:t>直接生成该步答案。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迭代走完整条推理路径，输出最终答案。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特点：不需要额外的自校验模块；一次生成完整推理路径，</a:t>
            </a:r>
            <a:r>
              <a:rPr lang="en-US" altLang="zh-CN"/>
              <a:t>LLM </a:t>
            </a:r>
            <a:r>
              <a:rPr lang="zh-CN" altLang="en-US"/>
              <a:t>调用次数少，速度快、成本更低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图修建</a:t>
            </a:r>
            <a:r>
              <a:rPr lang="en-US" altLang="zh-CN"/>
              <a:t>---</a:t>
            </a:r>
            <a:r>
              <a:rPr lang="zh-CN" altLang="en-US"/>
              <a:t>基于**</a:t>
            </a:r>
            <a:r>
              <a:rPr lang="en-US" altLang="zh-CN"/>
              <a:t>QA‑GNN**</a:t>
            </a:r>
            <a:r>
              <a:rPr lang="zh-CN" altLang="en-US"/>
              <a:t>做改进的知识图谱多选问答模型。针对</a:t>
            </a:r>
            <a:r>
              <a:rPr lang="zh-CN" altLang="en-US">
                <a:sym typeface="+mn-ea"/>
              </a:rPr>
              <a:t>知识图谱多选问答</a:t>
            </a:r>
            <a:r>
              <a:rPr lang="zh-CN" altLang="en-US"/>
              <a:t>两大痛点：①仅靠单个 </a:t>
            </a:r>
            <a:r>
              <a:rPr lang="en-US" altLang="zh-CN"/>
              <a:t>QA </a:t>
            </a:r>
            <a:r>
              <a:rPr lang="zh-CN" altLang="en-US"/>
              <a:t>上下文节点传递文本信息，问答内部大量名词短语信息无法充分流入图谱；②子图抽取会引入大量无关二跳邻居节点，带来噪声。</a:t>
            </a:r>
            <a:r>
              <a:rPr lang="en-US" altLang="zh-CN"/>
              <a:t>GrapeQA </a:t>
            </a:r>
            <a:r>
              <a:rPr lang="zh-CN" altLang="en-US"/>
              <a:t>提出两个模块：**</a:t>
            </a:r>
            <a:r>
              <a:rPr lang="en-US" altLang="zh-CN"/>
              <a:t>PEGA </a:t>
            </a:r>
            <a:r>
              <a:rPr lang="zh-CN" altLang="en-US"/>
              <a:t>图增强**、**</a:t>
            </a:r>
            <a:r>
              <a:rPr lang="en-US" altLang="zh-CN"/>
              <a:t>CANP </a:t>
            </a:r>
            <a:r>
              <a:rPr lang="zh-CN" altLang="en-US"/>
              <a:t>上下文感知剪枝**，优化工作图（</a:t>
            </a:r>
            <a:r>
              <a:rPr lang="en-US" altLang="zh-CN"/>
              <a:t>Working Graph）</a:t>
            </a:r>
            <a:r>
              <a:rPr lang="zh-CN" altLang="en-US"/>
              <a:t>的质量，提升常识 / 专业领域多选问答效果。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LM+KG </a:t>
            </a:r>
            <a:r>
              <a:rPr lang="zh-CN" altLang="en-US"/>
              <a:t>多选问答范式：对每一个候选答案，从 </a:t>
            </a:r>
            <a:r>
              <a:rPr lang="en-US" altLang="zh-CN"/>
              <a:t>KG </a:t>
            </a:r>
            <a:r>
              <a:rPr lang="zh-CN" altLang="en-US"/>
              <a:t>抽取子图作为工作图 </a:t>
            </a:r>
            <a:r>
              <a:rPr lang="en-US" altLang="zh-CN"/>
              <a:t>WG；</a:t>
            </a:r>
            <a:r>
              <a:rPr lang="zh-CN" altLang="en-US"/>
              <a:t>通过 </a:t>
            </a:r>
            <a:r>
              <a:rPr lang="en-US" altLang="zh-CN"/>
              <a:t>GNN </a:t>
            </a:r>
            <a:r>
              <a:rPr lang="zh-CN" altLang="en-US"/>
              <a:t>做消息传播，给该候选打分，选出得分最高选项。代表工作 </a:t>
            </a:r>
            <a:r>
              <a:rPr lang="en-US" altLang="zh-CN"/>
              <a:t>QA‑GNN。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## 核心方法：</a:t>
            </a:r>
            <a:r>
              <a:rPr lang="en-US" altLang="zh-CN"/>
              <a:t>GrapeQA（</a:t>
            </a:r>
            <a:r>
              <a:rPr lang="zh-CN" altLang="en-US"/>
              <a:t>基于 </a:t>
            </a:r>
            <a:r>
              <a:rPr lang="en-US" altLang="zh-CN"/>
              <a:t>QA‑GNN </a:t>
            </a:r>
            <a:r>
              <a:rPr lang="zh-CN" altLang="en-US"/>
              <a:t>改进）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整体流程：子图抽取 → </a:t>
            </a:r>
            <a:r>
              <a:rPr lang="en-US" altLang="zh-CN"/>
              <a:t>PEGA </a:t>
            </a:r>
            <a:r>
              <a:rPr lang="zh-CN" altLang="en-US"/>
              <a:t>图增强 → </a:t>
            </a:r>
            <a:r>
              <a:rPr lang="en-US" altLang="zh-CN"/>
              <a:t>CANP </a:t>
            </a:r>
            <a:r>
              <a:rPr lang="zh-CN" altLang="en-US"/>
              <a:t>图剪枝 → </a:t>
            </a:r>
            <a:r>
              <a:rPr lang="en-US" altLang="zh-CN"/>
              <a:t>GNN </a:t>
            </a:r>
            <a:r>
              <a:rPr lang="zh-CN" altLang="en-US"/>
              <a:t>图推理 → 打分预测。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### 1. PEGA（Prominent Entities for Graph Augmentation）</a:t>
            </a:r>
            <a:r>
              <a:rPr lang="zh-CN" altLang="en-US"/>
              <a:t>图增强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使用 </a:t>
            </a:r>
            <a:r>
              <a:rPr lang="en-US" altLang="zh-CN"/>
              <a:t>spaCy </a:t>
            </a:r>
            <a:r>
              <a:rPr lang="zh-CN" altLang="en-US"/>
              <a:t>从【问题 + 候选答案】文本中提取**名词块 (</a:t>
            </a:r>
            <a:r>
              <a:rPr lang="en-US" altLang="zh-CN"/>
              <a:t>noun‑chunk)**；</a:t>
            </a:r>
            <a:endParaRPr lang="en-US" altLang="zh-CN"/>
          </a:p>
          <a:p>
            <a:r>
              <a:rPr lang="zh-CN" altLang="en-US"/>
              <a:t>2. 将这些名词块作为**新节点加入工作图 </a:t>
            </a:r>
            <a:r>
              <a:rPr lang="en-US" altLang="zh-CN"/>
              <a:t>WG'**；</a:t>
            </a:r>
            <a:endParaRPr lang="en-US" altLang="zh-CN"/>
          </a:p>
          <a:p>
            <a:r>
              <a:rPr lang="zh-CN" altLang="en-US"/>
              <a:t>3. 增加两类新边：</a:t>
            </a:r>
            <a:endParaRPr lang="zh-CN" altLang="en-US"/>
          </a:p>
          <a:p>
            <a:r>
              <a:rPr lang="en-US" altLang="zh-CN"/>
              <a:t>   - \(r_{nn}\)：</a:t>
            </a:r>
            <a:r>
              <a:rPr lang="zh-CN" altLang="en-US"/>
              <a:t>名词块节点互相之间连边；</a:t>
            </a:r>
            <a:endParaRPr lang="zh-CN" altLang="en-US"/>
          </a:p>
          <a:p>
            <a:r>
              <a:rPr lang="en-US" altLang="zh-CN"/>
              <a:t>   - \(r_{no}\)：</a:t>
            </a:r>
            <a:r>
              <a:rPr lang="zh-CN" altLang="en-US"/>
              <a:t>名词块节点和原图里面的 </a:t>
            </a:r>
            <a:r>
              <a:rPr lang="en-US" altLang="zh-CN"/>
              <a:t>KG </a:t>
            </a:r>
            <a:r>
              <a:rPr lang="zh-CN" altLang="en-US"/>
              <a:t>实体节点连边。</a:t>
            </a:r>
            <a:endParaRPr lang="zh-CN" altLang="en-US"/>
          </a:p>
          <a:p>
            <a:r>
              <a:rPr lang="zh-CN" altLang="en-US"/>
              <a:t>4. 名词块节点初始化：取 </a:t>
            </a:r>
            <a:r>
              <a:rPr lang="en-US" altLang="zh-CN"/>
              <a:t>LM </a:t>
            </a:r>
            <a:r>
              <a:rPr lang="zh-CN" altLang="en-US"/>
              <a:t>编码后名词块 </a:t>
            </a:r>
            <a:r>
              <a:rPr lang="en-US" altLang="zh-CN"/>
              <a:t>token </a:t>
            </a:r>
            <a:r>
              <a:rPr lang="zh-CN" altLang="en-US"/>
              <a:t>的平均向量。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作用：不再把全部问答信息挤压到单一 </a:t>
            </a:r>
            <a:r>
              <a:rPr lang="en-US" altLang="zh-CN"/>
              <a:t>QA </a:t>
            </a:r>
            <a:r>
              <a:rPr lang="zh-CN" altLang="en-US"/>
              <a:t>上下文虚拟节点；问句、答案里面关键名词直接作为图节点参与消息传递，打通 </a:t>
            </a:r>
            <a:r>
              <a:rPr lang="en-US" altLang="zh-CN"/>
              <a:t>LM </a:t>
            </a:r>
            <a:r>
              <a:rPr lang="zh-CN" altLang="en-US"/>
              <a:t>文本语义与 </a:t>
            </a:r>
            <a:r>
              <a:rPr lang="en-US" altLang="zh-CN"/>
              <a:t>KG </a:t>
            </a:r>
            <a:r>
              <a:rPr lang="zh-CN" altLang="en-US"/>
              <a:t>实体之间信息流。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### 2. CANP（Context‑Aware Node Pruning）</a:t>
            </a:r>
            <a:r>
              <a:rPr lang="zh-CN" altLang="en-US"/>
              <a:t>上下文感知节点剪枝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目标：移除 </a:t>
            </a:r>
            <a:r>
              <a:rPr lang="en-US" altLang="zh-CN"/>
              <a:t>WG </a:t>
            </a:r>
            <a:r>
              <a:rPr lang="zh-CN" altLang="en-US"/>
              <a:t>中低相关性的 </a:t>
            </a:r>
            <a:r>
              <a:rPr lang="en-US" altLang="zh-CN"/>
              <a:t>Extra </a:t>
            </a:r>
            <a:r>
              <a:rPr lang="zh-CN" altLang="en-US"/>
              <a:t>二跳邻居节点，降低噪声。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将所有 </a:t>
            </a:r>
            <a:r>
              <a:rPr lang="en-US" altLang="zh-CN"/>
              <a:t>Extra </a:t>
            </a:r>
            <a:r>
              <a:rPr lang="zh-CN" altLang="en-US"/>
              <a:t>节点，计算与每一个答案实体\(</a:t>
            </a:r>
            <a:r>
              <a:rPr lang="en-US" altLang="zh-CN"/>
              <a:t>a_{KG}\)</a:t>
            </a:r>
            <a:r>
              <a:rPr lang="zh-CN" altLang="en-US"/>
              <a:t>的相关性得分；</a:t>
            </a:r>
            <a:endParaRPr lang="zh-CN" altLang="en-US"/>
          </a:p>
          <a:p>
            <a:r>
              <a:rPr lang="zh-CN" altLang="en-US"/>
              <a:t>2. 把 </a:t>
            </a:r>
            <a:r>
              <a:rPr lang="en-US" altLang="zh-CN"/>
              <a:t>Extra </a:t>
            </a:r>
            <a:r>
              <a:rPr lang="zh-CN" altLang="en-US"/>
              <a:t>节点聚类归属到得分最高的答案实体簇；</a:t>
            </a:r>
            <a:endParaRPr lang="zh-CN" altLang="en-US"/>
          </a:p>
          <a:p>
            <a:r>
              <a:rPr lang="zh-CN" altLang="en-US"/>
              <a:t>3. 计算每个簇平均相关性，删除**平均相关性最低的整个簇**；</a:t>
            </a:r>
            <a:endParaRPr lang="zh-CN" altLang="en-US"/>
          </a:p>
          <a:p>
            <a:r>
              <a:rPr lang="zh-CN" altLang="en-US"/>
              <a:t>4. 输出剪枝之后的精简图\(</a:t>
            </a:r>
            <a:r>
              <a:rPr lang="en-US" altLang="zh-CN"/>
              <a:t>G''_w\)。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适用条件：存在多个答案实体节点；</a:t>
            </a:r>
            <a:r>
              <a:rPr lang="en-US" altLang="zh-CN"/>
              <a:t>MedQA </a:t>
            </a:r>
            <a:r>
              <a:rPr lang="zh-CN" altLang="en-US"/>
              <a:t>数据集答案实体少，该模块不启用。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3. 后续推理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增强 + 剪枝完成后的图送入 </a:t>
            </a:r>
            <a:r>
              <a:rPr lang="en-US" altLang="zh-CN"/>
              <a:t>QA‑GNN </a:t>
            </a:r>
            <a:r>
              <a:rPr lang="zh-CN" altLang="en-US"/>
              <a:t>原有关系感知 </a:t>
            </a:r>
            <a:r>
              <a:rPr lang="en-US" altLang="zh-CN"/>
              <a:t>GAT </a:t>
            </a:r>
            <a:r>
              <a:rPr lang="zh-CN" altLang="en-US"/>
              <a:t>图神经网络，多层消息传播；池化节点表示，拼接原始 </a:t>
            </a:r>
            <a:r>
              <a:rPr lang="en-US" altLang="zh-CN"/>
              <a:t>LM </a:t>
            </a:r>
            <a:r>
              <a:rPr lang="zh-CN" altLang="en-US"/>
              <a:t>编码，</a:t>
            </a:r>
            <a:r>
              <a:rPr lang="en-US" altLang="zh-CN"/>
              <a:t>MLP </a:t>
            </a:r>
            <a:r>
              <a:rPr lang="zh-CN" altLang="en-US"/>
              <a:t>输出该候选答案的分数；多选任务选择最高分作为预测答案。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重排序</a:t>
            </a:r>
            <a:r>
              <a:rPr lang="en-US" altLang="zh-CN"/>
              <a:t>---</a:t>
            </a:r>
            <a:r>
              <a:rPr lang="zh-CN" altLang="en-US"/>
              <a:t>面向**知识图谱多选常识问答**。传统 </a:t>
            </a:r>
            <a:r>
              <a:rPr lang="en-US" altLang="zh-CN"/>
              <a:t>KG‑QA </a:t>
            </a:r>
            <a:r>
              <a:rPr lang="zh-CN" altLang="en-US"/>
              <a:t>方法大多先做实体链接，提取问题实体周围的局部连通子图，再使用 </a:t>
            </a:r>
            <a:r>
              <a:rPr lang="en-US" altLang="zh-CN"/>
              <a:t>GNN </a:t>
            </a:r>
            <a:r>
              <a:rPr lang="zh-CN" altLang="en-US"/>
              <a:t>做图推理；该方式会丢弃一些不连通但对问题有用的三元组。</a:t>
            </a:r>
            <a:r>
              <a:rPr lang="en-US" altLang="zh-CN"/>
              <a:t>GRQA </a:t>
            </a:r>
            <a:r>
              <a:rPr lang="zh-CN" altLang="en-US"/>
              <a:t>绕开 </a:t>
            </a:r>
            <a:r>
              <a:rPr lang="en-US" altLang="zh-CN"/>
              <a:t>GNN </a:t>
            </a:r>
            <a:r>
              <a:rPr lang="zh-CN" altLang="en-US"/>
              <a:t>图编码器，把 </a:t>
            </a:r>
            <a:r>
              <a:rPr lang="en-US" altLang="zh-CN"/>
              <a:t>KG </a:t>
            </a:r>
            <a:r>
              <a:rPr lang="zh-CN" altLang="en-US"/>
              <a:t>三元组模板化为自然文本段落，采用**稀疏 + 稠密混合检索 + 交叉编码器重排序**选出高价值三元组文本，直接拼接进大模型输入做问答，不依赖图神经网络，在 </a:t>
            </a:r>
            <a:r>
              <a:rPr lang="en-US" altLang="zh-CN"/>
              <a:t>CommonsenseQA、OpenBookQA </a:t>
            </a:r>
            <a:r>
              <a:rPr lang="zh-CN" altLang="en-US"/>
              <a:t>取得 </a:t>
            </a:r>
            <a:r>
              <a:rPr lang="en-US" altLang="zh-CN"/>
              <a:t>SOTA。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### 3. Cross‑Encoder </a:t>
            </a:r>
            <a:r>
              <a:rPr lang="zh-CN" altLang="en-US">
                <a:sym typeface="+mn-ea"/>
              </a:rPr>
              <a:t>交叉编码器重排序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将`(问题+候选答案，检索段落)`输入预训练交叉编码器，输出 0‑1 相关性得分；依据得分对全部候选重排，取 </a:t>
            </a:r>
            <a:r>
              <a:rPr lang="en-US" altLang="zh-CN">
                <a:sym typeface="+mn-ea"/>
              </a:rPr>
              <a:t>top‑K </a:t>
            </a:r>
            <a:r>
              <a:rPr lang="zh-CN" altLang="en-US">
                <a:sym typeface="+mn-ea"/>
              </a:rPr>
              <a:t>最相关段落。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基于LLM的生成器---</a:t>
            </a:r>
            <a:r>
              <a:rPr lang="zh-CN" altLang="en-US">
                <a:sym typeface="+mn-ea"/>
              </a:rPr>
              <a:t>面向**带文本属性图（</a:t>
            </a:r>
            <a:r>
              <a:rPr lang="en-US" altLang="zh-CN">
                <a:sym typeface="+mn-ea"/>
              </a:rPr>
              <a:t>text‑attributed graph）</a:t>
            </a:r>
            <a:r>
              <a:rPr lang="zh-CN" altLang="en-US">
                <a:sym typeface="+mn-ea"/>
              </a:rPr>
              <a:t>的问答 </a:t>
            </a:r>
            <a:r>
              <a:rPr lang="en-US" altLang="zh-CN">
                <a:sym typeface="+mn-ea"/>
              </a:rPr>
              <a:t>GraphQA**。</a:t>
            </a:r>
            <a:r>
              <a:rPr lang="zh-CN" altLang="en-US">
                <a:sym typeface="+mn-ea"/>
              </a:rPr>
              <a:t>解决两大痛点：①直接把整张大图全部文本输入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会超出上下文窗口；②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做图推理时容易产生幻觉，编造不存在的节点、边。</a:t>
            </a:r>
            <a:r>
              <a:rPr lang="en-US" altLang="zh-CN">
                <a:sym typeface="+mn-ea"/>
              </a:rPr>
              <a:t>G‑Retriever </a:t>
            </a:r>
            <a:r>
              <a:rPr lang="zh-CN" altLang="en-US">
                <a:sym typeface="+mn-ea"/>
              </a:rPr>
              <a:t>融合 </a:t>
            </a:r>
            <a:r>
              <a:rPr lang="en-US" altLang="zh-CN">
                <a:sym typeface="+mn-ea"/>
              </a:rPr>
              <a:t>RAG </a:t>
            </a:r>
            <a:r>
              <a:rPr lang="zh-CN" altLang="en-US">
                <a:sym typeface="+mn-ea"/>
              </a:rPr>
              <a:t>检索、</a:t>
            </a:r>
            <a:r>
              <a:rPr lang="en-US" altLang="zh-CN">
                <a:sym typeface="+mn-ea"/>
              </a:rPr>
              <a:t>GNN </a:t>
            </a:r>
            <a:r>
              <a:rPr lang="zh-CN" altLang="en-US">
                <a:sym typeface="+mn-ea"/>
              </a:rPr>
              <a:t>图编码器、大模型软提示（</a:t>
            </a:r>
            <a:r>
              <a:rPr lang="en-US" altLang="zh-CN">
                <a:sym typeface="+mn-ea"/>
              </a:rPr>
              <a:t>soft prompt）；</a:t>
            </a:r>
            <a:r>
              <a:rPr lang="zh-CN" altLang="en-US">
                <a:sym typeface="+mn-ea"/>
              </a:rPr>
              <a:t>提出将子图抽取建模为**奖赏收集斯坦纳树 </a:t>
            </a:r>
            <a:r>
              <a:rPr lang="en-US" altLang="zh-CN">
                <a:sym typeface="+mn-ea"/>
              </a:rPr>
              <a:t>PCST（Prize‑Collecting Steiner Tree）**</a:t>
            </a:r>
            <a:r>
              <a:rPr lang="zh-CN" altLang="en-US">
                <a:sym typeface="+mn-ea"/>
              </a:rPr>
              <a:t>优化问题，从原图检索出小规模高相关连通子图；再结合图结构表征 + 文本化子图，送入冻结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做问答。同时开源 </a:t>
            </a:r>
            <a:r>
              <a:rPr lang="en-US" altLang="zh-CN">
                <a:sym typeface="+mn-ea"/>
              </a:rPr>
              <a:t>GraphQA </a:t>
            </a:r>
            <a:r>
              <a:rPr lang="zh-CN" altLang="en-US">
                <a:sym typeface="+mn-ea"/>
              </a:rPr>
              <a:t>多领域评测基准。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1. 文本属性图：节点、边都附带自然文本描述，如知识图谱、场景图、论证解释图。</a:t>
            </a:r>
            <a:endParaRPr lang="zh-CN" altLang="en-US"/>
          </a:p>
          <a:p>
            <a:r>
              <a:rPr lang="zh-CN" altLang="en-US">
                <a:sym typeface="+mn-ea"/>
              </a:rPr>
              <a:t>2. 现有 </a:t>
            </a:r>
            <a:r>
              <a:rPr lang="en-US" altLang="zh-CN">
                <a:sym typeface="+mn-ea"/>
              </a:rPr>
              <a:t>LLM+Graph </a:t>
            </a:r>
            <a:r>
              <a:rPr lang="zh-CN" altLang="en-US">
                <a:sym typeface="+mn-ea"/>
              </a:rPr>
              <a:t>路线两类问题：</a:t>
            </a:r>
            <a:endParaRPr lang="zh-CN" altLang="en-US"/>
          </a:p>
          <a:p>
            <a:r>
              <a:rPr lang="zh-CN" altLang="en-US">
                <a:sym typeface="+mn-ea"/>
              </a:rPr>
              <a:t>   - 把整张图全部转成文本送入 </a:t>
            </a:r>
            <a:r>
              <a:rPr lang="en-US" altLang="zh-CN">
                <a:sym typeface="+mn-ea"/>
              </a:rPr>
              <a:t>LLM：</a:t>
            </a:r>
            <a:r>
              <a:rPr lang="zh-CN" altLang="en-US">
                <a:sym typeface="+mn-ea"/>
              </a:rPr>
              <a:t>大图 </a:t>
            </a:r>
            <a:r>
              <a:rPr lang="en-US" altLang="zh-CN">
                <a:sym typeface="+mn-ea"/>
              </a:rPr>
              <a:t>token </a:t>
            </a:r>
            <a:r>
              <a:rPr lang="zh-CN" altLang="en-US">
                <a:sym typeface="+mn-ea"/>
              </a:rPr>
              <a:t>爆炸，超出上下文；截断会丢失关键信息。</a:t>
            </a:r>
            <a:endParaRPr lang="zh-CN" altLang="en-US"/>
          </a:p>
          <a:p>
            <a:r>
              <a:rPr lang="en-US" altLang="zh-CN">
                <a:sym typeface="+mn-ea"/>
              </a:rPr>
              <a:t>   - Graph‑Prompt </a:t>
            </a:r>
            <a:r>
              <a:rPr lang="zh-CN" altLang="en-US">
                <a:sym typeface="+mn-ea"/>
              </a:rPr>
              <a:t>调优：</a:t>
            </a:r>
            <a:r>
              <a:rPr lang="en-US" altLang="zh-CN">
                <a:sym typeface="+mn-ea"/>
              </a:rPr>
              <a:t>GNN </a:t>
            </a:r>
            <a:r>
              <a:rPr lang="zh-CN" altLang="en-US">
                <a:sym typeface="+mn-ea"/>
              </a:rPr>
              <a:t>编码整张图生成软提示给 </a:t>
            </a:r>
            <a:r>
              <a:rPr lang="en-US" altLang="zh-CN">
                <a:sym typeface="+mn-ea"/>
              </a:rPr>
              <a:t>LLM；</a:t>
            </a:r>
            <a:r>
              <a:rPr lang="zh-CN" altLang="en-US">
                <a:sym typeface="+mn-ea"/>
              </a:rPr>
              <a:t>模型容易**幻觉**，输出原图不存在的节点与边，没有做检索校验。</a:t>
            </a:r>
            <a:endParaRPr lang="zh-CN" altLang="en-US"/>
          </a:p>
          <a:p>
            <a:r>
              <a:rPr lang="zh-CN" altLang="en-US">
                <a:sym typeface="+mn-ea"/>
              </a:rPr>
              <a:t>3. 普通文本 </a:t>
            </a:r>
            <a:r>
              <a:rPr lang="en-US" altLang="zh-CN">
                <a:sym typeface="+mn-ea"/>
              </a:rPr>
              <a:t>RAG </a:t>
            </a:r>
            <a:r>
              <a:rPr lang="zh-CN" altLang="en-US">
                <a:sym typeface="+mn-ea"/>
              </a:rPr>
              <a:t>不能直接迁移到图数据：图有拓扑连通约束，不只是独立文本片段。</a:t>
            </a:r>
            <a:endParaRPr lang="zh-CN" altLang="en-US"/>
          </a:p>
          <a:p>
            <a:r>
              <a:rPr lang="zh-CN" altLang="en-US">
                <a:sym typeface="+mn-ea"/>
              </a:rPr>
              <a:t>4. 缺少统一多领域 </a:t>
            </a:r>
            <a:r>
              <a:rPr lang="en-US" altLang="zh-CN">
                <a:sym typeface="+mn-ea"/>
              </a:rPr>
              <a:t>GraphQA </a:t>
            </a:r>
            <a:r>
              <a:rPr lang="zh-CN" altLang="en-US">
                <a:sym typeface="+mn-ea"/>
              </a:rPr>
              <a:t>基准，现有数据集大多只针对单一图任务。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endParaRPr lang="en-US" altLang="zh-CN"/>
          </a:p>
          <a:p>
            <a:r>
              <a:rPr lang="zh-CN" altLang="en-US">
                <a:sym typeface="+mn-ea"/>
              </a:rPr>
              <a:t>&gt; 核心思想：把 </a:t>
            </a:r>
            <a:r>
              <a:rPr lang="en-US" altLang="zh-CN">
                <a:sym typeface="+mn-ea"/>
              </a:rPr>
              <a:t>RAG </a:t>
            </a:r>
            <a:r>
              <a:rPr lang="zh-CN" altLang="en-US">
                <a:sym typeface="+mn-ea"/>
              </a:rPr>
              <a:t>思想拓展到图数据；不输入全图，检索得到**连通的相关子图**；同时保留图结构 </a:t>
            </a:r>
            <a:r>
              <a:rPr lang="en-US" altLang="zh-CN">
                <a:sym typeface="+mn-ea"/>
              </a:rPr>
              <a:t>GNN </a:t>
            </a:r>
            <a:r>
              <a:rPr lang="zh-CN" altLang="en-US">
                <a:sym typeface="+mn-ea"/>
              </a:rPr>
              <a:t>表征 + 文本化子图，双路输入 </a:t>
            </a:r>
            <a:r>
              <a:rPr lang="en-US" altLang="zh-CN">
                <a:sym typeface="+mn-ea"/>
              </a:rPr>
              <a:t>LLM，</a:t>
            </a:r>
            <a:r>
              <a:rPr lang="zh-CN" altLang="en-US">
                <a:sym typeface="+mn-ea"/>
              </a:rPr>
              <a:t>降低幻觉、适配大图。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## 主要贡献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1. **GraphQA </a:t>
            </a:r>
            <a:r>
              <a:rPr lang="zh-CN" altLang="en-US">
                <a:sym typeface="+mn-ea"/>
              </a:rPr>
              <a:t>基准数据集**：整合 </a:t>
            </a:r>
            <a:r>
              <a:rPr lang="en-US" altLang="zh-CN">
                <a:sym typeface="+mn-ea"/>
              </a:rPr>
              <a:t>ExplaGraphs </a:t>
            </a:r>
            <a:r>
              <a:rPr lang="zh-CN" altLang="en-US">
                <a:sym typeface="+mn-ea"/>
              </a:rPr>
              <a:t>常识论证、</a:t>
            </a:r>
            <a:r>
              <a:rPr lang="en-US" altLang="zh-CN">
                <a:sym typeface="+mn-ea"/>
              </a:rPr>
              <a:t>SceneGraphs </a:t>
            </a:r>
            <a:r>
              <a:rPr lang="zh-CN" altLang="en-US">
                <a:sym typeface="+mn-ea"/>
              </a:rPr>
              <a:t>视觉场景图、</a:t>
            </a:r>
            <a:r>
              <a:rPr lang="en-US" altLang="zh-CN">
                <a:sym typeface="+mn-ea"/>
              </a:rPr>
              <a:t>WebQSP </a:t>
            </a:r>
            <a:r>
              <a:rPr lang="zh-CN" altLang="en-US">
                <a:sym typeface="+mn-ea"/>
              </a:rPr>
              <a:t>知识图谱 </a:t>
            </a:r>
            <a:r>
              <a:rPr lang="en-US" altLang="zh-CN">
                <a:sym typeface="+mn-ea"/>
              </a:rPr>
              <a:t>QA，</a:t>
            </a:r>
            <a:r>
              <a:rPr lang="zh-CN" altLang="en-US">
                <a:sym typeface="+mn-ea"/>
              </a:rPr>
              <a:t>统一格式，覆盖多类图问答任务。</a:t>
            </a:r>
            <a:endParaRPr lang="zh-CN" altLang="en-US"/>
          </a:p>
          <a:p>
            <a:r>
              <a:rPr lang="en-US" altLang="zh-CN">
                <a:sym typeface="+mn-ea"/>
              </a:rPr>
              <a:t>2. **G‑Retriever </a:t>
            </a:r>
            <a:r>
              <a:rPr lang="zh-CN" altLang="en-US">
                <a:sym typeface="+mn-ea"/>
              </a:rPr>
              <a:t>框架**：面向文本属性图的检索增强问答；把子图选择转化 </a:t>
            </a:r>
            <a:r>
              <a:rPr lang="en-US" altLang="zh-CN">
                <a:sym typeface="+mn-ea"/>
              </a:rPr>
              <a:t>PCST </a:t>
            </a:r>
            <a:r>
              <a:rPr lang="zh-CN" altLang="en-US">
                <a:sym typeface="+mn-ea"/>
              </a:rPr>
              <a:t>奖赏收集斯坦纳树优化，选出小而高相关连通子图。</a:t>
            </a:r>
            <a:endParaRPr lang="zh-CN" altLang="en-US"/>
          </a:p>
          <a:p>
            <a:r>
              <a:rPr lang="zh-CN" altLang="en-US">
                <a:sym typeface="+mn-ea"/>
              </a:rPr>
              <a:t>3. 架构结合：**图检索 </a:t>
            </a:r>
            <a:r>
              <a:rPr lang="en-US" altLang="zh-CN">
                <a:sym typeface="+mn-ea"/>
              </a:rPr>
              <a:t>RAG + GNN </a:t>
            </a:r>
            <a:r>
              <a:rPr lang="zh-CN" altLang="en-US">
                <a:sym typeface="+mn-ea"/>
              </a:rPr>
              <a:t>图编码器 +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软提示调优**，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主干可冻结，仅训练 </a:t>
            </a:r>
            <a:r>
              <a:rPr lang="en-US" altLang="zh-CN">
                <a:sym typeface="+mn-ea"/>
              </a:rPr>
              <a:t>GNN + </a:t>
            </a:r>
            <a:r>
              <a:rPr lang="zh-CN" altLang="en-US">
                <a:sym typeface="+mn-ea"/>
              </a:rPr>
              <a:t>投影层，参数高效。</a:t>
            </a:r>
            <a:endParaRPr lang="zh-CN" altLang="en-US"/>
          </a:p>
          <a:p>
            <a:r>
              <a:rPr lang="zh-CN" altLang="en-US">
                <a:sym typeface="+mn-ea"/>
              </a:rPr>
              <a:t>4. 实验证明：可处理远超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上下文的大图；显著降低图问答场景的幻觉现象。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## G‑Retriever </a:t>
            </a:r>
            <a:r>
              <a:rPr lang="zh-CN" altLang="en-US">
                <a:sym typeface="+mn-ea"/>
              </a:rPr>
              <a:t>四步流水线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### Step1 Indexing </a:t>
            </a:r>
            <a:r>
              <a:rPr lang="zh-CN" altLang="en-US">
                <a:sym typeface="+mn-ea"/>
              </a:rPr>
              <a:t>索引构建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用 </a:t>
            </a:r>
            <a:r>
              <a:rPr lang="en-US" altLang="zh-CN">
                <a:sym typeface="+mn-ea"/>
              </a:rPr>
              <a:t>Sentence‑BERT </a:t>
            </a:r>
            <a:r>
              <a:rPr lang="zh-CN" altLang="en-US">
                <a:sym typeface="+mn-ea"/>
              </a:rPr>
              <a:t>编码每个节点、每条边的文本属性，得到向量，构建向量检索库。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### Step2 Retrieval </a:t>
            </a:r>
            <a:r>
              <a:rPr lang="zh-CN" altLang="en-US">
                <a:sym typeface="+mn-ea"/>
              </a:rPr>
              <a:t>粗检索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对用户问题编码，余弦相似度召回 </a:t>
            </a:r>
            <a:r>
              <a:rPr lang="en-US" altLang="zh-CN">
                <a:sym typeface="+mn-ea"/>
              </a:rPr>
              <a:t>top‑K </a:t>
            </a:r>
            <a:r>
              <a:rPr lang="zh-CN" altLang="en-US">
                <a:sym typeface="+mn-ea"/>
              </a:rPr>
              <a:t>最相关的节点、边集合。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endParaRPr lang="en-US" altLang="zh-CN"/>
          </a:p>
          <a:p>
            <a:r>
              <a:rPr lang="zh-CN" altLang="en-US">
                <a:sym typeface="+mn-ea"/>
              </a:rPr>
              <a:t>&gt; 输出：一批离散高相关节点、边，不一定连通。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### Step3 Subgraph Construction </a:t>
            </a:r>
            <a:r>
              <a:rPr lang="zh-CN" altLang="en-US">
                <a:sym typeface="+mn-ea"/>
              </a:rPr>
              <a:t>子图构造【核心 </a:t>
            </a:r>
            <a:r>
              <a:rPr lang="en-US" altLang="zh-CN">
                <a:sym typeface="+mn-ea"/>
              </a:rPr>
              <a:t>PCST】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将挑选连通子图建模为**</a:t>
            </a:r>
            <a:r>
              <a:rPr lang="en-US" altLang="zh-CN">
                <a:sym typeface="+mn-ea"/>
              </a:rPr>
              <a:t>Prize‑Collecting Steiner Tree（PCST）**</a:t>
            </a:r>
            <a:r>
              <a:rPr lang="zh-CN" altLang="en-US">
                <a:sym typeface="+mn-ea"/>
              </a:rPr>
              <a:t>优化：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1. 给召回节点、边设置奖赏 </a:t>
            </a:r>
            <a:r>
              <a:rPr lang="en-US" altLang="zh-CN">
                <a:sym typeface="+mn-ea"/>
              </a:rPr>
              <a:t>prize：</a:t>
            </a:r>
            <a:r>
              <a:rPr lang="zh-CN" altLang="en-US">
                <a:sym typeface="+mn-ea"/>
              </a:rPr>
              <a:t>相似度越高奖赏越高；其它元素 </a:t>
            </a:r>
            <a:r>
              <a:rPr lang="en-US" altLang="zh-CN">
                <a:sym typeface="+mn-ea"/>
              </a:rPr>
              <a:t>prize=0；</a:t>
            </a:r>
            <a:r>
              <a:rPr lang="zh-CN" altLang="en-US">
                <a:sym typeface="+mn-ea"/>
              </a:rPr>
              <a:t>边设置代价 </a:t>
            </a:r>
            <a:r>
              <a:rPr lang="en-US" altLang="zh-CN">
                <a:sym typeface="+mn-ea"/>
              </a:rPr>
              <a:t>cost。</a:t>
            </a:r>
            <a:endParaRPr lang="en-US" altLang="zh-CN"/>
          </a:p>
          <a:p>
            <a:r>
              <a:rPr lang="zh-CN" altLang="en-US">
                <a:sym typeface="+mn-ea"/>
              </a:rPr>
              <a:t>2. 优化目标：最大化总奖赏 − 子图总边代价；输出**连通子图 </a:t>
            </a:r>
            <a:r>
              <a:rPr lang="en-US" altLang="zh-CN">
                <a:sym typeface="+mn-ea"/>
              </a:rPr>
              <a:t>S***。</a:t>
            </a:r>
            <a:endParaRPr lang="en-US" altLang="zh-CN"/>
          </a:p>
          <a:p>
            <a:r>
              <a:rPr lang="zh-CN" altLang="en-US">
                <a:sym typeface="+mn-ea"/>
              </a:rPr>
              <a:t>3. 改造原版 </a:t>
            </a:r>
            <a:r>
              <a:rPr lang="en-US" altLang="zh-CN">
                <a:sym typeface="+mn-ea"/>
              </a:rPr>
              <a:t>PCST（</a:t>
            </a:r>
            <a:r>
              <a:rPr lang="zh-CN" altLang="en-US">
                <a:sym typeface="+mn-ea"/>
              </a:rPr>
              <a:t>只支持节点奖赏）：引入虚拟节点技巧，实现同时支持**节点 + 边的双重奖赏**。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endParaRPr lang="en-US" altLang="zh-CN"/>
          </a:p>
          <a:p>
            <a:r>
              <a:rPr lang="zh-CN" altLang="en-US">
                <a:sym typeface="+mn-ea"/>
              </a:rPr>
              <a:t>&gt; 效果：既尽可能保留高奖赏相关节点边，又维持子图连通性，同时控制子图规模，压缩 </a:t>
            </a:r>
            <a:r>
              <a:rPr lang="en-US" altLang="zh-CN">
                <a:sym typeface="+mn-ea"/>
              </a:rPr>
              <a:t>token </a:t>
            </a:r>
            <a:r>
              <a:rPr lang="zh-CN" altLang="en-US">
                <a:sym typeface="+mn-ea"/>
              </a:rPr>
              <a:t>数量。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### Step4 Generation </a:t>
            </a:r>
            <a:r>
              <a:rPr lang="zh-CN" altLang="en-US">
                <a:sym typeface="+mn-ea"/>
              </a:rPr>
              <a:t>生成答案（双路输入 </a:t>
            </a:r>
            <a:r>
              <a:rPr lang="en-US" altLang="zh-CN">
                <a:sym typeface="+mn-ea"/>
              </a:rPr>
              <a:t>LLM）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1. 图编码器 </a:t>
            </a:r>
            <a:r>
              <a:rPr lang="en-US" altLang="zh-CN">
                <a:sym typeface="+mn-ea"/>
              </a:rPr>
              <a:t>GAT </a:t>
            </a:r>
            <a:r>
              <a:rPr lang="zh-CN" altLang="en-US">
                <a:sym typeface="+mn-ea"/>
              </a:rPr>
              <a:t>对 </a:t>
            </a:r>
            <a:r>
              <a:rPr lang="en-US" altLang="zh-CN">
                <a:sym typeface="+mn-ea"/>
              </a:rPr>
              <a:t>PCST </a:t>
            </a:r>
            <a:r>
              <a:rPr lang="zh-CN" altLang="en-US">
                <a:sym typeface="+mn-ea"/>
              </a:rPr>
              <a:t>输出子图\(</a:t>
            </a:r>
            <a:r>
              <a:rPr lang="en-US" altLang="zh-CN">
                <a:sym typeface="+mn-ea"/>
              </a:rPr>
              <a:t>S^*\)</a:t>
            </a:r>
            <a:r>
              <a:rPr lang="zh-CN" altLang="en-US">
                <a:sym typeface="+mn-ea"/>
              </a:rPr>
              <a:t>做图消息传递，池化得到整张子图的图向量；</a:t>
            </a:r>
            <a:r>
              <a:rPr lang="en-US" altLang="zh-CN">
                <a:sym typeface="+mn-ea"/>
              </a:rPr>
              <a:t>MLP </a:t>
            </a:r>
            <a:r>
              <a:rPr lang="zh-CN" altLang="en-US">
                <a:sym typeface="+mn-ea"/>
              </a:rPr>
              <a:t>投影对齐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隐层维度，作为**可训练软提示 </a:t>
            </a:r>
            <a:r>
              <a:rPr lang="en-US" altLang="zh-CN">
                <a:sym typeface="+mn-ea"/>
              </a:rPr>
              <a:t>token**。</a:t>
            </a:r>
            <a:endParaRPr lang="en-US" altLang="zh-CN"/>
          </a:p>
          <a:p>
            <a:r>
              <a:rPr lang="zh-CN" altLang="en-US">
                <a:sym typeface="+mn-ea"/>
              </a:rPr>
              <a:t>2. 将子图\(</a:t>
            </a:r>
            <a:r>
              <a:rPr lang="en-US" altLang="zh-CN">
                <a:sym typeface="+mn-ea"/>
              </a:rPr>
              <a:t>S^*\)</a:t>
            </a:r>
            <a:r>
              <a:rPr lang="zh-CN" altLang="en-US">
                <a:sym typeface="+mn-ea"/>
              </a:rPr>
              <a:t>文本序列化（</a:t>
            </a:r>
            <a:r>
              <a:rPr lang="en-US" altLang="zh-CN">
                <a:sym typeface="+mn-ea"/>
              </a:rPr>
              <a:t>textualize），</a:t>
            </a:r>
            <a:r>
              <a:rPr lang="zh-CN" altLang="en-US">
                <a:sym typeface="+mn-ea"/>
              </a:rPr>
              <a:t>得到自然语言文本片段。</a:t>
            </a:r>
            <a:endParaRPr lang="zh-CN" altLang="en-US"/>
          </a:p>
          <a:p>
            <a:r>
              <a:rPr lang="zh-CN" altLang="en-US">
                <a:sym typeface="+mn-ea"/>
              </a:rPr>
              <a:t>3. 冻结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主干；输入 = 【软提示图 </a:t>
            </a:r>
            <a:r>
              <a:rPr lang="en-US" altLang="zh-CN">
                <a:sym typeface="+mn-ea"/>
              </a:rPr>
              <a:t>token + </a:t>
            </a:r>
            <a:r>
              <a:rPr lang="zh-CN" altLang="en-US">
                <a:sym typeface="+mn-ea"/>
              </a:rPr>
              <a:t>文本化子图 + 用户问题】，生成答案。</a:t>
            </a:r>
            <a:endParaRPr lang="zh-CN" altLang="en-US"/>
          </a:p>
          <a:p>
            <a:r>
              <a:rPr lang="zh-CN" altLang="en-US">
                <a:sym typeface="+mn-ea"/>
              </a:rPr>
              <a:t>4. 训练：只更新 </a:t>
            </a:r>
            <a:r>
              <a:rPr lang="en-US" altLang="zh-CN">
                <a:sym typeface="+mn-ea"/>
              </a:rPr>
              <a:t>GAT </a:t>
            </a:r>
            <a:r>
              <a:rPr lang="zh-CN" altLang="en-US">
                <a:sym typeface="+mn-ea"/>
              </a:rPr>
              <a:t>图编码器 + 投影层；也可搭配 </a:t>
            </a:r>
            <a:r>
              <a:rPr lang="en-US" altLang="zh-CN">
                <a:sym typeface="+mn-ea"/>
              </a:rPr>
              <a:t>LoRA </a:t>
            </a:r>
            <a:r>
              <a:rPr lang="zh-CN" altLang="en-US">
                <a:sym typeface="+mn-ea"/>
              </a:rPr>
              <a:t>微调 </a:t>
            </a:r>
            <a:r>
              <a:rPr lang="en-US" altLang="zh-CN">
                <a:sym typeface="+mn-ea"/>
              </a:rPr>
              <a:t>LLM </a:t>
            </a:r>
            <a:r>
              <a:rPr lang="zh-CN" altLang="en-US">
                <a:sym typeface="+mn-ea"/>
              </a:rPr>
              <a:t>获得进一步增益。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&gt; </a:t>
            </a:r>
            <a:endParaRPr lang="en-US" altLang="zh-CN"/>
          </a:p>
          <a:p>
            <a:r>
              <a:rPr lang="zh-CN" altLang="en-US">
                <a:sym typeface="+mn-ea"/>
              </a:rPr>
              <a:t>&gt; 两路信息互补：</a:t>
            </a:r>
            <a:r>
              <a:rPr lang="en-US" altLang="zh-CN">
                <a:sym typeface="+mn-ea"/>
              </a:rPr>
              <a:t>GNN </a:t>
            </a:r>
            <a:r>
              <a:rPr lang="zh-CN" altLang="en-US">
                <a:sym typeface="+mn-ea"/>
              </a:rPr>
              <a:t>捕获拓扑结构；文本化子图提供原始字面证据，用来抑制幻觉。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基于Graph的生成器</a:t>
            </a:r>
            <a:r>
              <a:rPr lang="zh-CN" altLang="en-US"/>
              <a:t>**检索增强的可控分子生成框架**。传统可控分子生成方法大多需要针对每个任务做大量微调、强化学习训练，在只有少量优质分子样例的药物发现场景下效果受限。</a:t>
            </a:r>
            <a:r>
              <a:rPr lang="en-US" altLang="zh-CN"/>
              <a:t>RetMol </a:t>
            </a:r>
            <a:r>
              <a:rPr lang="zh-CN" altLang="en-US"/>
              <a:t>引入检索思想：从任务专属检索库中检索部分满足 / 部分满足设计目标的范例分子，借助轻量可训练的交叉注意力信息融合模块，引导预训练分子生成模型输出符合多属性约束的新分子；**不需要任务级微调基础生成模型**，支持真实药物分子优化任务。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可控分子生成（药物分子设计）目标：生成同时满足多条理化、生物活性约束的分子。现有三类主流方案存在短板：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**强化学习 </a:t>
            </a:r>
            <a:r>
              <a:rPr lang="en-US" altLang="zh-CN"/>
              <a:t>RL </a:t>
            </a:r>
            <a:r>
              <a:rPr lang="zh-CN" altLang="en-US"/>
              <a:t>类（</a:t>
            </a:r>
            <a:r>
              <a:rPr lang="en-US" altLang="zh-CN"/>
              <a:t>REINVENT、GCPN）**：</a:t>
            </a:r>
            <a:r>
              <a:rPr lang="zh-CN" altLang="en-US"/>
              <a:t>需要大量任务专属微调，依赖奖励信号，数据稀缺场景很难落地。</a:t>
            </a:r>
            <a:endParaRPr lang="zh-CN" altLang="en-US"/>
          </a:p>
          <a:p>
            <a:r>
              <a:rPr lang="zh-CN" altLang="en-US"/>
              <a:t>2. **隐空间优化类（</a:t>
            </a:r>
            <a:r>
              <a:rPr lang="en-US" altLang="zh-CN"/>
              <a:t>JT‑VAE、QMO）**：</a:t>
            </a:r>
            <a:r>
              <a:rPr lang="zh-CN" altLang="en-US"/>
              <a:t>在 </a:t>
            </a:r>
            <a:r>
              <a:rPr lang="en-US" altLang="zh-CN"/>
              <a:t>VAE </a:t>
            </a:r>
            <a:r>
              <a:rPr lang="zh-CN" altLang="en-US"/>
              <a:t>隐空间做优化，受限于隐空间质量，部分任务很难收敛。</a:t>
            </a:r>
            <a:endParaRPr lang="zh-CN" altLang="en-US"/>
          </a:p>
          <a:p>
            <a:r>
              <a:rPr lang="zh-CN" altLang="en-US"/>
              <a:t>3. **进化 / 遗传算法 </a:t>
            </a:r>
            <a:r>
              <a:rPr lang="en-US" altLang="zh-CN"/>
              <a:t>GA**：</a:t>
            </a:r>
            <a:r>
              <a:rPr lang="zh-CN" altLang="en-US"/>
              <a:t>依靠手工规则变异，计算开销大，生成多样性有限。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现实药物研发场景：往往只有少量部分满足条件的范例分子，缺少大规模标注训练数据。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核心洞察：不需要重新训练生成底座；可以**检索现实中性质优秀的范例分子作为引导信号**，融合范例分子表征来指导生成；底座模型冻结，仅训练一个轻量融合模块。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核心贡献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**RetMol </a:t>
            </a:r>
            <a:r>
              <a:rPr lang="zh-CN" altLang="en-US"/>
              <a:t>检索增强可控分子生成框架**：复用预训练分子生成模型 </a:t>
            </a:r>
            <a:r>
              <a:rPr lang="en-US" altLang="zh-CN"/>
              <a:t>ChemFormer，</a:t>
            </a:r>
            <a:r>
              <a:rPr lang="zh-CN" altLang="en-US"/>
              <a:t>仅训练轻量级交叉注意力信息融合模块，无需对生成底座做任务专属微调。</a:t>
            </a:r>
            <a:endParaRPr lang="zh-CN" altLang="en-US"/>
          </a:p>
          <a:p>
            <a:r>
              <a:rPr lang="zh-CN" altLang="en-US"/>
              <a:t>2. 设计自监督训练目标：预测输入分子的近邻分子，让融合模块学会利用检索范例做表征融合，不依赖分子生成重建损失。</a:t>
            </a:r>
            <a:endParaRPr lang="zh-CN" altLang="en-US"/>
          </a:p>
          <a:p>
            <a:r>
              <a:rPr lang="zh-CN" altLang="en-US"/>
              <a:t>3. **迭代求精推理策略**：迭代更新输入分子，并且动态扩充检索库，使生成分子性质可以**超越原始检索库内分子的性能上限**。</a:t>
            </a:r>
            <a:endParaRPr lang="zh-CN" altLang="en-US"/>
          </a:p>
          <a:p>
            <a:r>
              <a:rPr lang="zh-CN" altLang="en-US"/>
              <a:t>4. 在基准任务与真实新冠主蛋白酶抑制剂、抗菌靶点 </a:t>
            </a:r>
            <a:r>
              <a:rPr lang="en-US" altLang="zh-CN"/>
              <a:t>MurD </a:t>
            </a:r>
            <a:r>
              <a:rPr lang="zh-CN" altLang="en-US"/>
              <a:t>药物优化任务取得 </a:t>
            </a:r>
            <a:r>
              <a:rPr lang="en-US" altLang="zh-CN"/>
              <a:t>SOTA；</a:t>
            </a:r>
            <a:r>
              <a:rPr lang="zh-CN" altLang="en-US"/>
              <a:t>框架具备通用性，可以接入不同底层分子生成器。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 RetMol </a:t>
            </a:r>
            <a:r>
              <a:rPr lang="zh-CN" altLang="en-US"/>
              <a:t>完整框架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整体组件：预训练分子编码器 / 解码器（</a:t>
            </a:r>
            <a:r>
              <a:rPr lang="en-US" altLang="zh-CN"/>
              <a:t>ChemFormer，**</a:t>
            </a:r>
            <a:r>
              <a:rPr lang="zh-CN" altLang="en-US"/>
              <a:t>完全冻结**）、分子检索器、**信息融合模块（可训练，参数量仅占整体 &lt; 5%）**、检索数据库。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1）检索数据库构建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检索库存放范例分子，范例分子可以只部分满足设计约束。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检索器逻辑：优先选出全部满足约束的分子；若数量不足，则逐步放宽约束条件，选出 </a:t>
            </a:r>
            <a:r>
              <a:rPr lang="en-US" altLang="zh-CN"/>
              <a:t>top‑K </a:t>
            </a:r>
            <a:r>
              <a:rPr lang="zh-CN" altLang="en-US"/>
              <a:t>高分范例分子。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2）训练阶段（只更新信息融合模块）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输入分子\(</a:t>
            </a:r>
            <a:r>
              <a:rPr lang="en-US" altLang="zh-CN"/>
              <a:t>x_{in}\)</a:t>
            </a:r>
            <a:r>
              <a:rPr lang="zh-CN" altLang="en-US"/>
              <a:t>经过预训练编码器得到输入嵌入\(</a:t>
            </a:r>
            <a:r>
              <a:rPr lang="en-US" altLang="zh-CN"/>
              <a:t>e_{in}\)；</a:t>
            </a:r>
            <a:endParaRPr lang="en-US" altLang="zh-CN"/>
          </a:p>
          <a:p>
            <a:r>
              <a:rPr lang="zh-CN" altLang="en-US"/>
              <a:t>2. 检索库检索输入分子的 </a:t>
            </a:r>
            <a:r>
              <a:rPr lang="en-US" altLang="zh-CN"/>
              <a:t>K </a:t>
            </a:r>
            <a:r>
              <a:rPr lang="zh-CN" altLang="en-US"/>
              <a:t>个近邻范例分子，编码得到范例分子嵌入集合\(</a:t>
            </a:r>
            <a:r>
              <a:rPr lang="en-US" altLang="zh-CN"/>
              <a:t>E_r\)；</a:t>
            </a:r>
            <a:endParaRPr lang="en-US" altLang="zh-CN"/>
          </a:p>
          <a:p>
            <a:r>
              <a:rPr lang="zh-CN" altLang="en-US"/>
              <a:t>3. **交叉注意力信息融合模块**：</a:t>
            </a:r>
            <a:r>
              <a:rPr lang="en-US" altLang="zh-CN"/>
              <a:t>Query </a:t>
            </a:r>
            <a:r>
              <a:rPr lang="zh-CN" altLang="en-US"/>
              <a:t>来自输入分子嵌入，</a:t>
            </a:r>
            <a:r>
              <a:rPr lang="en-US" altLang="zh-CN"/>
              <a:t>Key‑Value </a:t>
            </a:r>
            <a:r>
              <a:rPr lang="zh-CN" altLang="en-US"/>
              <a:t>来自检索范例嵌入，输出融合嵌入</a:t>
            </a:r>
            <a:r>
              <a:rPr lang="en-US" altLang="zh-CN"/>
              <a:t>e；</a:t>
            </a:r>
            <a:endParaRPr lang="en-US" altLang="zh-CN"/>
          </a:p>
          <a:p>
            <a:r>
              <a:rPr lang="zh-CN" altLang="en-US"/>
              <a:t>4. 自监督损失：解码器基于融合嵌入，预测输入分子在检索库中的最近邻分子，交叉熵损失更新融合模块。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不用原始输入重建作为损失：重建任务不依赖检索范例，融合模块得不到有效训练信号。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3）推理：迭代求精 </a:t>
            </a:r>
            <a:r>
              <a:rPr lang="en-US" altLang="zh-CN"/>
              <a:t>Iterative Refinement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1. 对融合嵌入加入高斯噪声扰动，采样生成一批候选分子；</a:t>
            </a:r>
            <a:endParaRPr lang="zh-CN" altLang="en-US"/>
          </a:p>
          <a:p>
            <a:r>
              <a:rPr lang="zh-CN" altLang="en-US"/>
              <a:t>2. 根据目标属性打分，选出本轮最优分子作为下一轮输入；</a:t>
            </a:r>
            <a:endParaRPr lang="zh-CN" altLang="en-US"/>
          </a:p>
          <a:p>
            <a:r>
              <a:rPr lang="zh-CN" altLang="en-US"/>
              <a:t>3. 将本轮生成的优质候选加入检索数据库，淘汰低分分子；</a:t>
            </a:r>
            <a:endParaRPr lang="zh-CN" altLang="en-US"/>
          </a:p>
          <a:p>
            <a:r>
              <a:rPr lang="zh-CN" altLang="en-US"/>
              <a:t>4. 循环迭代，直到达到最大迭代轮次或得到满足全部约束的分子。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关键点：**动态更新检索库**，突破初始检索库性能天花板，生成比库里范例分子性质更好的新分子。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第一，完美还原现实场景。真实世界不存在单一模态信息，一张战场照片自带视觉信息，配套通信语音、作战报文，三者结合才能完整判断敌情，单一信息只会造成片面误判。 第二，全场景天然适配。无论是民用互联网图文、短视频，还是军用全域侦察，所有业务原生产生多模态数据，不存在纯文本、纯图像孤立业务。 第三，数据效率与可持续双重优势。 引用深度学习奠基人勒昆的核心观点：人类自然语言只是低带宽、有缺陷的序列化传输协议。一张卫星图承载的信息量，远超千文字情报，多模态数据属于高带宽信息，模型学习效率更高。 同时当前高质量标注纯文本数据已经趋近枯竭，而全球海量无标注图像、视频、频谱数据可以持续扩充训练资源，解决大模型数据瓶颈。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核心思路是字符级感知、自底向上拼接字符得到文本实例，擅长处理弯曲、任意形状、大形变的自然场景文本。</a:t>
            </a:r>
            <a:endParaRPr lang="zh-CN" altLang="en-US"/>
          </a:p>
          <a:p>
            <a:r>
              <a:rPr lang="zh-CN" altLang="en-US"/>
              <a:t>主干网络为带 </a:t>
            </a:r>
            <a:r>
              <a:rPr lang="en-US" altLang="zh-CN"/>
              <a:t>BN </a:t>
            </a:r>
            <a:r>
              <a:rPr lang="zh-CN" altLang="en-US"/>
              <a:t>的 </a:t>
            </a:r>
            <a:r>
              <a:rPr lang="en-US" altLang="zh-CN"/>
              <a:t>VGG‑16，</a:t>
            </a:r>
            <a:r>
              <a:rPr lang="zh-CN" altLang="en-US"/>
              <a:t>采用类似 </a:t>
            </a:r>
            <a:r>
              <a:rPr lang="en-US" altLang="zh-CN"/>
              <a:t>U‑Net </a:t>
            </a:r>
            <a:r>
              <a:rPr lang="zh-CN" altLang="en-US"/>
              <a:t>的跳跃连接解码器，输出两张热图：</a:t>
            </a:r>
            <a:endParaRPr lang="zh-CN" altLang="en-US"/>
          </a:p>
          <a:p>
            <a:r>
              <a:rPr lang="en-US" altLang="zh-CN"/>
              <a:t>Region score（</a:t>
            </a:r>
            <a:r>
              <a:rPr lang="zh-CN" altLang="en-US"/>
              <a:t>字符区域得分）：表征像素属于字符中心的概率；</a:t>
            </a:r>
            <a:endParaRPr lang="zh-CN" altLang="en-US"/>
          </a:p>
          <a:p>
            <a:r>
              <a:rPr lang="en-US" altLang="zh-CN"/>
              <a:t>Affinity score（</a:t>
            </a:r>
            <a:r>
              <a:rPr lang="zh-CN" altLang="en-US"/>
              <a:t>亲和度得分）：表征相邻两个字符中间区域的概率，用来把独立字符归为同一个单词实例。</a:t>
            </a:r>
            <a:endParaRPr lang="zh-CN" altLang="en-US"/>
          </a:p>
          <a:p>
            <a:r>
              <a:rPr lang="zh-CN" altLang="en-US"/>
              <a:t>网络输出是两张高斯热图，不是二值分割图，高斯热图对形变物体表达更灵活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四边形输出（普通倾斜文本）：将 </a:t>
            </a:r>
            <a:r>
              <a:rPr lang="en-US" altLang="zh-CN"/>
              <a:t>region score、affinity </a:t>
            </a:r>
            <a:r>
              <a:rPr lang="zh-CN" altLang="en-US"/>
              <a:t>得分超过阈值的像素置 1，做连通域分析，对每个连通域求最小旋转外接矩形。不需要 </a:t>
            </a:r>
            <a:r>
              <a:rPr lang="en-US" altLang="zh-CN"/>
              <a:t>NMS，</a:t>
            </a:r>
            <a:r>
              <a:rPr lang="zh-CN" altLang="en-US"/>
              <a:t>连通域直接得到单词框。</a:t>
            </a:r>
            <a:endParaRPr lang="zh-CN" altLang="en-US"/>
          </a:p>
          <a:p>
            <a:r>
              <a:rPr lang="zh-CN" altLang="en-US"/>
              <a:t>多边形输出（弯曲文本）：沿着扫描方向找字符局部极大值线，构造文本中心线，旋转局部极大值线垂直于中心线，取端点作为控制点生成文本多边形，适配曲线文本。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是纯 </a:t>
            </a:r>
            <a:r>
              <a:rPr lang="en-US" altLang="zh-CN"/>
              <a:t>Transformer </a:t>
            </a:r>
            <a:r>
              <a:rPr lang="zh-CN" altLang="en-US"/>
              <a:t>端到端文本识别模型，不使用 </a:t>
            </a:r>
            <a:r>
              <a:rPr lang="en-US" altLang="zh-CN"/>
              <a:t>CNN </a:t>
            </a:r>
            <a:r>
              <a:rPr lang="zh-CN" altLang="en-US"/>
              <a:t>骨干网络，利用预训练视觉 </a:t>
            </a:r>
            <a:r>
              <a:rPr lang="en-US" altLang="zh-CN"/>
              <a:t>Transformer </a:t>
            </a:r>
            <a:r>
              <a:rPr lang="zh-CN" altLang="en-US"/>
              <a:t>与文本 </a:t>
            </a:r>
            <a:r>
              <a:rPr lang="en-US" altLang="zh-CN"/>
              <a:t>Transformer </a:t>
            </a:r>
            <a:r>
              <a:rPr lang="zh-CN" altLang="en-US"/>
              <a:t>做 </a:t>
            </a:r>
            <a:r>
              <a:rPr lang="en-US" altLang="zh-CN"/>
              <a:t>OCR </a:t>
            </a:r>
            <a:r>
              <a:rPr lang="zh-CN" altLang="en-US"/>
              <a:t>识别，可处理印刷体、手写体、场景文本识别任务。本文聚焦文本识别（</a:t>
            </a:r>
            <a:r>
              <a:rPr lang="en-US" altLang="zh-CN"/>
              <a:t>recognition），</a:t>
            </a:r>
            <a:r>
              <a:rPr lang="zh-CN" altLang="en-US"/>
              <a:t>文本检测不在本文研究范围内。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2. 模型架构</a:t>
            </a:r>
            <a:endParaRPr lang="zh-CN" altLang="en-US"/>
          </a:p>
          <a:p>
            <a:r>
              <a:rPr lang="zh-CN" altLang="en-US"/>
              <a:t>标准 </a:t>
            </a:r>
            <a:r>
              <a:rPr lang="en-US" altLang="zh-CN"/>
              <a:t>Transformer </a:t>
            </a:r>
            <a:r>
              <a:rPr lang="zh-CN" altLang="en-US"/>
              <a:t>编码器‑解码器结构，无卷积层：</a:t>
            </a:r>
            <a:endParaRPr lang="zh-CN" altLang="en-US"/>
          </a:p>
          <a:p>
            <a:r>
              <a:rPr lang="zh-CN" altLang="en-US"/>
              <a:t>编码器（图像端）</a:t>
            </a:r>
            <a:endParaRPr lang="zh-CN" altLang="en-US"/>
          </a:p>
          <a:p>
            <a:r>
              <a:rPr lang="zh-CN" altLang="en-US"/>
              <a:t>输入图片统一 </a:t>
            </a:r>
            <a:r>
              <a:rPr lang="en-US" altLang="zh-CN"/>
              <a:t>resize </a:t>
            </a:r>
            <a:r>
              <a:rPr lang="zh-CN" altLang="en-US"/>
              <a:t>到 384×384，切分为 16×16 大小图像 </a:t>
            </a:r>
            <a:r>
              <a:rPr lang="en-US" altLang="zh-CN"/>
              <a:t>patch；</a:t>
            </a:r>
            <a:endParaRPr lang="en-US" altLang="zh-CN"/>
          </a:p>
          <a:p>
            <a:r>
              <a:rPr lang="en-US" altLang="zh-CN"/>
              <a:t>patch </a:t>
            </a:r>
            <a:r>
              <a:rPr lang="zh-CN" altLang="en-US"/>
              <a:t>展平投影为 </a:t>
            </a:r>
            <a:r>
              <a:rPr lang="en-US" altLang="zh-CN"/>
              <a:t>patch embedding，</a:t>
            </a:r>
            <a:r>
              <a:rPr lang="zh-CN" altLang="en-US"/>
              <a:t>增加可学习位置编码，保留[</a:t>
            </a:r>
            <a:r>
              <a:rPr lang="en-US" altLang="zh-CN"/>
              <a:t>CLS]</a:t>
            </a:r>
            <a:r>
              <a:rPr lang="zh-CN" altLang="en-US"/>
              <a:t>等特殊 </a:t>
            </a:r>
            <a:r>
              <a:rPr lang="en-US" altLang="zh-CN"/>
              <a:t>token；</a:t>
            </a:r>
            <a:endParaRPr lang="en-US" altLang="zh-CN"/>
          </a:p>
          <a:p>
            <a:r>
              <a:rPr lang="zh-CN" altLang="en-US"/>
              <a:t>使用 </a:t>
            </a:r>
            <a:r>
              <a:rPr lang="en-US" altLang="zh-CN"/>
              <a:t>DeiT / BEiT </a:t>
            </a:r>
            <a:r>
              <a:rPr lang="zh-CN" altLang="en-US"/>
              <a:t>预训练图像 </a:t>
            </a:r>
            <a:r>
              <a:rPr lang="en-US" altLang="zh-CN"/>
              <a:t>Transformer </a:t>
            </a:r>
            <a:r>
              <a:rPr lang="zh-CN" altLang="en-US"/>
              <a:t>初始化编码器权重，把图像转为 </a:t>
            </a:r>
            <a:r>
              <a:rPr lang="en-US" altLang="zh-CN"/>
              <a:t>token </a:t>
            </a:r>
            <a:r>
              <a:rPr lang="zh-CN" altLang="en-US"/>
              <a:t>序列特征。</a:t>
            </a:r>
            <a:endParaRPr lang="zh-CN" altLang="en-US"/>
          </a:p>
          <a:p>
            <a:r>
              <a:rPr lang="zh-CN" altLang="en-US"/>
              <a:t>解码器（文本生成端）</a:t>
            </a:r>
            <a:endParaRPr lang="zh-CN" altLang="en-US"/>
          </a:p>
          <a:p>
            <a:r>
              <a:rPr lang="zh-CN" altLang="en-US"/>
              <a:t>基于标准 </a:t>
            </a:r>
            <a:r>
              <a:rPr lang="en-US" altLang="zh-CN"/>
              <a:t>Transformer </a:t>
            </a:r>
            <a:r>
              <a:rPr lang="zh-CN" altLang="en-US"/>
              <a:t>解码器，包含自注意力、编码器‑解码器交叉注意力；</a:t>
            </a:r>
            <a:endParaRPr lang="zh-CN" altLang="en-US"/>
          </a:p>
          <a:p>
            <a:r>
              <a:rPr lang="zh-CN" altLang="en-US"/>
              <a:t>使用 </a:t>
            </a:r>
            <a:r>
              <a:rPr lang="en-US" altLang="zh-CN"/>
              <a:t>RoBERTa / MiniLM </a:t>
            </a:r>
            <a:r>
              <a:rPr lang="zh-CN" altLang="en-US"/>
              <a:t>预训练语言模型初始化解码器；由于 </a:t>
            </a:r>
            <a:r>
              <a:rPr lang="en-US" altLang="zh-CN"/>
              <a:t>BERT </a:t>
            </a:r>
            <a:r>
              <a:rPr lang="zh-CN" altLang="en-US"/>
              <a:t>系列只有编码器，交叉注意力等缺失参数随机初始化；</a:t>
            </a:r>
            <a:endParaRPr lang="zh-CN" altLang="en-US"/>
          </a:p>
          <a:p>
            <a:r>
              <a:rPr lang="zh-CN" altLang="en-US"/>
              <a:t>以[</a:t>
            </a:r>
            <a:r>
              <a:rPr lang="en-US" altLang="zh-CN"/>
              <a:t>BOS]</a:t>
            </a:r>
            <a:r>
              <a:rPr lang="zh-CN" altLang="en-US"/>
              <a:t>开头自回归生成 </a:t>
            </a:r>
            <a:r>
              <a:rPr lang="en-US" altLang="zh-CN"/>
              <a:t>wordpiece </a:t>
            </a:r>
            <a:r>
              <a:rPr lang="zh-CN" altLang="en-US"/>
              <a:t>子词序列，遇到[</a:t>
            </a:r>
            <a:r>
              <a:rPr lang="en-US" altLang="zh-CN"/>
              <a:t>EOS]</a:t>
            </a:r>
            <a:r>
              <a:rPr lang="zh-CN" altLang="en-US"/>
              <a:t>终止，</a:t>
            </a:r>
            <a:r>
              <a:rPr lang="en-US" altLang="zh-CN"/>
              <a:t>beam search </a:t>
            </a:r>
            <a:r>
              <a:rPr lang="zh-CN" altLang="en-US"/>
              <a:t>解码输出文本；使用交叉熵损失训练。</a:t>
            </a:r>
            <a:endParaRPr lang="zh-CN" altLang="en-US"/>
          </a:p>
          <a:p>
            <a:r>
              <a:rPr lang="zh-CN" altLang="en-US"/>
              <a:t>输出单元是 </a:t>
            </a:r>
            <a:r>
              <a:rPr lang="en-US" altLang="zh-CN"/>
              <a:t>wordpiece </a:t>
            </a:r>
            <a:r>
              <a:rPr lang="zh-CN" altLang="en-US"/>
              <a:t>子词，而不是字符，自带语言建模能力，省去外部语言模型。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5. 核心创新点</a:t>
            </a:r>
            <a:endParaRPr lang="zh-CN" altLang="en-US"/>
          </a:p>
          <a:p>
            <a:r>
              <a:rPr lang="zh-CN" altLang="en-US"/>
              <a:t>首次联合使用预训练图像 </a:t>
            </a:r>
            <a:r>
              <a:rPr lang="en-US" altLang="zh-CN"/>
              <a:t>Transformer + </a:t>
            </a:r>
            <a:r>
              <a:rPr lang="zh-CN" altLang="en-US"/>
              <a:t>预训练文本 </a:t>
            </a:r>
            <a:r>
              <a:rPr lang="en-US" altLang="zh-CN"/>
              <a:t>Transformer </a:t>
            </a:r>
            <a:r>
              <a:rPr lang="zh-CN" altLang="en-US"/>
              <a:t>完成 </a:t>
            </a:r>
            <a:r>
              <a:rPr lang="en-US" altLang="zh-CN"/>
              <a:t>OCR </a:t>
            </a:r>
            <a:r>
              <a:rPr lang="zh-CN" altLang="en-US"/>
              <a:t>识别，模型完全去掉 </a:t>
            </a:r>
            <a:r>
              <a:rPr lang="en-US" altLang="zh-CN"/>
              <a:t>CNN </a:t>
            </a:r>
            <a:r>
              <a:rPr lang="zh-CN" altLang="en-US"/>
              <a:t>骨干；</a:t>
            </a:r>
            <a:endParaRPr lang="zh-CN" altLang="en-US"/>
          </a:p>
          <a:p>
            <a:r>
              <a:rPr lang="zh-CN" altLang="en-US"/>
              <a:t>输出采用 </a:t>
            </a:r>
            <a:r>
              <a:rPr lang="en-US" altLang="zh-CN"/>
              <a:t>wordpiece </a:t>
            </a:r>
            <a:r>
              <a:rPr lang="zh-CN" altLang="en-US"/>
              <a:t>子词单元，解码器自带语言建模能力，不需要额外外部语言模型；</a:t>
            </a:r>
            <a:endParaRPr lang="zh-CN" altLang="en-US"/>
          </a:p>
          <a:p>
            <a:r>
              <a:rPr lang="zh-CN" altLang="en-US"/>
              <a:t>简单的编码器‑解码器架构，无需复杂前 / 后处理，印刷、手写、场景文本任务均取得 </a:t>
            </a:r>
            <a:r>
              <a:rPr lang="en-US" altLang="zh-CN"/>
              <a:t>SOTA；</a:t>
            </a:r>
            <a:endParaRPr lang="en-US" altLang="zh-CN"/>
          </a:p>
          <a:p>
            <a:r>
              <a:rPr lang="zh-CN" altLang="en-US"/>
              <a:t>开源模型与代码，易于拓展多语言识别，仅替换多语言预训练解码器与词典即可。</a:t>
            </a:r>
            <a:endParaRPr lang="zh-CN" altLang="en-US"/>
          </a:p>
          <a:p>
            <a:r>
              <a:rPr lang="zh-CN" altLang="en-US"/>
              <a:t>6. 补充（和 </a:t>
            </a:r>
            <a:r>
              <a:rPr lang="en-US" altLang="zh-CN"/>
              <a:t>CRAFT </a:t>
            </a:r>
            <a:r>
              <a:rPr lang="zh-CN" altLang="en-US"/>
              <a:t>对比）</a:t>
            </a:r>
            <a:endParaRPr lang="zh-CN" altLang="en-US"/>
          </a:p>
          <a:p>
            <a:r>
              <a:rPr lang="en-US" altLang="zh-CN"/>
              <a:t>CRAFT：</a:t>
            </a:r>
            <a:r>
              <a:rPr lang="zh-CN" altLang="en-US"/>
              <a:t>文本检测，定位字符、输出文本框；</a:t>
            </a:r>
            <a:endParaRPr lang="zh-CN" altLang="en-US"/>
          </a:p>
          <a:p>
            <a:r>
              <a:rPr lang="en-US" altLang="zh-CN"/>
              <a:t>TrOCR：</a:t>
            </a:r>
            <a:r>
              <a:rPr lang="zh-CN" altLang="en-US"/>
              <a:t>文本识别，输入裁剪好的文本行图像，输出文字序列；</a:t>
            </a:r>
            <a:endParaRPr lang="zh-CN" altLang="en-US"/>
          </a:p>
          <a:p>
            <a:r>
              <a:rPr lang="zh-CN" altLang="en-US"/>
              <a:t>二者可以组合成完整 </a:t>
            </a:r>
            <a:r>
              <a:rPr lang="en-US" altLang="zh-CN"/>
              <a:t>OCR </a:t>
            </a:r>
            <a:r>
              <a:rPr lang="zh-CN" altLang="en-US"/>
              <a:t>流水线：</a:t>
            </a:r>
            <a:r>
              <a:rPr lang="en-US" altLang="zh-CN"/>
              <a:t>CRAFT </a:t>
            </a:r>
            <a:r>
              <a:rPr lang="zh-CN" altLang="en-US"/>
              <a:t>做检测裁剪文本行，</a:t>
            </a:r>
            <a:r>
              <a:rPr lang="en-US" altLang="zh-CN"/>
              <a:t>TrOCR </a:t>
            </a:r>
            <a:r>
              <a:rPr lang="zh-CN" altLang="en-US"/>
              <a:t>做识别。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zh-CN" altLang="en-US" spc="-1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算法介绍</a:t>
            </a:r>
            <a:r>
              <a:rPr spc="-1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25"/>
              </a:spcBef>
              <a:tabLst>
                <a:tab pos="469265" algn="l"/>
              </a:tabLst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通过词袋视觉模型（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BOVW）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获取视觉 “词向量”</a:t>
            </a:r>
            <a:r>
              <a:rPr spc="-1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340"/>
              </a:spcBef>
              <a:tabLst>
                <a:tab pos="926465" algn="l"/>
              </a:tabLst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检测关键点并提取描述子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ts val="250"/>
              </a:spcBef>
              <a:tabLst>
                <a:tab pos="926465" algn="l"/>
              </a:tabLst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对描述子做聚类，统计得到频次统计向量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tabLst>
                <a:tab pos="469265" algn="l"/>
              </a:tabLst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与文本词向量进行拼接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tabLst>
                <a:tab pos="469265" algn="l"/>
              </a:tabLst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执行奇异值分解（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SVD）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实现信息 “融合”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tabLst>
                <a:tab pos="469265" algn="l"/>
              </a:tabLst>
            </a:pP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实验表明，该方法能够在人工相似度判断数据集上得到质量更优的词表示。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325"/>
              </a:spcBef>
              <a:tabLst>
                <a:tab pos="469265" algn="l"/>
              </a:tabLst>
            </a:pP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此前 工作的视觉特征依赖传统计算机视觉词袋 </a:t>
            </a:r>
            <a:r>
              <a:rPr lang="en-US" altLang="zh-CN"/>
              <a:t>BOVW（SIFT+K‑means </a:t>
            </a:r>
            <a:r>
              <a:rPr lang="zh-CN" altLang="en-US"/>
              <a:t>视觉词）。</a:t>
            </a:r>
            <a:r>
              <a:rPr lang="en-US" altLang="zh-CN"/>
              <a:t>BOVW </a:t>
            </a:r>
            <a:r>
              <a:rPr lang="zh-CN" altLang="en-US"/>
              <a:t>是手工局部特征，表达能力有限。</a:t>
            </a:r>
            <a:endParaRPr lang="zh-CN" altLang="en-US"/>
          </a:p>
          <a:p>
            <a:r>
              <a:rPr lang="zh-CN" altLang="en-US"/>
              <a:t>与此同时，</a:t>
            </a:r>
            <a:r>
              <a:rPr lang="en-US" altLang="zh-CN"/>
              <a:t>CNN </a:t>
            </a:r>
            <a:r>
              <a:rPr lang="zh-CN" altLang="en-US"/>
              <a:t>在图像识别取得巨大成功，预训练 </a:t>
            </a:r>
            <a:r>
              <a:rPr lang="en-US" altLang="zh-CN"/>
              <a:t>CNN </a:t>
            </a:r>
            <a:r>
              <a:rPr lang="zh-CN" altLang="en-US"/>
              <a:t>可以作为强大的通用图像特征提取器。</a:t>
            </a:r>
            <a:endParaRPr lang="zh-CN" altLang="en-US"/>
          </a:p>
          <a:p>
            <a:r>
              <a:rPr lang="zh-CN" altLang="en-US"/>
              <a:t>本文核心：用预训练 </a:t>
            </a:r>
            <a:r>
              <a:rPr lang="en-US" altLang="zh-CN"/>
              <a:t>CNN </a:t>
            </a:r>
            <a:r>
              <a:rPr lang="zh-CN" altLang="en-US"/>
              <a:t>替代传统 </a:t>
            </a:r>
            <a:r>
              <a:rPr lang="en-US" altLang="zh-CN"/>
              <a:t>BOVW，</a:t>
            </a:r>
            <a:r>
              <a:rPr lang="zh-CN" altLang="en-US"/>
              <a:t>抽取视觉特征构建词的视觉表示，提升多模态词向量在语义相关度任务的性能；本文是较早同时使用深度学习获取文本（</a:t>
            </a:r>
            <a:r>
              <a:rPr lang="en-US" altLang="zh-CN"/>
              <a:t>skip‑gram）、</a:t>
            </a:r>
            <a:r>
              <a:rPr lang="zh-CN" altLang="en-US"/>
              <a:t>视觉（</a:t>
            </a:r>
            <a:r>
              <a:rPr lang="en-US" altLang="zh-CN"/>
              <a:t>CNN）</a:t>
            </a:r>
            <a:r>
              <a:rPr lang="zh-CN" altLang="en-US"/>
              <a:t>两种模态表示的多模态分布语义工作</a:t>
            </a:r>
            <a:endParaRPr lang="zh-CN" altLang="en-US"/>
          </a:p>
          <a:p>
            <a:r>
              <a:rPr lang="zh-CN" altLang="en-US"/>
              <a:t>1. 语言表示（文本侧）使用</a:t>
            </a:r>
            <a:r>
              <a:rPr lang="en-US" altLang="zh-CN"/>
              <a:t>Skip‑gram</a:t>
            </a:r>
            <a:r>
              <a:rPr lang="zh-CN" altLang="en-US"/>
              <a:t>训练得到 100 维词向量；训练语料：</a:t>
            </a:r>
            <a:r>
              <a:rPr lang="en-US" altLang="zh-CN"/>
              <a:t>Text8 </a:t>
            </a:r>
            <a:r>
              <a:rPr lang="zh-CN" altLang="en-US"/>
              <a:t>维基百科 + </a:t>
            </a:r>
            <a:r>
              <a:rPr lang="en-US" altLang="zh-CN"/>
              <a:t>BNC </a:t>
            </a:r>
            <a:r>
              <a:rPr lang="zh-CN" altLang="en-US"/>
              <a:t>英国国家语料库。2. 视觉表示（核心改进，</a:t>
            </a:r>
            <a:r>
              <a:rPr lang="en-US" altLang="zh-CN"/>
              <a:t>CNN </a:t>
            </a:r>
            <a:r>
              <a:rPr lang="zh-CN" altLang="en-US"/>
              <a:t>特征）</a:t>
            </a:r>
            <a:endParaRPr lang="zh-CN" altLang="en-US"/>
          </a:p>
          <a:p>
            <a:r>
              <a:rPr lang="zh-CN" altLang="en-US"/>
              <a:t>视觉 </a:t>
            </a:r>
            <a:r>
              <a:rPr lang="en-US" altLang="zh-CN"/>
              <a:t>CNN </a:t>
            </a:r>
            <a:r>
              <a:rPr lang="zh-CN" altLang="en-US"/>
              <a:t>模型：复用在 </a:t>
            </a:r>
            <a:r>
              <a:rPr lang="en-US" altLang="zh-CN"/>
              <a:t>ImageNet 1512 </a:t>
            </a:r>
            <a:r>
              <a:rPr lang="zh-CN" altLang="en-US"/>
              <a:t>类上预训练的 </a:t>
            </a:r>
            <a:r>
              <a:rPr lang="en-US" altLang="zh-CN"/>
              <a:t>AlexNet，</a:t>
            </a:r>
            <a:r>
              <a:rPr lang="zh-CN" altLang="en-US"/>
              <a:t>移除最后输出分类层，取 </a:t>
            </a:r>
            <a:r>
              <a:rPr lang="en-US" altLang="zh-CN"/>
              <a:t>FC7 </a:t>
            </a:r>
            <a:r>
              <a:rPr lang="zh-CN" altLang="en-US"/>
              <a:t>层输出，得到 6144 维图像特征向量。</a:t>
            </a:r>
            <a:endParaRPr lang="zh-CN" altLang="en-US"/>
          </a:p>
          <a:p>
            <a:r>
              <a:rPr lang="zh-CN" altLang="en-US"/>
              <a:t>对于一个词语，收集该词对应的多张图片，每张图片输入 </a:t>
            </a:r>
            <a:r>
              <a:rPr lang="en-US" altLang="zh-CN"/>
              <a:t>CNN </a:t>
            </a:r>
            <a:r>
              <a:rPr lang="zh-CN" altLang="en-US"/>
              <a:t>得到 6144 维向量，设计两种聚合策略，把多张图片的特征聚合为该词语的单一视觉向量：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CNN‑Mean：</a:t>
            </a:r>
            <a:r>
              <a:rPr lang="zh-CN" altLang="en-US"/>
              <a:t>对该概念全部图片特征做逐维度平均；</a:t>
            </a:r>
            <a:endParaRPr lang="zh-CN" altLang="en-US"/>
          </a:p>
          <a:p>
            <a:r>
              <a:rPr lang="en-US" altLang="zh-CN"/>
              <a:t>CNN‑Max：</a:t>
            </a:r>
            <a:r>
              <a:rPr lang="zh-CN" altLang="en-US"/>
              <a:t>逐维度取各图片特征的最大值；</a:t>
            </a:r>
            <a:r>
              <a:rPr lang="en-US" altLang="zh-CN"/>
              <a:t>CNN </a:t>
            </a:r>
            <a:r>
              <a:rPr lang="zh-CN" altLang="en-US"/>
              <a:t>输出特征较为稀疏，</a:t>
            </a:r>
            <a:r>
              <a:rPr lang="en-US" altLang="zh-CN"/>
              <a:t>max </a:t>
            </a:r>
            <a:r>
              <a:rPr lang="zh-CN" altLang="en-US"/>
              <a:t>可以捕捉图片集合里出现过的显著视觉属性。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基线 </a:t>
            </a:r>
            <a:r>
              <a:rPr lang="en-US" altLang="zh-CN"/>
              <a:t>BOVW：DSIFT </a:t>
            </a:r>
            <a:r>
              <a:rPr lang="zh-CN" altLang="en-US"/>
              <a:t>描述子，</a:t>
            </a:r>
            <a:r>
              <a:rPr lang="en-US" altLang="zh-CN"/>
              <a:t>k‑means </a:t>
            </a:r>
            <a:r>
              <a:rPr lang="zh-CN" altLang="en-US"/>
              <a:t>聚类得到 100 维视觉词袋，图片集合取均值得到词视觉向量。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两个图像数据源用来做对比：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ImageNet：</a:t>
            </a:r>
            <a:r>
              <a:rPr lang="zh-CN" altLang="en-US"/>
              <a:t>图片质量高，物体居中标注准确；但是覆盖词汇量有限；</a:t>
            </a:r>
            <a:endParaRPr lang="zh-CN" altLang="en-US"/>
          </a:p>
          <a:p>
            <a:r>
              <a:rPr lang="en-US" altLang="zh-CN"/>
              <a:t>ESP‑Game：</a:t>
            </a:r>
            <a:r>
              <a:rPr lang="zh-CN" altLang="en-US"/>
              <a:t>互联网噪声图片，标签多、物体不一定居中，但是词汇覆盖广，</a:t>
            </a:r>
            <a:r>
              <a:rPr lang="en-US" altLang="zh-CN"/>
              <a:t>MEN </a:t>
            </a:r>
            <a:r>
              <a:rPr lang="zh-CN" altLang="en-US"/>
              <a:t>数据集专门适配该数据集。</a:t>
            </a:r>
            <a:endParaRPr lang="zh-CN" altLang="en-US"/>
          </a:p>
          <a:p>
            <a:r>
              <a:rPr lang="zh-CN" altLang="en-US"/>
              <a:t>每个词语最多采样 </a:t>
            </a:r>
            <a:r>
              <a:rPr lang="en-US" altLang="zh-CN"/>
              <a:t>N=1000 </a:t>
            </a:r>
            <a:r>
              <a:rPr lang="zh-CN" altLang="en-US"/>
              <a:t>张图片。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3. 多模态向量融合（特征层拼接）对语言向量\(\</a:t>
            </a:r>
            <a:r>
              <a:rPr lang="en-US" altLang="zh-CN"/>
              <a:t>vec{v}_{ling}\)、</a:t>
            </a:r>
            <a:r>
              <a:rPr lang="zh-CN" altLang="en-US"/>
              <a:t>视觉向量\(\</a:t>
            </a:r>
            <a:r>
              <a:rPr lang="en-US" altLang="zh-CN"/>
              <a:t>vec{v}_{vis}\)</a:t>
            </a:r>
            <a:r>
              <a:rPr lang="zh-CN" altLang="en-US"/>
              <a:t>做中心化、</a:t>
            </a:r>
            <a:r>
              <a:rPr lang="en-US" altLang="zh-CN"/>
              <a:t>L2 </a:t>
            </a:r>
            <a:r>
              <a:rPr lang="zh-CN" altLang="en-US"/>
              <a:t>归一化，加权拼接得到最终多模态词向量：</a:t>
            </a:r>
            <a:endParaRPr lang="zh-CN" altLang="en-US"/>
          </a:p>
          <a:p>
            <a:r>
              <a:rPr lang="en-US" altLang="zh-CN"/>
              <a:t>\(\vec{v}_{concept }= \alpha × \vec{v}_{ling }\lVert (1-\alpha )× \vec{v}_{vis}\)</a:t>
            </a:r>
            <a:endParaRPr lang="en-US" altLang="zh-CN"/>
          </a:p>
          <a:p>
            <a:r>
              <a:rPr lang="en-US" altLang="zh-CN"/>
              <a:t>\(\alpha\)</a:t>
            </a:r>
            <a:r>
              <a:rPr lang="zh-CN" altLang="en-US"/>
              <a:t>调节文本、视觉模态权重；相似度计算采用余弦相似度。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核心是基于 </a:t>
            </a:r>
            <a:r>
              <a:rPr lang="en-US" altLang="zh-CN"/>
              <a:t>Transformer </a:t>
            </a:r>
            <a:r>
              <a:rPr lang="zh-CN" altLang="en-US"/>
              <a:t>编码器构建深度双向预训练语言模型，通过预训练 + 微调范式</a:t>
            </a:r>
            <a:endParaRPr lang="zh-CN" altLang="en-US"/>
          </a:p>
          <a:p>
            <a:r>
              <a:rPr lang="en-US" altLang="zh-CN"/>
              <a:t>1.MLM </a:t>
            </a:r>
            <a:r>
              <a:rPr lang="zh-CN" altLang="en-US"/>
              <a:t>掩码语言模型（</a:t>
            </a:r>
            <a:r>
              <a:rPr lang="en-US" altLang="zh-CN"/>
              <a:t>Masked Language Model）</a:t>
            </a:r>
            <a:endParaRPr lang="en-US" altLang="zh-CN"/>
          </a:p>
          <a:p>
            <a:r>
              <a:rPr lang="zh-CN" altLang="en-US"/>
              <a:t>随机选序列中 15% </a:t>
            </a:r>
            <a:r>
              <a:rPr lang="en-US" altLang="zh-CN"/>
              <a:t>token </a:t>
            </a:r>
            <a:r>
              <a:rPr lang="zh-CN" altLang="en-US"/>
              <a:t>做预测；为解决预训练出现[</a:t>
            </a:r>
            <a:r>
              <a:rPr lang="en-US" altLang="zh-CN"/>
              <a:t>MASK]、</a:t>
            </a:r>
            <a:r>
              <a:rPr lang="zh-CN" altLang="en-US"/>
              <a:t>微调阶段没有[</a:t>
            </a:r>
            <a:r>
              <a:rPr lang="en-US" altLang="zh-CN"/>
              <a:t>MASK]</a:t>
            </a:r>
            <a:r>
              <a:rPr lang="zh-CN" altLang="en-US"/>
              <a:t>的分布不匹配问题，被选中 </a:t>
            </a:r>
            <a:r>
              <a:rPr lang="en-US" altLang="zh-CN"/>
              <a:t>token </a:t>
            </a:r>
            <a:r>
              <a:rPr lang="zh-CN" altLang="en-US"/>
              <a:t>按概率处理：</a:t>
            </a:r>
            <a:endParaRPr lang="zh-CN" altLang="en-US"/>
          </a:p>
          <a:p>
            <a:r>
              <a:rPr lang="zh-CN" altLang="en-US"/>
              <a:t>80% 替换为[</a:t>
            </a:r>
            <a:r>
              <a:rPr lang="en-US" altLang="zh-CN"/>
              <a:t>MASK]；</a:t>
            </a:r>
            <a:endParaRPr lang="en-US" altLang="zh-CN"/>
          </a:p>
          <a:p>
            <a:r>
              <a:rPr lang="zh-CN" altLang="en-US"/>
              <a:t>10% 替换为随机词；</a:t>
            </a:r>
            <a:endParaRPr lang="zh-CN" altLang="en-US"/>
          </a:p>
          <a:p>
            <a:r>
              <a:rPr lang="zh-CN" altLang="en-US"/>
              <a:t>10% 保持原词不变。</a:t>
            </a:r>
            <a:endParaRPr lang="zh-CN" altLang="en-US"/>
          </a:p>
          <a:p>
            <a:r>
              <a:rPr lang="zh-CN" altLang="en-US"/>
              <a:t>模型根据上下文预测被 </a:t>
            </a:r>
            <a:r>
              <a:rPr lang="en-US" altLang="zh-CN"/>
              <a:t>mask </a:t>
            </a:r>
            <a:r>
              <a:rPr lang="zh-CN" altLang="en-US"/>
              <a:t>位置原始词，以此实现深度双向表征学习</a:t>
            </a:r>
            <a:endParaRPr lang="zh-CN" altLang="en-US"/>
          </a:p>
          <a:p>
            <a:r>
              <a:rPr lang="en-US" altLang="zh-CN"/>
              <a:t>2.NSP </a:t>
            </a:r>
            <a:r>
              <a:rPr lang="zh-CN" altLang="en-US"/>
              <a:t>下一句预测（</a:t>
            </a:r>
            <a:r>
              <a:rPr lang="en-US" altLang="zh-CN"/>
              <a:t>Next Sentence Prediction）</a:t>
            </a:r>
            <a:endParaRPr lang="en-US" altLang="zh-CN"/>
          </a:p>
          <a:p>
            <a:r>
              <a:rPr lang="zh-CN" altLang="en-US"/>
              <a:t>输入句子 </a:t>
            </a:r>
            <a:r>
              <a:rPr lang="en-US" altLang="zh-CN"/>
              <a:t>A、B，50% </a:t>
            </a:r>
            <a:r>
              <a:rPr lang="zh-CN" altLang="en-US"/>
              <a:t>样本 </a:t>
            </a:r>
            <a:r>
              <a:rPr lang="en-US" altLang="zh-CN"/>
              <a:t>B </a:t>
            </a:r>
            <a:r>
              <a:rPr lang="zh-CN" altLang="en-US"/>
              <a:t>是原文真实后续句子（</a:t>
            </a:r>
            <a:r>
              <a:rPr lang="en-US" altLang="zh-CN"/>
              <a:t>IsNext），50% </a:t>
            </a:r>
            <a:r>
              <a:rPr lang="zh-CN" altLang="en-US"/>
              <a:t>是随机抽取句子（</a:t>
            </a:r>
            <a:r>
              <a:rPr lang="en-US" altLang="zh-CN"/>
              <a:t>NotNext）；</a:t>
            </a:r>
            <a:r>
              <a:rPr lang="zh-CN" altLang="en-US"/>
              <a:t>利用[</a:t>
            </a:r>
            <a:r>
              <a:rPr lang="en-US" altLang="zh-CN"/>
              <a:t>CLS]</a:t>
            </a:r>
            <a:r>
              <a:rPr lang="zh-CN" altLang="en-US"/>
              <a:t>向量做二分类，学习句子之间语义关系，适配问答、文本蕴含这类句对任务。</a:t>
            </a:r>
            <a:endParaRPr lang="zh-CN" altLang="en-US"/>
          </a:p>
          <a:p>
            <a:r>
              <a:rPr lang="zh-CN" altLang="en-US"/>
              <a:t>预训练完成后，直接使用预训练权重初始化，全部参数参与微调，仅增加少量输出层，不需要针对任务设计复杂专属网络：</a:t>
            </a:r>
            <a:endParaRPr lang="zh-CN" altLang="en-US"/>
          </a:p>
          <a:p>
            <a:r>
              <a:rPr lang="zh-CN" altLang="en-US"/>
              <a:t>句子 / 句对分类：取[</a:t>
            </a:r>
            <a:r>
              <a:rPr lang="en-US" altLang="zh-CN"/>
              <a:t>CLS]</a:t>
            </a:r>
            <a:r>
              <a:rPr lang="zh-CN" altLang="en-US"/>
              <a:t>输出接分类层；</a:t>
            </a:r>
            <a:endParaRPr lang="zh-CN" altLang="en-US"/>
          </a:p>
          <a:p>
            <a:r>
              <a:rPr lang="zh-CN" altLang="en-US"/>
              <a:t>序列标注、实体识别：取每个 </a:t>
            </a:r>
            <a:r>
              <a:rPr lang="en-US" altLang="zh-CN"/>
              <a:t>token </a:t>
            </a:r>
            <a:r>
              <a:rPr lang="zh-CN" altLang="en-US"/>
              <a:t>的隐层表示接分类器；</a:t>
            </a:r>
            <a:endParaRPr lang="zh-CN" altLang="en-US"/>
          </a:p>
          <a:p>
            <a:r>
              <a:rPr lang="en-US" altLang="zh-CN"/>
              <a:t>SQuAD </a:t>
            </a:r>
            <a:r>
              <a:rPr lang="zh-CN" altLang="en-US"/>
              <a:t>问答：学习 </a:t>
            </a:r>
            <a:r>
              <a:rPr lang="en-US" altLang="zh-CN"/>
              <a:t>start、end </a:t>
            </a:r>
            <a:r>
              <a:rPr lang="zh-CN" altLang="en-US"/>
              <a:t>向量，预测答案在段落中的起止位置；</a:t>
            </a:r>
            <a:r>
              <a:rPr lang="en-US" altLang="zh-CN"/>
              <a:t>SQuAD2.0 </a:t>
            </a:r>
            <a:r>
              <a:rPr lang="zh-CN" altLang="en-US"/>
              <a:t>把无答案问题映射到[</a:t>
            </a:r>
            <a:r>
              <a:rPr lang="en-US" altLang="zh-CN"/>
              <a:t>CLS]</a:t>
            </a:r>
            <a:r>
              <a:rPr lang="zh-CN" altLang="en-US"/>
              <a:t>位置</a:t>
            </a:r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将 </a:t>
            </a:r>
            <a:r>
              <a:rPr lang="en-US" altLang="zh-CN"/>
              <a:t>BERT </a:t>
            </a:r>
            <a:r>
              <a:rPr lang="zh-CN" altLang="en-US"/>
              <a:t>拓展到视觉‑语言跨模态领域，使用单套 </a:t>
            </a:r>
            <a:r>
              <a:rPr lang="en-US" altLang="zh-CN"/>
              <a:t>Transformer </a:t>
            </a:r>
            <a:r>
              <a:rPr lang="zh-CN" altLang="en-US"/>
              <a:t>编码器实现文本与图像区域特征的深度融合</a:t>
            </a:r>
            <a:endParaRPr lang="zh-CN" altLang="en-US"/>
          </a:p>
          <a:p>
            <a:r>
              <a:rPr lang="zh-CN" altLang="en-US"/>
              <a:t>沿用 </a:t>
            </a:r>
            <a:r>
              <a:rPr lang="en-US" altLang="zh-CN"/>
              <a:t>BERT，token embedding + segment embedding + position embedding，</a:t>
            </a:r>
            <a:r>
              <a:rPr lang="zh-CN" altLang="en-US"/>
              <a:t>包含[</a:t>
            </a:r>
            <a:r>
              <a:rPr lang="en-US" altLang="zh-CN"/>
              <a:t>CLS]、[SEP]</a:t>
            </a:r>
            <a:r>
              <a:rPr lang="zh-CN" altLang="en-US"/>
              <a:t>特殊标记。</a:t>
            </a:r>
            <a:endParaRPr lang="zh-CN" altLang="en-US"/>
          </a:p>
          <a:p>
            <a:r>
              <a:rPr lang="zh-CN" altLang="en-US"/>
              <a:t>图像输入：由 </a:t>
            </a:r>
            <a:r>
              <a:rPr lang="en-US" altLang="zh-CN"/>
              <a:t>Faster‑RCNN </a:t>
            </a:r>
            <a:r>
              <a:rPr lang="zh-CN" altLang="en-US"/>
              <a:t>检测器提取图像物体候选框的视觉特征，把每一个图像区域当作特殊 </a:t>
            </a:r>
            <a:r>
              <a:rPr lang="en-US" altLang="zh-CN"/>
              <a:t>token；</a:t>
            </a:r>
            <a:r>
              <a:rPr lang="zh-CN" altLang="en-US"/>
              <a:t>视觉 </a:t>
            </a:r>
            <a:r>
              <a:rPr lang="en-US" altLang="zh-CN"/>
              <a:t>embedding = </a:t>
            </a:r>
            <a:r>
              <a:rPr lang="zh-CN" altLang="en-US"/>
              <a:t>区域视觉特征 + 模态区分 </a:t>
            </a:r>
            <a:r>
              <a:rPr lang="en-US" altLang="zh-CN"/>
              <a:t>segment embedding + position embedding。</a:t>
            </a:r>
            <a:endParaRPr lang="en-US" altLang="zh-CN"/>
          </a:p>
          <a:p>
            <a:r>
              <a:rPr lang="zh-CN" altLang="en-US"/>
              <a:t>任务无关预训练（</a:t>
            </a:r>
            <a:r>
              <a:rPr lang="en-US" altLang="zh-CN"/>
              <a:t>Task‑Agnostic Pre‑training）：</a:t>
            </a:r>
            <a:r>
              <a:rPr lang="zh-CN" altLang="en-US"/>
              <a:t>在 </a:t>
            </a:r>
            <a:r>
              <a:rPr lang="en-US" altLang="zh-CN"/>
              <a:t>COCO </a:t>
            </a:r>
            <a:r>
              <a:rPr lang="zh-CN" altLang="en-US"/>
              <a:t>图像字幕数据集训练，两个预训练目标：</a:t>
            </a:r>
            <a:endParaRPr lang="zh-CN" altLang="en-US"/>
          </a:p>
          <a:p>
            <a:r>
              <a:rPr lang="zh-CN" altLang="en-US"/>
              <a:t>带图像的掩码语言模型 </a:t>
            </a:r>
            <a:r>
              <a:rPr lang="en-US" altLang="zh-CN"/>
              <a:t>MLM：</a:t>
            </a:r>
            <a:r>
              <a:rPr lang="zh-CN" altLang="en-US"/>
              <a:t>只对文本部分 </a:t>
            </a:r>
            <a:r>
              <a:rPr lang="en-US" altLang="zh-CN"/>
              <a:t>token </a:t>
            </a:r>
            <a:r>
              <a:rPr lang="zh-CN" altLang="en-US"/>
              <a:t>做 </a:t>
            </a:r>
            <a:r>
              <a:rPr lang="en-US" altLang="zh-CN"/>
              <a:t>mask，</a:t>
            </a:r>
            <a:r>
              <a:rPr lang="zh-CN" altLang="en-US"/>
              <a:t>利用剩余文本 + 全部图像区域特征预测被 </a:t>
            </a:r>
            <a:r>
              <a:rPr lang="en-US" altLang="zh-CN"/>
              <a:t>mask </a:t>
            </a:r>
            <a:r>
              <a:rPr lang="zh-CN" altLang="en-US"/>
              <a:t>的词；图像特征不 </a:t>
            </a:r>
            <a:r>
              <a:rPr lang="en-US" altLang="zh-CN"/>
              <a:t>mask。</a:t>
            </a:r>
            <a:endParaRPr lang="en-US" altLang="zh-CN"/>
          </a:p>
          <a:p>
            <a:r>
              <a:rPr lang="zh-CN" altLang="en-US"/>
              <a:t>句子‑图像匹配预测（</a:t>
            </a:r>
            <a:r>
              <a:rPr lang="en-US" altLang="zh-CN"/>
              <a:t>Sentence‑image prediction）：</a:t>
            </a:r>
            <a:r>
              <a:rPr lang="zh-CN" altLang="en-US"/>
              <a:t>输入一张图 + 两段 </a:t>
            </a:r>
            <a:r>
              <a:rPr lang="en-US" altLang="zh-CN"/>
              <a:t>caption；50% </a:t>
            </a:r>
            <a:r>
              <a:rPr lang="zh-CN" altLang="en-US"/>
              <a:t>其中一条 </a:t>
            </a:r>
            <a:r>
              <a:rPr lang="en-US" altLang="zh-CN"/>
              <a:t>caption </a:t>
            </a:r>
            <a:r>
              <a:rPr lang="zh-CN" altLang="en-US"/>
              <a:t>真实描述该图，另一条是随机采样；模型二分类判断 </a:t>
            </a:r>
            <a:r>
              <a:rPr lang="en-US" altLang="zh-CN"/>
              <a:t>caption </a:t>
            </a:r>
            <a:r>
              <a:rPr lang="zh-CN" altLang="en-US"/>
              <a:t>是否匹配当前图片。</a:t>
            </a:r>
            <a:endParaRPr lang="zh-CN" altLang="en-US"/>
          </a:p>
          <a:p>
            <a:r>
              <a:rPr lang="zh-CN" altLang="en-US"/>
              <a:t>任务专属预训练（</a:t>
            </a:r>
            <a:r>
              <a:rPr lang="en-US" altLang="zh-CN"/>
              <a:t>Task‑Specific Pre‑training）：</a:t>
            </a:r>
            <a:r>
              <a:rPr lang="zh-CN" altLang="en-US"/>
              <a:t>使用下游任务数据集，继续执行带图像的 </a:t>
            </a:r>
            <a:r>
              <a:rPr lang="en-US" altLang="zh-CN"/>
              <a:t>MLM </a:t>
            </a:r>
            <a:r>
              <a:rPr lang="zh-CN" altLang="en-US"/>
              <a:t>目标，让模型适配目标领域。</a:t>
            </a:r>
            <a:endParaRPr lang="zh-CN" altLang="en-US"/>
          </a:p>
          <a:p>
            <a:r>
              <a:rPr lang="zh-CN" altLang="en-US"/>
              <a:t>微调 </a:t>
            </a:r>
            <a:r>
              <a:rPr lang="en-US" altLang="zh-CN"/>
              <a:t>Fine‑Tuning：</a:t>
            </a:r>
            <a:r>
              <a:rPr lang="zh-CN" altLang="en-US"/>
              <a:t>增加少量任务输出层，在下游任务标注数据微调全部参数。</a:t>
            </a:r>
            <a:endParaRPr lang="zh-CN" altLang="en-US"/>
          </a:p>
          <a:p>
            <a:r>
              <a:rPr lang="zh-CN" altLang="en-US"/>
              <a:t>早期融合（</a:t>
            </a:r>
            <a:r>
              <a:rPr lang="en-US" altLang="zh-CN"/>
              <a:t>Early Fusion）：</a:t>
            </a:r>
            <a:r>
              <a:rPr lang="zh-CN" altLang="en-US"/>
              <a:t>文本 </a:t>
            </a:r>
            <a:r>
              <a:rPr lang="en-US" altLang="zh-CN"/>
              <a:t>token </a:t>
            </a:r>
            <a:r>
              <a:rPr lang="zh-CN" altLang="en-US"/>
              <a:t>序列和图像区域 </a:t>
            </a:r>
            <a:r>
              <a:rPr lang="en-US" altLang="zh-CN"/>
              <a:t>token </a:t>
            </a:r>
            <a:r>
              <a:rPr lang="zh-CN" altLang="en-US"/>
              <a:t>拼接在一起，送入同一个 </a:t>
            </a:r>
            <a:r>
              <a:rPr lang="en-US" altLang="zh-CN"/>
              <a:t>Transformer </a:t>
            </a:r>
            <a:r>
              <a:rPr lang="zh-CN" altLang="en-US"/>
              <a:t>编码器，自注意力层可以自由地：文本‑文本、图像‑图像、文本‑图像互相做注意力计算，隐式学习语言单词和图像物体的对齐关系。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ViLBERT </a:t>
            </a:r>
            <a:r>
              <a:rPr lang="zh-CN" altLang="en-US"/>
              <a:t>采用语言、视觉两条独立 </a:t>
            </a:r>
            <a:r>
              <a:rPr lang="en-US" altLang="zh-CN"/>
              <a:t>Transformer </a:t>
            </a:r>
            <a:r>
              <a:rPr lang="zh-CN" altLang="en-US"/>
              <a:t>流，依靠 </a:t>
            </a:r>
            <a:r>
              <a:rPr lang="en-US" altLang="zh-CN"/>
              <a:t>Co‑TRM </a:t>
            </a:r>
            <a:r>
              <a:rPr lang="zh-CN" altLang="en-US"/>
              <a:t>共注意力层互相交换 </a:t>
            </a:r>
            <a:r>
              <a:rPr lang="en-US" altLang="zh-CN"/>
              <a:t>key‑value </a:t>
            </a:r>
            <a:r>
              <a:rPr lang="zh-CN" altLang="en-US"/>
              <a:t>完成跨模态交互，模态内部仍各自执行自注意力与前馈计算。</a:t>
            </a:r>
            <a:endParaRPr lang="zh-CN" altLang="en-US"/>
          </a:p>
          <a:p>
            <a:r>
              <a:rPr lang="zh-CN" altLang="en-US"/>
              <a:t>它通过掩码多模态建模与多模态对齐预测两大预训练目标，分别完成文本 </a:t>
            </a:r>
            <a:r>
              <a:rPr lang="en-US" altLang="zh-CN"/>
              <a:t>token、</a:t>
            </a:r>
            <a:r>
              <a:rPr lang="zh-CN" altLang="en-US"/>
              <a:t>图像区域的掩码预测以及图文匹配二分类；图像掩码任务不回归原始特征，而是预测物体类别分布并采用 </a:t>
            </a:r>
            <a:r>
              <a:rPr lang="en-US" altLang="zh-CN"/>
              <a:t>KL </a:t>
            </a:r>
            <a:r>
              <a:rPr lang="zh-CN" altLang="en-US"/>
              <a:t>散度损失。</a:t>
            </a:r>
            <a:endParaRPr lang="zh-CN" altLang="en-US"/>
          </a:p>
          <a:p>
            <a:r>
              <a:rPr lang="zh-CN" altLang="en-US"/>
              <a:t>预训练得到的模型可直接适配 </a:t>
            </a:r>
            <a:r>
              <a:rPr lang="en-US" altLang="zh-CN"/>
              <a:t>VQA、VCR、</a:t>
            </a:r>
            <a:r>
              <a:rPr lang="zh-CN" altLang="en-US"/>
              <a:t>指称表达、图文检索等多种下游多模态任务，部分任务还支持零样本图文检索评估</a:t>
            </a:r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LXMERT </a:t>
            </a:r>
            <a:r>
              <a:rPr lang="zh-CN" altLang="en-US"/>
              <a:t>区别于 </a:t>
            </a:r>
            <a:r>
              <a:rPr lang="en-US" altLang="zh-CN"/>
              <a:t>ViLBERT </a:t>
            </a:r>
            <a:r>
              <a:rPr lang="zh-CN" altLang="en-US"/>
              <a:t>的双流架构与 </a:t>
            </a:r>
            <a:r>
              <a:rPr lang="en-US" altLang="zh-CN"/>
              <a:t>VisualBERT </a:t>
            </a:r>
            <a:r>
              <a:rPr lang="zh-CN" altLang="en-US"/>
              <a:t>的单流早期融合，设计语言、物体关系、跨模态三套独立编码器，先分别学习文本、图像物体内部关系，再通过跨模态编码器的双向交叉注意力完成图文交互对齐。</a:t>
            </a:r>
            <a:endParaRPr lang="zh-CN" altLang="en-US"/>
          </a:p>
          <a:p>
            <a:r>
              <a:rPr lang="zh-CN" altLang="en-US"/>
              <a:t>它设置掩码跨模态语言建模、掩码物体预测、跨模态匹配、独有的图像问答共四项预训练任务，掩码文本预测可利用图像信息，掩码物体预测同时做特征回归与类别分类，图像问答任务直接基于图像问题预测答案。</a:t>
            </a:r>
            <a:endParaRPr lang="zh-CN" altLang="en-US"/>
          </a:p>
          <a:p>
            <a:r>
              <a:rPr lang="zh-CN" altLang="en-US"/>
              <a:t>模型输出的 [</a:t>
            </a:r>
            <a:r>
              <a:rPr lang="en-US" altLang="zh-CN"/>
              <a:t>CLS] </a:t>
            </a:r>
            <a:r>
              <a:rPr lang="zh-CN" altLang="en-US"/>
              <a:t>向量作为全局跨模态表征，为下游各类多模态任务提供统一的特征表示</a:t>
            </a:r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UNITER </a:t>
            </a:r>
            <a:r>
              <a:rPr lang="zh-CN" altLang="en-US"/>
              <a:t>是单流通用图文预训练模型，基于 </a:t>
            </a:r>
            <a:r>
              <a:rPr lang="en-US" altLang="zh-CN"/>
              <a:t>Faster‑RCNN </a:t>
            </a:r>
            <a:r>
              <a:rPr lang="zh-CN" altLang="en-US"/>
              <a:t>提取物体 </a:t>
            </a:r>
            <a:r>
              <a:rPr lang="en-US" altLang="zh-CN"/>
              <a:t>region </a:t>
            </a:r>
            <a:r>
              <a:rPr lang="zh-CN" altLang="en-US"/>
              <a:t>特征，采用单套 </a:t>
            </a:r>
            <a:r>
              <a:rPr lang="en-US" altLang="zh-CN"/>
              <a:t>Transformer </a:t>
            </a:r>
            <a:r>
              <a:rPr lang="zh-CN" altLang="en-US"/>
              <a:t>做跨模态交互；提出条件掩码、基于最优传输 </a:t>
            </a:r>
            <a:r>
              <a:rPr lang="en-US" altLang="zh-CN"/>
              <a:t>OT </a:t>
            </a:r>
            <a:r>
              <a:rPr lang="zh-CN" altLang="en-US"/>
              <a:t>的词‑区域对齐 </a:t>
            </a:r>
            <a:r>
              <a:rPr lang="en-US" altLang="zh-CN"/>
              <a:t>WRA </a:t>
            </a:r>
            <a:r>
              <a:rPr lang="zh-CN" altLang="en-US"/>
              <a:t>任务，在 6 大类、9 个视觉语言数据集取得 </a:t>
            </a:r>
            <a:r>
              <a:rPr lang="en-US" altLang="zh-CN"/>
              <a:t>SOTA，</a:t>
            </a:r>
            <a:r>
              <a:rPr lang="zh-CN" altLang="en-US"/>
              <a:t>是早期非常有代表性的通用 </a:t>
            </a:r>
            <a:r>
              <a:rPr lang="en-US" altLang="zh-CN"/>
              <a:t>VLP </a:t>
            </a:r>
            <a:r>
              <a:rPr lang="zh-CN" altLang="en-US"/>
              <a:t>模型。</a:t>
            </a:r>
            <a:endParaRPr lang="zh-CN" altLang="en-US"/>
          </a:p>
          <a:p>
            <a:r>
              <a:rPr lang="zh-CN" altLang="en-US"/>
              <a:t>模型架构（单流 </a:t>
            </a:r>
            <a:r>
              <a:rPr lang="en-US" altLang="zh-CN"/>
              <a:t>Early‑Fusion）</a:t>
            </a:r>
            <a:endParaRPr lang="en-US" altLang="zh-CN"/>
          </a:p>
          <a:p>
            <a:r>
              <a:rPr lang="zh-CN" altLang="en-US"/>
              <a:t>文本嵌入器 </a:t>
            </a:r>
            <a:r>
              <a:rPr lang="en-US" altLang="zh-CN"/>
              <a:t>Text Embedder：</a:t>
            </a:r>
            <a:r>
              <a:rPr lang="zh-CN" altLang="en-US"/>
              <a:t>沿用 </a:t>
            </a:r>
            <a:r>
              <a:rPr lang="en-US" altLang="zh-CN"/>
              <a:t>BERT，WordPiece </a:t>
            </a:r>
            <a:r>
              <a:rPr lang="zh-CN" altLang="en-US"/>
              <a:t>分词，</a:t>
            </a:r>
            <a:r>
              <a:rPr lang="en-US" altLang="zh-CN"/>
              <a:t>token + </a:t>
            </a:r>
            <a:r>
              <a:rPr lang="zh-CN" altLang="en-US"/>
              <a:t>位置 + 模态 </a:t>
            </a:r>
            <a:r>
              <a:rPr lang="en-US" altLang="zh-CN"/>
              <a:t>type embedding。</a:t>
            </a:r>
            <a:endParaRPr lang="en-US" altLang="zh-CN"/>
          </a:p>
          <a:p>
            <a:r>
              <a:rPr lang="zh-CN" altLang="en-US"/>
              <a:t>图像嵌入器 </a:t>
            </a:r>
            <a:r>
              <a:rPr lang="en-US" altLang="zh-CN"/>
              <a:t>Image Embedder：</a:t>
            </a:r>
            <a:endParaRPr lang="en-US" altLang="zh-CN"/>
          </a:p>
          <a:p>
            <a:r>
              <a:rPr lang="en-US" altLang="zh-CN"/>
              <a:t>Faster‑RCNN（VG </a:t>
            </a:r>
            <a:r>
              <a:rPr lang="zh-CN" altLang="en-US"/>
              <a:t>预训练）提取每个 </a:t>
            </a:r>
            <a:r>
              <a:rPr lang="en-US" altLang="zh-CN"/>
              <a:t>RoI </a:t>
            </a:r>
            <a:r>
              <a:rPr lang="zh-CN" altLang="en-US"/>
              <a:t>视觉特征；拼接 7 维位置坐标特征（</a:t>
            </a:r>
            <a:r>
              <a:rPr lang="en-US" altLang="zh-CN"/>
              <a:t>x1,y1,x2,y2、</a:t>
            </a:r>
            <a:r>
              <a:rPr lang="zh-CN" altLang="en-US"/>
              <a:t>宽、高、面积）；全连接层投影到和文本相同维度，</a:t>
            </a:r>
            <a:r>
              <a:rPr lang="en-US" altLang="zh-CN"/>
              <a:t>LayerNorm </a:t>
            </a:r>
            <a:r>
              <a:rPr lang="zh-CN" altLang="en-US"/>
              <a:t>归一化。</a:t>
            </a:r>
            <a:endParaRPr lang="zh-CN" altLang="en-US"/>
          </a:p>
          <a:p>
            <a:r>
              <a:rPr lang="zh-CN" altLang="en-US"/>
              <a:t>单流 </a:t>
            </a:r>
            <a:r>
              <a:rPr lang="en-US" altLang="zh-CN"/>
              <a:t>Transformer </a:t>
            </a:r>
            <a:r>
              <a:rPr lang="zh-CN" altLang="en-US"/>
              <a:t>编码器：图像 </a:t>
            </a:r>
            <a:r>
              <a:rPr lang="en-US" altLang="zh-CN"/>
              <a:t>region token </a:t>
            </a:r>
            <a:r>
              <a:rPr lang="zh-CN" altLang="en-US"/>
              <a:t>序列 + 文本 </a:t>
            </a:r>
            <a:r>
              <a:rPr lang="en-US" altLang="zh-CN"/>
              <a:t>token </a:t>
            </a:r>
            <a:r>
              <a:rPr lang="zh-CN" altLang="en-US"/>
              <a:t>序列拼接输入同一 </a:t>
            </a:r>
            <a:r>
              <a:rPr lang="en-US" altLang="zh-CN"/>
              <a:t>Transformer，</a:t>
            </a:r>
            <a:r>
              <a:rPr lang="zh-CN" altLang="en-US"/>
              <a:t>加入[</a:t>
            </a:r>
            <a:r>
              <a:rPr lang="en-US" altLang="zh-CN"/>
              <a:t>CLS]、[SEP]；[CLS]</a:t>
            </a:r>
            <a:r>
              <a:rPr lang="zh-CN" altLang="en-US"/>
              <a:t>输出作为全局图文联合表征。</a:t>
            </a:r>
            <a:endParaRPr lang="zh-CN" altLang="en-US"/>
          </a:p>
          <a:p>
            <a:r>
              <a:rPr lang="en-US" altLang="zh-CN"/>
              <a:t>1-MLM </a:t>
            </a:r>
            <a:r>
              <a:rPr lang="zh-CN" altLang="en-US"/>
              <a:t>掩码语言建模</a:t>
            </a:r>
            <a:endParaRPr lang="zh-CN" altLang="en-US"/>
          </a:p>
          <a:p>
            <a:r>
              <a:rPr lang="zh-CN" altLang="en-US"/>
              <a:t>随机 </a:t>
            </a:r>
            <a:r>
              <a:rPr lang="en-US" altLang="zh-CN"/>
              <a:t>mask15% </a:t>
            </a:r>
            <a:r>
              <a:rPr lang="zh-CN" altLang="en-US"/>
              <a:t>文本 </a:t>
            </a:r>
            <a:r>
              <a:rPr lang="en-US" altLang="zh-CN"/>
              <a:t>token，</a:t>
            </a:r>
            <a:r>
              <a:rPr lang="zh-CN" altLang="en-US"/>
              <a:t>模型利用全部图像 </a:t>
            </a:r>
            <a:r>
              <a:rPr lang="en-US" altLang="zh-CN"/>
              <a:t>region + </a:t>
            </a:r>
            <a:r>
              <a:rPr lang="zh-CN" altLang="en-US"/>
              <a:t>剩余文本预测被 </a:t>
            </a:r>
            <a:r>
              <a:rPr lang="en-US" altLang="zh-CN"/>
              <a:t>mask </a:t>
            </a:r>
            <a:r>
              <a:rPr lang="zh-CN" altLang="en-US"/>
              <a:t>单词。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2-MRM </a:t>
            </a:r>
            <a:r>
              <a:rPr lang="zh-CN" altLang="en-US"/>
              <a:t>掩码区域建模（3 种变体，</a:t>
            </a:r>
            <a:r>
              <a:rPr lang="en-US" altLang="zh-CN"/>
              <a:t>mask </a:t>
            </a:r>
            <a:r>
              <a:rPr lang="zh-CN" altLang="en-US"/>
              <a:t>图像 </a:t>
            </a:r>
            <a:r>
              <a:rPr lang="en-US" altLang="zh-CN"/>
              <a:t>region，</a:t>
            </a:r>
            <a:r>
              <a:rPr lang="zh-CN" altLang="en-US"/>
              <a:t>全部文本保持完整）</a:t>
            </a:r>
            <a:endParaRPr lang="zh-CN" altLang="en-US"/>
          </a:p>
          <a:p>
            <a:r>
              <a:rPr lang="zh-CN" altLang="en-US"/>
              <a:t>随机置零 15% 图像区域特征，基于完整文本 + 其余图像预测该区域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3-ITM </a:t>
            </a:r>
            <a:r>
              <a:rPr lang="zh-CN" altLang="en-US"/>
              <a:t>图文匹配 </a:t>
            </a:r>
            <a:r>
              <a:rPr lang="en-US" altLang="zh-CN"/>
              <a:t>Image‑Text Matching</a:t>
            </a:r>
            <a:endParaRPr lang="en-US" altLang="zh-CN"/>
          </a:p>
          <a:p>
            <a:r>
              <a:rPr lang="zh-CN" altLang="en-US"/>
              <a:t>利用[</a:t>
            </a:r>
            <a:r>
              <a:rPr lang="en-US" altLang="zh-CN"/>
              <a:t>CLS]</a:t>
            </a:r>
            <a:r>
              <a:rPr lang="zh-CN" altLang="en-US"/>
              <a:t>输出二分类，判断图片和句子是否匹配；构造正负样本。学习图像‑句子全局粗粒度对齐。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4-WRA </a:t>
            </a:r>
            <a:r>
              <a:rPr lang="zh-CN" altLang="en-US"/>
              <a:t>词‑区域对齐 </a:t>
            </a:r>
            <a:r>
              <a:rPr lang="en-US" altLang="zh-CN"/>
              <a:t>Word‑Region Alignment（</a:t>
            </a:r>
            <a:r>
              <a:rPr lang="zh-CN" altLang="en-US"/>
              <a:t>新增任务）</a:t>
            </a:r>
            <a:endParaRPr lang="zh-CN" altLang="en-US"/>
          </a:p>
          <a:p>
            <a:r>
              <a:rPr lang="zh-CN" altLang="en-US"/>
              <a:t>基于</a:t>
            </a:r>
            <a:r>
              <a:rPr lang="en-US" altLang="zh-CN"/>
              <a:t>IPOT </a:t>
            </a:r>
            <a:r>
              <a:rPr lang="zh-CN" altLang="en-US"/>
              <a:t>近似最优传输 </a:t>
            </a:r>
            <a:r>
              <a:rPr lang="en-US" altLang="zh-CN"/>
              <a:t>OT，</a:t>
            </a:r>
            <a:r>
              <a:rPr lang="zh-CN" altLang="en-US"/>
              <a:t>最小化文本 </a:t>
            </a:r>
            <a:r>
              <a:rPr lang="en-US" altLang="zh-CN"/>
              <a:t>token </a:t>
            </a:r>
            <a:r>
              <a:rPr lang="zh-CN" altLang="en-US"/>
              <a:t>分布与图像 </a:t>
            </a:r>
            <a:r>
              <a:rPr lang="en-US" altLang="zh-CN"/>
              <a:t>region </a:t>
            </a:r>
            <a:r>
              <a:rPr lang="zh-CN" altLang="en-US"/>
              <a:t>分布之间的 </a:t>
            </a:r>
            <a:r>
              <a:rPr lang="en-US" altLang="zh-CN"/>
              <a:t>Wasserstein </a:t>
            </a:r>
            <a:r>
              <a:rPr lang="zh-CN" altLang="en-US"/>
              <a:t>距离；损失直接鼓励细粒度词与图像物体区域对齐，对 </a:t>
            </a:r>
            <a:r>
              <a:rPr lang="en-US" altLang="zh-CN"/>
              <a:t>VQA、</a:t>
            </a:r>
            <a:r>
              <a:rPr lang="zh-CN" altLang="en-US"/>
              <a:t>指代理解 </a:t>
            </a:r>
            <a:r>
              <a:rPr lang="en-US" altLang="zh-CN"/>
              <a:t>RefCOCO </a:t>
            </a:r>
            <a:r>
              <a:rPr lang="zh-CN" altLang="en-US"/>
              <a:t>类任务增益明显。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和 </a:t>
            </a:r>
            <a:r>
              <a:rPr lang="en-US" altLang="zh-CN"/>
              <a:t>ViLBERT、VisualBERT、LXMERT </a:t>
            </a:r>
            <a:r>
              <a:rPr lang="zh-CN" altLang="en-US"/>
              <a:t>等依赖 </a:t>
            </a:r>
            <a:r>
              <a:rPr lang="en-US" altLang="zh-CN"/>
              <a:t>Faster‑RCNN </a:t>
            </a:r>
            <a:r>
              <a:rPr lang="zh-CN" altLang="en-US"/>
              <a:t>提取物体 </a:t>
            </a:r>
            <a:r>
              <a:rPr lang="en-US" altLang="zh-CN"/>
              <a:t>Region </a:t>
            </a:r>
            <a:r>
              <a:rPr lang="zh-CN" altLang="en-US"/>
              <a:t>框的模型不同，</a:t>
            </a:r>
            <a:r>
              <a:rPr lang="en-US" altLang="zh-CN"/>
              <a:t>Pixel‑BERT</a:t>
            </a:r>
            <a:r>
              <a:rPr lang="zh-CN" altLang="en-US"/>
              <a:t>不使用检测框，直接用 </a:t>
            </a:r>
            <a:r>
              <a:rPr lang="en-US" altLang="zh-CN"/>
              <a:t>CNN </a:t>
            </a:r>
            <a:r>
              <a:rPr lang="zh-CN" altLang="en-US"/>
              <a:t>从原始图像像素提取网格视觉 </a:t>
            </a:r>
            <a:r>
              <a:rPr lang="en-US" altLang="zh-CN"/>
              <a:t>token，</a:t>
            </a:r>
            <a:r>
              <a:rPr lang="zh-CN" altLang="en-US"/>
              <a:t>和文本 </a:t>
            </a:r>
            <a:r>
              <a:rPr lang="en-US" altLang="zh-CN"/>
              <a:t>token </a:t>
            </a:r>
            <a:r>
              <a:rPr lang="zh-CN" altLang="en-US"/>
              <a:t>拼接送入同一套 </a:t>
            </a:r>
            <a:r>
              <a:rPr lang="en-US" altLang="zh-CN"/>
              <a:t>Transformer </a:t>
            </a:r>
            <a:r>
              <a:rPr lang="zh-CN" altLang="en-US"/>
              <a:t>做跨模态预训练，实现像素‑文本语义对齐。</a:t>
            </a:r>
            <a:endParaRPr lang="zh-CN" altLang="en-US"/>
          </a:p>
          <a:p>
            <a:r>
              <a:rPr lang="zh-CN" altLang="en-US"/>
              <a:t>1）句子编码器 </a:t>
            </a:r>
            <a:r>
              <a:rPr lang="en-US" altLang="zh-CN"/>
              <a:t>Sentence Encoder</a:t>
            </a:r>
            <a:endParaRPr lang="en-US" altLang="zh-CN"/>
          </a:p>
          <a:p>
            <a:r>
              <a:rPr lang="zh-CN" altLang="en-US"/>
              <a:t>沿用 </a:t>
            </a:r>
            <a:r>
              <a:rPr lang="en-US" altLang="zh-CN"/>
              <a:t>BERT </a:t>
            </a:r>
            <a:r>
              <a:rPr lang="zh-CN" altLang="en-US"/>
              <a:t>的文本处理：</a:t>
            </a:r>
            <a:r>
              <a:rPr lang="en-US" altLang="zh-CN"/>
              <a:t>WordPiece </a:t>
            </a:r>
            <a:r>
              <a:rPr lang="zh-CN" altLang="en-US"/>
              <a:t>分词；</a:t>
            </a:r>
            <a:r>
              <a:rPr lang="en-US" altLang="zh-CN"/>
              <a:t>token embedding + position embedding；</a:t>
            </a:r>
            <a:r>
              <a:rPr lang="zh-CN" altLang="en-US"/>
              <a:t>加入[</a:t>
            </a:r>
            <a:r>
              <a:rPr lang="en-US" altLang="zh-CN"/>
              <a:t>CLS]、[SEP]</a:t>
            </a:r>
            <a:r>
              <a:rPr lang="zh-CN" altLang="en-US"/>
              <a:t>特殊标记。</a:t>
            </a:r>
            <a:endParaRPr lang="zh-CN" altLang="en-US"/>
          </a:p>
          <a:p>
            <a:r>
              <a:rPr lang="en-US" altLang="zh-CN"/>
              <a:t>（2）CNN </a:t>
            </a:r>
            <a:r>
              <a:rPr lang="zh-CN" altLang="en-US"/>
              <a:t>视觉编码器（核心创新）</a:t>
            </a:r>
            <a:endParaRPr lang="zh-CN" altLang="en-US"/>
          </a:p>
          <a:p>
            <a:r>
              <a:rPr lang="zh-CN" altLang="en-US"/>
              <a:t>输入原始图像，使用 </a:t>
            </a:r>
            <a:r>
              <a:rPr lang="en-US" altLang="zh-CN"/>
              <a:t>ResNet‑50 / ResNeXt‑152 </a:t>
            </a:r>
            <a:r>
              <a:rPr lang="zh-CN" altLang="en-US"/>
              <a:t>作为 </a:t>
            </a:r>
            <a:r>
              <a:rPr lang="en-US" altLang="zh-CN"/>
              <a:t>CNN </a:t>
            </a:r>
            <a:r>
              <a:rPr lang="zh-CN" altLang="en-US"/>
              <a:t>骨干，得到下采样后的空间网格特征图；将每个空间网格位置展平，作为独立视觉 </a:t>
            </a:r>
            <a:r>
              <a:rPr lang="en-US" altLang="zh-CN"/>
              <a:t>token；</a:t>
            </a:r>
            <a:endParaRPr lang="en-US" altLang="zh-CN"/>
          </a:p>
          <a:p>
            <a:r>
              <a:rPr lang="zh-CN" altLang="en-US"/>
              <a:t>增加视觉语义区分 </a:t>
            </a:r>
            <a:r>
              <a:rPr lang="en-US" altLang="zh-CN"/>
              <a:t>embedding，</a:t>
            </a:r>
            <a:r>
              <a:rPr lang="zh-CN" altLang="en-US"/>
              <a:t>区分视觉 </a:t>
            </a:r>
            <a:r>
              <a:rPr lang="en-US" altLang="zh-CN"/>
              <a:t>token </a:t>
            </a:r>
            <a:r>
              <a:rPr lang="zh-CN" altLang="en-US"/>
              <a:t>与文本 </a:t>
            </a:r>
            <a:r>
              <a:rPr lang="en-US" altLang="zh-CN"/>
              <a:t>token；</a:t>
            </a:r>
            <a:endParaRPr lang="en-US" altLang="zh-CN"/>
          </a:p>
          <a:p>
            <a:r>
              <a:rPr lang="zh-CN" altLang="en-US"/>
              <a:t>像素随机采样 </a:t>
            </a:r>
            <a:r>
              <a:rPr lang="en-US" altLang="zh-CN"/>
              <a:t>Pixel Random Sampling（</a:t>
            </a:r>
            <a:r>
              <a:rPr lang="zh-CN" altLang="en-US"/>
              <a:t>预训练特有机制）：每一步训练时，从全部网格特征中随机采样固定数量（100 个）视觉 </a:t>
            </a:r>
            <a:r>
              <a:rPr lang="en-US" altLang="zh-CN"/>
              <a:t>token </a:t>
            </a:r>
            <a:r>
              <a:rPr lang="zh-CN" altLang="en-US"/>
              <a:t>送入 </a:t>
            </a:r>
            <a:r>
              <a:rPr lang="en-US" altLang="zh-CN"/>
              <a:t>Transformer。</a:t>
            </a:r>
            <a:endParaRPr lang="en-US" altLang="zh-CN"/>
          </a:p>
          <a:p>
            <a:r>
              <a:rPr lang="zh-CN" altLang="en-US"/>
              <a:t>作用：提升模型鲁棒性，强迫模型依靠部分视觉信息推理；减少序列长度，降低计算开销；仅预训练阶段启用，微调阶段关闭，保证输入一致性。</a:t>
            </a:r>
            <a:endParaRPr lang="zh-CN" altLang="en-US"/>
          </a:p>
          <a:p>
            <a:r>
              <a:rPr lang="zh-CN" altLang="en-US"/>
              <a:t>注意：模型没有做像素特征的 </a:t>
            </a:r>
            <a:r>
              <a:rPr lang="en-US" altLang="zh-CN"/>
              <a:t>mask </a:t>
            </a:r>
            <a:r>
              <a:rPr lang="zh-CN" altLang="en-US"/>
              <a:t>预测；像素重建难度大，因此没有设计 </a:t>
            </a:r>
            <a:r>
              <a:rPr lang="en-US" altLang="zh-CN"/>
              <a:t>mask </a:t>
            </a:r>
            <a:r>
              <a:rPr lang="zh-CN" altLang="en-US"/>
              <a:t>像素的损失，视觉端仅靠采样做数据增强。</a:t>
            </a:r>
            <a:endParaRPr lang="zh-CN" altLang="en-US"/>
          </a:p>
          <a:p>
            <a:r>
              <a:rPr lang="zh-CN" altLang="en-US"/>
              <a:t>（3）跨模态对齐模块 </a:t>
            </a:r>
            <a:r>
              <a:rPr lang="en-US" altLang="zh-CN"/>
              <a:t>Cross‑Modality Alignment</a:t>
            </a:r>
            <a:endParaRPr lang="en-US" altLang="zh-CN"/>
          </a:p>
          <a:p>
            <a:r>
              <a:rPr lang="zh-CN" altLang="en-US"/>
              <a:t>单流 </a:t>
            </a:r>
            <a:r>
              <a:rPr lang="en-US" altLang="zh-CN"/>
              <a:t>Transformer。</a:t>
            </a:r>
            <a:r>
              <a:rPr lang="zh-CN" altLang="en-US"/>
              <a:t>输入序列拼接格式：</a:t>
            </a:r>
            <a:endParaRPr lang="zh-CN" altLang="en-US"/>
          </a:p>
          <a:p>
            <a:r>
              <a:rPr lang="en-US" altLang="zh-CN"/>
              <a:t>[CLS], </a:t>
            </a:r>
            <a:r>
              <a:rPr lang="zh-CN" altLang="en-US"/>
              <a:t>文本</a:t>
            </a:r>
            <a:r>
              <a:rPr lang="en-US" altLang="zh-CN"/>
              <a:t>tokens, [SEP], </a:t>
            </a:r>
            <a:r>
              <a:rPr lang="zh-CN" altLang="en-US"/>
              <a:t>视觉网格</a:t>
            </a:r>
            <a:r>
              <a:rPr lang="en-US" altLang="zh-CN"/>
              <a:t>tokens</a:t>
            </a:r>
            <a:endParaRPr lang="en-US" altLang="zh-CN"/>
          </a:p>
          <a:p>
            <a:r>
              <a:rPr lang="zh-CN" altLang="en-US"/>
              <a:t>文本 </a:t>
            </a:r>
            <a:r>
              <a:rPr lang="en-US" altLang="zh-CN"/>
              <a:t>token </a:t>
            </a:r>
            <a:r>
              <a:rPr lang="zh-CN" altLang="en-US"/>
              <a:t>与视觉 </a:t>
            </a:r>
            <a:r>
              <a:rPr lang="en-US" altLang="zh-CN"/>
              <a:t>token </a:t>
            </a:r>
            <a:r>
              <a:rPr lang="zh-CN" altLang="en-US"/>
              <a:t>完全在同一套 </a:t>
            </a:r>
            <a:r>
              <a:rPr lang="en-US" altLang="zh-CN"/>
              <a:t>Transformer </a:t>
            </a:r>
            <a:r>
              <a:rPr lang="zh-CN" altLang="en-US"/>
              <a:t>中自由自注意力；</a:t>
            </a:r>
            <a:r>
              <a:rPr lang="en-US" altLang="zh-CN"/>
              <a:t>CNN </a:t>
            </a:r>
            <a:r>
              <a:rPr lang="zh-CN" altLang="en-US"/>
              <a:t>骨干网络与 </a:t>
            </a:r>
            <a:r>
              <a:rPr lang="en-US" altLang="zh-CN"/>
              <a:t>Transformer</a:t>
            </a:r>
            <a:r>
              <a:rPr lang="zh-CN" altLang="en-US"/>
              <a:t>端到端联合训练，梯度可以回传给 </a:t>
            </a:r>
            <a:r>
              <a:rPr lang="en-US" altLang="zh-CN"/>
              <a:t>CNN，</a:t>
            </a:r>
            <a:r>
              <a:rPr lang="zh-CN" altLang="en-US"/>
              <a:t>缩小视觉与语言域之间的域鸿沟。</a:t>
            </a:r>
            <a:endParaRPr lang="zh-CN" altLang="en-US"/>
          </a:p>
          <a:p>
            <a:r>
              <a:rPr lang="en-US" altLang="zh-CN"/>
              <a:t>[CLS]</a:t>
            </a:r>
            <a:r>
              <a:rPr lang="zh-CN" altLang="en-US"/>
              <a:t>向量作为全局图文联合表征，用于下游分类、匹配任务。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两个自监督预训练任务</a:t>
            </a:r>
            <a:endParaRPr lang="zh-CN" altLang="en-US"/>
          </a:p>
          <a:p>
            <a:r>
              <a:rPr lang="zh-CN" altLang="en-US"/>
              <a:t>掩码语言建模 </a:t>
            </a:r>
            <a:r>
              <a:rPr lang="en-US" altLang="zh-CN"/>
              <a:t>MLM</a:t>
            </a:r>
            <a:endParaRPr lang="en-US" altLang="zh-CN"/>
          </a:p>
          <a:p>
            <a:r>
              <a:rPr lang="zh-CN" altLang="en-US"/>
              <a:t>随机 </a:t>
            </a:r>
            <a:r>
              <a:rPr lang="en-US" altLang="zh-CN"/>
              <a:t>mask 15% </a:t>
            </a:r>
            <a:r>
              <a:rPr lang="zh-CN" altLang="en-US"/>
              <a:t>文本 </a:t>
            </a:r>
            <a:r>
              <a:rPr lang="en-US" altLang="zh-CN"/>
              <a:t>token；</a:t>
            </a:r>
            <a:r>
              <a:rPr lang="zh-CN" altLang="en-US"/>
              <a:t>模型结合剩余文本 + 全部视觉 </a:t>
            </a:r>
            <a:r>
              <a:rPr lang="en-US" altLang="zh-CN"/>
              <a:t>token </a:t>
            </a:r>
            <a:r>
              <a:rPr lang="zh-CN" altLang="en-US"/>
              <a:t>预测 </a:t>
            </a:r>
            <a:r>
              <a:rPr lang="en-US" altLang="zh-CN"/>
              <a:t>mask </a:t>
            </a:r>
            <a:r>
              <a:rPr lang="zh-CN" altLang="en-US"/>
              <a:t>的词。利用图像信息消解文本歧义，建立图像到文本的语义映射。不对视觉 </a:t>
            </a:r>
            <a:r>
              <a:rPr lang="en-US" altLang="zh-CN"/>
              <a:t>token </a:t>
            </a:r>
            <a:r>
              <a:rPr lang="zh-CN" altLang="en-US"/>
              <a:t>做 </a:t>
            </a:r>
            <a:r>
              <a:rPr lang="en-US" altLang="zh-CN"/>
              <a:t>mask </a:t>
            </a:r>
            <a:r>
              <a:rPr lang="zh-CN" altLang="en-US"/>
              <a:t>预测。</a:t>
            </a:r>
            <a:endParaRPr lang="zh-CN" altLang="en-US"/>
          </a:p>
          <a:p>
            <a:r>
              <a:rPr lang="zh-CN" altLang="en-US"/>
              <a:t>图文匹配 </a:t>
            </a:r>
            <a:r>
              <a:rPr lang="en-US" altLang="zh-CN"/>
              <a:t>ITM（Image‑Text Matching）</a:t>
            </a:r>
            <a:endParaRPr lang="en-US" altLang="zh-CN"/>
          </a:p>
          <a:p>
            <a:r>
              <a:rPr lang="zh-CN" altLang="en-US"/>
              <a:t>50% 样本替换为不匹配图文对；利用[</a:t>
            </a:r>
            <a:r>
              <a:rPr lang="en-US" altLang="zh-CN"/>
              <a:t>CLS]</a:t>
            </a:r>
            <a:r>
              <a:rPr lang="zh-CN" altLang="en-US"/>
              <a:t>输出做二分类，判断图片和句子是否匹配，学习整体图文全局对齐。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当时 </a:t>
            </a:r>
            <a:r>
              <a:rPr lang="en-US" altLang="zh-CN"/>
              <a:t>ViLBERT </a:t>
            </a:r>
            <a:r>
              <a:rPr lang="zh-CN" altLang="en-US"/>
              <a:t>等主流多模态模型要先进行代价高昂的跨模态预训练，更换主干网络就要重新完整预训练，灵活性不足。</a:t>
            </a:r>
            <a:r>
              <a:rPr lang="en-US" altLang="zh-CN"/>
              <a:t>MMBT </a:t>
            </a:r>
            <a:r>
              <a:rPr lang="zh-CN" altLang="en-US"/>
              <a:t>不开展大规模图文跨模态预训练，直接复用已经单独预训练好的 </a:t>
            </a:r>
            <a:r>
              <a:rPr lang="en-US" altLang="zh-CN"/>
              <a:t>BERT </a:t>
            </a:r>
            <a:r>
              <a:rPr lang="zh-CN" altLang="en-US"/>
              <a:t>文本编码器与 </a:t>
            </a:r>
            <a:r>
              <a:rPr lang="en-US" altLang="zh-CN"/>
              <a:t>ResNet </a:t>
            </a:r>
            <a:r>
              <a:rPr lang="zh-CN" altLang="en-US"/>
              <a:t>图像编码器，依靠下游监督微调实现模态深度融合，效果可对标 </a:t>
            </a:r>
            <a:r>
              <a:rPr lang="en-US" altLang="zh-CN"/>
              <a:t>ViLBERT。</a:t>
            </a:r>
            <a:r>
              <a:rPr lang="zh-CN" altLang="en-US"/>
              <a:t>它采用分阶段解冻的训练策略，逐步放开网络参数进行更新，以此防止文本能力过强而使模型忽略图像信息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对比式语言‑图像预训练。核心思想：利用互联网海量图文对，用对比学习对齐图像与文本的全局嵌入空间；训练完成后，依靠自然语言实现零样本图像分类，不需要下游任务训练样本，开创图文双塔表征范式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由独立图像编码器、独立文本编码器两部分构成。</a:t>
            </a:r>
            <a:endParaRPr lang="zh-CN" altLang="en-US"/>
          </a:p>
          <a:p>
            <a:r>
              <a:rPr lang="zh-CN" altLang="en-US"/>
              <a:t>图像编码器（二选一）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ResNet </a:t>
            </a:r>
            <a:r>
              <a:rPr lang="zh-CN" altLang="en-US"/>
              <a:t>系列：</a:t>
            </a:r>
            <a:r>
              <a:rPr lang="en-US" altLang="zh-CN"/>
              <a:t>RN50、RN101、RN50x4/x16/x64；</a:t>
            </a:r>
            <a:r>
              <a:rPr lang="zh-CN" altLang="en-US"/>
              <a:t>做了抗锯齿 </a:t>
            </a:r>
            <a:r>
              <a:rPr lang="en-US" altLang="zh-CN"/>
              <a:t>BlurPool、</a:t>
            </a:r>
            <a:r>
              <a:rPr lang="zh-CN" altLang="en-US"/>
              <a:t>注意力池化改进。</a:t>
            </a:r>
            <a:endParaRPr lang="zh-CN" altLang="en-US"/>
          </a:p>
          <a:p>
            <a:r>
              <a:rPr lang="en-US" altLang="zh-CN"/>
              <a:t>Vision Transformer：ViT‑B/32、B/16、L/14；ViT‑L/14@336px（</a:t>
            </a:r>
            <a:r>
              <a:rPr lang="zh-CN" altLang="en-US"/>
              <a:t>更高分辨率微调，论文主模型）。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文本编码器</a:t>
            </a:r>
            <a:endParaRPr lang="zh-CN" altLang="en-US"/>
          </a:p>
          <a:p>
            <a:r>
              <a:rPr lang="zh-CN" altLang="en-US"/>
              <a:t>基于 </a:t>
            </a:r>
            <a:r>
              <a:rPr lang="en-US" altLang="zh-CN"/>
              <a:t>Transformer，BPE </a:t>
            </a:r>
            <a:r>
              <a:rPr lang="zh-CN" altLang="en-US"/>
              <a:t>分词，词表 49152；输入[</a:t>
            </a:r>
            <a:r>
              <a:rPr lang="en-US" altLang="zh-CN"/>
              <a:t>SOS]、[EOS]，</a:t>
            </a:r>
            <a:r>
              <a:rPr lang="zh-CN" altLang="en-US"/>
              <a:t>取[</a:t>
            </a:r>
            <a:r>
              <a:rPr lang="en-US" altLang="zh-CN"/>
              <a:t>EOS]</a:t>
            </a:r>
            <a:r>
              <a:rPr lang="zh-CN" altLang="en-US"/>
              <a:t>位置输出作为文本全局特征。</a:t>
            </a:r>
            <a:endParaRPr lang="zh-CN" altLang="en-US"/>
          </a:p>
          <a:p>
            <a:r>
              <a:rPr lang="zh-CN" altLang="en-US"/>
              <a:t>投影与归一化</a:t>
            </a:r>
            <a:endParaRPr lang="zh-CN" altLang="en-US"/>
          </a:p>
          <a:p>
            <a:r>
              <a:rPr lang="zh-CN" altLang="en-US"/>
              <a:t>图像特征、文本特征分别通过可学习线性层投影至同一个共享多模态嵌入空间，做 </a:t>
            </a:r>
            <a:r>
              <a:rPr lang="en-US" altLang="zh-CN"/>
              <a:t>L2 </a:t>
            </a:r>
            <a:r>
              <a:rPr lang="zh-CN" altLang="en-US"/>
              <a:t>归一化。</a:t>
            </a:r>
            <a:endParaRPr lang="zh-CN" altLang="en-US"/>
          </a:p>
          <a:p>
            <a:r>
              <a:rPr lang="zh-CN" altLang="en-US"/>
              <a:t>预训练目标：对比损失 </a:t>
            </a:r>
            <a:r>
              <a:rPr lang="en-US" altLang="zh-CN"/>
              <a:t>InfoNCE</a:t>
            </a:r>
            <a:endParaRPr lang="en-US" altLang="zh-CN"/>
          </a:p>
          <a:p>
            <a:r>
              <a:rPr lang="zh-CN" altLang="en-US"/>
              <a:t>一个 </a:t>
            </a:r>
            <a:r>
              <a:rPr lang="en-US" altLang="zh-CN"/>
              <a:t>batch </a:t>
            </a:r>
            <a:r>
              <a:rPr lang="zh-CN" altLang="en-US"/>
              <a:t>包含</a:t>
            </a:r>
            <a:r>
              <a:rPr lang="en-US" altLang="zh-CN"/>
              <a:t>N</a:t>
            </a:r>
            <a:r>
              <a:rPr lang="zh-CN" altLang="en-US"/>
              <a:t>个匹配的图像‑文本对；计算全部\(</a:t>
            </a:r>
            <a:r>
              <a:rPr lang="en-US" altLang="zh-CN"/>
              <a:t>N\times N\)</a:t>
            </a:r>
            <a:r>
              <a:rPr lang="zh-CN" altLang="en-US"/>
              <a:t>对余弦相似度；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图像侧：每个图像匹配正确文本，把其余文本作为负样本；</a:t>
            </a:r>
            <a:endParaRPr lang="zh-CN" altLang="en-US"/>
          </a:p>
          <a:p>
            <a:r>
              <a:rPr lang="zh-CN" altLang="en-US"/>
              <a:t>文本侧：每个文本匹配正确图像，其余图像作为负样本；</a:t>
            </a:r>
            <a:endParaRPr lang="zh-CN" altLang="en-US"/>
          </a:p>
          <a:p>
            <a:r>
              <a:rPr lang="zh-CN" altLang="en-US"/>
              <a:t>两者交叉熵取平均；温度参数\(\</a:t>
            </a:r>
            <a:r>
              <a:rPr lang="en-US" altLang="zh-CN"/>
              <a:t>tau\)</a:t>
            </a:r>
            <a:r>
              <a:rPr lang="zh-CN" altLang="en-US"/>
              <a:t>可学习缩放相似度。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当前视觉、图文预训练高度依赖人工整理、清洗的高质量数据集（</a:t>
            </a:r>
            <a:r>
              <a:rPr lang="en-US" altLang="zh-CN"/>
              <a:t>Conceptual Captions、MSCOCO </a:t>
            </a:r>
            <a:r>
              <a:rPr lang="zh-CN" altLang="en-US"/>
              <a:t>等），数据集规模仅有千万级别，标注成本高，限制模型规模扩张。</a:t>
            </a:r>
            <a:endParaRPr lang="zh-CN" altLang="en-US"/>
          </a:p>
          <a:p>
            <a:r>
              <a:rPr lang="en-US" altLang="zh-CN"/>
              <a:t>NLP </a:t>
            </a:r>
            <a:r>
              <a:rPr lang="zh-CN" altLang="en-US"/>
              <a:t>可以直接使用海量互联网原始文本预训练，但视觉 / 图文领域缺少大规模弱监督数据。</a:t>
            </a:r>
            <a:endParaRPr lang="zh-CN" altLang="en-US"/>
          </a:p>
          <a:p>
            <a:r>
              <a:rPr lang="zh-CN" altLang="en-US"/>
              <a:t>本文希望利用互联网原始图片 </a:t>
            </a:r>
            <a:r>
              <a:rPr lang="en-US" altLang="zh-CN"/>
              <a:t>alt‑text（</a:t>
            </a:r>
            <a:r>
              <a:rPr lang="zh-CN" altLang="en-US"/>
              <a:t>网页图片替代文本），牺牲部分数据质量换取超大的数据规模，探究大规模噪声图文数据能否训练出高性能图文表征。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数据集</a:t>
            </a:r>
            <a:r>
              <a:rPr lang="zh-CN" altLang="en-US"/>
              <a:t>构建：借鉴 </a:t>
            </a:r>
            <a:r>
              <a:rPr lang="en-US" altLang="zh-CN"/>
              <a:t>Conceptual Captions </a:t>
            </a:r>
            <a:r>
              <a:rPr lang="zh-CN" altLang="en-US"/>
              <a:t>的</a:t>
            </a:r>
            <a:r>
              <a:rPr lang="zh-CN" altLang="en-US"/>
              <a:t>的原始 </a:t>
            </a:r>
            <a:r>
              <a:rPr lang="en-US" altLang="zh-CN"/>
              <a:t>alt‑text </a:t>
            </a:r>
            <a:r>
              <a:rPr lang="zh-CN" altLang="en-US"/>
              <a:t>获取流程，但去掉复杂人工清洗过滤，仅做简单基于频次的过滤，得到18 亿条噪声图片‑文本对。</a:t>
            </a:r>
            <a:endParaRPr lang="zh-CN" altLang="en-US"/>
          </a:p>
          <a:p>
            <a:r>
              <a:rPr lang="zh-CN" altLang="en-US"/>
              <a:t>采用双编码器（</a:t>
            </a:r>
            <a:r>
              <a:rPr lang="en-US" altLang="zh-CN"/>
              <a:t>dual‑encoder）</a:t>
            </a:r>
            <a:r>
              <a:rPr lang="zh-CN" altLang="en-US"/>
              <a:t>架构，无跨模态注意力，推理速度快：</a:t>
            </a:r>
            <a:endParaRPr lang="zh-CN" altLang="en-US"/>
          </a:p>
          <a:p>
            <a:r>
              <a:rPr lang="zh-CN" altLang="en-US"/>
              <a:t>图像编码器：</a:t>
            </a:r>
            <a:r>
              <a:rPr lang="en-US" altLang="zh-CN"/>
              <a:t>EfficientNet（EfficientNet‑L2 </a:t>
            </a:r>
            <a:r>
              <a:rPr lang="zh-CN" altLang="en-US"/>
              <a:t>为主），全局池化输出图像特征。</a:t>
            </a:r>
            <a:endParaRPr lang="zh-CN" altLang="en-US"/>
          </a:p>
          <a:p>
            <a:r>
              <a:rPr lang="zh-CN" altLang="en-US"/>
              <a:t>文本编码器：</a:t>
            </a:r>
            <a:r>
              <a:rPr lang="en-US" altLang="zh-CN"/>
              <a:t>BERT‑Large，</a:t>
            </a:r>
            <a:r>
              <a:rPr lang="zh-CN" altLang="en-US"/>
              <a:t>取[</a:t>
            </a:r>
            <a:r>
              <a:rPr lang="en-US" altLang="zh-CN"/>
              <a:t>CLS]</a:t>
            </a:r>
            <a:r>
              <a:rPr lang="zh-CN" altLang="en-US"/>
              <a:t>向量作为文本表征，额外增加全连接层对齐图像、文本输出维度；二者均从头开始训练。</a:t>
            </a:r>
            <a:endParaRPr lang="zh-CN" altLang="en-US"/>
          </a:p>
          <a:p>
            <a:r>
              <a:rPr lang="zh-CN" altLang="en-US"/>
              <a:t>损失函数使用归一化 </a:t>
            </a:r>
            <a:r>
              <a:rPr lang="en-US" altLang="zh-CN"/>
              <a:t>softmax </a:t>
            </a:r>
            <a:r>
              <a:rPr lang="zh-CN" altLang="en-US"/>
              <a:t>对比损失，同时优化双向匹配目标：</a:t>
            </a:r>
            <a:endParaRPr lang="zh-CN" altLang="en-US"/>
          </a:p>
          <a:p>
            <a:r>
              <a:rPr lang="zh-CN" altLang="en-US"/>
              <a:t>4.1 图文跨模态检索（</a:t>
            </a:r>
            <a:r>
              <a:rPr lang="en-US" altLang="zh-CN"/>
              <a:t>Flickr30K、MSCOCO、CxC）</a:t>
            </a:r>
            <a:endParaRPr lang="en-US" altLang="zh-CN"/>
          </a:p>
          <a:p>
            <a:r>
              <a:rPr lang="zh-CN" altLang="en-US"/>
              <a:t>零样本：</a:t>
            </a:r>
            <a:r>
              <a:rPr lang="en-US" altLang="zh-CN"/>
              <a:t>ALIGN </a:t>
            </a:r>
            <a:r>
              <a:rPr lang="zh-CN" altLang="en-US"/>
              <a:t>超过 </a:t>
            </a:r>
            <a:r>
              <a:rPr lang="en-US" altLang="zh-CN"/>
              <a:t>CLIP，</a:t>
            </a:r>
            <a:r>
              <a:rPr lang="zh-CN" altLang="en-US"/>
              <a:t>在 </a:t>
            </a:r>
            <a:r>
              <a:rPr lang="en-US" altLang="zh-CN"/>
              <a:t>Flickr30K </a:t>
            </a:r>
            <a:r>
              <a:rPr lang="zh-CN" altLang="en-US"/>
              <a:t>图像检索 </a:t>
            </a:r>
            <a:r>
              <a:rPr lang="en-US" altLang="zh-CN"/>
              <a:t>R@1 </a:t>
            </a:r>
            <a:r>
              <a:rPr lang="zh-CN" altLang="en-US"/>
              <a:t>指标提升 7% 以上。</a:t>
            </a:r>
            <a:endParaRPr lang="zh-CN" altLang="en-US"/>
          </a:p>
          <a:p>
            <a:r>
              <a:rPr lang="zh-CN" altLang="en-US"/>
              <a:t>微调后：显著优于带跨模态注意力的复杂模型（</a:t>
            </a:r>
            <a:r>
              <a:rPr lang="en-US" altLang="zh-CN"/>
              <a:t>ImageBERT、UNITER、Oscar </a:t>
            </a:r>
            <a:r>
              <a:rPr lang="zh-CN" altLang="en-US"/>
              <a:t>等），取得 </a:t>
            </a:r>
            <a:r>
              <a:rPr lang="en-US" altLang="zh-CN"/>
              <a:t>SOTA。</a:t>
            </a:r>
            <a:endParaRPr lang="en-US" altLang="zh-CN"/>
          </a:p>
          <a:p>
            <a:r>
              <a:rPr lang="zh-CN" altLang="en-US"/>
              <a:t>在 </a:t>
            </a:r>
            <a:r>
              <a:rPr lang="en-US" altLang="zh-CN"/>
              <a:t>CxC </a:t>
            </a:r>
            <a:r>
              <a:rPr lang="zh-CN" altLang="en-US"/>
              <a:t>数据集：跨模态任务（图‑文、文‑图）提升巨大；但同模态检索（文‑文、图‑图）提升有限，原因是训练目标只聚焦图文配对，没有针对同模态匹配做优化。</a:t>
            </a:r>
            <a:endParaRPr lang="zh-CN" altLang="en-US"/>
          </a:p>
          <a:p>
            <a:r>
              <a:rPr lang="zh-CN" altLang="en-US"/>
              <a:t>4.2 零样本图像分类</a:t>
            </a:r>
            <a:endParaRPr lang="zh-CN" altLang="en-US"/>
          </a:p>
          <a:p>
            <a:r>
              <a:rPr lang="zh-CN" altLang="en-US"/>
              <a:t>将类别名称通过 </a:t>
            </a:r>
            <a:r>
              <a:rPr lang="en-US" altLang="zh-CN"/>
              <a:t>prompt </a:t>
            </a:r>
            <a:r>
              <a:rPr lang="zh-CN" altLang="en-US"/>
              <a:t>模板扩充后输入文本编码器，完成 </a:t>
            </a:r>
            <a:r>
              <a:rPr lang="en-US" altLang="zh-CN"/>
              <a:t>ImageNet </a:t>
            </a:r>
            <a:r>
              <a:rPr lang="zh-CN" altLang="en-US"/>
              <a:t>零样本分类：</a:t>
            </a:r>
            <a:endParaRPr lang="zh-CN" altLang="en-US"/>
          </a:p>
          <a:p>
            <a:r>
              <a:rPr lang="en-US" altLang="zh-CN"/>
              <a:t>ImageNet </a:t>
            </a:r>
            <a:r>
              <a:rPr lang="zh-CN" altLang="en-US"/>
              <a:t>零样本 </a:t>
            </a:r>
            <a:r>
              <a:rPr lang="en-US" altLang="zh-CN"/>
              <a:t>Top‑1：76.4%，</a:t>
            </a:r>
            <a:r>
              <a:rPr lang="zh-CN" altLang="en-US"/>
              <a:t>略高于 </a:t>
            </a:r>
            <a:r>
              <a:rPr lang="en-US" altLang="zh-CN"/>
              <a:t>CLIP </a:t>
            </a:r>
            <a:r>
              <a:rPr lang="zh-CN" altLang="en-US"/>
              <a:t>的 76.2%；</a:t>
            </a:r>
            <a:endParaRPr lang="zh-CN" altLang="en-US"/>
          </a:p>
          <a:p>
            <a:r>
              <a:rPr lang="zh-CN" altLang="en-US"/>
              <a:t>在分布偏移数据集 </a:t>
            </a:r>
            <a:r>
              <a:rPr lang="en-US" altLang="zh-CN"/>
              <a:t>ImageNet‑R </a:t>
            </a:r>
            <a:r>
              <a:rPr lang="zh-CN" altLang="en-US"/>
              <a:t>上达到 92.2%，鲁棒性优秀。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构建开源多模态大模型</a:t>
            </a:r>
            <a:r>
              <a:rPr lang="en-US" altLang="zh-CN"/>
              <a:t>LLaVA（Large Language and Vision Assistant），</a:t>
            </a:r>
            <a:r>
              <a:rPr lang="zh-CN" altLang="en-US"/>
              <a:t>把 </a:t>
            </a:r>
            <a:r>
              <a:rPr lang="en-US" altLang="zh-CN"/>
              <a:t>NLP </a:t>
            </a:r>
            <a:r>
              <a:rPr lang="zh-CN" altLang="en-US"/>
              <a:t>领域指令微调思想迁移到图文多模态领域，实现图像理解、多轮图文对话能力。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 LLaVA </a:t>
            </a:r>
            <a:r>
              <a:rPr lang="zh-CN" altLang="en-US"/>
              <a:t>模型架构</a:t>
            </a:r>
            <a:endParaRPr lang="zh-CN" altLang="en-US"/>
          </a:p>
          <a:p>
            <a:r>
              <a:rPr lang="zh-CN" altLang="en-US"/>
              <a:t>视觉编码器：冻结 </a:t>
            </a:r>
            <a:r>
              <a:rPr lang="en-US" altLang="zh-CN"/>
              <a:t>CLIP ViT‑L/14，</a:t>
            </a:r>
            <a:r>
              <a:rPr lang="zh-CN" altLang="en-US"/>
              <a:t>提取图像视觉特征；</a:t>
            </a:r>
            <a:endParaRPr lang="zh-CN" altLang="en-US"/>
          </a:p>
          <a:p>
            <a:r>
              <a:rPr lang="zh-CN" altLang="en-US"/>
              <a:t>投影层 </a:t>
            </a:r>
            <a:r>
              <a:rPr lang="en-US" altLang="zh-CN"/>
              <a:t>W：</a:t>
            </a:r>
            <a:r>
              <a:rPr lang="zh-CN" altLang="en-US"/>
              <a:t>可训练的简单线性层，把图像特征映射到 </a:t>
            </a:r>
            <a:r>
              <a:rPr lang="en-US" altLang="zh-CN"/>
              <a:t>LLM </a:t>
            </a:r>
            <a:r>
              <a:rPr lang="zh-CN" altLang="en-US"/>
              <a:t>词嵌入维度，得到一组视觉 </a:t>
            </a:r>
            <a:r>
              <a:rPr lang="en-US" altLang="zh-CN"/>
              <a:t>token；</a:t>
            </a:r>
            <a:endParaRPr lang="en-US" altLang="zh-CN"/>
          </a:p>
          <a:p>
            <a:r>
              <a:rPr lang="zh-CN" altLang="en-US"/>
              <a:t>语言解码器：</a:t>
            </a:r>
            <a:r>
              <a:rPr lang="en-US" altLang="zh-CN"/>
              <a:t>Vicuna（</a:t>
            </a:r>
            <a:r>
              <a:rPr lang="zh-CN" altLang="en-US"/>
              <a:t>基于 </a:t>
            </a:r>
            <a:r>
              <a:rPr lang="en-US" altLang="zh-CN"/>
              <a:t>LLaMA）；</a:t>
            </a:r>
            <a:endParaRPr lang="en-US" altLang="zh-CN"/>
          </a:p>
          <a:p>
            <a:r>
              <a:rPr lang="zh-CN" altLang="en-US"/>
              <a:t>输入序列格式：系统提示 + </a:t>
            </a:r>
            <a:r>
              <a:rPr lang="en-US" altLang="zh-CN"/>
              <a:t>Human（</a:t>
            </a:r>
            <a:r>
              <a:rPr lang="zh-CN" altLang="en-US"/>
              <a:t>图片 </a:t>
            </a:r>
            <a:r>
              <a:rPr lang="en-US" altLang="zh-CN"/>
              <a:t>token + </a:t>
            </a:r>
            <a:r>
              <a:rPr lang="zh-CN" altLang="en-US"/>
              <a:t>用户指令） + </a:t>
            </a:r>
            <a:r>
              <a:rPr lang="en-US" altLang="zh-CN"/>
              <a:t>Assistant（</a:t>
            </a:r>
            <a:r>
              <a:rPr lang="zh-CN" altLang="en-US"/>
              <a:t>回答）；仅对 </a:t>
            </a:r>
            <a:r>
              <a:rPr lang="en-US" altLang="zh-CN"/>
              <a:t>Assistant </a:t>
            </a:r>
            <a:r>
              <a:rPr lang="zh-CN" altLang="en-US"/>
              <a:t>部分计算自回归交叉熵损失。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spc="-10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  <a:sym typeface="Noto Sans SC" panose="020B0200000000000000" charset="-122"/>
              </a:rPr>
              <a:t>检索器负责从海量多模态库中快速召回候选集，重排序器通过深度语义模型优化结果顺序，精炼器则进一步提升答案的精准度与上下文契合度。</a:t>
            </a:r>
            <a:endParaRPr lang="zh-CN" altLang="en-US" b="0" i="0" u="none" strike="noStrike" spc="-10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  <a:sym typeface="Noto Sans SC" panose="020B0200000000000000" charset="-122"/>
            </a:endParaRPr>
          </a:p>
          <a:p>
            <a:r>
              <a:rPr lang="en-US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单流</a:t>
            </a:r>
            <a:r>
              <a:rPr lang="zh-CN" altLang="en-US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精度高，双流速度快</a:t>
            </a:r>
            <a:endParaRPr lang="zh-CN" altLang="en-US"/>
          </a:p>
          <a:p>
            <a:r>
              <a:rPr lang="en-US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而非依赖传统的“相似度匹配”。打破了模态间的硬性壁垒，能够处理更复杂、更开放的跨模态查询需求。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单流</a:t>
            </a:r>
            <a:r>
              <a:rPr lang="zh-CN" altLang="en-US"/>
              <a:t>检索：针对基于 </a:t>
            </a:r>
            <a:r>
              <a:rPr lang="en-US" altLang="zh-CN"/>
              <a:t>ViT </a:t>
            </a:r>
            <a:r>
              <a:rPr lang="zh-CN" altLang="en-US"/>
              <a:t>的细粒度跨模态对齐（图文检索）提出 </a:t>
            </a:r>
            <a:r>
              <a:rPr lang="en-US" altLang="zh-CN"/>
              <a:t>LAPS </a:t>
            </a:r>
            <a:r>
              <a:rPr lang="zh-CN" altLang="en-US"/>
              <a:t>框架。传统细粒度对齐依赖 </a:t>
            </a:r>
            <a:r>
              <a:rPr lang="en-US" altLang="zh-CN"/>
              <a:t>Faster‑RCNN </a:t>
            </a:r>
            <a:r>
              <a:rPr lang="zh-CN" altLang="en-US"/>
              <a:t>提取物体区域，计算开销大、存在检测器误差传递；直接用 </a:t>
            </a:r>
            <a:r>
              <a:rPr lang="en-US" altLang="zh-CN"/>
              <a:t>ViT </a:t>
            </a:r>
            <a:r>
              <a:rPr lang="zh-CN" altLang="en-US"/>
              <a:t>的 </a:t>
            </a:r>
            <a:r>
              <a:rPr lang="en-US" altLang="zh-CN"/>
              <a:t>patch </a:t>
            </a:r>
            <a:r>
              <a:rPr lang="zh-CN" altLang="en-US"/>
              <a:t>做细粒度对齐，会出现</a:t>
            </a:r>
            <a:r>
              <a:rPr lang="en-US" altLang="zh-CN"/>
              <a:t>patch </a:t>
            </a:r>
            <a:r>
              <a:rPr lang="zh-CN" altLang="en-US"/>
              <a:t>冗余与</a:t>
            </a:r>
            <a:r>
              <a:rPr lang="en-US" altLang="zh-CN"/>
              <a:t>patch </a:t>
            </a:r>
            <a:r>
              <a:rPr lang="zh-CN" altLang="en-US"/>
              <a:t>语义歧义两大问题，本文设计 </a:t>
            </a:r>
            <a:r>
              <a:rPr lang="en-US" altLang="zh-CN"/>
              <a:t>LAPS </a:t>
            </a:r>
            <a:r>
              <a:rPr lang="zh-CN" altLang="en-US"/>
              <a:t>来解决该问题，提升图文检索性能。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LAPS </a:t>
            </a:r>
            <a:r>
              <a:rPr lang="zh-CN" altLang="en-US"/>
              <a:t>由三个核心模块构成：</a:t>
            </a:r>
            <a:r>
              <a:rPr lang="en-US" altLang="zh-CN"/>
              <a:t>LPS </a:t>
            </a:r>
            <a:r>
              <a:rPr lang="zh-CN" altLang="en-US"/>
              <a:t>语言上下文 </a:t>
            </a:r>
            <a:r>
              <a:rPr lang="en-US" altLang="zh-CN"/>
              <a:t>Patch </a:t>
            </a:r>
            <a:r>
              <a:rPr lang="zh-CN" altLang="en-US"/>
              <a:t>选择、</a:t>
            </a:r>
            <a:r>
              <a:rPr lang="en-US" altLang="zh-CN"/>
              <a:t>SPC </a:t>
            </a:r>
            <a:r>
              <a:rPr lang="zh-CN" altLang="en-US"/>
              <a:t>语义‑空间 </a:t>
            </a:r>
            <a:r>
              <a:rPr lang="en-US" altLang="zh-CN"/>
              <a:t>Patch </a:t>
            </a:r>
            <a:r>
              <a:rPr lang="zh-CN" altLang="en-US"/>
              <a:t>校正、</a:t>
            </a:r>
            <a:r>
              <a:rPr lang="en-US" altLang="zh-CN"/>
              <a:t>SPA </a:t>
            </a:r>
            <a:r>
              <a:rPr lang="zh-CN" altLang="en-US"/>
              <a:t>稀疏 </a:t>
            </a:r>
            <a:r>
              <a:rPr lang="en-US" altLang="zh-CN"/>
              <a:t>Patch‑Word </a:t>
            </a:r>
            <a:r>
              <a:rPr lang="zh-CN" altLang="en-US"/>
              <a:t>对齐。</a:t>
            </a:r>
            <a:endParaRPr lang="zh-CN" altLang="en-US"/>
          </a:p>
          <a:p>
            <a:r>
              <a:rPr lang="zh-CN" altLang="en-US"/>
              <a:t>输入：图像‑文本对，</a:t>
            </a:r>
            <a:r>
              <a:rPr lang="en-US" altLang="zh-CN"/>
              <a:t>ViT </a:t>
            </a:r>
            <a:r>
              <a:rPr lang="zh-CN" altLang="en-US"/>
              <a:t>提取图像 </a:t>
            </a:r>
            <a:r>
              <a:rPr lang="en-US" altLang="zh-CN"/>
              <a:t>patch </a:t>
            </a:r>
            <a:r>
              <a:rPr lang="zh-CN" altLang="en-US"/>
              <a:t>特征，</a:t>
            </a:r>
            <a:r>
              <a:rPr lang="en-US" altLang="zh-CN"/>
              <a:t>BERT </a:t>
            </a:r>
            <a:r>
              <a:rPr lang="zh-CN" altLang="en-US"/>
              <a:t>提取文本 </a:t>
            </a:r>
            <a:r>
              <a:rPr lang="en-US" altLang="zh-CN"/>
              <a:t>word </a:t>
            </a:r>
            <a:r>
              <a:rPr lang="zh-CN" altLang="en-US"/>
              <a:t>特征。（1）</a:t>
            </a:r>
            <a:r>
              <a:rPr lang="en-US" altLang="zh-CN"/>
              <a:t>LPS：Language‑Context Patch Selection </a:t>
            </a:r>
            <a:r>
              <a:rPr lang="zh-CN" altLang="en-US"/>
              <a:t>语言上下文 </a:t>
            </a:r>
            <a:r>
              <a:rPr lang="en-US" altLang="zh-CN"/>
              <a:t>Patch </a:t>
            </a:r>
            <a:r>
              <a:rPr lang="zh-CN" altLang="en-US"/>
              <a:t>选择目标：结合语言监督，区分重要 </a:t>
            </a:r>
            <a:r>
              <a:rPr lang="en-US" altLang="zh-CN"/>
              <a:t>patch </a:t>
            </a:r>
            <a:r>
              <a:rPr lang="zh-CN" altLang="en-US"/>
              <a:t>和冗余 </a:t>
            </a:r>
            <a:r>
              <a:rPr lang="en-US" altLang="zh-CN"/>
              <a:t>patch，</a:t>
            </a:r>
            <a:r>
              <a:rPr lang="zh-CN" altLang="en-US"/>
              <a:t>同时保证可微分，支持端到端训练。</a:t>
            </a:r>
            <a:endParaRPr lang="zh-CN" altLang="en-US"/>
          </a:p>
          <a:p>
            <a:r>
              <a:rPr lang="zh-CN" altLang="en-US"/>
              <a:t>显著性分数估计：综合三类分数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MLP </a:t>
            </a:r>
            <a:r>
              <a:rPr lang="zh-CN" altLang="en-US"/>
              <a:t>预测的 </a:t>
            </a:r>
            <a:r>
              <a:rPr lang="en-US" altLang="zh-CN"/>
              <a:t>patch </a:t>
            </a:r>
            <a:r>
              <a:rPr lang="zh-CN" altLang="en-US"/>
              <a:t>本身显著性分数；</a:t>
            </a:r>
            <a:endParaRPr lang="zh-CN" altLang="en-US"/>
          </a:p>
          <a:p>
            <a:r>
              <a:rPr lang="zh-CN" altLang="en-US"/>
              <a:t>图像自注意力得到的图像显著分数；</a:t>
            </a:r>
            <a:endParaRPr lang="zh-CN" altLang="en-US"/>
          </a:p>
          <a:p>
            <a:r>
              <a:rPr lang="zh-CN" altLang="en-US"/>
              <a:t>图文交叉注意力得到文本上下文相关分数；</a:t>
            </a:r>
            <a:endParaRPr lang="zh-CN" altLang="en-US"/>
          </a:p>
          <a:p>
            <a:r>
              <a:rPr lang="zh-CN" altLang="en-US"/>
              <a:t>加权融合得到每个 </a:t>
            </a:r>
            <a:r>
              <a:rPr lang="en-US" altLang="zh-CN"/>
              <a:t>patch </a:t>
            </a:r>
            <a:r>
              <a:rPr lang="zh-CN" altLang="en-US"/>
              <a:t>最终显著性得分。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Gumbel‑Softmax </a:t>
            </a:r>
            <a:r>
              <a:rPr lang="zh-CN" altLang="en-US"/>
              <a:t>可微分采样：把显著性分数转为 0/1 二值决策矩阵；1 = 保留重要 </a:t>
            </a:r>
            <a:r>
              <a:rPr lang="en-US" altLang="zh-CN"/>
              <a:t>patch，0 = </a:t>
            </a:r>
            <a:r>
              <a:rPr lang="zh-CN" altLang="en-US"/>
              <a:t>冗余 </a:t>
            </a:r>
            <a:r>
              <a:rPr lang="en-US" altLang="zh-CN"/>
              <a:t>patch。</a:t>
            </a:r>
            <a:r>
              <a:rPr lang="zh-CN" altLang="en-US"/>
              <a:t>解决硬选择不可微分、无法回传梯度的问题。</a:t>
            </a:r>
            <a:endParaRPr lang="zh-CN" altLang="en-US"/>
          </a:p>
          <a:p>
            <a:r>
              <a:rPr lang="en-US" altLang="zh-CN"/>
              <a:t>（2）SPC：Semantic‑Spatial Patch Calibration </a:t>
            </a:r>
            <a:r>
              <a:rPr lang="zh-CN" altLang="en-US"/>
              <a:t>语义‑空间 </a:t>
            </a:r>
            <a:r>
              <a:rPr lang="en-US" altLang="zh-CN"/>
              <a:t>Patch </a:t>
            </a:r>
            <a:r>
              <a:rPr lang="zh-CN" altLang="en-US"/>
              <a:t>校正目标：对筛选后的重要 </a:t>
            </a:r>
            <a:r>
              <a:rPr lang="en-US" altLang="zh-CN"/>
              <a:t>patch </a:t>
            </a:r>
            <a:r>
              <a:rPr lang="zh-CN" altLang="en-US"/>
              <a:t>做聚合，修复碎片化 </a:t>
            </a:r>
            <a:r>
              <a:rPr lang="en-US" altLang="zh-CN"/>
              <a:t>patch </a:t>
            </a:r>
            <a:r>
              <a:rPr lang="zh-CN" altLang="en-US"/>
              <a:t>带来的语义歧义；同时不直接丢弃冗余 </a:t>
            </a:r>
            <a:r>
              <a:rPr lang="en-US" altLang="zh-CN"/>
              <a:t>patch。</a:t>
            </a:r>
            <a:endParaRPr lang="en-US" altLang="zh-CN"/>
          </a:p>
          <a:p>
            <a:r>
              <a:rPr lang="zh-CN" altLang="en-US"/>
              <a:t>使用可学习聚合网络，把大量重要 </a:t>
            </a:r>
            <a:r>
              <a:rPr lang="en-US" altLang="zh-CN"/>
              <a:t>patch </a:t>
            </a:r>
            <a:r>
              <a:rPr lang="zh-CN" altLang="en-US"/>
              <a:t>自适应聚合为数量更少、语义更完整的 </a:t>
            </a:r>
            <a:r>
              <a:rPr lang="en-US" altLang="zh-CN"/>
              <a:t>patch；</a:t>
            </a:r>
            <a:endParaRPr lang="en-US" altLang="zh-CN"/>
          </a:p>
          <a:p>
            <a:r>
              <a:rPr lang="zh-CN" altLang="en-US"/>
              <a:t>冗余 </a:t>
            </a:r>
            <a:r>
              <a:rPr lang="en-US" altLang="zh-CN"/>
              <a:t>patch </a:t>
            </a:r>
            <a:r>
              <a:rPr lang="zh-CN" altLang="en-US"/>
              <a:t>不直接丢弃：按显著性加权融合成一个全局冗余表征；</a:t>
            </a:r>
            <a:endParaRPr lang="zh-CN" altLang="en-US"/>
          </a:p>
          <a:p>
            <a:r>
              <a:rPr lang="zh-CN" altLang="en-US"/>
              <a:t>输出 “精简之后” 的 </a:t>
            </a:r>
            <a:r>
              <a:rPr lang="en-US" altLang="zh-CN"/>
              <a:t>patch </a:t>
            </a:r>
            <a:r>
              <a:rPr lang="zh-CN" altLang="en-US"/>
              <a:t>序列，包含 </a:t>
            </a:r>
            <a:r>
              <a:rPr lang="en-US" altLang="zh-CN"/>
              <a:t>CLS token、</a:t>
            </a:r>
            <a:r>
              <a:rPr lang="zh-CN" altLang="en-US"/>
              <a:t>聚合得到的有效 </a:t>
            </a:r>
            <a:r>
              <a:rPr lang="en-US" altLang="zh-CN"/>
              <a:t>patch、</a:t>
            </a:r>
            <a:r>
              <a:rPr lang="zh-CN" altLang="en-US"/>
              <a:t>冗余融合 </a:t>
            </a:r>
            <a:r>
              <a:rPr lang="en-US" altLang="zh-CN"/>
              <a:t>patch。</a:t>
            </a:r>
            <a:endParaRPr lang="en-US" altLang="zh-CN"/>
          </a:p>
          <a:p>
            <a:r>
              <a:rPr lang="en-US" altLang="zh-CN"/>
              <a:t>（3）SPA：Sparse Patch‑Word Alignment </a:t>
            </a:r>
            <a:r>
              <a:rPr lang="zh-CN" altLang="en-US"/>
              <a:t>稀疏 </a:t>
            </a:r>
            <a:r>
              <a:rPr lang="en-US" altLang="zh-CN"/>
              <a:t>Patch‑Word </a:t>
            </a:r>
            <a:r>
              <a:rPr lang="zh-CN" altLang="en-US"/>
              <a:t>对齐利用精简后的视觉 </a:t>
            </a:r>
            <a:r>
              <a:rPr lang="en-US" altLang="zh-CN"/>
              <a:t>patch </a:t>
            </a:r>
            <a:r>
              <a:rPr lang="zh-CN" altLang="en-US"/>
              <a:t>与文本单词计算细粒度对齐：</a:t>
            </a:r>
            <a:endParaRPr lang="zh-CN" altLang="en-US"/>
          </a:p>
          <a:p>
            <a:r>
              <a:rPr lang="zh-CN" altLang="en-US"/>
              <a:t>计算 </a:t>
            </a:r>
            <a:r>
              <a:rPr lang="en-US" altLang="zh-CN"/>
              <a:t>patch‑word </a:t>
            </a:r>
            <a:r>
              <a:rPr lang="zh-CN" altLang="en-US"/>
              <a:t>相似度矩阵；</a:t>
            </a:r>
            <a:endParaRPr lang="zh-CN" altLang="en-US"/>
          </a:p>
          <a:p>
            <a:r>
              <a:rPr lang="zh-CN" altLang="en-US"/>
              <a:t>双向最大匹配：</a:t>
            </a:r>
            <a:r>
              <a:rPr lang="en-US" altLang="zh-CN"/>
              <a:t>patch </a:t>
            </a:r>
            <a:r>
              <a:rPr lang="zh-CN" altLang="en-US"/>
              <a:t>找最匹配单词、单词找最匹配 </a:t>
            </a:r>
            <a:r>
              <a:rPr lang="en-US" altLang="zh-CN"/>
              <a:t>patch，</a:t>
            </a:r>
            <a:r>
              <a:rPr lang="zh-CN" altLang="en-US"/>
              <a:t>取平均得到整张图文对的相似度\(</a:t>
            </a:r>
            <a:r>
              <a:rPr lang="en-US" altLang="zh-CN"/>
              <a:t>S(I,T)\)；</a:t>
            </a:r>
            <a:endParaRPr lang="en-US" altLang="zh-CN"/>
          </a:p>
          <a:p>
            <a:r>
              <a:rPr lang="zh-CN" altLang="en-US"/>
              <a:t>损失函数：带难例挖掘的双向三元组损失，同时增加 </a:t>
            </a:r>
            <a:r>
              <a:rPr lang="en-US" altLang="zh-CN"/>
              <a:t>patch </a:t>
            </a:r>
            <a:r>
              <a:rPr lang="zh-CN" altLang="en-US"/>
              <a:t>选择比例约束损失，控制保留 </a:t>
            </a:r>
            <a:r>
              <a:rPr lang="en-US" altLang="zh-CN"/>
              <a:t>patch </a:t>
            </a:r>
            <a:r>
              <a:rPr lang="zh-CN" altLang="en-US"/>
              <a:t>的比例，稳定训练。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推理阶段：不再用 </a:t>
            </a:r>
            <a:r>
              <a:rPr lang="en-US" altLang="zh-CN"/>
              <a:t>Gumbel‑Softmax，</a:t>
            </a:r>
            <a:r>
              <a:rPr lang="zh-CN" altLang="en-US"/>
              <a:t>直接根据显著性分数选取 </a:t>
            </a:r>
            <a:r>
              <a:rPr lang="en-US" altLang="zh-CN"/>
              <a:t>top‑K patch，</a:t>
            </a:r>
            <a:r>
              <a:rPr lang="zh-CN" altLang="en-US"/>
              <a:t>减少计算量。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3. 核心贡献</a:t>
            </a:r>
            <a:endParaRPr lang="zh-CN" altLang="en-US"/>
          </a:p>
          <a:p>
            <a:r>
              <a:rPr lang="zh-CN" altLang="en-US"/>
              <a:t>提出</a:t>
            </a:r>
            <a:r>
              <a:rPr lang="en-US" altLang="zh-CN"/>
              <a:t>LAPS </a:t>
            </a:r>
            <a:r>
              <a:rPr lang="zh-CN" altLang="en-US"/>
              <a:t>语言感知 </a:t>
            </a:r>
            <a:r>
              <a:rPr lang="en-US" altLang="zh-CN"/>
              <a:t>patch </a:t>
            </a:r>
            <a:r>
              <a:rPr lang="zh-CN" altLang="en-US"/>
              <a:t>精简框架，专门解决 </a:t>
            </a:r>
            <a:r>
              <a:rPr lang="en-US" altLang="zh-CN"/>
              <a:t>ViT </a:t>
            </a:r>
            <a:r>
              <a:rPr lang="zh-CN" altLang="en-US"/>
              <a:t>做细粒度图文对齐时的 </a:t>
            </a:r>
            <a:r>
              <a:rPr lang="en-US" altLang="zh-CN"/>
              <a:t>patch </a:t>
            </a:r>
            <a:r>
              <a:rPr lang="zh-CN" altLang="en-US"/>
              <a:t>冗余、语义歧义问题；</a:t>
            </a:r>
            <a:endParaRPr lang="zh-CN" altLang="en-US"/>
          </a:p>
          <a:p>
            <a:r>
              <a:rPr lang="en-US" altLang="zh-CN"/>
              <a:t>LPS </a:t>
            </a:r>
            <a:r>
              <a:rPr lang="zh-CN" altLang="en-US"/>
              <a:t>模块：引入文本上下文监督做可微分 </a:t>
            </a:r>
            <a:r>
              <a:rPr lang="en-US" altLang="zh-CN"/>
              <a:t>patch </a:t>
            </a:r>
            <a:r>
              <a:rPr lang="zh-CN" altLang="en-US"/>
              <a:t>筛选，区别于单模态 </a:t>
            </a:r>
            <a:r>
              <a:rPr lang="en-US" altLang="zh-CN"/>
              <a:t>ViT </a:t>
            </a:r>
            <a:r>
              <a:rPr lang="zh-CN" altLang="en-US"/>
              <a:t>的 </a:t>
            </a:r>
            <a:r>
              <a:rPr lang="en-US" altLang="zh-CN"/>
              <a:t>token </a:t>
            </a:r>
            <a:r>
              <a:rPr lang="zh-CN" altLang="en-US"/>
              <a:t>剪枝；</a:t>
            </a:r>
            <a:endParaRPr lang="zh-CN" altLang="en-US"/>
          </a:p>
          <a:p>
            <a:r>
              <a:rPr lang="en-US" altLang="zh-CN"/>
              <a:t>SPC </a:t>
            </a:r>
            <a:r>
              <a:rPr lang="zh-CN" altLang="en-US"/>
              <a:t>模块：自适应聚合 </a:t>
            </a:r>
            <a:r>
              <a:rPr lang="en-US" altLang="zh-CN"/>
              <a:t>patch，</a:t>
            </a:r>
            <a:r>
              <a:rPr lang="zh-CN" altLang="en-US"/>
              <a:t>把碎片化小 </a:t>
            </a:r>
            <a:r>
              <a:rPr lang="en-US" altLang="zh-CN"/>
              <a:t>patch </a:t>
            </a:r>
            <a:r>
              <a:rPr lang="zh-CN" altLang="en-US"/>
              <a:t>合并成语义完整的视觉单元，缓解语义歧义；</a:t>
            </a:r>
            <a:endParaRPr lang="zh-CN" altLang="en-US"/>
          </a:p>
          <a:p>
            <a:r>
              <a:rPr lang="zh-CN" altLang="en-US"/>
              <a:t>在 </a:t>
            </a:r>
            <a:r>
              <a:rPr lang="en-US" altLang="zh-CN"/>
              <a:t>Flickr30K、MS‑COCO </a:t>
            </a:r>
            <a:r>
              <a:rPr lang="zh-CN" altLang="en-US"/>
              <a:t>图文检索数据集，多种骨干（</a:t>
            </a:r>
            <a:r>
              <a:rPr lang="en-US" altLang="zh-CN"/>
              <a:t>ViT、Swin、CLIP）</a:t>
            </a:r>
            <a:r>
              <a:rPr lang="zh-CN" altLang="en-US"/>
              <a:t>上 </a:t>
            </a:r>
            <a:r>
              <a:rPr lang="en-US" altLang="zh-CN"/>
              <a:t>rSum </a:t>
            </a:r>
            <a:r>
              <a:rPr lang="zh-CN" altLang="en-US"/>
              <a:t>指标相比 </a:t>
            </a:r>
            <a:r>
              <a:rPr lang="en-US" altLang="zh-CN"/>
              <a:t>SOTA </a:t>
            </a:r>
            <a:r>
              <a:rPr lang="zh-CN" altLang="en-US"/>
              <a:t>提升 5%‑15%；拓展到视觉定位任务同样取得提升；代码开源。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双流检索：针对图文检索（</a:t>
            </a:r>
            <a:r>
              <a:rPr lang="en-US" altLang="zh-CN"/>
              <a:t>Image‑Text Retrieval）</a:t>
            </a:r>
            <a:r>
              <a:rPr lang="zh-CN" altLang="en-US"/>
              <a:t>任务，提出 </a:t>
            </a:r>
            <a:r>
              <a:rPr lang="en-US" altLang="zh-CN"/>
              <a:t>USER（Unified Semantic Enhancement Momentum Contrastive Learning）</a:t>
            </a:r>
            <a:r>
              <a:rPr lang="zh-CN" altLang="en-US"/>
              <a:t>统一语义增强动量对比学习框架。现有图文检索存在两大痛点：①直接使用 </a:t>
            </a:r>
            <a:r>
              <a:rPr lang="en-US" altLang="zh-CN"/>
              <a:t>Faster‑RCNN </a:t>
            </a:r>
            <a:r>
              <a:rPr lang="zh-CN" altLang="en-US"/>
              <a:t>提取的区域特征时，各区域被同等对待，缺少全局语义引导，表征质量差；②普通端到端训练仅依靠单 </a:t>
            </a:r>
            <a:r>
              <a:rPr lang="en-US" altLang="zh-CN"/>
              <a:t>batch </a:t>
            </a:r>
            <a:r>
              <a:rPr lang="zh-CN" altLang="en-US"/>
              <a:t>内样本，负样本规模受限。本文属于全局匹配型图文检索方法，不做 </a:t>
            </a:r>
            <a:r>
              <a:rPr lang="en-US" altLang="zh-CN"/>
              <a:t>region‑word </a:t>
            </a:r>
            <a:r>
              <a:rPr lang="zh-CN" altLang="en-US"/>
              <a:t>细粒度交叉注意力匹配，把局部特征聚合为全局向量做相似度计算，兼顾检索精度与推理速度。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图文检索分为两类路线：</a:t>
            </a:r>
            <a:endParaRPr lang="zh-CN" altLang="en-US"/>
          </a:p>
          <a:p>
            <a:r>
              <a:rPr lang="zh-CN" altLang="en-US"/>
              <a:t>细粒度局部匹配（</a:t>
            </a:r>
            <a:r>
              <a:rPr lang="en-US" altLang="zh-CN"/>
              <a:t>SCAN、NAAF）：</a:t>
            </a:r>
            <a:r>
              <a:rPr lang="zh-CN" altLang="en-US"/>
              <a:t>图像 </a:t>
            </a:r>
            <a:r>
              <a:rPr lang="en-US" altLang="zh-CN"/>
              <a:t>region </a:t>
            </a:r>
            <a:r>
              <a:rPr lang="zh-CN" altLang="en-US"/>
              <a:t>与文本 </a:t>
            </a:r>
            <a:r>
              <a:rPr lang="en-US" altLang="zh-CN"/>
              <a:t>word </a:t>
            </a:r>
            <a:r>
              <a:rPr lang="zh-CN" altLang="en-US"/>
              <a:t>做交叉注意力对齐，精度高，但推理时要计算大量两两交互，速度极慢，数据库大的时候很难落地。</a:t>
            </a:r>
            <a:endParaRPr lang="zh-CN" altLang="en-US"/>
          </a:p>
          <a:p>
            <a:r>
              <a:rPr lang="zh-CN" altLang="en-US"/>
              <a:t>全局匹配：图像、文本输出整体 </a:t>
            </a:r>
            <a:r>
              <a:rPr lang="en-US" altLang="zh-CN"/>
              <a:t>embedding，</a:t>
            </a:r>
            <a:r>
              <a:rPr lang="zh-CN" altLang="en-US"/>
              <a:t>直接计算余弦相似度，推理快，但表征能力偏弱。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整体架构</a:t>
            </a:r>
            <a:endParaRPr lang="zh-CN" altLang="en-US"/>
          </a:p>
          <a:p>
            <a:r>
              <a:rPr lang="zh-CN" altLang="en-US"/>
              <a:t>查询编码器（</a:t>
            </a:r>
            <a:r>
              <a:rPr lang="en-US" altLang="zh-CN"/>
              <a:t>Query Encoder）：</a:t>
            </a:r>
            <a:r>
              <a:rPr lang="zh-CN" altLang="en-US"/>
              <a:t>梯度反向传播更新参数，分为图像查询编码器、文本查询编码器。</a:t>
            </a:r>
            <a:endParaRPr lang="zh-CN" altLang="en-US"/>
          </a:p>
          <a:p>
            <a:r>
              <a:rPr lang="zh-CN" altLang="en-US"/>
              <a:t>键编码器（</a:t>
            </a:r>
            <a:r>
              <a:rPr lang="en-US" altLang="zh-CN"/>
              <a:t>Key Encoder）：</a:t>
            </a:r>
            <a:r>
              <a:rPr lang="zh-CN" altLang="en-US"/>
              <a:t>动量更新，不回传梯度，图像键编码器、文本键编码器。</a:t>
            </a:r>
            <a:endParaRPr lang="zh-CN" altLang="en-US"/>
          </a:p>
          <a:p>
            <a:r>
              <a:rPr lang="zh-CN" altLang="en-US"/>
              <a:t>两个动态队列：动态视觉队列 </a:t>
            </a:r>
            <a:r>
              <a:rPr lang="en-US" altLang="zh-CN"/>
              <a:t>DVQ、</a:t>
            </a:r>
            <a:r>
              <a:rPr lang="zh-CN" altLang="en-US"/>
              <a:t>动态文本队列 </a:t>
            </a:r>
            <a:r>
              <a:rPr lang="en-US" altLang="zh-CN"/>
              <a:t>DTQ，</a:t>
            </a:r>
            <a:r>
              <a:rPr lang="zh-CN" altLang="en-US"/>
              <a:t>保存 </a:t>
            </a:r>
            <a:r>
              <a:rPr lang="en-US" altLang="zh-CN"/>
              <a:t>key </a:t>
            </a:r>
            <a:r>
              <a:rPr lang="zh-CN" altLang="en-US"/>
              <a:t>编码器输出的历史 </a:t>
            </a:r>
            <a:r>
              <a:rPr lang="en-US" altLang="zh-CN"/>
              <a:t>batch </a:t>
            </a:r>
            <a:r>
              <a:rPr lang="zh-CN" altLang="en-US"/>
              <a:t>特征，提供大量负样本。</a:t>
            </a:r>
            <a:endParaRPr lang="zh-CN" altLang="en-US"/>
          </a:p>
          <a:p>
            <a:r>
              <a:rPr lang="zh-CN" altLang="en-US"/>
              <a:t>推理阶段只使用查询编码器，键编码器与队列仅训练时使用。</a:t>
            </a:r>
            <a:endParaRPr lang="zh-CN" altLang="en-US"/>
          </a:p>
          <a:p>
            <a:r>
              <a:rPr lang="zh-CN" altLang="en-US"/>
              <a:t>2.1 图像编码器</a:t>
            </a:r>
            <a:endParaRPr lang="zh-CN" altLang="en-US"/>
          </a:p>
          <a:p>
            <a:r>
              <a:rPr lang="zh-CN" altLang="en-US"/>
              <a:t>三步：特征提取 → </a:t>
            </a:r>
            <a:r>
              <a:rPr lang="en-US" altLang="zh-CN"/>
              <a:t>GSE </a:t>
            </a:r>
            <a:r>
              <a:rPr lang="zh-CN" altLang="en-US"/>
              <a:t>全局语义增强 → 特征聚合</a:t>
            </a:r>
            <a:endParaRPr lang="zh-CN" altLang="en-US"/>
          </a:p>
          <a:p>
            <a:r>
              <a:rPr lang="zh-CN" altLang="en-US"/>
              <a:t>特征提取：</a:t>
            </a:r>
            <a:r>
              <a:rPr lang="en-US" altLang="zh-CN"/>
              <a:t>Faster‑RCNN（Bottom‑up attention）</a:t>
            </a:r>
            <a:r>
              <a:rPr lang="zh-CN" altLang="en-US"/>
              <a:t>提取 36 个图像区域特征。</a:t>
            </a:r>
            <a:endParaRPr lang="zh-CN" altLang="en-US"/>
          </a:p>
          <a:p>
            <a:r>
              <a:rPr lang="en-US" altLang="zh-CN"/>
              <a:t>GSE </a:t>
            </a:r>
            <a:r>
              <a:rPr lang="zh-CN" altLang="en-US"/>
              <a:t>全局语义增强模块（二选一，不一起使用）</a:t>
            </a:r>
            <a:endParaRPr lang="zh-CN" altLang="en-US"/>
          </a:p>
          <a:p>
            <a:r>
              <a:rPr lang="en-US" altLang="zh-CN"/>
              <a:t>SGE </a:t>
            </a:r>
            <a:r>
              <a:rPr lang="zh-CN" altLang="en-US"/>
              <a:t>自引导增强 </a:t>
            </a:r>
            <a:r>
              <a:rPr lang="en-US" altLang="zh-CN"/>
              <a:t>Self‑Guided Enhancement：</a:t>
            </a:r>
            <a:r>
              <a:rPr lang="zh-CN" altLang="en-US"/>
              <a:t>不依赖外部预训练模型。利用区域特征求初始全局表示，通过自注意力计算每个区域与全局语义的关联权重；用全局表示去修正每一个 </a:t>
            </a:r>
            <a:r>
              <a:rPr lang="en-US" altLang="zh-CN"/>
              <a:t>region </a:t>
            </a:r>
            <a:r>
              <a:rPr lang="zh-CN" altLang="en-US"/>
              <a:t>特征，让区域特征融合全局语义信息。</a:t>
            </a:r>
            <a:endParaRPr lang="zh-CN" altLang="en-US"/>
          </a:p>
          <a:p>
            <a:r>
              <a:rPr lang="en-US" altLang="zh-CN"/>
              <a:t>CGE CLIP </a:t>
            </a:r>
            <a:r>
              <a:rPr lang="zh-CN" altLang="en-US"/>
              <a:t>引导增强 </a:t>
            </a:r>
            <a:r>
              <a:rPr lang="en-US" altLang="zh-CN"/>
              <a:t>CLIP‑Guided Enhancement：</a:t>
            </a:r>
            <a:r>
              <a:rPr lang="zh-CN" altLang="en-US"/>
              <a:t>借用 </a:t>
            </a:r>
            <a:r>
              <a:rPr lang="en-US" altLang="zh-CN"/>
              <a:t>CLIP </a:t>
            </a:r>
            <a:r>
              <a:rPr lang="zh-CN" altLang="en-US"/>
              <a:t>图像编码器得到全局语义向量，经过映射层转换维度，再用该全局向量增强各个区域特征。</a:t>
            </a:r>
            <a:r>
              <a:rPr lang="en-US" altLang="zh-CN"/>
              <a:t>CLIP </a:t>
            </a:r>
            <a:r>
              <a:rPr lang="zh-CN" altLang="en-US"/>
              <a:t>权重冻结，只训练映射层。</a:t>
            </a:r>
            <a:endParaRPr lang="zh-CN" altLang="en-US"/>
          </a:p>
          <a:p>
            <a:r>
              <a:rPr lang="zh-CN" altLang="en-US"/>
              <a:t>特征聚合：把增强后的多个区域特征，经过位置编码 + </a:t>
            </a:r>
            <a:r>
              <a:rPr lang="en-US" altLang="zh-CN"/>
              <a:t>BiGRU </a:t>
            </a:r>
            <a:r>
              <a:rPr lang="zh-CN" altLang="en-US"/>
              <a:t>解码器学习聚合权重，加权求和得到单张图像全局 </a:t>
            </a:r>
            <a:r>
              <a:rPr lang="en-US" altLang="zh-CN"/>
              <a:t>embedding。</a:t>
            </a:r>
            <a:endParaRPr lang="en-US" altLang="zh-CN"/>
          </a:p>
          <a:p>
            <a:r>
              <a:rPr lang="zh-CN" altLang="en-US"/>
              <a:t>2.2 文本编码器</a:t>
            </a:r>
            <a:endParaRPr lang="zh-CN" altLang="en-US"/>
          </a:p>
          <a:p>
            <a:r>
              <a:rPr lang="en-US" altLang="zh-CN"/>
              <a:t>BERT </a:t>
            </a:r>
            <a:r>
              <a:rPr lang="zh-CN" altLang="en-US"/>
              <a:t>提取词级特征，采用和图像端完全一样的聚合策略，得到句子全局文本 </a:t>
            </a:r>
            <a:r>
              <a:rPr lang="en-US" altLang="zh-CN"/>
              <a:t>embedding；</a:t>
            </a:r>
            <a:r>
              <a:rPr lang="zh-CN" altLang="en-US"/>
              <a:t>文本端不做语义增强，文本 </a:t>
            </a:r>
            <a:r>
              <a:rPr lang="en-US" altLang="zh-CN"/>
              <a:t>token </a:t>
            </a:r>
            <a:r>
              <a:rPr lang="zh-CN" altLang="en-US"/>
              <a:t>本身语义信息充足。</a:t>
            </a:r>
            <a:endParaRPr lang="zh-CN" altLang="en-US"/>
          </a:p>
          <a:p>
            <a:r>
              <a:rPr lang="zh-CN" altLang="en-US"/>
              <a:t>2.3 动量跨模态对比学习</a:t>
            </a:r>
            <a:endParaRPr lang="zh-CN" altLang="en-US"/>
          </a:p>
          <a:p>
            <a:r>
              <a:rPr lang="zh-CN" altLang="en-US"/>
              <a:t>键编码器采用动量更新，维持队列内特征的一致性。</a:t>
            </a:r>
            <a:endParaRPr lang="zh-CN" altLang="en-US"/>
          </a:p>
          <a:p>
            <a:r>
              <a:rPr lang="zh-CN" altLang="en-US"/>
              <a:t>每一轮训练，把当前 </a:t>
            </a:r>
            <a:r>
              <a:rPr lang="en-US" altLang="zh-CN"/>
              <a:t>batch </a:t>
            </a:r>
            <a:r>
              <a:rPr lang="zh-CN" altLang="en-US"/>
              <a:t>经过 </a:t>
            </a:r>
            <a:r>
              <a:rPr lang="en-US" altLang="zh-CN"/>
              <a:t>key encoder </a:t>
            </a:r>
            <a:r>
              <a:rPr lang="zh-CN" altLang="en-US"/>
              <a:t>得到的特征入队，队列满则弹出最早的 </a:t>
            </a:r>
            <a:r>
              <a:rPr lang="en-US" altLang="zh-CN"/>
              <a:t>batch </a:t>
            </a:r>
            <a:r>
              <a:rPr lang="zh-CN" altLang="en-US"/>
              <a:t>样本，动态维护大规模负样本库。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4. 核心贡献</a:t>
            </a:r>
            <a:endParaRPr lang="zh-CN" altLang="en-US"/>
          </a:p>
          <a:p>
            <a:r>
              <a:rPr lang="zh-CN" altLang="en-US"/>
              <a:t>提出</a:t>
            </a:r>
            <a:r>
              <a:rPr lang="en-US" altLang="zh-CN"/>
              <a:t>GSE </a:t>
            </a:r>
            <a:r>
              <a:rPr lang="zh-CN" altLang="en-US"/>
              <a:t>全局语义增强模块，提供 </a:t>
            </a:r>
            <a:r>
              <a:rPr lang="en-US" altLang="zh-CN"/>
              <a:t>SGE（</a:t>
            </a:r>
            <a:r>
              <a:rPr lang="zh-CN" altLang="en-US"/>
              <a:t>自注意力，无外部模型）、</a:t>
            </a:r>
            <a:r>
              <a:rPr lang="en-US" altLang="zh-CN"/>
              <a:t>CGE（</a:t>
            </a:r>
            <a:r>
              <a:rPr lang="zh-CN" altLang="en-US"/>
              <a:t>迁移 </a:t>
            </a:r>
            <a:r>
              <a:rPr lang="en-US" altLang="zh-CN"/>
              <a:t>CLIP </a:t>
            </a:r>
            <a:r>
              <a:rPr lang="zh-CN" altLang="en-US"/>
              <a:t>知识）两种方案，修正图像区域特征，弥补检测器带来的表征缺陷。</a:t>
            </a:r>
            <a:endParaRPr lang="zh-CN" altLang="en-US"/>
          </a:p>
          <a:p>
            <a:r>
              <a:rPr lang="zh-CN" altLang="en-US"/>
              <a:t>将 </a:t>
            </a:r>
            <a:r>
              <a:rPr lang="en-US" altLang="zh-CN"/>
              <a:t>MoCo </a:t>
            </a:r>
            <a:r>
              <a:rPr lang="zh-CN" altLang="en-US"/>
              <a:t>动量对比引入图文检索，设计图像、文本双动态队列，极大扩充负样本规模。</a:t>
            </a:r>
            <a:endParaRPr lang="zh-CN" altLang="en-US"/>
          </a:p>
          <a:p>
            <a:r>
              <a:rPr lang="zh-CN" altLang="en-US"/>
              <a:t>提出 </a:t>
            </a:r>
            <a:r>
              <a:rPr lang="en-US" altLang="zh-CN"/>
              <a:t>UTO </a:t>
            </a:r>
            <a:r>
              <a:rPr lang="zh-CN" altLang="en-US"/>
              <a:t>统一训练目标，同时利用 </a:t>
            </a:r>
            <a:r>
              <a:rPr lang="en-US" altLang="zh-CN"/>
              <a:t>batch </a:t>
            </a:r>
            <a:r>
              <a:rPr lang="zh-CN" altLang="en-US"/>
              <a:t>内与队列样本，缓解高维嵌入 </a:t>
            </a:r>
            <a:r>
              <a:rPr lang="en-US" altLang="zh-CN"/>
              <a:t>hubness </a:t>
            </a:r>
            <a:r>
              <a:rPr lang="zh-CN" altLang="en-US"/>
              <a:t>问题。</a:t>
            </a:r>
            <a:endParaRPr lang="zh-CN" altLang="en-US"/>
          </a:p>
          <a:p>
            <a:r>
              <a:rPr lang="zh-CN" altLang="en-US"/>
              <a:t>全局匹配范式，同时实现高精度与极高推理速度，在大规模图库场景具备实用价值，代码开源。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生成式</a:t>
            </a:r>
            <a:r>
              <a:rPr lang="zh-CN" altLang="en-US"/>
              <a:t>检索：面向多模态知识检索任务（输入 = 图像 + 文本的混合查询，从大规模知识库检索外部知识文档，多用于 </a:t>
            </a:r>
            <a:r>
              <a:rPr lang="en-US" altLang="zh-CN"/>
              <a:t>VQA </a:t>
            </a:r>
            <a:r>
              <a:rPr lang="zh-CN" altLang="en-US"/>
              <a:t>等知识密集多模态任务），提出</a:t>
            </a:r>
            <a:r>
              <a:rPr lang="en-US" altLang="zh-CN"/>
              <a:t>GeMKR </a:t>
            </a:r>
            <a:r>
              <a:rPr lang="zh-CN" altLang="en-US"/>
              <a:t>生成式多模态知识检索框架。现有方案多是组装多个独立检索器（文本检索、图‑文检索、实体检索），流水线复杂、跨模态交互建模弱，训练成本高；传统生成式检索使用固定文档 </a:t>
            </a:r>
            <a:r>
              <a:rPr lang="en-US" altLang="zh-CN"/>
              <a:t>ID / </a:t>
            </a:r>
            <a:r>
              <a:rPr lang="zh-CN" altLang="en-US"/>
              <a:t>标题作为标识符，不适合多模态输入（图文关注文档不同侧面）。</a:t>
            </a:r>
            <a:r>
              <a:rPr lang="en-US" altLang="zh-CN"/>
              <a:t>GeMKR </a:t>
            </a:r>
            <a:r>
              <a:rPr lang="zh-CN" altLang="en-US"/>
              <a:t>采用生成知识线索（</a:t>
            </a:r>
            <a:r>
              <a:rPr lang="en-US" altLang="zh-CN"/>
              <a:t>knowledge clue）+FM‑Index </a:t>
            </a:r>
            <a:r>
              <a:rPr lang="zh-CN" altLang="en-US"/>
              <a:t>数据库查找两阶段范式，把多模态查询交给大模型，生成动态文本片段作为检索标识，再利用 </a:t>
            </a:r>
            <a:r>
              <a:rPr lang="en-US" altLang="zh-CN"/>
              <a:t>FM‑Index </a:t>
            </a:r>
            <a:r>
              <a:rPr lang="zh-CN" altLang="en-US"/>
              <a:t>从知识库定位文档。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多模态知识检索：输入图文联合查询，检索知识库外部知识证据，支撑 </a:t>
            </a:r>
            <a:r>
              <a:rPr lang="en-US" altLang="zh-CN"/>
              <a:t>VQA、</a:t>
            </a:r>
            <a:r>
              <a:rPr lang="zh-CN" altLang="en-US"/>
              <a:t>多模态对话。</a:t>
            </a:r>
            <a:endParaRPr lang="zh-CN" altLang="en-US"/>
          </a:p>
          <a:p>
            <a:r>
              <a:rPr lang="zh-CN" altLang="en-US"/>
              <a:t>现有两类方案痛点：</a:t>
            </a:r>
            <a:endParaRPr lang="zh-CN" altLang="en-US"/>
          </a:p>
          <a:p>
            <a:r>
              <a:rPr lang="zh-CN" altLang="en-US"/>
              <a:t>流水线式检索：分别调用 </a:t>
            </a:r>
            <a:r>
              <a:rPr lang="en-US" altLang="zh-CN"/>
              <a:t>BM25、DPR、CLIP </a:t>
            </a:r>
            <a:r>
              <a:rPr lang="zh-CN" altLang="en-US"/>
              <a:t>等多个独立检索器再融合。</a:t>
            </a:r>
            <a:endParaRPr lang="zh-CN" altLang="en-US"/>
          </a:p>
          <a:p>
            <a:r>
              <a:rPr lang="zh-CN" altLang="en-US"/>
              <a:t>缺陷：很难建模图像与文本之间的跨模态交互；需要大量数据分别训练各个模块，系统臃肿。</a:t>
            </a:r>
            <a:endParaRPr lang="zh-CN" altLang="en-US"/>
          </a:p>
          <a:p>
            <a:r>
              <a:rPr lang="zh-CN" altLang="en-US"/>
              <a:t>文本生成式检索（</a:t>
            </a:r>
            <a:r>
              <a:rPr lang="en-US" altLang="zh-CN"/>
              <a:t>DSI、SEAL、GenRet）：</a:t>
            </a:r>
            <a:r>
              <a:rPr lang="zh-CN" altLang="en-US"/>
              <a:t>生成文档数字 </a:t>
            </a:r>
            <a:r>
              <a:rPr lang="en-US" altLang="zh-CN"/>
              <a:t>ID、</a:t>
            </a:r>
            <a:r>
              <a:rPr lang="zh-CN" altLang="en-US"/>
              <a:t>标题、</a:t>
            </a:r>
            <a:r>
              <a:rPr lang="en-US" altLang="zh-CN"/>
              <a:t>n‑gram </a:t>
            </a:r>
            <a:r>
              <a:rPr lang="zh-CN" altLang="en-US"/>
              <a:t>作为标识符。</a:t>
            </a:r>
            <a:endParaRPr lang="zh-CN" altLang="en-US"/>
          </a:p>
          <a:p>
            <a:r>
              <a:rPr lang="zh-CN" altLang="en-US"/>
              <a:t>缺陷：标识符是静态固定；同一个文档，图片查询和文本查询关注文档不同信息侧面，静态 </a:t>
            </a:r>
            <a:r>
              <a:rPr lang="en-US" altLang="zh-CN"/>
              <a:t>ID </a:t>
            </a:r>
            <a:r>
              <a:rPr lang="zh-CN" altLang="en-US"/>
              <a:t>无法适配；大规模知识库泛化差。</a:t>
            </a:r>
            <a:endParaRPr lang="zh-CN" altLang="en-US"/>
          </a:p>
          <a:p>
            <a:r>
              <a:rPr lang="zh-CN" altLang="en-US"/>
              <a:t>本文核心思路：不使用固定 </a:t>
            </a:r>
            <a:r>
              <a:rPr lang="en-US" altLang="zh-CN"/>
              <a:t>id，</a:t>
            </a:r>
            <a:r>
              <a:rPr lang="zh-CN" altLang="en-US"/>
              <a:t>生成知识线索：文档内部的文本子片段，动态作为检索标识；一个文档可对应多条不同线索，不同模态输入可以生成不同线索去命中同一文档。</a:t>
            </a:r>
            <a:endParaRPr lang="zh-CN" altLang="en-US"/>
          </a:p>
          <a:p>
            <a:r>
              <a:rPr lang="zh-CN" altLang="en-US"/>
              <a:t>推理流程两步：</a:t>
            </a:r>
            <a:endParaRPr lang="zh-CN" altLang="en-US"/>
          </a:p>
          <a:p>
            <a:r>
              <a:rPr lang="en-US" altLang="zh-CN"/>
              <a:t>LLM </a:t>
            </a:r>
            <a:r>
              <a:rPr lang="zh-CN" altLang="en-US"/>
              <a:t>接收图文输入，自回归生成知识线索；</a:t>
            </a:r>
            <a:endParaRPr lang="zh-CN" altLang="en-US"/>
          </a:p>
          <a:p>
            <a:r>
              <a:rPr lang="en-US" altLang="zh-CN"/>
              <a:t>FM‑Index </a:t>
            </a:r>
            <a:r>
              <a:rPr lang="zh-CN" altLang="en-US"/>
              <a:t>数据库根据线索快速查找返回原始知识文档。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GeMKR </a:t>
            </a:r>
            <a:r>
              <a:rPr lang="zh-CN" altLang="en-US"/>
              <a:t>模型整体架构</a:t>
            </a:r>
            <a:endParaRPr lang="zh-CN" altLang="en-US"/>
          </a:p>
          <a:p>
            <a:r>
              <a:rPr lang="zh-CN" altLang="en-US"/>
              <a:t>四大核心模块：①对象感知 </a:t>
            </a:r>
            <a:r>
              <a:rPr lang="en-US" altLang="zh-CN"/>
              <a:t>Prefix‑Tuning；②</a:t>
            </a:r>
            <a:r>
              <a:rPr lang="zh-CN" altLang="en-US"/>
              <a:t>多模态特征对齐；③指令数据构建与 </a:t>
            </a:r>
            <a:r>
              <a:rPr lang="en-US" altLang="zh-CN"/>
              <a:t>LoRA </a:t>
            </a:r>
            <a:r>
              <a:rPr lang="zh-CN" altLang="en-US"/>
              <a:t>微调；④知识引导约束解码。</a:t>
            </a:r>
            <a:endParaRPr lang="zh-CN" altLang="en-US"/>
          </a:p>
          <a:p>
            <a:r>
              <a:rPr lang="zh-CN" altLang="en-US"/>
              <a:t>2.1 对象感知 </a:t>
            </a:r>
            <a:r>
              <a:rPr lang="en-US" altLang="zh-CN"/>
              <a:t>Prefix‑Tuning（Object‑aware Prefix‑Tuning）</a:t>
            </a:r>
            <a:endParaRPr lang="en-US" altLang="zh-CN"/>
          </a:p>
          <a:p>
            <a:r>
              <a:rPr lang="zh-CN" altLang="en-US"/>
              <a:t>视觉编码器采用冻结的 </a:t>
            </a:r>
            <a:r>
              <a:rPr lang="en-US" altLang="zh-CN"/>
              <a:t>CLIP ViT‑L/14。</a:t>
            </a:r>
            <a:endParaRPr lang="en-US" altLang="zh-CN"/>
          </a:p>
          <a:p>
            <a:r>
              <a:rPr lang="zh-CN" altLang="en-US"/>
              <a:t>使用 </a:t>
            </a:r>
            <a:r>
              <a:rPr lang="en-US" altLang="zh-CN"/>
              <a:t>YOLOv7 </a:t>
            </a:r>
            <a:r>
              <a:rPr lang="zh-CN" altLang="en-US"/>
              <a:t>检测图像对象，裁剪出目标物体，提取物体特征；</a:t>
            </a:r>
            <a:endParaRPr lang="zh-CN" altLang="en-US"/>
          </a:p>
          <a:p>
            <a:r>
              <a:rPr lang="zh-CN" altLang="en-US"/>
              <a:t>每一层 </a:t>
            </a:r>
            <a:r>
              <a:rPr lang="en-US" altLang="zh-CN"/>
              <a:t>Transformer </a:t>
            </a:r>
            <a:r>
              <a:rPr lang="zh-CN" altLang="en-US"/>
              <a:t>引入可学习 </a:t>
            </a:r>
            <a:r>
              <a:rPr lang="en-US" altLang="zh-CN"/>
              <a:t>prefix </a:t>
            </a:r>
            <a:r>
              <a:rPr lang="zh-CN" altLang="en-US"/>
              <a:t>向量，把物体特征融合进 </a:t>
            </a:r>
            <a:r>
              <a:rPr lang="en-US" altLang="zh-CN"/>
              <a:t>prefix；</a:t>
            </a:r>
            <a:endParaRPr lang="en-US" altLang="zh-CN"/>
          </a:p>
          <a:p>
            <a:r>
              <a:rPr lang="zh-CN" altLang="en-US"/>
              <a:t>双流注意力机制 </a:t>
            </a:r>
            <a:r>
              <a:rPr lang="en-US" altLang="zh-CN"/>
              <a:t>Dual‑flow attention：</a:t>
            </a:r>
            <a:r>
              <a:rPr lang="zh-CN" altLang="en-US"/>
              <a:t>把图像原始 </a:t>
            </a:r>
            <a:r>
              <a:rPr lang="en-US" altLang="zh-CN"/>
              <a:t>token </a:t>
            </a:r>
            <a:r>
              <a:rPr lang="zh-CN" altLang="en-US"/>
              <a:t>特征、</a:t>
            </a:r>
            <a:r>
              <a:rPr lang="en-US" altLang="zh-CN"/>
              <a:t>prefix </a:t>
            </a:r>
            <a:r>
              <a:rPr lang="zh-CN" altLang="en-US"/>
              <a:t>对象特征分开计算 </a:t>
            </a:r>
            <a:r>
              <a:rPr lang="en-US" altLang="zh-CN"/>
              <a:t>Q/K/V，</a:t>
            </a:r>
            <a:r>
              <a:rPr lang="zh-CN" altLang="en-US"/>
              <a:t>使用门控 </a:t>
            </a:r>
            <a:r>
              <a:rPr lang="en-US" altLang="zh-CN"/>
              <a:t>σ </a:t>
            </a:r>
            <a:r>
              <a:rPr lang="zh-CN" altLang="en-US"/>
              <a:t>控制 </a:t>
            </a:r>
            <a:r>
              <a:rPr lang="en-US" altLang="zh-CN"/>
              <a:t>prefix </a:t>
            </a:r>
            <a:r>
              <a:rPr lang="zh-CN" altLang="en-US"/>
              <a:t>信息流入，缓解对象特征与原图特征分布不一致，稳定微调；</a:t>
            </a:r>
            <a:endParaRPr lang="zh-CN" altLang="en-US"/>
          </a:p>
          <a:p>
            <a:r>
              <a:rPr lang="zh-CN" altLang="en-US"/>
              <a:t>视觉主干全程冻结，仅更新 </a:t>
            </a:r>
            <a:r>
              <a:rPr lang="en-US" altLang="zh-CN"/>
              <a:t>prefix </a:t>
            </a:r>
            <a:r>
              <a:rPr lang="zh-CN" altLang="en-US"/>
              <a:t>与投影层，实现高效微调。</a:t>
            </a:r>
            <a:endParaRPr lang="zh-CN" altLang="en-US"/>
          </a:p>
          <a:p>
            <a:r>
              <a:rPr lang="zh-CN" altLang="en-US"/>
              <a:t>输出图像全局[</a:t>
            </a:r>
            <a:r>
              <a:rPr lang="en-US" altLang="zh-CN"/>
              <a:t>CLS]</a:t>
            </a:r>
            <a:r>
              <a:rPr lang="zh-CN" altLang="en-US"/>
              <a:t>特征 + 多个物体细粒度特征。</a:t>
            </a:r>
            <a:endParaRPr lang="zh-CN" altLang="en-US"/>
          </a:p>
          <a:p>
            <a:r>
              <a:rPr lang="zh-CN" altLang="en-US"/>
              <a:t>2.2 多模态对齐</a:t>
            </a:r>
            <a:endParaRPr lang="zh-CN" altLang="en-US"/>
          </a:p>
          <a:p>
            <a:r>
              <a:rPr lang="zh-CN" altLang="en-US"/>
              <a:t>将图像全局特征、检测得到的对象特征拼接，通过线性投影层映射到 </a:t>
            </a:r>
            <a:r>
              <a:rPr lang="en-US" altLang="zh-CN"/>
              <a:t>LLM（LLaMA‑7B）</a:t>
            </a:r>
            <a:r>
              <a:rPr lang="zh-CN" altLang="en-US"/>
              <a:t>的文本词嵌入空间，直接输入大语言模型，让 </a:t>
            </a:r>
            <a:r>
              <a:rPr lang="en-US" altLang="zh-CN"/>
              <a:t>LLM </a:t>
            </a:r>
            <a:r>
              <a:rPr lang="zh-CN" altLang="en-US"/>
              <a:t>承担跨模态交互建模。</a:t>
            </a:r>
            <a:endParaRPr lang="zh-CN" altLang="en-US"/>
          </a:p>
          <a:p>
            <a:r>
              <a:rPr lang="en-US" altLang="zh-CN"/>
              <a:t>LLM </a:t>
            </a:r>
            <a:r>
              <a:rPr lang="zh-CN" altLang="en-US"/>
              <a:t>主干权重冻结，使用</a:t>
            </a:r>
            <a:r>
              <a:rPr lang="en-US" altLang="zh-CN"/>
              <a:t>LoRA </a:t>
            </a:r>
            <a:r>
              <a:rPr lang="zh-CN" altLang="en-US"/>
              <a:t>低秩适配做参数高效微调。</a:t>
            </a:r>
            <a:endParaRPr lang="zh-CN" altLang="en-US"/>
          </a:p>
          <a:p>
            <a:r>
              <a:rPr lang="zh-CN" altLang="en-US"/>
              <a:t>2.3 指令调优与训练数据构造</a:t>
            </a:r>
            <a:endParaRPr lang="zh-CN" altLang="en-US"/>
          </a:p>
          <a:p>
            <a:r>
              <a:rPr lang="zh-CN" altLang="en-US"/>
              <a:t>数据集原始只有【多模态查询‑正例文档】配对，没有现成的 “知识线索” 标注。</a:t>
            </a:r>
            <a:endParaRPr lang="zh-CN" altLang="en-US"/>
          </a:p>
          <a:p>
            <a:r>
              <a:rPr lang="zh-CN" altLang="en-US"/>
              <a:t>从正文档中采样候选 </a:t>
            </a:r>
            <a:r>
              <a:rPr lang="en-US" altLang="zh-CN"/>
              <a:t>span：</a:t>
            </a:r>
            <a:r>
              <a:rPr lang="zh-CN" altLang="en-US"/>
              <a:t>统计句子与查询关键词命中，计算片段相关性得分，采样出等长、高相关的文本片段，作为监督信号知识线索；</a:t>
            </a:r>
            <a:endParaRPr lang="zh-CN" altLang="en-US"/>
          </a:p>
          <a:p>
            <a:r>
              <a:rPr lang="zh-CN" altLang="en-US"/>
              <a:t>设计统一指令模板，把图片视觉 </a:t>
            </a:r>
            <a:r>
              <a:rPr lang="en-US" altLang="zh-CN"/>
              <a:t>token </a:t>
            </a:r>
            <a:r>
              <a:rPr lang="zh-CN" altLang="en-US"/>
              <a:t>占位、文本查询填入模板，模型只学习预测</a:t>
            </a:r>
            <a:r>
              <a:rPr lang="en-US" altLang="zh-CN"/>
              <a:t>Response:</a:t>
            </a:r>
            <a:r>
              <a:rPr lang="zh-CN" altLang="en-US"/>
              <a:t>之后的知识线索；</a:t>
            </a:r>
            <a:endParaRPr lang="zh-CN" altLang="en-US"/>
          </a:p>
          <a:p>
            <a:r>
              <a:rPr lang="zh-CN" altLang="en-US"/>
              <a:t>训练目标：自回归交叉熵损失，只更新 </a:t>
            </a:r>
            <a:r>
              <a:rPr lang="en-US" altLang="zh-CN"/>
              <a:t>LoRA、</a:t>
            </a:r>
            <a:r>
              <a:rPr lang="zh-CN" altLang="en-US"/>
              <a:t>视觉侧 </a:t>
            </a:r>
            <a:r>
              <a:rPr lang="en-US" altLang="zh-CN"/>
              <a:t>prefix </a:t>
            </a:r>
            <a:r>
              <a:rPr lang="zh-CN" altLang="en-US"/>
              <a:t>与投影层。</a:t>
            </a:r>
            <a:endParaRPr lang="zh-CN" altLang="en-US"/>
          </a:p>
          <a:p>
            <a:r>
              <a:rPr lang="zh-CN" altLang="en-US"/>
              <a:t>2.4 知识引导约束解码（推理阶段核心）</a:t>
            </a:r>
            <a:endParaRPr lang="zh-CN" altLang="en-US"/>
          </a:p>
          <a:p>
            <a:r>
              <a:rPr lang="zh-CN" altLang="en-US"/>
              <a:t>知识库预先建立 </a:t>
            </a:r>
            <a:r>
              <a:rPr lang="en-US" altLang="zh-CN"/>
              <a:t>FM‑Index </a:t>
            </a:r>
            <a:r>
              <a:rPr lang="zh-CN" altLang="en-US"/>
              <a:t>倒排索引，提供</a:t>
            </a:r>
            <a:r>
              <a:rPr lang="en-US" altLang="zh-CN"/>
              <a:t>GetNext、ValidDistinct、LookupDoc</a:t>
            </a:r>
            <a:r>
              <a:rPr lang="zh-CN" altLang="en-US"/>
              <a:t>接口。</a:t>
            </a:r>
            <a:endParaRPr lang="zh-CN" altLang="en-US"/>
          </a:p>
          <a:p>
            <a:r>
              <a:rPr lang="zh-CN" altLang="en-US"/>
              <a:t>每一步生成 </a:t>
            </a:r>
            <a:r>
              <a:rPr lang="en-US" altLang="zh-CN"/>
              <a:t>token，</a:t>
            </a:r>
            <a:r>
              <a:rPr lang="zh-CN" altLang="en-US"/>
              <a:t>调用</a:t>
            </a:r>
            <a:r>
              <a:rPr lang="en-US" altLang="zh-CN"/>
              <a:t>GetNext，</a:t>
            </a:r>
            <a:r>
              <a:rPr lang="zh-CN" altLang="en-US"/>
              <a:t>基于已生成前缀，过滤出知识库内合法后继 </a:t>
            </a:r>
            <a:r>
              <a:rPr lang="en-US" altLang="zh-CN"/>
              <a:t>token，</a:t>
            </a:r>
            <a:r>
              <a:rPr lang="zh-CN" altLang="en-US"/>
              <a:t>构造 </a:t>
            </a:r>
            <a:r>
              <a:rPr lang="en-US" altLang="zh-CN"/>
              <a:t>token </a:t>
            </a:r>
            <a:r>
              <a:rPr lang="zh-CN" altLang="en-US"/>
              <a:t>掩码，限制模型只能生成库内真实出现的子串；</a:t>
            </a:r>
            <a:endParaRPr lang="zh-CN" altLang="en-US"/>
          </a:p>
          <a:p>
            <a:r>
              <a:rPr lang="zh-CN" altLang="en-US"/>
              <a:t>持续生成，调用</a:t>
            </a:r>
            <a:r>
              <a:rPr lang="en-US" altLang="zh-CN"/>
              <a:t>ValidDistinct</a:t>
            </a:r>
            <a:r>
              <a:rPr lang="zh-CN" altLang="en-US"/>
              <a:t>判断当前线索是否可以唯一对应一篇知识库文档；达到最小长度且可唯一映射就停止生成；超过最大长度终止；</a:t>
            </a:r>
            <a:endParaRPr lang="zh-CN" altLang="en-US"/>
          </a:p>
          <a:p>
            <a:r>
              <a:rPr lang="zh-CN" altLang="en-US"/>
              <a:t>对 </a:t>
            </a:r>
            <a:r>
              <a:rPr lang="en-US" altLang="zh-CN"/>
              <a:t>beam </a:t>
            </a:r>
            <a:r>
              <a:rPr lang="zh-CN" altLang="en-US"/>
              <a:t>内结果增加惩罚，偏好更短、区分度更高的线索；无法唯一映射文档的线索直接丢弃；</a:t>
            </a:r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LookupDoc，</a:t>
            </a:r>
            <a:r>
              <a:rPr lang="zh-CN" altLang="en-US"/>
              <a:t>根据知识线索取回完整知识文档，根据生成 </a:t>
            </a:r>
            <a:r>
              <a:rPr lang="en-US" altLang="zh-CN"/>
              <a:t>beam </a:t>
            </a:r>
            <a:r>
              <a:rPr lang="zh-CN" altLang="en-US"/>
              <a:t>分数排序输出检索结果。</a:t>
            </a:r>
            <a:endParaRPr lang="zh-CN" altLang="en-US"/>
          </a:p>
          <a:p>
            <a:r>
              <a:rPr lang="zh-CN" altLang="en-US"/>
              <a:t>关键区别对比 </a:t>
            </a:r>
            <a:r>
              <a:rPr lang="en-US" altLang="zh-CN"/>
              <a:t>GenRet：GenRet </a:t>
            </a:r>
            <a:r>
              <a:rPr lang="zh-CN" altLang="en-US"/>
              <a:t>学习离散数字 </a:t>
            </a:r>
            <a:r>
              <a:rPr lang="en-US" altLang="zh-CN"/>
              <a:t>docid；GeMKR </a:t>
            </a:r>
            <a:r>
              <a:rPr lang="zh-CN" altLang="en-US"/>
              <a:t>生成自然语言文本片段（动态线索），适配多模态查询不同关注点。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## 核心方法：</a:t>
            </a:r>
            <a:r>
              <a:rPr lang="en-US" altLang="zh-CN"/>
              <a:t>ZipRerank </a:t>
            </a:r>
            <a:r>
              <a:rPr lang="zh-CN" altLang="en-US"/>
              <a:t>整体框架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基于 </a:t>
            </a:r>
            <a:r>
              <a:rPr lang="en-US" altLang="zh-CN"/>
              <a:t>Qwen3‑VL‑8B，**</a:t>
            </a:r>
            <a:r>
              <a:rPr lang="zh-CN" altLang="en-US"/>
              <a:t>冻结视觉编码器，只微调语言部分**，分为**两阶段训练** + **两大推理加速模块**。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2.1 两阶段训练策略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**Stage1：</a:t>
            </a:r>
            <a:r>
              <a:rPr lang="zh-CN" altLang="en-US"/>
              <a:t>通用 </a:t>
            </a:r>
            <a:r>
              <a:rPr lang="en-US" altLang="zh-CN"/>
              <a:t>Listwise </a:t>
            </a:r>
            <a:r>
              <a:rPr lang="zh-CN" altLang="en-US"/>
              <a:t>预训练**</a:t>
            </a:r>
            <a:endParaRPr lang="zh-CN" altLang="en-US"/>
          </a:p>
          <a:p>
            <a:r>
              <a:rPr lang="zh-CN" altLang="en-US"/>
              <a:t>把 </a:t>
            </a:r>
            <a:r>
              <a:rPr lang="en-US" altLang="zh-CN"/>
              <a:t>RankZephyr </a:t>
            </a:r>
            <a:r>
              <a:rPr lang="zh-CN" altLang="en-US"/>
              <a:t>文本重排数据集的文本渲染成图像做输入；损失 = </a:t>
            </a:r>
            <a:r>
              <a:rPr lang="en-US" altLang="zh-CN"/>
              <a:t>LM </a:t>
            </a:r>
            <a:r>
              <a:rPr lang="zh-CN" altLang="en-US"/>
              <a:t>语言建模损失 + **加权 </a:t>
            </a:r>
            <a:r>
              <a:rPr lang="en-US" altLang="zh-CN"/>
              <a:t>RankNet pairwise </a:t>
            </a:r>
            <a:r>
              <a:rPr lang="zh-CN" altLang="en-US"/>
              <a:t>排序损失**，让模型学会通用的列表排序能力。解决多模态标注数据不足的问题。</a:t>
            </a:r>
            <a:endParaRPr lang="zh-CN" altLang="en-US"/>
          </a:p>
          <a:p>
            <a:r>
              <a:rPr lang="en-US" altLang="zh-CN"/>
              <a:t>- **Stage2：</a:t>
            </a:r>
            <a:r>
              <a:rPr lang="zh-CN" altLang="en-US"/>
              <a:t>多模态微调（</a:t>
            </a:r>
            <a:r>
              <a:rPr lang="en-US" altLang="zh-CN"/>
              <a:t>VLM </a:t>
            </a:r>
            <a:r>
              <a:rPr lang="zh-CN" altLang="en-US"/>
              <a:t>教师蒸馏，</a:t>
            </a:r>
            <a:r>
              <a:rPr lang="en-US" altLang="zh-CN"/>
              <a:t>Soft‑Ranking Loss）**</a:t>
            </a:r>
            <a:endParaRPr lang="en-US" altLang="zh-CN"/>
          </a:p>
          <a:p>
            <a:r>
              <a:rPr lang="zh-CN" altLang="en-US"/>
              <a:t>使用 </a:t>
            </a:r>
            <a:r>
              <a:rPr lang="en-US" altLang="zh-CN"/>
              <a:t>MMDocIR </a:t>
            </a:r>
            <a:r>
              <a:rPr lang="zh-CN" altLang="en-US"/>
              <a:t>数据集，只有少量真实正样本，没有完整排序标签。使用更强 </a:t>
            </a:r>
            <a:r>
              <a:rPr lang="en-US" altLang="zh-CN"/>
              <a:t>VLM </a:t>
            </a:r>
            <a:r>
              <a:rPr lang="zh-CN" altLang="en-US"/>
              <a:t>教师（</a:t>
            </a:r>
            <a:r>
              <a:rPr lang="en-US" altLang="zh-CN"/>
              <a:t>GPT‑5‑mini/nano）</a:t>
            </a:r>
            <a:r>
              <a:rPr lang="zh-CN" altLang="en-US"/>
              <a:t>生成候选的排序，作为软标签；提出**</a:t>
            </a:r>
            <a:r>
              <a:rPr lang="en-US" altLang="zh-CN"/>
              <a:t>Soft‑Ranking Loss**：</a:t>
            </a:r>
            <a:r>
              <a:rPr lang="zh-CN" altLang="en-US"/>
              <a:t>几何衰减的目标分布，给不同位次候选分配渐变权重，不强制硬标签，对教师噪声鲁棒。损失 = </a:t>
            </a:r>
            <a:r>
              <a:rPr lang="en-US" altLang="zh-CN"/>
              <a:t>LM </a:t>
            </a:r>
            <a:r>
              <a:rPr lang="zh-CN" altLang="en-US"/>
              <a:t>损失 + </a:t>
            </a:r>
            <a:r>
              <a:rPr lang="en-US" altLang="zh-CN"/>
              <a:t>Soft‑Ranking Loss。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关键：即使使用较弱的教师 </a:t>
            </a:r>
            <a:r>
              <a:rPr lang="en-US" altLang="zh-CN"/>
              <a:t>GPT‑5‑nano，</a:t>
            </a:r>
            <a:r>
              <a:rPr lang="zh-CN" altLang="en-US"/>
              <a:t>训练后的 </a:t>
            </a:r>
            <a:r>
              <a:rPr lang="en-US" altLang="zh-CN"/>
              <a:t>ZipRerank </a:t>
            </a:r>
            <a:r>
              <a:rPr lang="zh-CN" altLang="en-US"/>
              <a:t>依然优于教师本身，证明两阶段 + </a:t>
            </a:r>
            <a:r>
              <a:rPr lang="en-US" altLang="zh-CN"/>
              <a:t>soft loss </a:t>
            </a:r>
            <a:r>
              <a:rPr lang="zh-CN" altLang="en-US"/>
              <a:t>的价值。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2.2 推理阶段两大创新（解决两大瓶颈）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**Query‑Image Early Interaction </a:t>
            </a:r>
            <a:r>
              <a:rPr lang="zh-CN" altLang="en-US"/>
              <a:t>查询感知视觉 </a:t>
            </a:r>
            <a:r>
              <a:rPr lang="en-US" altLang="zh-CN"/>
              <a:t>Token </a:t>
            </a:r>
            <a:r>
              <a:rPr lang="zh-CN" altLang="en-US"/>
              <a:t>剪枝（无参）**</a:t>
            </a:r>
            <a:endParaRPr lang="zh-CN" altLang="en-US"/>
          </a:p>
          <a:p>
            <a:r>
              <a:rPr lang="zh-CN" altLang="en-US"/>
              <a:t>   - 提取 </a:t>
            </a:r>
            <a:r>
              <a:rPr lang="en-US" altLang="zh-CN"/>
              <a:t>Query </a:t>
            </a:r>
            <a:r>
              <a:rPr lang="zh-CN" altLang="en-US"/>
              <a:t>文本的隐状态，计算每一个视觉 </a:t>
            </a:r>
            <a:r>
              <a:rPr lang="en-US" altLang="zh-CN"/>
              <a:t>Token </a:t>
            </a:r>
            <a:r>
              <a:rPr lang="zh-CN" altLang="en-US"/>
              <a:t>与任意 </a:t>
            </a:r>
            <a:r>
              <a:rPr lang="en-US" altLang="zh-CN"/>
              <a:t>Query Token </a:t>
            </a:r>
            <a:r>
              <a:rPr lang="zh-CN" altLang="en-US"/>
              <a:t>的最大余弦相似度作为重要度；</a:t>
            </a:r>
            <a:endParaRPr lang="zh-CN" altLang="en-US"/>
          </a:p>
          <a:p>
            <a:r>
              <a:rPr lang="zh-CN" altLang="en-US"/>
              <a:t>   - 保留每张图片 </a:t>
            </a:r>
            <a:r>
              <a:rPr lang="en-US" altLang="zh-CN"/>
              <a:t>Top‑ρ </a:t>
            </a:r>
            <a:r>
              <a:rPr lang="zh-CN" altLang="en-US"/>
              <a:t>比例（</a:t>
            </a:r>
            <a:r>
              <a:rPr lang="en-US" altLang="zh-CN"/>
              <a:t>keep ratio）</a:t>
            </a:r>
            <a:r>
              <a:rPr lang="zh-CN" altLang="en-US"/>
              <a:t>视觉 </a:t>
            </a:r>
            <a:r>
              <a:rPr lang="en-US" altLang="zh-CN"/>
              <a:t>Token，</a:t>
            </a:r>
            <a:r>
              <a:rPr lang="zh-CN" altLang="en-US"/>
              <a:t>保留原始 </a:t>
            </a:r>
            <a:r>
              <a:rPr lang="en-US" altLang="zh-CN"/>
              <a:t>RoPE </a:t>
            </a:r>
            <a:r>
              <a:rPr lang="zh-CN" altLang="en-US"/>
              <a:t>位置编码；</a:t>
            </a:r>
            <a:endParaRPr lang="zh-CN" altLang="en-US"/>
          </a:p>
          <a:p>
            <a:r>
              <a:rPr lang="zh-CN" altLang="en-US"/>
              <a:t>   - 对比实验证明：**查询感知剪枝显著优于随机剪枝**；</a:t>
            </a:r>
            <a:r>
              <a:rPr lang="en-US" altLang="zh-CN"/>
              <a:t>ρ </a:t>
            </a:r>
            <a:r>
              <a:rPr lang="zh-CN" altLang="en-US"/>
              <a:t>可作为超参，做精度‑速度权衡（例如 </a:t>
            </a:r>
            <a:r>
              <a:rPr lang="en-US" altLang="zh-CN"/>
              <a:t>ρ=0.5 </a:t>
            </a:r>
            <a:r>
              <a:rPr lang="zh-CN" altLang="en-US"/>
              <a:t>只保留一半视觉 </a:t>
            </a:r>
            <a:r>
              <a:rPr lang="en-US" altLang="zh-CN"/>
              <a:t>Token）。</a:t>
            </a:r>
            <a:endParaRPr lang="en-US" altLang="zh-CN"/>
          </a:p>
          <a:p>
            <a:r>
              <a:rPr lang="en-US" altLang="zh-CN"/>
              <a:t>2. **Single‑Logit </a:t>
            </a:r>
            <a:r>
              <a:rPr lang="zh-CN" altLang="en-US"/>
              <a:t>单 </a:t>
            </a:r>
            <a:r>
              <a:rPr lang="en-US" altLang="zh-CN"/>
              <a:t>Token </a:t>
            </a:r>
            <a:r>
              <a:rPr lang="zh-CN" altLang="en-US"/>
              <a:t>解码（消除自回归）**</a:t>
            </a:r>
            <a:endParaRPr lang="zh-CN" altLang="en-US"/>
          </a:p>
          <a:p>
            <a:r>
              <a:rPr lang="zh-CN" altLang="en-US"/>
              <a:t>   - 每个候选页面分配唯一标识符 </a:t>
            </a:r>
            <a:r>
              <a:rPr lang="en-US" altLang="zh-CN"/>
              <a:t>Token（A/B/C…）；</a:t>
            </a:r>
            <a:endParaRPr lang="en-US" altLang="zh-CN"/>
          </a:p>
          <a:p>
            <a:r>
              <a:rPr lang="zh-CN" altLang="en-US"/>
              <a:t>   - 只做**一次前向传播**，读取第一个解码位置各个标识符的 </a:t>
            </a:r>
            <a:r>
              <a:rPr lang="en-US" altLang="zh-CN"/>
              <a:t>Logit </a:t>
            </a:r>
            <a:r>
              <a:rPr lang="zh-CN" altLang="en-US"/>
              <a:t>分数，直接按 </a:t>
            </a:r>
            <a:r>
              <a:rPr lang="en-US" altLang="zh-CN"/>
              <a:t>Logit </a:t>
            </a:r>
            <a:r>
              <a:rPr lang="zh-CN" altLang="en-US"/>
              <a:t>大小降序得到最终排序列表，不需要逐 </a:t>
            </a:r>
            <a:r>
              <a:rPr lang="en-US" altLang="zh-CN"/>
              <a:t>Token </a:t>
            </a:r>
            <a:r>
              <a:rPr lang="zh-CN" altLang="en-US"/>
              <a:t>生成输出序列，`</a:t>
            </a:r>
            <a:r>
              <a:rPr lang="en-US" altLang="zh-CN"/>
              <a:t>u=1`，</a:t>
            </a:r>
            <a:r>
              <a:rPr lang="zh-CN" altLang="en-US"/>
              <a:t>彻底消除多步解码开销。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完整流水线：</a:t>
            </a:r>
            <a:r>
              <a:rPr lang="en-US" altLang="zh-CN"/>
              <a:t>Query‑Image Early Interaction </a:t>
            </a:r>
            <a:r>
              <a:rPr lang="zh-CN" altLang="en-US"/>
              <a:t>过滤视觉 </a:t>
            </a:r>
            <a:r>
              <a:rPr lang="en-US" altLang="zh-CN"/>
              <a:t>Token → </a:t>
            </a:r>
            <a:r>
              <a:rPr lang="zh-CN" altLang="en-US"/>
              <a:t>压缩后的多模态输入送入 </a:t>
            </a:r>
            <a:r>
              <a:rPr lang="en-US" altLang="zh-CN"/>
              <a:t>VLM → </a:t>
            </a:r>
            <a:r>
              <a:rPr lang="zh-CN" altLang="en-US"/>
              <a:t>读取标识符 </a:t>
            </a:r>
            <a:r>
              <a:rPr lang="en-US" altLang="zh-CN"/>
              <a:t>Logit </a:t>
            </a:r>
            <a:r>
              <a:rPr lang="zh-CN" altLang="en-US"/>
              <a:t>直接排序输出。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refiner</a:t>
            </a:r>
            <a:r>
              <a:rPr lang="zh-CN" altLang="en-US"/>
              <a:t>：面向多模态推荐任务。现有多模态 </a:t>
            </a:r>
            <a:r>
              <a:rPr lang="en-US" altLang="zh-CN"/>
              <a:t>GNN </a:t>
            </a:r>
            <a:r>
              <a:rPr lang="zh-CN" altLang="en-US"/>
              <a:t>推荐模型，要处理 </a:t>
            </a:r>
            <a:r>
              <a:rPr lang="en-US" altLang="zh-CN"/>
              <a:t>CLIP、BERT </a:t>
            </a:r>
            <a:r>
              <a:rPr lang="zh-CN" altLang="en-US"/>
              <a:t>输出的超高维图文音多模态特征，需要大量降维参数，在交互稀疏场景极易过拟合；同时多模态侧信息自带噪声、冗余，模态特征空间与用户‑物品协同过滤信号存在巨大语义鸿沟。本文提出</a:t>
            </a:r>
            <a:r>
              <a:rPr lang="en-US" altLang="zh-CN"/>
              <a:t>PromptMM，</a:t>
            </a:r>
            <a:r>
              <a:rPr lang="zh-CN" altLang="en-US"/>
              <a:t>一套结合提示调优的多模态知识蒸馏框架，训练复杂的教师模型，蒸馏得到轻量化学生模型用于线上推理，兼顾推荐精度与推理效率。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现有方案大多直接把多模态特征送入模型，推理阶段也保留全部多模态编码层，线上推理开销巨大。</a:t>
            </a:r>
            <a:endParaRPr lang="zh-CN" altLang="en-US"/>
          </a:p>
          <a:p>
            <a:r>
              <a:rPr lang="en-US" altLang="zh-CN"/>
              <a:t>PromptMM </a:t>
            </a:r>
            <a:r>
              <a:rPr lang="zh-CN" altLang="en-US"/>
              <a:t>的核心思路：离线训练重型教师模型学习多模态 + 协同偏好；通过知识蒸馏把知识迁移给轻量学生模型；学生完全去掉多模态特征编码降维模块，只保留 </a:t>
            </a:r>
            <a:r>
              <a:rPr lang="en-US" altLang="zh-CN"/>
              <a:t>LightGCN </a:t>
            </a:r>
            <a:r>
              <a:rPr lang="zh-CN" altLang="en-US"/>
              <a:t>做协同过滤，大幅降低线上开销。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两阶段离线蒸馏范式：</a:t>
            </a:r>
            <a:endParaRPr lang="zh-CN" altLang="en-US"/>
          </a:p>
          <a:p>
            <a:r>
              <a:rPr lang="zh-CN" altLang="en-US"/>
              <a:t>阶段 1：训练教师 </a:t>
            </a:r>
            <a:r>
              <a:rPr lang="en-US" altLang="zh-CN"/>
              <a:t>T：</a:t>
            </a:r>
            <a:r>
              <a:rPr lang="zh-CN" altLang="en-US"/>
              <a:t>基于图 </a:t>
            </a:r>
            <a:r>
              <a:rPr lang="en-US" altLang="zh-CN"/>
              <a:t>GNN </a:t>
            </a:r>
            <a:r>
              <a:rPr lang="zh-CN" altLang="en-US"/>
              <a:t>的多模态推荐模型，接收用户‑物品二部图 + 图像 / 文本 / 音频多模态特征，学习用户、物品嵌入以及各模态感知表征；引入软提示调优模块，弥合多模态内容与协同信号之间的语义鸿沟。</a:t>
            </a:r>
            <a:endParaRPr lang="zh-CN" altLang="en-US"/>
          </a:p>
          <a:p>
            <a:r>
              <a:rPr lang="zh-CN" altLang="en-US"/>
              <a:t>阶段 2：冻结教师，训练学生 </a:t>
            </a:r>
            <a:r>
              <a:rPr lang="en-US" altLang="zh-CN"/>
              <a:t>S：</a:t>
            </a:r>
            <a:r>
              <a:rPr lang="zh-CN" altLang="en-US"/>
              <a:t>学生为轻量化 </a:t>
            </a:r>
            <a:r>
              <a:rPr lang="en-US" altLang="zh-CN"/>
              <a:t>LightGCN，</a:t>
            </a:r>
            <a:r>
              <a:rPr lang="zh-CN" altLang="en-US"/>
              <a:t>不输入任何原始多模态特征，只利用交互图学习 </a:t>
            </a:r>
            <a:r>
              <a:rPr lang="en-US" altLang="zh-CN"/>
              <a:t>ID </a:t>
            </a:r>
            <a:r>
              <a:rPr lang="zh-CN" altLang="en-US"/>
              <a:t>嵌入；依靠多维度蒸馏损失，从教师处迁移多模态感知的协同偏好知识。</a:t>
            </a:r>
            <a:endParaRPr lang="zh-CN" altLang="en-US"/>
          </a:p>
          <a:p>
            <a:r>
              <a:rPr lang="en-US" altLang="zh-CN"/>
              <a:t>2.1 Object‑aware </a:t>
            </a:r>
            <a:r>
              <a:rPr lang="zh-CN" altLang="en-US"/>
              <a:t>软提示调优（</a:t>
            </a:r>
            <a:r>
              <a:rPr lang="en-US" altLang="zh-CN"/>
              <a:t>Prompt </a:t>
            </a:r>
            <a:r>
              <a:rPr lang="zh-CN" altLang="en-US"/>
              <a:t>模块）教师端的降维层中加入可学习软提示：</a:t>
            </a:r>
            <a:endParaRPr lang="zh-CN" altLang="en-US"/>
          </a:p>
          <a:p>
            <a:r>
              <a:rPr lang="zh-CN" altLang="en-US"/>
              <a:t>聚合各个模态物品特征，经过 </a:t>
            </a:r>
            <a:r>
              <a:rPr lang="en-US" altLang="zh-CN"/>
              <a:t>PCA </a:t>
            </a:r>
            <a:r>
              <a:rPr lang="zh-CN" altLang="en-US"/>
              <a:t>降维后输入前馈网络，生成软提示向量</a:t>
            </a:r>
            <a:r>
              <a:rPr lang="en-US" altLang="zh-CN"/>
              <a:t>p；</a:t>
            </a:r>
            <a:endParaRPr lang="en-US" altLang="zh-CN"/>
          </a:p>
          <a:p>
            <a:r>
              <a:rPr lang="zh-CN" altLang="en-US"/>
              <a:t>将提示转换为分模态的\(</a:t>
            </a:r>
            <a:r>
              <a:rPr lang="en-US" altLang="zh-CN"/>
              <a:t>p^m\)，</a:t>
            </a:r>
            <a:r>
              <a:rPr lang="zh-CN" altLang="en-US"/>
              <a:t>加到教师的多模态降维层输入；使用双流门控控制提示信息流入，缓解模态特征分布不一致带来的训练震荡；</a:t>
            </a:r>
            <a:endParaRPr lang="zh-CN" altLang="en-US"/>
          </a:p>
          <a:p>
            <a:r>
              <a:rPr lang="zh-CN" altLang="en-US"/>
              <a:t>提示模块教师训练阶段更新；学生蒸馏阶段依然继续更新，为冻结教师输出适配学生任务的软标签，引导蒸馏过程。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作用：过滤模态中与推荐任务无关的冗余信息，对齐多模态语义和协同过滤信号。</a:t>
            </a:r>
            <a:endParaRPr lang="zh-CN" altLang="en-US"/>
          </a:p>
          <a:p>
            <a:r>
              <a:rPr lang="zh-CN" altLang="en-US"/>
              <a:t>2.2 三类多模态知识蒸馏损失联合蒸馏，从不同粒度迁移教师知识，总损失 = </a:t>
            </a:r>
            <a:r>
              <a:rPr lang="en-US" altLang="zh-CN"/>
              <a:t>BPR </a:t>
            </a:r>
            <a:r>
              <a:rPr lang="zh-CN" altLang="en-US"/>
              <a:t>主损失 + 三类蒸馏损失加权和。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PairKD（</a:t>
            </a:r>
            <a:r>
              <a:rPr lang="zh-CN" altLang="en-US"/>
              <a:t>成对排序蒸馏）</a:t>
            </a:r>
            <a:endParaRPr lang="zh-CN" altLang="en-US"/>
          </a:p>
          <a:p>
            <a:r>
              <a:rPr lang="zh-CN" altLang="en-US"/>
              <a:t>针对 </a:t>
            </a:r>
            <a:r>
              <a:rPr lang="en-US" altLang="zh-CN"/>
              <a:t>BPR </a:t>
            </a:r>
            <a:r>
              <a:rPr lang="zh-CN" altLang="en-US"/>
              <a:t>三元组\((</a:t>
            </a:r>
            <a:r>
              <a:rPr lang="en-US" altLang="zh-CN"/>
              <a:t>u,i^+,i^-)\)，</a:t>
            </a:r>
            <a:r>
              <a:rPr lang="zh-CN" altLang="en-US"/>
              <a:t>蒸馏教师的成对排序偏好，迁移协同交互知识，基于修改 </a:t>
            </a:r>
            <a:r>
              <a:rPr lang="en-US" altLang="zh-CN"/>
              <a:t>KL </a:t>
            </a:r>
            <a:r>
              <a:rPr lang="zh-CN" altLang="en-US"/>
              <a:t>散度拟合教师的 </a:t>
            </a:r>
            <a:r>
              <a:rPr lang="en-US" altLang="zh-CN"/>
              <a:t>pairwise </a:t>
            </a:r>
            <a:r>
              <a:rPr lang="zh-CN" altLang="en-US"/>
              <a:t>排序 </a:t>
            </a:r>
            <a:r>
              <a:rPr lang="en-US" altLang="zh-CN"/>
              <a:t>logit。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ListKD </a:t>
            </a:r>
            <a:r>
              <a:rPr lang="zh-CN" altLang="en-US"/>
              <a:t>解耦感知列表蒸馏（核心降噪模块）</a:t>
            </a:r>
            <a:endParaRPr lang="zh-CN" altLang="en-US"/>
          </a:p>
          <a:p>
            <a:r>
              <a:rPr lang="zh-CN" altLang="en-US"/>
              <a:t>传统 </a:t>
            </a:r>
            <a:r>
              <a:rPr lang="en-US" altLang="zh-CN"/>
              <a:t>list‑wise KL </a:t>
            </a:r>
            <a:r>
              <a:rPr lang="zh-CN" altLang="en-US"/>
              <a:t>直接拟合全部 </a:t>
            </a:r>
            <a:r>
              <a:rPr lang="en-US" altLang="zh-CN"/>
              <a:t>logit，</a:t>
            </a:r>
            <a:r>
              <a:rPr lang="zh-CN" altLang="en-US"/>
              <a:t>模态噪声会一并传递给学生。本文做解耦重加权：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将排序列表拆分为两部分：</a:t>
            </a:r>
            <a:r>
              <a:rPr lang="en-US" altLang="zh-CN"/>
              <a:t>b（</a:t>
            </a:r>
            <a:r>
              <a:rPr lang="zh-CN" altLang="en-US"/>
              <a:t>正样本集合 </a:t>
            </a:r>
            <a:r>
              <a:rPr lang="en-US" altLang="zh-CN"/>
              <a:t>vs </a:t>
            </a:r>
            <a:r>
              <a:rPr lang="zh-CN" altLang="en-US"/>
              <a:t>全部负样本集合的二元分布）、</a:t>
            </a:r>
            <a:r>
              <a:rPr lang="en-US" altLang="zh-CN"/>
              <a:t>q（</a:t>
            </a:r>
            <a:r>
              <a:rPr lang="zh-CN" altLang="en-US"/>
              <a:t>负样本内部细粒度排序分布）；</a:t>
            </a:r>
            <a:endParaRPr lang="zh-CN" altLang="en-US"/>
          </a:p>
          <a:p>
            <a:r>
              <a:rPr lang="zh-CN" altLang="en-US"/>
              <a:t>分开计算两部分 </a:t>
            </a:r>
            <a:r>
              <a:rPr lang="en-US" altLang="zh-CN"/>
              <a:t>KL </a:t>
            </a:r>
            <a:r>
              <a:rPr lang="zh-CN" altLang="en-US"/>
              <a:t>损失，对可信度低的样本自动降低权重，抑制多模态带来的噪声向学生传递。</a:t>
            </a:r>
            <a:endParaRPr lang="en-US" altLang="zh-CN"/>
          </a:p>
          <a:p>
            <a:r>
              <a:rPr lang="en-US" altLang="zh-CN"/>
              <a:t>EmbKD </a:t>
            </a:r>
            <a:r>
              <a:rPr lang="zh-CN" altLang="en-US"/>
              <a:t>嵌入蒸馏</a:t>
            </a:r>
            <a:endParaRPr lang="zh-CN" altLang="en-US"/>
          </a:p>
          <a:p>
            <a:r>
              <a:rPr lang="zh-CN" altLang="en-US"/>
              <a:t>嵌入层面对齐，使用</a:t>
            </a:r>
            <a:r>
              <a:rPr lang="en-US" altLang="zh-CN"/>
              <a:t>SCE </a:t>
            </a:r>
            <a:r>
              <a:rPr lang="zh-CN" altLang="en-US"/>
              <a:t>缩放余弦误差损失（替代不稳定的 </a:t>
            </a:r>
            <a:r>
              <a:rPr lang="en-US" altLang="zh-CN"/>
              <a:t>MSE），</a:t>
            </a:r>
            <a:r>
              <a:rPr lang="zh-CN" altLang="en-US"/>
              <a:t>对齐学生物品嵌入与教师各模态感知物品表征，保留细粒度多模态语义。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Show and tell</a:t>
            </a:r>
            <a:r>
              <a:rPr lang="zh-CN" altLang="en-US"/>
              <a:t>：图像字幕（</a:t>
            </a:r>
            <a:r>
              <a:rPr lang="en-US" altLang="zh-CN"/>
              <a:t>Image Caption，</a:t>
            </a:r>
            <a:r>
              <a:rPr lang="zh-CN" altLang="en-US"/>
              <a:t>图像生成自然语言描述）是连接计算机视觉与自然语言处理的任务。它不仅要识别图像物体，还需要推理物体属性、相互关系、行为，输出通顺完整自然句子。</a:t>
            </a:r>
            <a:endParaRPr lang="zh-CN" altLang="en-US"/>
          </a:p>
          <a:p>
            <a:r>
              <a:rPr lang="zh-CN" altLang="en-US"/>
              <a:t>早期方法：多为流水线方案，先做目标检测、属性识别，再依靠模板、规则拼接句子；系统手工设计，灵活性差，很难生成全新句式。也有一部分工作做图像‑句子检索，只能从已有句子库挑选，不能生成新描述。</a:t>
            </a:r>
            <a:endParaRPr lang="zh-CN" altLang="en-US"/>
          </a:p>
          <a:p>
            <a:r>
              <a:rPr lang="zh-CN" altLang="en-US"/>
              <a:t>本文借鉴神经机器翻译 </a:t>
            </a:r>
            <a:r>
              <a:rPr lang="en-US" altLang="zh-CN"/>
              <a:t>Encoder‑Decoder（</a:t>
            </a:r>
            <a:r>
              <a:rPr lang="zh-CN" altLang="en-US"/>
              <a:t>序列到序列 </a:t>
            </a:r>
            <a:r>
              <a:rPr lang="en-US" altLang="zh-CN"/>
              <a:t>Seq2Seq）</a:t>
            </a:r>
            <a:r>
              <a:rPr lang="zh-CN" altLang="en-US"/>
              <a:t>思想：机器翻译用 </a:t>
            </a:r>
            <a:r>
              <a:rPr lang="en-US" altLang="zh-CN"/>
              <a:t>RNN </a:t>
            </a:r>
            <a:r>
              <a:rPr lang="zh-CN" altLang="en-US"/>
              <a:t>编码器读源语言句子，解码器生成目标语言。本文把文本编码器替换成 </a:t>
            </a:r>
            <a:r>
              <a:rPr lang="en-US" altLang="zh-CN"/>
              <a:t>CNN，</a:t>
            </a:r>
            <a:r>
              <a:rPr lang="zh-CN" altLang="en-US"/>
              <a:t>提出</a:t>
            </a:r>
            <a:r>
              <a:rPr lang="en-US" altLang="zh-CN"/>
              <a:t>NIC（Neural Image Caption）</a:t>
            </a:r>
            <a:r>
              <a:rPr lang="zh-CN" altLang="en-US"/>
              <a:t>模型：</a:t>
            </a:r>
            <a:r>
              <a:rPr lang="en-US" altLang="zh-CN"/>
              <a:t>CNN </a:t>
            </a:r>
            <a:r>
              <a:rPr lang="zh-CN" altLang="en-US"/>
              <a:t>作为图像编码器，丢弃分类输出，取出倒数第二层图像向量，作为整张图像的固定维度表征。</a:t>
            </a:r>
            <a:r>
              <a:rPr lang="en-US" altLang="zh-CN"/>
              <a:t>LSTM </a:t>
            </a:r>
            <a:r>
              <a:rPr lang="zh-CN" altLang="en-US"/>
              <a:t>作为语言解码器，端到端训练，输入图像直接生成完整描述句子。</a:t>
            </a:r>
            <a:endParaRPr lang="zh-CN" altLang="en-US"/>
          </a:p>
          <a:p>
            <a:r>
              <a:rPr lang="en-US" altLang="zh-CN"/>
              <a:t>show attend and tell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该方案缺陷：把图像全部信息压缩成一个向量，容易丢失细粒度空间信息；生成每个单词时无法动态聚焦图像不同区域，类似人看图说话时眼睛会随描述目标移动。</a:t>
            </a:r>
            <a:endParaRPr lang="zh-CN" altLang="en-US"/>
          </a:p>
          <a:p>
            <a:r>
              <a:rPr lang="zh-CN" altLang="en-US"/>
              <a:t>本文借鉴机器翻译的注意力机制，提出视觉注意力图像字幕模型。不使用 </a:t>
            </a:r>
            <a:r>
              <a:rPr lang="en-US" altLang="zh-CN"/>
              <a:t>CNN </a:t>
            </a:r>
            <a:r>
              <a:rPr lang="zh-CN" altLang="en-US"/>
              <a:t>全连接层的单一向量，而是取 </a:t>
            </a:r>
            <a:r>
              <a:rPr lang="en-US" altLang="zh-CN"/>
              <a:t>CNN </a:t>
            </a:r>
            <a:r>
              <a:rPr lang="zh-CN" altLang="en-US"/>
              <a:t>卷积层输出的空间二维特征图，得到大量空间位置对应的局部图像特征；解码器 </a:t>
            </a:r>
            <a:r>
              <a:rPr lang="en-US" altLang="zh-CN"/>
              <a:t>LSTM </a:t>
            </a:r>
            <a:r>
              <a:rPr lang="zh-CN" altLang="en-US"/>
              <a:t>每一步生成单词时，通过注意力机制自动选择关注图像哪些区域。</a:t>
            </a:r>
            <a:endParaRPr lang="zh-CN" altLang="en-US"/>
          </a:p>
          <a:p>
            <a:r>
              <a:rPr lang="zh-CN" altLang="en-US"/>
              <a:t>提出两种注意力变体：</a:t>
            </a:r>
            <a:r>
              <a:rPr lang="en-US" altLang="zh-CN"/>
              <a:t>Soft‑Attention（</a:t>
            </a:r>
            <a:r>
              <a:rPr lang="zh-CN" altLang="en-US"/>
              <a:t>软注意力，可微分）、</a:t>
            </a:r>
            <a:r>
              <a:rPr lang="en-US" altLang="zh-CN"/>
              <a:t>Hard‑Attention（</a:t>
            </a:r>
            <a:r>
              <a:rPr lang="zh-CN" altLang="en-US"/>
              <a:t>硬注意力，随机采样）；并且注意力权重可以可视化，让模型具备可解释性。</a:t>
            </a:r>
            <a:endParaRPr lang="zh-CN" altLang="en-US"/>
          </a:p>
          <a:p>
            <a:r>
              <a:rPr lang="en-US" altLang="zh-CN"/>
              <a:t>Soft‑Attention </a:t>
            </a:r>
            <a:r>
              <a:rPr lang="zh-CN" altLang="en-US"/>
              <a:t>软注意力（确定性、可微分）上下文向量是所有图像局部特征的加权求和：</a:t>
            </a:r>
            <a:endParaRPr lang="zh-CN" altLang="en-US"/>
          </a:p>
          <a:p>
            <a:r>
              <a:rPr lang="en-US" altLang="zh-CN"/>
              <a:t>Hard‑Attention </a:t>
            </a:r>
            <a:r>
              <a:rPr lang="zh-CN" altLang="en-US"/>
              <a:t>硬注意力（随机、采样）把注意力位置视为离散隐变量\(</a:t>
            </a:r>
            <a:r>
              <a:rPr lang="en-US" altLang="zh-CN"/>
              <a:t>s_t\)，</a:t>
            </a:r>
            <a:r>
              <a:rPr lang="zh-CN" altLang="en-US"/>
              <a:t>每次随机采样一个图像位置，只拿该位置的\(</a:t>
            </a:r>
            <a:r>
              <a:rPr lang="en-US" altLang="zh-CN"/>
              <a:t>a_i\)</a:t>
            </a:r>
            <a:r>
              <a:rPr lang="zh-CN" altLang="en-US"/>
              <a:t>作为上下文向量：</a:t>
            </a:r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FiLM（Feature‑wise Linear Modulation，</a:t>
            </a:r>
            <a:r>
              <a:rPr lang="zh-CN" altLang="en-US"/>
              <a:t>逐特征线性调制）是一种通用条件调制机制。在视觉问答 / 视觉推理任务中，用文本（问题）生成调制参数，动态修改 </a:t>
            </a:r>
            <a:r>
              <a:rPr lang="en-US" altLang="zh-CN"/>
              <a:t>CNN </a:t>
            </a:r>
            <a:r>
              <a:rPr lang="zh-CN" altLang="en-US"/>
              <a:t>视觉中间特征图，实现语言对视觉网络的条件控制；在 </a:t>
            </a:r>
            <a:r>
              <a:rPr lang="en-US" altLang="zh-CN"/>
              <a:t>CLEVR </a:t>
            </a:r>
            <a:r>
              <a:rPr lang="zh-CN" altLang="en-US"/>
              <a:t>合成视觉推理数据集取得 </a:t>
            </a:r>
            <a:r>
              <a:rPr lang="en-US" altLang="zh-CN"/>
              <a:t>SOTA。</a:t>
            </a:r>
            <a:r>
              <a:rPr lang="zh-CN" altLang="en-US"/>
              <a:t>该方法不依赖模块化网络、不需要程序标注监督信号。</a:t>
            </a:r>
            <a:endParaRPr lang="zh-CN" altLang="en-US"/>
          </a:p>
          <a:p>
            <a:r>
              <a:rPr lang="zh-CN" altLang="en-US"/>
              <a:t>给定条件输入（</a:t>
            </a:r>
            <a:r>
              <a:rPr lang="en-US" altLang="zh-CN"/>
              <a:t>V‑QA </a:t>
            </a:r>
            <a:r>
              <a:rPr lang="zh-CN" altLang="en-US"/>
              <a:t>中就是问题文本），</a:t>
            </a:r>
            <a:r>
              <a:rPr lang="en-US" altLang="zh-CN"/>
              <a:t>FiLM </a:t>
            </a:r>
            <a:r>
              <a:rPr lang="zh-CN" altLang="en-US"/>
              <a:t>生成一组参数 \(\</a:t>
            </a:r>
            <a:r>
              <a:rPr lang="en-US" altLang="zh-CN"/>
              <a:t>gamma_{i,c}\)（</a:t>
            </a:r>
            <a:r>
              <a:rPr lang="zh-CN" altLang="en-US"/>
              <a:t>缩放因子）、\(\</a:t>
            </a:r>
            <a:r>
              <a:rPr lang="en-US" altLang="zh-CN"/>
              <a:t>beta_{i,c}\)（</a:t>
            </a:r>
            <a:r>
              <a:rPr lang="zh-CN" altLang="en-US"/>
              <a:t>偏移因子），对 </a:t>
            </a:r>
            <a:r>
              <a:rPr lang="en-US" altLang="zh-CN"/>
              <a:t>CNN </a:t>
            </a:r>
            <a:r>
              <a:rPr lang="zh-CN" altLang="en-US"/>
              <a:t>每一个特征图做逐通道仿射变换：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分为两大部分：</a:t>
            </a:r>
            <a:r>
              <a:rPr lang="en-US" altLang="zh-CN"/>
              <a:t>FiLM </a:t>
            </a:r>
            <a:r>
              <a:rPr lang="zh-CN" altLang="en-US"/>
              <a:t>生成器、被 </a:t>
            </a:r>
            <a:r>
              <a:rPr lang="en-US" altLang="zh-CN"/>
              <a:t>FiLM </a:t>
            </a:r>
            <a:r>
              <a:rPr lang="zh-CN" altLang="en-US"/>
              <a:t>调制的视觉 </a:t>
            </a:r>
            <a:r>
              <a:rPr lang="en-US" altLang="zh-CN"/>
              <a:t>CNN </a:t>
            </a:r>
            <a:r>
              <a:rPr lang="zh-CN" altLang="en-US"/>
              <a:t>网络</a:t>
            </a:r>
            <a:endParaRPr lang="zh-CN" altLang="en-US"/>
          </a:p>
          <a:p>
            <a:r>
              <a:rPr lang="en-US" altLang="zh-CN"/>
              <a:t>FiLM </a:t>
            </a:r>
            <a:r>
              <a:rPr lang="zh-CN" altLang="en-US"/>
              <a:t>生成器（语言分支）</a:t>
            </a:r>
            <a:endParaRPr lang="zh-CN" altLang="en-US"/>
          </a:p>
          <a:p>
            <a:r>
              <a:rPr lang="zh-CN" altLang="en-US"/>
              <a:t>问题文本经过词嵌入送入 </a:t>
            </a:r>
            <a:r>
              <a:rPr lang="en-US" altLang="zh-CN"/>
              <a:t>GRU，</a:t>
            </a:r>
            <a:r>
              <a:rPr lang="zh-CN" altLang="en-US"/>
              <a:t>取 </a:t>
            </a:r>
            <a:r>
              <a:rPr lang="en-US" altLang="zh-CN"/>
              <a:t>GRU </a:t>
            </a:r>
            <a:r>
              <a:rPr lang="zh-CN" altLang="en-US"/>
              <a:t>最后隐状态，通过全连接层输出每一个 </a:t>
            </a:r>
            <a:r>
              <a:rPr lang="en-US" altLang="zh-CN"/>
              <a:t>ResBlock </a:t>
            </a:r>
            <a:r>
              <a:rPr lang="zh-CN" altLang="en-US"/>
              <a:t>对应的整套 \((\</a:t>
            </a:r>
            <a:r>
              <a:rPr lang="en-US" altLang="zh-CN"/>
              <a:t>gamma,\beta)\) </a:t>
            </a:r>
            <a:r>
              <a:rPr lang="zh-CN" altLang="en-US"/>
              <a:t>参数。</a:t>
            </a:r>
            <a:endParaRPr lang="zh-CN" altLang="en-US"/>
          </a:p>
          <a:p>
            <a:r>
              <a:rPr lang="zh-CN" altLang="en-US"/>
              <a:t>被调制的视觉网络（</a:t>
            </a:r>
            <a:r>
              <a:rPr lang="en-US" altLang="zh-CN"/>
              <a:t>FiLM‑ed network）</a:t>
            </a:r>
            <a:endParaRPr lang="en-US" altLang="zh-CN"/>
          </a:p>
          <a:p>
            <a:r>
              <a:rPr lang="zh-CN" altLang="en-US"/>
              <a:t>图像送入 </a:t>
            </a:r>
            <a:r>
              <a:rPr lang="en-US" altLang="zh-CN"/>
              <a:t>CNN </a:t>
            </a:r>
            <a:r>
              <a:rPr lang="zh-CN" altLang="en-US"/>
              <a:t>得到特征，堆叠多个残差块 </a:t>
            </a:r>
            <a:r>
              <a:rPr lang="en-US" altLang="zh-CN"/>
              <a:t>ResBlock；</a:t>
            </a:r>
            <a:r>
              <a:rPr lang="zh-CN" altLang="en-US"/>
              <a:t>每个残差块内部插入 </a:t>
            </a:r>
            <a:r>
              <a:rPr lang="en-US" altLang="zh-CN"/>
              <a:t>FiLM </a:t>
            </a:r>
            <a:r>
              <a:rPr lang="zh-CN" altLang="en-US"/>
              <a:t>层，用问题生成的 </a:t>
            </a:r>
            <a:r>
              <a:rPr lang="en-US" altLang="zh-CN"/>
              <a:t>γ、β </a:t>
            </a:r>
            <a:r>
              <a:rPr lang="zh-CN" altLang="en-US"/>
              <a:t>对本块的特征图做调制。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可选：输入拼接坐标特征图，给网络提供 </a:t>
            </a:r>
            <a:r>
              <a:rPr lang="en-US" altLang="zh-CN"/>
              <a:t>xy </a:t>
            </a:r>
            <a:r>
              <a:rPr lang="zh-CN" altLang="en-US"/>
              <a:t>空间位置信息，辅助空间推理。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分类头：全局最大池化 + 两层 </a:t>
            </a:r>
            <a:r>
              <a:rPr lang="en-US" altLang="zh-CN"/>
              <a:t>MLP，</a:t>
            </a:r>
            <a:r>
              <a:rPr lang="zh-CN" altLang="en-US"/>
              <a:t>输出答案分布。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区别于普通 </a:t>
            </a:r>
            <a:r>
              <a:rPr lang="en-US" altLang="zh-CN"/>
              <a:t>VQA：</a:t>
            </a:r>
            <a:r>
              <a:rPr lang="zh-CN" altLang="en-US"/>
              <a:t>不是把图像特征和文本特征做拼接 / 点积 / 注意力；而是语言直接干预 </a:t>
            </a:r>
            <a:r>
              <a:rPr lang="en-US" altLang="zh-CN"/>
              <a:t>CNN </a:t>
            </a:r>
            <a:r>
              <a:rPr lang="zh-CN" altLang="en-US"/>
              <a:t>中间层的视觉计算流。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极简的生成式图文预训练模型。区别 </a:t>
            </a:r>
            <a:r>
              <a:rPr lang="en-US" altLang="zh-CN"/>
              <a:t>CLIP/ALIGN（</a:t>
            </a:r>
            <a:r>
              <a:rPr lang="zh-CN" altLang="en-US"/>
              <a:t>对比学习、双编码器，侧重检索）；区别 </a:t>
            </a:r>
            <a:r>
              <a:rPr lang="en-US" altLang="zh-CN"/>
              <a:t>UNITER/LXMERT（MLM </a:t>
            </a:r>
            <a:r>
              <a:rPr lang="zh-CN" altLang="en-US"/>
              <a:t>掩码建模，多损失、依赖检测器 </a:t>
            </a:r>
            <a:r>
              <a:rPr lang="en-US" altLang="zh-CN"/>
              <a:t>ROI </a:t>
            </a:r>
            <a:r>
              <a:rPr lang="zh-CN" altLang="en-US"/>
              <a:t>特征）。</a:t>
            </a:r>
            <a:r>
              <a:rPr lang="en-US" altLang="zh-CN"/>
              <a:t>SimVLM </a:t>
            </a:r>
            <a:r>
              <a:rPr lang="zh-CN" altLang="en-US"/>
              <a:t>使用单一 </a:t>
            </a:r>
            <a:r>
              <a:rPr lang="en-US" altLang="zh-CN"/>
              <a:t>PrefixLM（</a:t>
            </a:r>
            <a:r>
              <a:rPr lang="zh-CN" altLang="en-US"/>
              <a:t>前缀语言建模）目标，编码器‑解码器架构，直接输入原始图像 </a:t>
            </a:r>
            <a:r>
              <a:rPr lang="en-US" altLang="zh-CN"/>
              <a:t>patch，</a:t>
            </a:r>
            <a:r>
              <a:rPr lang="zh-CN" altLang="en-US"/>
              <a:t>不需要目标检测器，用大规模弱噪声图文数据训练，同时支持判别式、生成式图文任务，具备零样本能力。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2.1 PrefixLM </a:t>
            </a:r>
            <a:r>
              <a:rPr lang="zh-CN" altLang="en-US"/>
              <a:t>原理融合 </a:t>
            </a:r>
            <a:r>
              <a:rPr lang="en-US" altLang="zh-CN"/>
              <a:t>BERT </a:t>
            </a:r>
            <a:r>
              <a:rPr lang="zh-CN" altLang="en-US"/>
              <a:t>双向建模与 </a:t>
            </a:r>
            <a:r>
              <a:rPr lang="en-US" altLang="zh-CN"/>
              <a:t>GPT </a:t>
            </a:r>
            <a:r>
              <a:rPr lang="zh-CN" altLang="en-US"/>
              <a:t>自回归生成的优点：</a:t>
            </a:r>
            <a:endParaRPr lang="zh-CN" altLang="en-US"/>
          </a:p>
          <a:p>
            <a:r>
              <a:rPr lang="zh-CN" altLang="en-US"/>
              <a:t>前缀 </a:t>
            </a:r>
            <a:r>
              <a:rPr lang="en-US" altLang="zh-CN"/>
              <a:t>prefix </a:t>
            </a:r>
            <a:r>
              <a:rPr lang="zh-CN" altLang="en-US"/>
              <a:t>部分做双向注意力；</a:t>
            </a:r>
            <a:endParaRPr lang="zh-CN" altLang="en-US"/>
          </a:p>
          <a:p>
            <a:r>
              <a:rPr lang="zh-CN" altLang="en-US"/>
              <a:t>后续部分做单向自回归预测。</a:t>
            </a:r>
            <a:endParaRPr lang="zh-CN" altLang="en-US"/>
          </a:p>
          <a:p>
            <a:r>
              <a:rPr lang="zh-CN" altLang="en-US"/>
              <a:t>对于图文样本：把图像 </a:t>
            </a:r>
            <a:r>
              <a:rPr lang="en-US" altLang="zh-CN"/>
              <a:t>patch </a:t>
            </a:r>
            <a:r>
              <a:rPr lang="zh-CN" altLang="en-US"/>
              <a:t>序列当做前缀，图像特征全部可以双向看到；模型基于图像前缀，自回归预测后面的文本描述。</a:t>
            </a:r>
            <a:endParaRPr lang="zh-CN" altLang="en-US"/>
          </a:p>
          <a:p>
            <a:r>
              <a:rPr lang="en-US" altLang="zh-CN"/>
              <a:t>\(\mathcal{L}_{PrefixLM }(\theta)=-\mathbb{E}_{x \sim D}\left[log P_{\theta}\left(x_{\geq T_{p}} | x_{&lt;T_{p}}\right)\right]\)</a:t>
            </a:r>
            <a:endParaRPr lang="en-US" altLang="zh-CN"/>
          </a:p>
          <a:p>
            <a:r>
              <a:rPr lang="zh-CN" altLang="en-US"/>
              <a:t>该目标模态无关：既可以处理图文对，也可以直接处理纯文本数据。</a:t>
            </a:r>
            <a:endParaRPr lang="zh-CN" altLang="en-US"/>
          </a:p>
          <a:p>
            <a:r>
              <a:rPr lang="zh-CN" altLang="en-US"/>
              <a:t>2.2 模型架构（编码器‑解码器）</a:t>
            </a:r>
            <a:endParaRPr lang="zh-CN" altLang="en-US"/>
          </a:p>
          <a:p>
            <a:r>
              <a:rPr lang="zh-CN" altLang="en-US"/>
              <a:t>图像输入处理：使用 </a:t>
            </a:r>
            <a:r>
              <a:rPr lang="en-US" altLang="zh-CN"/>
              <a:t>CoAtNet </a:t>
            </a:r>
            <a:r>
              <a:rPr lang="zh-CN" altLang="en-US"/>
              <a:t>前 3 个 </a:t>
            </a:r>
            <a:r>
              <a:rPr lang="en-US" altLang="zh-CN"/>
              <a:t>ResNet </a:t>
            </a:r>
            <a:r>
              <a:rPr lang="zh-CN" altLang="en-US"/>
              <a:t>卷积块，把图片切 </a:t>
            </a:r>
            <a:r>
              <a:rPr lang="en-US" altLang="zh-CN"/>
              <a:t>patch </a:t>
            </a:r>
            <a:r>
              <a:rPr lang="zh-CN" altLang="en-US"/>
              <a:t>得到图像 </a:t>
            </a:r>
            <a:r>
              <a:rPr lang="en-US" altLang="zh-CN"/>
              <a:t>token </a:t>
            </a:r>
            <a:r>
              <a:rPr lang="zh-CN" altLang="en-US"/>
              <a:t>序列，不使用外部检测器，完全端到端；图像部分加入 2</a:t>
            </a:r>
            <a:r>
              <a:rPr lang="en-US" altLang="zh-CN"/>
              <a:t>D </a:t>
            </a:r>
            <a:r>
              <a:rPr lang="zh-CN" altLang="en-US"/>
              <a:t>相对位置注意力。</a:t>
            </a:r>
            <a:endParaRPr lang="zh-CN" altLang="en-US"/>
          </a:p>
          <a:p>
            <a:r>
              <a:rPr lang="zh-CN" altLang="en-US"/>
              <a:t>编码器 </a:t>
            </a:r>
            <a:r>
              <a:rPr lang="en-US" altLang="zh-CN"/>
              <a:t>Encoder：</a:t>
            </a:r>
            <a:r>
              <a:rPr lang="zh-CN" altLang="en-US"/>
              <a:t>接收图像 </a:t>
            </a:r>
            <a:r>
              <a:rPr lang="en-US" altLang="zh-CN"/>
              <a:t>patch </a:t>
            </a:r>
            <a:r>
              <a:rPr lang="zh-CN" altLang="en-US"/>
              <a:t>序列（前缀）或者纯文本序列，做双向注意力。</a:t>
            </a:r>
            <a:endParaRPr lang="zh-CN" altLang="en-US"/>
          </a:p>
          <a:p>
            <a:r>
              <a:rPr lang="zh-CN" altLang="en-US"/>
              <a:t>解码器 </a:t>
            </a:r>
            <a:r>
              <a:rPr lang="en-US" altLang="zh-CN"/>
              <a:t>Decoder：</a:t>
            </a:r>
            <a:r>
              <a:rPr lang="zh-CN" altLang="en-US"/>
              <a:t>自回归生成文本，基于编码器输出做交叉注意力。</a:t>
            </a:r>
            <a:endParaRPr lang="zh-CN" altLang="en-US"/>
          </a:p>
          <a:p>
            <a:r>
              <a:rPr lang="zh-CN" altLang="en-US"/>
              <a:t>变体：</a:t>
            </a:r>
            <a:r>
              <a:rPr lang="en-US" altLang="zh-CN"/>
              <a:t>Base / Large / Huge </a:t>
            </a:r>
            <a:r>
              <a:rPr lang="zh-CN" altLang="en-US"/>
              <a:t>三个规模，全部从头开始训练。</a:t>
            </a:r>
            <a:endParaRPr lang="zh-CN" altLang="en-US"/>
          </a:p>
          <a:p>
            <a:r>
              <a:rPr lang="zh-CN" altLang="en-US"/>
              <a:t>2.3 训练数据集</a:t>
            </a:r>
            <a:endParaRPr lang="zh-CN" altLang="en-US"/>
          </a:p>
          <a:p>
            <a:r>
              <a:rPr lang="zh-CN" altLang="en-US"/>
              <a:t>图文对：复用 </a:t>
            </a:r>
            <a:r>
              <a:rPr lang="en-US" altLang="zh-CN"/>
              <a:t>ALIGN </a:t>
            </a:r>
            <a:r>
              <a:rPr lang="zh-CN" altLang="en-US"/>
              <a:t>论文的1.8</a:t>
            </a:r>
            <a:r>
              <a:rPr lang="en-US" altLang="zh-CN"/>
              <a:t>B </a:t>
            </a:r>
            <a:r>
              <a:rPr lang="zh-CN" altLang="en-US"/>
              <a:t>噪声网页 </a:t>
            </a:r>
            <a:r>
              <a:rPr lang="en-US" altLang="zh-CN"/>
              <a:t>alt‑text </a:t>
            </a:r>
            <a:r>
              <a:rPr lang="zh-CN" altLang="en-US"/>
              <a:t>图文对，几乎不做过滤；</a:t>
            </a:r>
            <a:endParaRPr lang="zh-CN" altLang="en-US"/>
          </a:p>
          <a:p>
            <a:r>
              <a:rPr lang="zh-CN" altLang="en-US"/>
              <a:t>纯文本：</a:t>
            </a:r>
            <a:r>
              <a:rPr lang="en-US" altLang="zh-CN"/>
              <a:t>C4 </a:t>
            </a:r>
            <a:r>
              <a:rPr lang="zh-CN" altLang="en-US"/>
              <a:t>大规模网页文本语料，弥补 </a:t>
            </a:r>
            <a:r>
              <a:rPr lang="en-US" altLang="zh-CN"/>
              <a:t>alt‑text </a:t>
            </a:r>
            <a:r>
              <a:rPr lang="zh-CN" altLang="en-US"/>
              <a:t>文本质量差的问题；</a:t>
            </a:r>
            <a:endParaRPr lang="zh-CN" altLang="en-US"/>
          </a:p>
          <a:p>
            <a:r>
              <a:rPr lang="zh-CN" altLang="en-US"/>
              <a:t>混合采样：每个 </a:t>
            </a:r>
            <a:r>
              <a:rPr lang="en-US" altLang="zh-CN"/>
              <a:t>batch </a:t>
            </a:r>
            <a:r>
              <a:rPr lang="zh-CN" altLang="en-US"/>
              <a:t>混合 4096 个图文样本 + 512 条纯文本，统一使用 </a:t>
            </a:r>
            <a:r>
              <a:rPr lang="en-US" altLang="zh-CN"/>
              <a:t>PrefixLM </a:t>
            </a:r>
            <a:r>
              <a:rPr lang="zh-CN" altLang="en-US"/>
              <a:t>损失训练。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关键：全程只使用 </a:t>
            </a:r>
            <a:r>
              <a:rPr lang="en-US" altLang="zh-CN"/>
              <a:t>PrefixLM </a:t>
            </a:r>
            <a:r>
              <a:rPr lang="zh-CN" altLang="en-US"/>
              <a:t>这一个损失，没有对比损失、</a:t>
            </a:r>
            <a:r>
              <a:rPr lang="en-US" altLang="zh-CN"/>
              <a:t>ITM、</a:t>
            </a:r>
            <a:r>
              <a:rPr lang="zh-CN" altLang="en-US"/>
              <a:t>掩码图像重建等其他辅助损失。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对比字幕模型，统一三大预训练范式。把双编码器对比学习（</a:t>
            </a:r>
            <a:r>
              <a:rPr lang="en-US" altLang="zh-CN"/>
              <a:t>CLIP/ALIGN）、</a:t>
            </a:r>
            <a:r>
              <a:rPr lang="zh-CN" altLang="en-US"/>
              <a:t>编码器‑解码器生成式预训练（</a:t>
            </a:r>
            <a:r>
              <a:rPr lang="en-US" altLang="zh-CN"/>
              <a:t>SimVLM）、</a:t>
            </a:r>
            <a:r>
              <a:rPr lang="zh-CN" altLang="en-US"/>
              <a:t>传统单编码器图像分类预训练融合进同一个编码器‑解码器架构；同时具备零样本检索、零样本图像分类、</a:t>
            </a:r>
            <a:r>
              <a:rPr lang="en-US" altLang="zh-CN"/>
              <a:t>VQA、</a:t>
            </a:r>
            <a:r>
              <a:rPr lang="zh-CN" altLang="en-US"/>
              <a:t>图像字幕生成全套能力，单模型兼顾对齐检索与多模态生成推理。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整体：图像编码器 + 解耦式文本解码器</a:t>
            </a:r>
            <a:endParaRPr lang="zh-CN" altLang="en-US"/>
          </a:p>
          <a:p>
            <a:r>
              <a:rPr lang="zh-CN" altLang="en-US"/>
              <a:t>图像编码器：</a:t>
            </a:r>
            <a:r>
              <a:rPr lang="en-US" altLang="zh-CN"/>
              <a:t>ViT（ViT‑Base / Large / Giant），</a:t>
            </a:r>
            <a:r>
              <a:rPr lang="zh-CN" altLang="en-US"/>
              <a:t>输出图像 </a:t>
            </a:r>
            <a:r>
              <a:rPr lang="en-US" altLang="zh-CN"/>
              <a:t>patch </a:t>
            </a:r>
            <a:r>
              <a:rPr lang="zh-CN" altLang="en-US"/>
              <a:t>序列。引入注意力池化 </a:t>
            </a:r>
            <a:r>
              <a:rPr lang="en-US" altLang="zh-CN"/>
              <a:t>Attentional Pooler：</a:t>
            </a:r>
            <a:r>
              <a:rPr lang="zh-CN" altLang="en-US"/>
              <a:t>可学习 </a:t>
            </a:r>
            <a:r>
              <a:rPr lang="en-US" altLang="zh-CN"/>
              <a:t>query，</a:t>
            </a:r>
            <a:r>
              <a:rPr lang="zh-CN" altLang="en-US"/>
              <a:t>得到不同粒度视觉表示：</a:t>
            </a:r>
            <a:endParaRPr lang="zh-CN" altLang="en-US"/>
          </a:p>
          <a:p>
            <a:r>
              <a:rPr lang="zh-CN" altLang="en-US"/>
              <a:t>1 个 </a:t>
            </a:r>
            <a:r>
              <a:rPr lang="en-US" altLang="zh-CN"/>
              <a:t>query：</a:t>
            </a:r>
            <a:r>
              <a:rPr lang="zh-CN" altLang="en-US"/>
              <a:t>输出全局单向量，用于对比损失、图像分类；</a:t>
            </a:r>
            <a:endParaRPr lang="zh-CN" altLang="en-US"/>
          </a:p>
          <a:p>
            <a:r>
              <a:rPr lang="zh-CN" altLang="en-US"/>
              <a:t>256 个 </a:t>
            </a:r>
            <a:r>
              <a:rPr lang="en-US" altLang="zh-CN"/>
              <a:t>query：</a:t>
            </a:r>
            <a:r>
              <a:rPr lang="zh-CN" altLang="en-US"/>
              <a:t>保留细粒度序列特征，送入解码器做字幕生成、多模态推理。</a:t>
            </a:r>
            <a:endParaRPr lang="zh-CN" altLang="en-US"/>
          </a:p>
          <a:p>
            <a:r>
              <a:rPr lang="zh-CN" altLang="en-US"/>
              <a:t>解耦级联文本解码器（核心创新）：解码器分成上下两部分，全部使用因果 </a:t>
            </a:r>
            <a:r>
              <a:rPr lang="en-US" altLang="zh-CN"/>
              <a:t>mask（</a:t>
            </a:r>
            <a:r>
              <a:rPr lang="zh-CN" altLang="en-US"/>
              <a:t>不能看到未来 </a:t>
            </a:r>
            <a:r>
              <a:rPr lang="en-US" altLang="zh-CN"/>
              <a:t>token）</a:t>
            </a:r>
            <a:endParaRPr lang="en-US" altLang="zh-CN"/>
          </a:p>
          <a:p>
            <a:r>
              <a:rPr lang="zh-CN" altLang="en-US"/>
              <a:t>下层 </a:t>
            </a:r>
            <a:r>
              <a:rPr lang="en-US" altLang="zh-CN"/>
              <a:t>Unimodal（</a:t>
            </a:r>
            <a:r>
              <a:rPr lang="zh-CN" altLang="en-US"/>
              <a:t>单模态层）：没有跨注意力，只做文本自注意力。输入文本，输出[</a:t>
            </a:r>
            <a:r>
              <a:rPr lang="en-US" altLang="zh-CN"/>
              <a:t>CLS]</a:t>
            </a:r>
            <a:r>
              <a:rPr lang="zh-CN" altLang="en-US"/>
              <a:t>作为文本全局表征，用于对比损失。</a:t>
            </a:r>
            <a:endParaRPr lang="zh-CN" altLang="en-US"/>
          </a:p>
          <a:p>
            <a:r>
              <a:rPr lang="zh-CN" altLang="en-US"/>
              <a:t>上层 </a:t>
            </a:r>
            <a:r>
              <a:rPr lang="en-US" altLang="zh-CN"/>
              <a:t>Multimodal（</a:t>
            </a:r>
            <a:r>
              <a:rPr lang="zh-CN" altLang="en-US"/>
              <a:t>多模态层）：加入跨注意力，查询图像编码器输出；用于字幕生成、</a:t>
            </a:r>
            <a:r>
              <a:rPr lang="en-US" altLang="zh-CN"/>
              <a:t>VQA </a:t>
            </a:r>
            <a:r>
              <a:rPr lang="zh-CN" altLang="en-US"/>
              <a:t>等多模态任务。</a:t>
            </a:r>
            <a:endParaRPr lang="zh-CN" altLang="en-US"/>
          </a:p>
          <a:p>
            <a:r>
              <a:rPr lang="zh-CN" altLang="en-US"/>
              <a:t>一次前向传播同时产出：①用于对比的图像 / 文本全局向量；②用于生成推理的多模态融合序列，计算两个损失几乎无额外计算开销。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对比损失（同 </a:t>
            </a:r>
            <a:r>
              <a:rPr lang="en-US" altLang="zh-CN"/>
              <a:t>CLIP/ALIGN </a:t>
            </a:r>
            <a:r>
              <a:rPr lang="zh-CN" altLang="en-US"/>
              <a:t>双向图文对比）：图像编码器全局 </a:t>
            </a:r>
            <a:r>
              <a:rPr lang="en-US" altLang="zh-CN"/>
              <a:t>pool </a:t>
            </a:r>
            <a:r>
              <a:rPr lang="zh-CN" altLang="en-US"/>
              <a:t>输出，与单模态解码器输出的文本[</a:t>
            </a:r>
            <a:r>
              <a:rPr lang="en-US" altLang="zh-CN"/>
              <a:t>CLS]</a:t>
            </a:r>
            <a:r>
              <a:rPr lang="zh-CN" altLang="en-US"/>
              <a:t>做双向 </a:t>
            </a:r>
            <a:r>
              <a:rPr lang="en-US" altLang="zh-CN"/>
              <a:t>in‑batch </a:t>
            </a:r>
            <a:r>
              <a:rPr lang="zh-CN" altLang="en-US"/>
              <a:t>对比学习，负责跨模态对齐、零样本检索、零样本分类。</a:t>
            </a:r>
            <a:endParaRPr lang="zh-CN" altLang="en-US"/>
          </a:p>
          <a:p>
            <a:r>
              <a:rPr lang="zh-CN" altLang="en-US"/>
              <a:t>字幕生成损失（自回归）：多模态解码器基于图像做文本 </a:t>
            </a:r>
            <a:r>
              <a:rPr lang="en-US" altLang="zh-CN"/>
              <a:t>token </a:t>
            </a:r>
            <a:r>
              <a:rPr lang="zh-CN" altLang="en-US"/>
              <a:t>预测；图像标签直接当做文本，因此传统图像分类等价于该生成损失的特例，可直接复用 </a:t>
            </a:r>
            <a:r>
              <a:rPr lang="en-US" altLang="zh-CN"/>
              <a:t>JFT‑3B </a:t>
            </a:r>
            <a:r>
              <a:rPr lang="zh-CN" altLang="en-US"/>
              <a:t>带标签图片。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BLIP </a:t>
            </a:r>
            <a:r>
              <a:rPr lang="zh-CN" altLang="en-US"/>
              <a:t>是面向统一理解与生成任务的视觉语言预训练框架，针对传统 </a:t>
            </a:r>
            <a:r>
              <a:rPr lang="en-US" altLang="zh-CN"/>
              <a:t>VLP </a:t>
            </a:r>
            <a:r>
              <a:rPr lang="zh-CN" altLang="en-US"/>
              <a:t>模型无法兼顾检索理解与文本生成、网页图文数据噪声严重两大痛点展开研究。它设计 </a:t>
            </a:r>
            <a:r>
              <a:rPr lang="en-US" altLang="zh-CN"/>
              <a:t>MED </a:t>
            </a:r>
            <a:r>
              <a:rPr lang="zh-CN" altLang="en-US"/>
              <a:t>混合编解码器架构，文本模块共享大部分参数，依靠切换注意力模式分别完成检索、图文匹配、文本生成，并联合 </a:t>
            </a:r>
            <a:r>
              <a:rPr lang="en-US" altLang="zh-CN"/>
              <a:t>ITC、ITM、LM </a:t>
            </a:r>
            <a:r>
              <a:rPr lang="zh-CN" altLang="en-US"/>
              <a:t>三类损失开展高效预训练。同时提出 </a:t>
            </a:r>
            <a:r>
              <a:rPr lang="en-US" altLang="zh-CN"/>
              <a:t>CapFilt </a:t>
            </a:r>
            <a:r>
              <a:rPr lang="zh-CN" altLang="en-US"/>
              <a:t>自举方案，借助模型自身对噪声网页图文数据做清洗扩充，单套权重可适配图文检索、</a:t>
            </a:r>
            <a:r>
              <a:rPr lang="en-US" altLang="zh-CN"/>
              <a:t>VQA、</a:t>
            </a:r>
            <a:r>
              <a:rPr lang="zh-CN" altLang="en-US"/>
              <a:t>图像字幕，还能零样本迁移至视频任务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核心定位：统一理解 + 生成任务的视觉语言预训练框架。指出传统 </a:t>
            </a:r>
            <a:r>
              <a:rPr lang="en-US" altLang="zh-CN"/>
              <a:t>VLP </a:t>
            </a:r>
            <a:r>
              <a:rPr lang="zh-CN" altLang="en-US"/>
              <a:t>两大痛点：①模型要么擅长检索理解（</a:t>
            </a:r>
            <a:r>
              <a:rPr lang="en-US" altLang="zh-CN"/>
              <a:t>CLIP/ALBEF </a:t>
            </a:r>
            <a:r>
              <a:rPr lang="zh-CN" altLang="en-US"/>
              <a:t>双编码器），要么擅长生成（编码器‑解码器），难以兼顾；②网页爬取的图文对存在大量噪声。</a:t>
            </a:r>
            <a:r>
              <a:rPr lang="en-US" altLang="zh-CN"/>
              <a:t>BLIP </a:t>
            </a:r>
            <a:r>
              <a:rPr lang="zh-CN" altLang="en-US"/>
              <a:t>提出</a:t>
            </a:r>
            <a:r>
              <a:rPr lang="en-US" altLang="zh-CN"/>
              <a:t>MED </a:t>
            </a:r>
            <a:r>
              <a:rPr lang="zh-CN" altLang="en-US"/>
              <a:t>混合编码器‑解码器架构和</a:t>
            </a:r>
            <a:r>
              <a:rPr lang="en-US" altLang="zh-CN"/>
              <a:t>CapFilt </a:t>
            </a:r>
            <a:r>
              <a:rPr lang="zh-CN" altLang="en-US"/>
              <a:t>数据集自举引导方案，用噪声网页数据同时做好检索、</a:t>
            </a:r>
            <a:r>
              <a:rPr lang="en-US" altLang="zh-CN"/>
              <a:t>VQA、</a:t>
            </a:r>
            <a:r>
              <a:rPr lang="zh-CN" altLang="en-US"/>
              <a:t>图像字幕，还可以零样本迁移到视频任务。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研究背景与动机</a:t>
            </a:r>
            <a:endParaRPr lang="zh-CN" altLang="en-US"/>
          </a:p>
          <a:p>
            <a:r>
              <a:rPr lang="zh-CN" altLang="en-US"/>
              <a:t>模型角度</a:t>
            </a:r>
            <a:endParaRPr lang="zh-CN" altLang="en-US"/>
          </a:p>
          <a:p>
            <a:r>
              <a:rPr lang="zh-CN" altLang="en-US"/>
              <a:t>纯编码器模型（</a:t>
            </a:r>
            <a:r>
              <a:rPr lang="en-US" altLang="zh-CN"/>
              <a:t>CLIP、ALBEF）：</a:t>
            </a:r>
            <a:r>
              <a:rPr lang="zh-CN" altLang="en-US"/>
              <a:t>擅长图文检索、对比对齐，但不适合图像字幕这类生成任务。</a:t>
            </a:r>
            <a:endParaRPr lang="zh-CN" altLang="en-US"/>
          </a:p>
          <a:p>
            <a:r>
              <a:rPr lang="zh-CN" altLang="en-US"/>
              <a:t>普通编码器‑解码器（</a:t>
            </a:r>
            <a:r>
              <a:rPr lang="en-US" altLang="zh-CN"/>
              <a:t>SimVLM）：</a:t>
            </a:r>
            <a:r>
              <a:rPr lang="zh-CN" altLang="en-US"/>
              <a:t>擅长字幕、</a:t>
            </a:r>
            <a:r>
              <a:rPr lang="en-US" altLang="zh-CN"/>
              <a:t>VQA </a:t>
            </a:r>
            <a:r>
              <a:rPr lang="zh-CN" altLang="en-US"/>
              <a:t>生成，但图文检索效果一般。</a:t>
            </a:r>
            <a:endParaRPr lang="zh-CN" altLang="en-US"/>
          </a:p>
          <a:p>
            <a:r>
              <a:rPr lang="zh-CN" altLang="en-US"/>
              <a:t>缺少一套模型同时兼顾理解任务（检索、</a:t>
            </a:r>
            <a:r>
              <a:rPr lang="en-US" altLang="zh-CN"/>
              <a:t>ITM </a:t>
            </a:r>
            <a:r>
              <a:rPr lang="zh-CN" altLang="en-US"/>
              <a:t>匹配）和生成任务（字幕、开放式 </a:t>
            </a:r>
            <a:r>
              <a:rPr lang="en-US" altLang="zh-CN"/>
              <a:t>VQA）。</a:t>
            </a:r>
            <a:endParaRPr lang="en-US" altLang="zh-CN"/>
          </a:p>
          <a:p>
            <a:r>
              <a:rPr lang="zh-CN" altLang="en-US"/>
              <a:t>数据角度</a:t>
            </a:r>
            <a:endParaRPr lang="zh-CN" altLang="en-US"/>
          </a:p>
          <a:p>
            <a:r>
              <a:rPr lang="zh-CN" altLang="en-US"/>
              <a:t>广泛使用网页 </a:t>
            </a:r>
            <a:r>
              <a:rPr lang="en-US" altLang="zh-CN"/>
              <a:t>alt‑text </a:t>
            </a:r>
            <a:r>
              <a:rPr lang="zh-CN" altLang="en-US"/>
              <a:t>图文对做预训练，但是网页文本噪声很大，描述和图片不匹配；单纯靠扩大数据规模并不能完全抵消噪声带来的负面影响。</a:t>
            </a:r>
            <a:endParaRPr lang="zh-CN" altLang="en-US"/>
          </a:p>
          <a:p>
            <a:r>
              <a:rPr lang="zh-CN" altLang="en-US"/>
              <a:t>本文目标：</a:t>
            </a:r>
            <a:endParaRPr lang="zh-CN" altLang="en-US"/>
          </a:p>
          <a:p>
            <a:r>
              <a:rPr lang="zh-CN" altLang="en-US"/>
              <a:t>设计一套统一架构，一套权重同时支持理解、生成两类多模态任务；</a:t>
            </a:r>
            <a:endParaRPr lang="zh-CN" altLang="en-US"/>
          </a:p>
          <a:p>
            <a:r>
              <a:rPr lang="zh-CN" altLang="en-US"/>
              <a:t>提出 </a:t>
            </a:r>
            <a:r>
              <a:rPr lang="en-US" altLang="zh-CN"/>
              <a:t>CapFilt </a:t>
            </a:r>
            <a:r>
              <a:rPr lang="zh-CN" altLang="en-US"/>
              <a:t>自举方法，利用模型本身来清洗、扩充网页图文数据集，缓解噪声问题。</a:t>
            </a:r>
            <a:endParaRPr lang="zh-CN" altLang="en-US"/>
          </a:p>
          <a:p>
            <a:r>
              <a:rPr lang="en-US" altLang="zh-CN"/>
              <a:t>2. MED（Multimodal mixture of Encoder‑Decoder）</a:t>
            </a:r>
            <a:r>
              <a:rPr lang="zh-CN" altLang="en-US"/>
              <a:t>混合编解码器架构</a:t>
            </a:r>
            <a:endParaRPr lang="zh-CN" altLang="en-US"/>
          </a:p>
          <a:p>
            <a:r>
              <a:rPr lang="zh-CN" altLang="en-US"/>
              <a:t>图像编码器：</a:t>
            </a:r>
            <a:r>
              <a:rPr lang="en-US" altLang="zh-CN"/>
              <a:t>ViT‑B/ViT‑L，</a:t>
            </a:r>
            <a:r>
              <a:rPr lang="zh-CN" altLang="en-US"/>
              <a:t>输入图像 </a:t>
            </a:r>
            <a:r>
              <a:rPr lang="en-US" altLang="zh-CN"/>
              <a:t>patch，</a:t>
            </a:r>
            <a:r>
              <a:rPr lang="zh-CN" altLang="en-US"/>
              <a:t>输出图像 </a:t>
            </a:r>
            <a:r>
              <a:rPr lang="en-US" altLang="zh-CN"/>
              <a:t>token </a:t>
            </a:r>
            <a:r>
              <a:rPr lang="zh-CN" altLang="en-US"/>
              <a:t>与[</a:t>
            </a:r>
            <a:r>
              <a:rPr lang="en-US" altLang="zh-CN"/>
              <a:t>CLS]。</a:t>
            </a:r>
            <a:endParaRPr lang="en-US" altLang="zh-CN"/>
          </a:p>
          <a:p>
            <a:r>
              <a:rPr lang="zh-CN" altLang="en-US"/>
              <a:t>文本部分一套权重，通过切换自注意力类型，实现三种工作模式，仅自注意力层参数不同，嵌入、交叉注意力、</a:t>
            </a:r>
            <a:r>
              <a:rPr lang="en-US" altLang="zh-CN"/>
              <a:t>FFN </a:t>
            </a:r>
            <a:r>
              <a:rPr lang="zh-CN" altLang="en-US"/>
              <a:t>层全部共享，节省参数量，实现多任务联合预训练：</a:t>
            </a:r>
            <a:endParaRPr lang="zh-CN" altLang="en-US"/>
          </a:p>
          <a:p>
            <a:r>
              <a:rPr lang="zh-CN" altLang="en-US"/>
              <a:t>单模态编码器（</a:t>
            </a:r>
            <a:r>
              <a:rPr lang="en-US" altLang="zh-CN"/>
              <a:t>Unimodal encoder）：</a:t>
            </a:r>
            <a:r>
              <a:rPr lang="zh-CN" altLang="en-US"/>
              <a:t>双向自注意力。分别编码图像、文本，输出全局表征，用于</a:t>
            </a:r>
            <a:r>
              <a:rPr lang="en-US" altLang="zh-CN"/>
              <a:t>ITC </a:t>
            </a:r>
            <a:r>
              <a:rPr lang="zh-CN" altLang="en-US"/>
              <a:t>图文对比损失，服务图文检索。</a:t>
            </a:r>
            <a:endParaRPr lang="zh-CN" altLang="en-US"/>
          </a:p>
          <a:p>
            <a:r>
              <a:rPr lang="zh-CN" altLang="en-US"/>
              <a:t>图像引导文本编码器（</a:t>
            </a:r>
            <a:r>
              <a:rPr lang="en-US" altLang="zh-CN"/>
              <a:t>Image‑grounded text encoder）：</a:t>
            </a:r>
            <a:r>
              <a:rPr lang="zh-CN" altLang="en-US"/>
              <a:t>双向自注意力 + 交叉注意力，[</a:t>
            </a:r>
            <a:r>
              <a:rPr lang="en-US" altLang="zh-CN"/>
              <a:t>Encode]</a:t>
            </a:r>
            <a:r>
              <a:rPr lang="zh-CN" altLang="en-US"/>
              <a:t>作为多模态聚合 </a:t>
            </a:r>
            <a:r>
              <a:rPr lang="en-US" altLang="zh-CN"/>
              <a:t>token，</a:t>
            </a:r>
            <a:r>
              <a:rPr lang="zh-CN" altLang="en-US"/>
              <a:t>用于</a:t>
            </a:r>
            <a:r>
              <a:rPr lang="en-US" altLang="zh-CN"/>
              <a:t>ITM </a:t>
            </a:r>
            <a:r>
              <a:rPr lang="zh-CN" altLang="en-US"/>
              <a:t>图文匹配损失，判断图文是否匹配。</a:t>
            </a:r>
            <a:endParaRPr lang="zh-CN" altLang="en-US"/>
          </a:p>
          <a:p>
            <a:r>
              <a:rPr lang="zh-CN" altLang="en-US"/>
              <a:t>图像引导文本解码器（</a:t>
            </a:r>
            <a:r>
              <a:rPr lang="en-US" altLang="zh-CN"/>
              <a:t>Image‑grounded text decoder）：</a:t>
            </a:r>
            <a:r>
              <a:rPr lang="zh-CN" altLang="en-US"/>
              <a:t>因果掩码自注意力 + 交叉注意力，[</a:t>
            </a:r>
            <a:r>
              <a:rPr lang="en-US" altLang="zh-CN"/>
              <a:t>Decode]</a:t>
            </a:r>
            <a:r>
              <a:rPr lang="zh-CN" altLang="en-US"/>
              <a:t>作为起始标记，用于</a:t>
            </a:r>
            <a:r>
              <a:rPr lang="en-US" altLang="zh-CN"/>
              <a:t>LM </a:t>
            </a:r>
            <a:r>
              <a:rPr lang="zh-CN" altLang="en-US"/>
              <a:t>语言建模损失，实现图像字幕、</a:t>
            </a:r>
            <a:r>
              <a:rPr lang="en-US" altLang="zh-CN"/>
              <a:t>VQA </a:t>
            </a:r>
            <a:r>
              <a:rPr lang="zh-CN" altLang="en-US"/>
              <a:t>答案生成。</a:t>
            </a:r>
            <a:endParaRPr lang="zh-CN" altLang="en-US"/>
          </a:p>
          <a:p>
            <a:r>
              <a:rPr lang="zh-CN" altLang="en-US"/>
              <a:t>预训练三个联合损失</a:t>
            </a:r>
            <a:endParaRPr lang="zh-CN" altLang="en-US"/>
          </a:p>
          <a:p>
            <a:r>
              <a:rPr lang="en-US" altLang="zh-CN"/>
              <a:t>ITC </a:t>
            </a:r>
            <a:r>
              <a:rPr lang="zh-CN" altLang="en-US"/>
              <a:t>图文对比损失：动量编码器生成软标签，处理 </a:t>
            </a:r>
            <a:r>
              <a:rPr lang="en-US" altLang="zh-CN"/>
              <a:t>batch </a:t>
            </a:r>
            <a:r>
              <a:rPr lang="zh-CN" altLang="en-US"/>
              <a:t>内潜在正样本，对齐图像‑文本全局表征。</a:t>
            </a:r>
            <a:endParaRPr lang="zh-CN" altLang="en-US"/>
          </a:p>
          <a:p>
            <a:r>
              <a:rPr lang="en-US" altLang="zh-CN"/>
              <a:t>ITM </a:t>
            </a:r>
            <a:r>
              <a:rPr lang="zh-CN" altLang="en-US"/>
              <a:t>图文匹配损失：二分类，正负样本使用难例挖掘，挑选 </a:t>
            </a:r>
            <a:r>
              <a:rPr lang="en-US" altLang="zh-CN"/>
              <a:t>batch </a:t>
            </a:r>
            <a:r>
              <a:rPr lang="zh-CN" altLang="en-US"/>
              <a:t>内相似度高的负对，学习细粒度图文对齐。</a:t>
            </a:r>
            <a:endParaRPr lang="zh-CN" altLang="en-US"/>
          </a:p>
          <a:p>
            <a:r>
              <a:rPr lang="en-US" altLang="zh-CN"/>
              <a:t>LM </a:t>
            </a:r>
            <a:r>
              <a:rPr lang="zh-CN" altLang="en-US"/>
              <a:t>语言建模损失：图像条件下自回归预测文本，实现生成能力，</a:t>
            </a:r>
            <a:r>
              <a:rPr lang="en-US" altLang="zh-CN"/>
              <a:t>label‑smoothing=0.1。</a:t>
            </a:r>
            <a:endParaRPr lang="en-US" altLang="zh-CN"/>
          </a:p>
          <a:p>
            <a:r>
              <a:rPr lang="zh-CN" altLang="en-US"/>
              <a:t>训练时图像 </a:t>
            </a:r>
            <a:r>
              <a:rPr lang="en-US" altLang="zh-CN"/>
              <a:t>Transformer </a:t>
            </a:r>
            <a:r>
              <a:rPr lang="zh-CN" altLang="en-US"/>
              <a:t>只前向一次，文本模块切换三种模式，计算三种损失，训练效率高。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MED </a:t>
            </a:r>
            <a:r>
              <a:rPr lang="zh-CN" altLang="en-US"/>
              <a:t>架构灵活适配多种任务：</a:t>
            </a:r>
            <a:endParaRPr lang="zh-CN" altLang="en-US"/>
          </a:p>
          <a:p>
            <a:r>
              <a:rPr lang="zh-CN" altLang="en-US"/>
              <a:t>图文检索：使用单模态编码器，先做全局相似度粗筛，再用 </a:t>
            </a:r>
            <a:r>
              <a:rPr lang="en-US" altLang="zh-CN"/>
              <a:t>ITM </a:t>
            </a:r>
            <a:r>
              <a:rPr lang="zh-CN" altLang="en-US"/>
              <a:t>分数重排序。</a:t>
            </a:r>
            <a:endParaRPr lang="zh-CN" altLang="en-US"/>
          </a:p>
          <a:p>
            <a:r>
              <a:rPr lang="zh-CN" altLang="en-US"/>
              <a:t>图像字幕：使用图像引导文本解码器，自回归生成 </a:t>
            </a:r>
            <a:r>
              <a:rPr lang="en-US" altLang="zh-CN"/>
              <a:t>caption。</a:t>
            </a:r>
            <a:endParaRPr lang="en-US" altLang="zh-CN"/>
          </a:p>
          <a:p>
            <a:r>
              <a:rPr lang="en-US" altLang="zh-CN"/>
              <a:t>VQA：</a:t>
            </a:r>
            <a:r>
              <a:rPr lang="zh-CN" altLang="en-US"/>
              <a:t>图像 + 问题送入图像引导文本编码器，再交给解码器生成答案，做开放式生成 </a:t>
            </a:r>
            <a:r>
              <a:rPr lang="en-US" altLang="zh-CN"/>
              <a:t>VQA，</a:t>
            </a:r>
            <a:r>
              <a:rPr lang="zh-CN" altLang="en-US"/>
              <a:t>而不是传统分类式 </a:t>
            </a:r>
            <a:r>
              <a:rPr lang="en-US" altLang="zh-CN"/>
              <a:t>VQA。</a:t>
            </a:r>
            <a:endParaRPr lang="en-US" altLang="zh-CN"/>
          </a:p>
          <a:p>
            <a:r>
              <a:rPr lang="en-US" altLang="zh-CN"/>
              <a:t>NLVR²：</a:t>
            </a:r>
            <a:r>
              <a:rPr lang="zh-CN" altLang="en-US"/>
              <a:t>双输入图片，两套交叉注意力，聚合特征做二分类。</a:t>
            </a:r>
            <a:endParaRPr lang="zh-CN" altLang="en-US"/>
          </a:p>
          <a:p>
            <a:r>
              <a:rPr lang="en-US" altLang="zh-CN"/>
              <a:t>VisDial </a:t>
            </a:r>
            <a:r>
              <a:rPr lang="zh-CN" altLang="en-US"/>
              <a:t>视觉对话：融合对话历史，</a:t>
            </a:r>
            <a:r>
              <a:rPr lang="en-US" altLang="zh-CN"/>
              <a:t>ITM </a:t>
            </a:r>
            <a:r>
              <a:rPr lang="zh-CN" altLang="en-US"/>
              <a:t>做候选答案排序。</a:t>
            </a:r>
            <a:endParaRPr lang="zh-CN" altLang="en-US"/>
          </a:p>
          <a:p>
            <a:r>
              <a:rPr lang="zh-CN" altLang="en-US"/>
              <a:t>零样本视频任务：直接均匀采样视频帧，拼接帧特征；不做任何视频预训练，直接零样本做文本‑视频检索、</a:t>
            </a:r>
            <a:r>
              <a:rPr lang="en-US" altLang="zh-CN"/>
              <a:t>VideoQA，</a:t>
            </a:r>
            <a:r>
              <a:rPr lang="zh-CN" altLang="en-US"/>
              <a:t>取得很强零样本效果。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阿里通义千问团队，提出</a:t>
            </a:r>
            <a:r>
              <a:rPr lang="en-US" altLang="zh-CN"/>
              <a:t>Qwen‑VL </a:t>
            </a:r>
            <a:r>
              <a:rPr lang="zh-CN" altLang="en-US"/>
              <a:t>系列开源多模态大模型。该模型基于 </a:t>
            </a:r>
            <a:r>
              <a:rPr lang="en-US" altLang="zh-CN"/>
              <a:t>Qwen‑7B </a:t>
            </a:r>
            <a:r>
              <a:rPr lang="zh-CN" altLang="en-US"/>
              <a:t>大语言模型构建，支持中英双语、多图输入、图像描述、</a:t>
            </a:r>
            <a:r>
              <a:rPr lang="en-US" altLang="zh-CN"/>
              <a:t>VQA、OCR </a:t>
            </a:r>
            <a:r>
              <a:rPr lang="zh-CN" altLang="en-US"/>
              <a:t>文本读取、视觉定位 </a:t>
            </a:r>
            <a:r>
              <a:rPr lang="en-US" altLang="zh-CN"/>
              <a:t>Grounding。</a:t>
            </a:r>
            <a:r>
              <a:rPr lang="zh-CN" altLang="en-US"/>
              <a:t>包含预训练底座 </a:t>
            </a:r>
            <a:r>
              <a:rPr lang="en-US" altLang="zh-CN"/>
              <a:t>Qwen‑VL </a:t>
            </a:r>
            <a:r>
              <a:rPr lang="zh-CN" altLang="en-US"/>
              <a:t>和指令对话版本 </a:t>
            </a:r>
            <a:r>
              <a:rPr lang="en-US" altLang="zh-CN"/>
              <a:t>Qwen‑VL‑Chat。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现有开源多模态大模型存在两点不足：</a:t>
            </a:r>
            <a:endParaRPr lang="zh-CN" altLang="en-US"/>
          </a:p>
          <a:p>
            <a:r>
              <a:rPr lang="zh-CN" altLang="en-US"/>
              <a:t>大多只做粗粒度图文理解，缺少强大的目标定位 </a:t>
            </a:r>
            <a:r>
              <a:rPr lang="en-US" altLang="zh-CN"/>
              <a:t>Grounding、</a:t>
            </a:r>
            <a:r>
              <a:rPr lang="zh-CN" altLang="en-US"/>
              <a:t>图像内 </a:t>
            </a:r>
            <a:r>
              <a:rPr lang="en-US" altLang="zh-CN"/>
              <a:t>OCR </a:t>
            </a:r>
            <a:r>
              <a:rPr lang="zh-CN" altLang="en-US"/>
              <a:t>文字读取能力；</a:t>
            </a:r>
            <a:endParaRPr lang="zh-CN" altLang="en-US"/>
          </a:p>
          <a:p>
            <a:r>
              <a:rPr lang="zh-CN" altLang="en-US"/>
              <a:t>中文能力薄弱，缺少同时支持多图 </a:t>
            </a:r>
            <a:r>
              <a:rPr lang="en-US" altLang="zh-CN"/>
              <a:t>interleaved（</a:t>
            </a:r>
            <a:r>
              <a:rPr lang="zh-CN" altLang="en-US"/>
              <a:t>图文交错）输入、中英双语的通用开源基座。</a:t>
            </a:r>
            <a:endParaRPr lang="zh-CN" altLang="en-US"/>
          </a:p>
          <a:p>
            <a:r>
              <a:rPr lang="zh-CN" altLang="en-US"/>
              <a:t>本文目标：构建通用开源多模态基座，兼顾图像问答、定位、文档 </a:t>
            </a:r>
            <a:r>
              <a:rPr lang="en-US" altLang="zh-CN"/>
              <a:t>OCR </a:t>
            </a:r>
            <a:r>
              <a:rPr lang="zh-CN" altLang="en-US"/>
              <a:t>识别，支持多图、中英双语对话。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三大组件：</a:t>
            </a:r>
            <a:endParaRPr lang="zh-CN" altLang="en-US"/>
          </a:p>
          <a:p>
            <a:r>
              <a:rPr lang="zh-CN" altLang="en-US"/>
              <a:t>视觉编码器 </a:t>
            </a:r>
            <a:r>
              <a:rPr lang="en-US" altLang="zh-CN"/>
              <a:t>Vision Encoder：OpenCLIP ViT‑bigG，</a:t>
            </a:r>
            <a:r>
              <a:rPr lang="zh-CN" altLang="en-US"/>
              <a:t>把图片切 14×14 </a:t>
            </a:r>
            <a:r>
              <a:rPr lang="en-US" altLang="zh-CN"/>
              <a:t>patch </a:t>
            </a:r>
            <a:r>
              <a:rPr lang="zh-CN" altLang="en-US"/>
              <a:t>输出视觉特征。</a:t>
            </a:r>
            <a:endParaRPr lang="zh-CN" altLang="en-US"/>
          </a:p>
          <a:p>
            <a:r>
              <a:rPr lang="zh-CN" altLang="en-US"/>
              <a:t>位置感知跨注意力适配器 </a:t>
            </a:r>
            <a:r>
              <a:rPr lang="en-US" altLang="zh-CN"/>
              <a:t>VL‑Adapter：</a:t>
            </a:r>
            <a:r>
              <a:rPr lang="zh-CN" altLang="en-US"/>
              <a:t>核心模块，使用一组可学习 </a:t>
            </a:r>
            <a:r>
              <a:rPr lang="en-US" altLang="zh-CN"/>
              <a:t>Query </a:t>
            </a:r>
            <a:r>
              <a:rPr lang="zh-CN" altLang="en-US"/>
              <a:t>向量做跨注意力，把变长图像 </a:t>
            </a:r>
            <a:r>
              <a:rPr lang="en-US" altLang="zh-CN"/>
              <a:t>patch </a:t>
            </a:r>
            <a:r>
              <a:rPr lang="zh-CN" altLang="en-US"/>
              <a:t>特征压缩为固定 256 维序列；加入二维绝对位置编码，保留空间位置信息，支撑后续定位任务。</a:t>
            </a:r>
            <a:endParaRPr lang="zh-CN" altLang="en-US"/>
          </a:p>
          <a:p>
            <a:r>
              <a:rPr lang="zh-CN" altLang="en-US"/>
              <a:t>大语言模型 </a:t>
            </a:r>
            <a:r>
              <a:rPr lang="en-US" altLang="zh-CN"/>
              <a:t>LLM：Qwen‑7B </a:t>
            </a:r>
            <a:r>
              <a:rPr lang="zh-CN" altLang="en-US"/>
              <a:t>作为语言主干。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阶段 1：通用图文预训练</a:t>
            </a:r>
            <a:endParaRPr lang="zh-CN" altLang="en-US"/>
          </a:p>
          <a:p>
            <a:r>
              <a:rPr lang="zh-CN" altLang="en-US"/>
              <a:t>阶段 2：多任务预训练（解锁全部模型）</a:t>
            </a:r>
            <a:endParaRPr lang="zh-CN" altLang="en-US"/>
          </a:p>
          <a:p>
            <a:r>
              <a:rPr lang="zh-CN" altLang="en-US"/>
              <a:t>阶段 3：监督指令微调 </a:t>
            </a:r>
            <a:r>
              <a:rPr lang="en-US" altLang="zh-CN"/>
              <a:t>SFT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提出 </a:t>
            </a:r>
            <a:r>
              <a:rPr lang="en-US" altLang="zh-CN"/>
              <a:t>Qwen‑VL </a:t>
            </a:r>
            <a:r>
              <a:rPr lang="zh-CN" altLang="en-US"/>
              <a:t>系列开源多模态大模型，一套模型同时支持图像理解、视觉定位 </a:t>
            </a:r>
            <a:r>
              <a:rPr lang="en-US" altLang="zh-CN"/>
              <a:t>Grounding、OCR </a:t>
            </a:r>
            <a:r>
              <a:rPr lang="zh-CN" altLang="en-US"/>
              <a:t>图文读取、多图输入、中英双语。</a:t>
            </a:r>
            <a:endParaRPr lang="zh-CN" altLang="en-US"/>
          </a:p>
          <a:p>
            <a:r>
              <a:rPr lang="zh-CN" altLang="en-US"/>
              <a:t>设计位置感知跨注意力 </a:t>
            </a:r>
            <a:r>
              <a:rPr lang="en-US" altLang="zh-CN"/>
              <a:t>Adapter，</a:t>
            </a:r>
            <a:r>
              <a:rPr lang="zh-CN" altLang="en-US"/>
              <a:t>压缩视觉序列同时保留空间位置信息，支撑目标框输出。</a:t>
            </a:r>
            <a:endParaRPr lang="zh-CN" altLang="en-US"/>
          </a:p>
          <a:p>
            <a:r>
              <a:rPr lang="zh-CN" altLang="en-US"/>
              <a:t>设计三阶段训练范式：大规模图文预训练 → 多任务混合预训练（加入定位、</a:t>
            </a:r>
            <a:r>
              <a:rPr lang="en-US" altLang="zh-CN"/>
              <a:t>OCR </a:t>
            </a:r>
            <a:r>
              <a:rPr lang="zh-CN" altLang="en-US"/>
              <a:t>任务） → 多模态指令微调；构造大量中英双语、定位、</a:t>
            </a:r>
            <a:r>
              <a:rPr lang="en-US" altLang="zh-CN"/>
              <a:t>OCR </a:t>
            </a:r>
            <a:r>
              <a:rPr lang="zh-CN" altLang="en-US"/>
              <a:t>训练数据。</a:t>
            </a:r>
            <a:endParaRPr lang="zh-CN" altLang="en-US"/>
          </a:p>
          <a:p>
            <a:r>
              <a:rPr lang="zh-CN" altLang="en-US"/>
              <a:t>在 </a:t>
            </a:r>
            <a:r>
              <a:rPr lang="en-US" altLang="zh-CN"/>
              <a:t>caption、VQA、OCR、</a:t>
            </a:r>
            <a:r>
              <a:rPr lang="zh-CN" altLang="en-US"/>
              <a:t>定位、对话多套基准取得同规模 </a:t>
            </a:r>
            <a:r>
              <a:rPr lang="en-US" altLang="zh-CN"/>
              <a:t>SOTA；</a:t>
            </a:r>
            <a:r>
              <a:rPr lang="zh-CN" altLang="en-US"/>
              <a:t>全部模型开源</a:t>
            </a:r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**潜在扩散模型 </a:t>
            </a:r>
            <a:r>
              <a:rPr lang="en-US" altLang="zh-CN"/>
              <a:t>LDM**，</a:t>
            </a:r>
            <a:r>
              <a:rPr lang="zh-CN" altLang="en-US"/>
              <a:t>针对像素空间扩散模型训练、推理开销巨大的痛点，将图像生成拆解为感知压缩与语义生成两个阶段，先用自编码器把图像压缩到低维潜在空间，再在该空间训练扩散 </a:t>
            </a:r>
            <a:r>
              <a:rPr lang="en-US" altLang="zh-CN"/>
              <a:t>UNet，</a:t>
            </a:r>
            <a:r>
              <a:rPr lang="zh-CN" altLang="en-US"/>
              <a:t>大幅降低计算消耗，同时保留生成画质。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论文在 </a:t>
            </a:r>
            <a:r>
              <a:rPr lang="en-US" altLang="zh-CN"/>
              <a:t>UNet </a:t>
            </a:r>
            <a:r>
              <a:rPr lang="zh-CN" altLang="en-US"/>
              <a:t>中引入**交叉注意力条件机制**，借助领域专用编码器可接入文本、布局等多种模态条件，实现文生图、布局到图像等可控生成；模型还具备卷积泛化能力，可直接生成 1024² 等高分辨率图像。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大量实验表明 </a:t>
            </a:r>
            <a:r>
              <a:rPr lang="en-US" altLang="zh-CN"/>
              <a:t>LDM </a:t>
            </a:r>
            <a:r>
              <a:rPr lang="zh-CN" altLang="en-US"/>
              <a:t>在无条件生成、图像修复、超分、类别条件生成</a:t>
            </a:r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提出</a:t>
            </a:r>
            <a:r>
              <a:rPr lang="en-US" altLang="zh-CN"/>
              <a:t>RPG（Recaption‑Plan‑Generate），</a:t>
            </a:r>
            <a:r>
              <a:rPr lang="zh-CN" altLang="en-US"/>
              <a:t>无训练（</a:t>
            </a:r>
            <a:r>
              <a:rPr lang="en-US" altLang="zh-CN"/>
              <a:t>training‑free）</a:t>
            </a:r>
            <a:r>
              <a:rPr lang="zh-CN" altLang="en-US"/>
              <a:t>的文生图 / 图编辑框架。利用多模态大模型 </a:t>
            </a:r>
            <a:r>
              <a:rPr lang="en-US" altLang="zh-CN"/>
              <a:t>MLLM </a:t>
            </a:r>
            <a:r>
              <a:rPr lang="zh-CN" altLang="en-US"/>
              <a:t>作为全局规划器，解决扩散模型处理复杂组合提示词时出现的属性绑定错误、数量错误、空间关系错乱等问题；同时统一实现文生图与文本引导图像编辑。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SDXL、DALL‑E3 </a:t>
            </a:r>
            <a:r>
              <a:rPr lang="zh-CN" altLang="en-US"/>
              <a:t>等扩散模型在简单提示词表现优秀，但面对复杂组合提示（多物体、复杂属性、严格空间位置、数量约束）存在三大痛点：</a:t>
            </a:r>
            <a:endParaRPr lang="zh-CN" altLang="en-US"/>
          </a:p>
          <a:p>
            <a:r>
              <a:rPr lang="zh-CN" altLang="en-US"/>
              <a:t>属性绑定错误：物体与属性错误匹配；</a:t>
            </a:r>
            <a:endParaRPr lang="zh-CN" altLang="en-US"/>
          </a:p>
          <a:p>
            <a:r>
              <a:rPr lang="zh-CN" altLang="en-US"/>
              <a:t>数量错误：提示指定多个同类物体，生成数目不对；</a:t>
            </a:r>
            <a:endParaRPr lang="zh-CN" altLang="en-US"/>
          </a:p>
          <a:p>
            <a:r>
              <a:rPr lang="zh-CN" altLang="en-US"/>
              <a:t>空间关系错乱：物体相对位置、布局不符合文本描述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本文思路：不微调扩散权重，推理时借助 </a:t>
            </a:r>
            <a:r>
              <a:rPr lang="en-US" altLang="zh-CN"/>
              <a:t>MLLM </a:t>
            </a:r>
            <a:r>
              <a:rPr lang="zh-CN" altLang="en-US"/>
              <a:t>做拆解规划，再提出互补区域扩散完成分区域生成，支持文生图、图像编辑，可闭环自迭代优化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RPG </a:t>
            </a:r>
            <a:r>
              <a:rPr lang="zh-CN" altLang="en-US"/>
              <a:t>整体流程</a:t>
            </a:r>
            <a:endParaRPr lang="zh-CN" altLang="en-US"/>
          </a:p>
          <a:p>
            <a:r>
              <a:rPr lang="zh-CN" altLang="en-US"/>
              <a:t>分为三大核心阶段：重描述 </a:t>
            </a:r>
            <a:r>
              <a:rPr lang="en-US" altLang="zh-CN"/>
              <a:t>Recaption、CoT </a:t>
            </a:r>
            <a:r>
              <a:rPr lang="zh-CN" altLang="en-US"/>
              <a:t>规划 </a:t>
            </a:r>
            <a:r>
              <a:rPr lang="en-US" altLang="zh-CN"/>
              <a:t>Plan、</a:t>
            </a:r>
            <a:r>
              <a:rPr lang="zh-CN" altLang="en-US"/>
              <a:t>互补区域扩散 </a:t>
            </a:r>
            <a:r>
              <a:rPr lang="en-US" altLang="zh-CN"/>
              <a:t>Generate；</a:t>
            </a:r>
            <a:r>
              <a:rPr lang="zh-CN" altLang="en-US"/>
              <a:t>支持生成任务，也支持编辑任务，可闭环多轮自精炼。</a:t>
            </a:r>
            <a:endParaRPr lang="zh-CN" altLang="en-US"/>
          </a:p>
          <a:p>
            <a:r>
              <a:rPr lang="zh-CN" altLang="en-US"/>
              <a:t>2.1 文生图流水线</a:t>
            </a:r>
            <a:endParaRPr lang="zh-CN" altLang="en-US"/>
          </a:p>
          <a:p>
            <a:r>
              <a:rPr lang="en-US" altLang="zh-CN"/>
              <a:t>Recaption </a:t>
            </a:r>
            <a:r>
              <a:rPr lang="zh-CN" altLang="en-US"/>
              <a:t>重描述</a:t>
            </a:r>
            <a:endParaRPr lang="zh-CN" altLang="en-US"/>
          </a:p>
          <a:p>
            <a:r>
              <a:rPr lang="zh-CN" altLang="en-US"/>
              <a:t>把复杂用户提示送入 </a:t>
            </a:r>
            <a:r>
              <a:rPr lang="en-US" altLang="zh-CN"/>
              <a:t>MLLM，</a:t>
            </a:r>
            <a:r>
              <a:rPr lang="zh-CN" altLang="en-US"/>
              <a:t>提取关键实体短语，拆解出基础提示</a:t>
            </a:r>
            <a:r>
              <a:rPr lang="en-US" altLang="zh-CN"/>
              <a:t>base prompt</a:t>
            </a:r>
            <a:r>
              <a:rPr lang="zh-CN" altLang="en-US"/>
              <a:t>与多条子提示 </a:t>
            </a:r>
            <a:r>
              <a:rPr lang="en-US" altLang="zh-CN"/>
              <a:t>sub‑prompt；MLLM </a:t>
            </a:r>
            <a:r>
              <a:rPr lang="zh-CN" altLang="en-US"/>
              <a:t>对每个子提示做重描述，扩充细节、丰富语义，减少提示歧义。</a:t>
            </a:r>
            <a:endParaRPr lang="zh-CN" altLang="en-US"/>
          </a:p>
          <a:p>
            <a:r>
              <a:rPr lang="en-US" altLang="zh-CN"/>
              <a:t>CoT Planning </a:t>
            </a:r>
            <a:r>
              <a:rPr lang="zh-CN" altLang="en-US"/>
              <a:t>思维链规划</a:t>
            </a:r>
            <a:endParaRPr lang="zh-CN" altLang="en-US"/>
          </a:p>
          <a:p>
            <a:r>
              <a:rPr lang="zh-CN" altLang="en-US"/>
              <a:t>利用少样本示例引导 </a:t>
            </a:r>
            <a:r>
              <a:rPr lang="en-US" altLang="zh-CN"/>
              <a:t>MLLM </a:t>
            </a:r>
            <a:r>
              <a:rPr lang="zh-CN" altLang="en-US"/>
              <a:t>做思维链推理：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2.2 文本引导图像编辑（拓展能力）</a:t>
            </a:r>
            <a:endParaRPr lang="zh-CN" altLang="en-US"/>
          </a:p>
          <a:p>
            <a:r>
              <a:rPr lang="zh-CN" altLang="en-US"/>
              <a:t>复用 </a:t>
            </a:r>
            <a:r>
              <a:rPr lang="en-US" altLang="zh-CN"/>
              <a:t>RPG </a:t>
            </a:r>
            <a:r>
              <a:rPr lang="zh-CN" altLang="en-US"/>
              <a:t>整套范式，改为编辑链路：</a:t>
            </a:r>
            <a:endParaRPr lang="zh-CN" altLang="en-US"/>
          </a:p>
          <a:p>
            <a:r>
              <a:rPr lang="en-US" altLang="zh-CN"/>
              <a:t>Recaption </a:t>
            </a:r>
            <a:r>
              <a:rPr lang="zh-CN" altLang="en-US"/>
              <a:t>重描述：</a:t>
            </a:r>
            <a:r>
              <a:rPr lang="en-US" altLang="zh-CN"/>
              <a:t>MLLM </a:t>
            </a:r>
            <a:r>
              <a:rPr lang="zh-CN" altLang="en-US"/>
              <a:t>同时读入原图 + 用户编辑目标提示，对比识别图像与目标之间语义差异（缺失实体、属性错误、多余物体）。</a:t>
            </a:r>
            <a:endParaRPr lang="zh-CN" altLang="en-US"/>
          </a:p>
          <a:p>
            <a:r>
              <a:rPr lang="en-US" altLang="zh-CN"/>
              <a:t>CoT </a:t>
            </a:r>
            <a:r>
              <a:rPr lang="zh-CN" altLang="en-US"/>
              <a:t>编辑规划：</a:t>
            </a:r>
            <a:r>
              <a:rPr lang="en-US" altLang="zh-CN"/>
              <a:t>MLLM </a:t>
            </a:r>
            <a:r>
              <a:rPr lang="zh-CN" altLang="en-US"/>
              <a:t>输出编辑操作集合：</a:t>
            </a:r>
            <a:r>
              <a:rPr lang="en-US" altLang="zh-CN"/>
              <a:t>Add </a:t>
            </a:r>
            <a:r>
              <a:rPr lang="zh-CN" altLang="en-US"/>
              <a:t>添加 / </a:t>
            </a:r>
            <a:r>
              <a:rPr lang="en-US" altLang="zh-CN"/>
              <a:t>Del </a:t>
            </a:r>
            <a:r>
              <a:rPr lang="zh-CN" altLang="en-US"/>
              <a:t>删除 / </a:t>
            </a:r>
            <a:r>
              <a:rPr lang="en-US" altLang="zh-CN"/>
              <a:t>Mod </a:t>
            </a:r>
            <a:r>
              <a:rPr lang="zh-CN" altLang="en-US"/>
              <a:t>修改；并且定位需要修改的轮廓 </a:t>
            </a:r>
            <a:r>
              <a:rPr lang="en-US" altLang="zh-CN"/>
              <a:t>mask。</a:t>
            </a:r>
            <a:endParaRPr lang="en-US" altLang="zh-CN"/>
          </a:p>
          <a:p>
            <a:r>
              <a:rPr lang="zh-CN" altLang="en-US"/>
              <a:t>基于轮廓的区域扩散：用 </a:t>
            </a:r>
            <a:r>
              <a:rPr lang="en-US" altLang="zh-CN"/>
              <a:t>SAM </a:t>
            </a:r>
            <a:r>
              <a:rPr lang="zh-CN" altLang="en-US"/>
              <a:t>得到目标物体轮廓 </a:t>
            </a:r>
            <a:r>
              <a:rPr lang="en-US" altLang="zh-CN"/>
              <a:t>mask，</a:t>
            </a:r>
            <a:r>
              <a:rPr lang="zh-CN" altLang="en-US"/>
              <a:t>执行 </a:t>
            </a:r>
            <a:r>
              <a:rPr lang="en-US" altLang="zh-CN"/>
              <a:t>inpainting </a:t>
            </a:r>
            <a:r>
              <a:rPr lang="zh-CN" altLang="en-US"/>
              <a:t>局部重绘；</a:t>
            </a:r>
            <a:endParaRPr lang="zh-CN" altLang="en-US"/>
          </a:p>
          <a:p>
            <a:r>
              <a:rPr lang="zh-CN" altLang="en-US"/>
              <a:t>闭环自精炼：生成 / 编辑完的图像再次交给 </a:t>
            </a:r>
            <a:r>
              <a:rPr lang="en-US" altLang="zh-CN"/>
              <a:t>MLLM </a:t>
            </a:r>
            <a:r>
              <a:rPr lang="zh-CN" altLang="en-US"/>
              <a:t>校验，识别残留错误，多轮迭代修正，一般 2‑3 轮即可显著提升效果。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核心贡献</a:t>
            </a:r>
            <a:endParaRPr lang="zh-CN" altLang="en-US"/>
          </a:p>
          <a:p>
            <a:r>
              <a:rPr lang="zh-CN" altLang="en-US"/>
              <a:t>提出</a:t>
            </a:r>
            <a:r>
              <a:rPr lang="en-US" altLang="zh-CN"/>
              <a:t>RPG</a:t>
            </a:r>
            <a:r>
              <a:rPr lang="zh-CN" altLang="en-US"/>
              <a:t>无训练的文生图 &amp; 编辑框架，利用 </a:t>
            </a:r>
            <a:r>
              <a:rPr lang="en-US" altLang="zh-CN"/>
              <a:t>MLLM </a:t>
            </a:r>
            <a:r>
              <a:rPr lang="zh-CN" altLang="en-US"/>
              <a:t>完成 </a:t>
            </a:r>
            <a:r>
              <a:rPr lang="en-US" altLang="zh-CN"/>
              <a:t>Recaption </a:t>
            </a:r>
            <a:r>
              <a:rPr lang="zh-CN" altLang="en-US"/>
              <a:t>重描述 + </a:t>
            </a:r>
            <a:r>
              <a:rPr lang="en-US" altLang="zh-CN"/>
              <a:t>CoT </a:t>
            </a:r>
            <a:r>
              <a:rPr lang="zh-CN" altLang="en-US"/>
              <a:t>区域规划，将复杂提示拆解为子区域子任务；</a:t>
            </a:r>
            <a:endParaRPr lang="zh-CN" altLang="en-US"/>
          </a:p>
          <a:p>
            <a:r>
              <a:rPr lang="zh-CN" altLang="en-US"/>
              <a:t>设计互补区域扩散 </a:t>
            </a:r>
            <a:r>
              <a:rPr lang="en-US" altLang="zh-CN"/>
              <a:t>CRD，</a:t>
            </a:r>
            <a:r>
              <a:rPr lang="zh-CN" altLang="en-US"/>
              <a:t>并行生成子区域 </a:t>
            </a:r>
            <a:r>
              <a:rPr lang="en-US" altLang="zh-CN"/>
              <a:t>latent，</a:t>
            </a:r>
            <a:r>
              <a:rPr lang="zh-CN" altLang="en-US"/>
              <a:t>拼接并与全局 </a:t>
            </a:r>
            <a:r>
              <a:rPr lang="en-US" altLang="zh-CN"/>
              <a:t>base latent </a:t>
            </a:r>
            <a:r>
              <a:rPr lang="zh-CN" altLang="en-US"/>
              <a:t>加权融合，解决重叠物体、组合生成难题；拓展为轮廓式区域扩散，支持图像编辑；</a:t>
            </a:r>
            <a:endParaRPr lang="zh-CN" altLang="en-US"/>
          </a:p>
          <a:p>
            <a:r>
              <a:rPr lang="zh-CN" altLang="en-US"/>
              <a:t>构建闭环自精炼流水线，生成图像反馈回 </a:t>
            </a:r>
            <a:r>
              <a:rPr lang="en-US" altLang="zh-CN"/>
              <a:t>MLLM </a:t>
            </a:r>
            <a:r>
              <a:rPr lang="zh-CN" altLang="en-US"/>
              <a:t>进行多轮纠错；</a:t>
            </a:r>
            <a:endParaRPr lang="zh-CN" altLang="en-US"/>
          </a:p>
          <a:p>
            <a:r>
              <a:rPr lang="zh-CN" altLang="en-US"/>
              <a:t>框架具备极强兼容性，可对接各类 </a:t>
            </a:r>
            <a:r>
              <a:rPr lang="en-US" altLang="zh-CN"/>
              <a:t>MLLM </a:t>
            </a:r>
            <a:r>
              <a:rPr lang="zh-CN" altLang="en-US"/>
              <a:t>与扩散主干（</a:t>
            </a:r>
            <a:r>
              <a:rPr lang="en-US" altLang="zh-CN"/>
              <a:t>ControlNet </a:t>
            </a:r>
            <a:r>
              <a:rPr lang="zh-CN" altLang="en-US"/>
              <a:t>等），在组合生成基准 </a:t>
            </a:r>
            <a:r>
              <a:rPr lang="en-US" altLang="zh-CN"/>
              <a:t>T2I‑CompBench </a:t>
            </a:r>
            <a:r>
              <a:rPr lang="zh-CN" altLang="en-US"/>
              <a:t>取得 </a:t>
            </a:r>
            <a:r>
              <a:rPr lang="en-US" altLang="zh-CN"/>
              <a:t>SOTA。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传统 </a:t>
            </a:r>
            <a:r>
              <a:rPr lang="en-US" altLang="zh-CN"/>
              <a:t>LLM </a:t>
            </a:r>
            <a:r>
              <a:rPr lang="zh-CN" altLang="en-US"/>
              <a:t>知识抽取方法需要把全部实体、关系 </a:t>
            </a:r>
            <a:r>
              <a:rPr lang="en-US" altLang="zh-CN"/>
              <a:t>Schema </a:t>
            </a:r>
            <a:r>
              <a:rPr lang="zh-CN" altLang="en-US"/>
              <a:t>放进提示词，当本体规模大时会触发上下文溢出；无预定义 </a:t>
            </a:r>
            <a:r>
              <a:rPr lang="en-US" altLang="zh-CN"/>
              <a:t>Schema </a:t>
            </a:r>
            <a:r>
              <a:rPr lang="zh-CN" altLang="en-US"/>
              <a:t>场景下难以产出简洁、低冗余图谱；传统聚类归一算法容易出现过度泛化，把语义完全不同的关系合并为一类</a:t>
            </a:r>
            <a:r>
              <a:rPr lang="en-US" altLang="zh-CN"/>
              <a:t>arXiv。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## EDC </a:t>
            </a:r>
            <a:r>
              <a:rPr lang="zh-CN" altLang="en-US"/>
              <a:t>三阶段核心流水线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**Extract（</a:t>
            </a:r>
            <a:r>
              <a:rPr lang="zh-CN" altLang="en-US"/>
              <a:t>开放信息抽取）**：少样本提示大模型，不绑定固定 </a:t>
            </a:r>
            <a:r>
              <a:rPr lang="en-US" altLang="zh-CN"/>
              <a:t>Schema，</a:t>
            </a:r>
            <a:r>
              <a:rPr lang="zh-CN" altLang="en-US"/>
              <a:t>自由从文本抽取原始 &lt;主语，关系，宾语&gt; 三元组，得到原始开放知识图谱。</a:t>
            </a:r>
            <a:endParaRPr lang="zh-CN" altLang="en-US"/>
          </a:p>
          <a:p>
            <a:r>
              <a:rPr lang="en-US" altLang="zh-CN"/>
              <a:t>2. **Define（</a:t>
            </a:r>
            <a:r>
              <a:rPr lang="zh-CN" altLang="en-US"/>
              <a:t>模式定义）**：对抽取得到的每一个关系、实体类型，让 </a:t>
            </a:r>
            <a:r>
              <a:rPr lang="en-US" altLang="zh-CN"/>
              <a:t>LLM </a:t>
            </a:r>
            <a:r>
              <a:rPr lang="zh-CN" altLang="en-US"/>
              <a:t>生成自然语言语义定义，用于后续语义对齐。</a:t>
            </a:r>
            <a:endParaRPr lang="zh-CN" altLang="en-US"/>
          </a:p>
          <a:p>
            <a:r>
              <a:rPr lang="en-US" altLang="zh-CN"/>
              <a:t>3. **Canonicalize（</a:t>
            </a:r>
            <a:r>
              <a:rPr lang="zh-CN" altLang="en-US"/>
              <a:t>模式规范化）**：分为两种工作模式：</a:t>
            </a:r>
            <a:endParaRPr lang="zh-CN" altLang="en-US"/>
          </a:p>
          <a:p>
            <a:r>
              <a:rPr lang="zh-CN" altLang="en-US"/>
              <a:t>   - **目标对齐 </a:t>
            </a:r>
            <a:r>
              <a:rPr lang="en-US" altLang="zh-CN"/>
              <a:t>Target‑Alignment**：</a:t>
            </a:r>
            <a:r>
              <a:rPr lang="zh-CN" altLang="en-US"/>
              <a:t>已有预定义 </a:t>
            </a:r>
            <a:r>
              <a:rPr lang="en-US" altLang="zh-CN"/>
              <a:t>Schema，</a:t>
            </a:r>
            <a:r>
              <a:rPr lang="zh-CN" altLang="en-US"/>
              <a:t>通过向量相似度检索候选类型，再交由 </a:t>
            </a:r>
            <a:r>
              <a:rPr lang="en-US" altLang="zh-CN"/>
              <a:t>LLM </a:t>
            </a:r>
            <a:r>
              <a:rPr lang="zh-CN" altLang="en-US"/>
              <a:t>校验，将原始三元组对齐到给定本体；不匹配的三元组直接舍弃。</a:t>
            </a:r>
            <a:endParaRPr lang="zh-CN" altLang="en-US"/>
          </a:p>
          <a:p>
            <a:r>
              <a:rPr lang="zh-CN" altLang="en-US"/>
              <a:t>   - **自规范化 </a:t>
            </a:r>
            <a:r>
              <a:rPr lang="en-US" altLang="zh-CN"/>
              <a:t>Self‑Canonicalization**：</a:t>
            </a:r>
            <a:r>
              <a:rPr lang="zh-CN" altLang="en-US"/>
              <a:t>没有预定义 </a:t>
            </a:r>
            <a:r>
              <a:rPr lang="en-US" altLang="zh-CN"/>
              <a:t>Schema，</a:t>
            </a:r>
            <a:r>
              <a:rPr lang="zh-CN" altLang="en-US"/>
              <a:t>基于语义定义聚合等价关系，自动归纳生成 </a:t>
            </a:r>
            <a:r>
              <a:rPr lang="en-US" altLang="zh-CN"/>
              <a:t>Schema，</a:t>
            </a:r>
            <a:r>
              <a:rPr lang="zh-CN" altLang="en-US"/>
              <a:t>新关系直接加入本体。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微软研究院，提出**</a:t>
            </a:r>
            <a:r>
              <a:rPr lang="en-US" altLang="zh-CN"/>
              <a:t>GraphRAG**，</a:t>
            </a:r>
            <a:r>
              <a:rPr lang="zh-CN" altLang="en-US"/>
              <a:t>一套面向**全局洞察类问答（</a:t>
            </a:r>
            <a:r>
              <a:rPr lang="en-US" altLang="zh-CN"/>
              <a:t>sensemaking /query‑focused summarization，</a:t>
            </a:r>
            <a:r>
              <a:rPr lang="zh-CN" altLang="en-US"/>
              <a:t>查询导向摘要）**的 </a:t>
            </a:r>
            <a:r>
              <a:rPr lang="en-US" altLang="zh-CN"/>
              <a:t>RAG </a:t>
            </a:r>
            <a:r>
              <a:rPr lang="zh-CN" altLang="en-US"/>
              <a:t>方案。传统向量 </a:t>
            </a:r>
            <a:r>
              <a:rPr lang="en-US" altLang="zh-CN"/>
              <a:t>RAG（Vector‑RAG）</a:t>
            </a:r>
            <a:r>
              <a:rPr lang="zh-CN" altLang="en-US"/>
              <a:t>做语义相似度检索，擅长查询局部事实；面对需要理解整个文档集、挖掘整体主题、趋势、跨文档关联的全局问题表现很差。</a:t>
            </a:r>
            <a:r>
              <a:rPr lang="en-US" altLang="zh-CN"/>
              <a:t>GraphRAG </a:t>
            </a:r>
            <a:r>
              <a:rPr lang="zh-CN" altLang="en-US"/>
              <a:t>通过**大模型抽取实体关系构建知识图谱 + 层次社区检测 + 社区摘要 + </a:t>
            </a:r>
            <a:r>
              <a:rPr lang="en-US" altLang="zh-CN"/>
              <a:t>map‑reduce </a:t>
            </a:r>
            <a:r>
              <a:rPr lang="zh-CN" altLang="en-US"/>
              <a:t>聚合回答**解决全局分析任务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1. **传统向量 </a:t>
            </a:r>
            <a:r>
              <a:rPr lang="en-US" altLang="zh-CN"/>
              <a:t>RAG（SS </a:t>
            </a:r>
            <a:r>
              <a:rPr lang="zh-CN" altLang="en-US"/>
              <a:t>语义检索）局限**：根据 </a:t>
            </a:r>
            <a:r>
              <a:rPr lang="en-US" altLang="zh-CN"/>
              <a:t>query </a:t>
            </a:r>
            <a:r>
              <a:rPr lang="zh-CN" altLang="en-US"/>
              <a:t>相似度召回少量文本块，适合事实类局部问答；对于全局问题，例如 “数据集里面有哪些主要主题？”“报告反映出哪些趋势？”，只能拿到局部片段，缺少跨文档的实体、事件关联，回答**全面性、视角多样性不足**。</a:t>
            </a:r>
            <a:endParaRPr lang="zh-CN" altLang="en-US"/>
          </a:p>
          <a:p>
            <a:r>
              <a:rPr lang="zh-CN" altLang="en-US"/>
              <a:t>2. 普通 </a:t>
            </a:r>
            <a:r>
              <a:rPr lang="en-US" altLang="zh-CN"/>
              <a:t>map‑reduce </a:t>
            </a:r>
            <a:r>
              <a:rPr lang="zh-CN" altLang="en-US"/>
              <a:t>全文本摘要（</a:t>
            </a:r>
            <a:r>
              <a:rPr lang="en-US" altLang="zh-CN"/>
              <a:t>TS）：</a:t>
            </a:r>
            <a:r>
              <a:rPr lang="zh-CN" altLang="en-US"/>
              <a:t>直接对全部文本块做分层摘要，</a:t>
            </a:r>
            <a:r>
              <a:rPr lang="en-US" altLang="zh-CN"/>
              <a:t>token </a:t>
            </a:r>
            <a:r>
              <a:rPr lang="zh-CN" altLang="en-US"/>
              <a:t>开销巨大，容易被噪声干扰。</a:t>
            </a:r>
            <a:endParaRPr lang="zh-CN" altLang="en-US"/>
          </a:p>
          <a:p>
            <a:r>
              <a:rPr lang="zh-CN" altLang="en-US"/>
              <a:t>3. 现有 </a:t>
            </a:r>
            <a:r>
              <a:rPr lang="en-US" altLang="zh-CN"/>
              <a:t>Graph </a:t>
            </a:r>
            <a:r>
              <a:rPr lang="zh-CN" altLang="en-US"/>
              <a:t>相关 </a:t>
            </a:r>
            <a:r>
              <a:rPr lang="en-US" altLang="zh-CN"/>
              <a:t>RAG </a:t>
            </a:r>
            <a:r>
              <a:rPr lang="zh-CN" altLang="en-US"/>
              <a:t>大多聚焦知识图谱问答、局部子图检索，**缺少针对海量非结构化原始文档做全局综合洞察的方案**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分为两大阶段：**索引阶段（离线建库）**、**查询阶段（在线问答）**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🔹索引阶段（</a:t>
            </a:r>
            <a:r>
              <a:rPr lang="en-US" altLang="zh-CN"/>
              <a:t>Indexing Time）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1. **文档分块**：原始文档切为固定大小文本块（论文 600</a:t>
            </a:r>
            <a:r>
              <a:rPr lang="en-US" altLang="zh-CN"/>
              <a:t>token，</a:t>
            </a:r>
            <a:r>
              <a:rPr lang="zh-CN" altLang="en-US"/>
              <a:t>带重叠）。</a:t>
            </a:r>
            <a:endParaRPr lang="zh-CN" altLang="en-US"/>
          </a:p>
          <a:p>
            <a:r>
              <a:rPr lang="zh-CN" altLang="en-US"/>
              <a:t>2. **实体、关系、事实 </a:t>
            </a:r>
            <a:r>
              <a:rPr lang="en-US" altLang="zh-CN"/>
              <a:t>Claim </a:t>
            </a:r>
            <a:r>
              <a:rPr lang="zh-CN" altLang="en-US"/>
              <a:t>抽取**：使用 </a:t>
            </a:r>
            <a:r>
              <a:rPr lang="en-US" altLang="zh-CN"/>
              <a:t>LLM </a:t>
            </a:r>
            <a:r>
              <a:rPr lang="zh-CN" altLang="en-US"/>
              <a:t>从每个文本块提取：实体（名称、类型、描述）、实体间关系（源实体、目标实体、关系描述、关系强度）、事实声明 </a:t>
            </a:r>
            <a:r>
              <a:rPr lang="en-US" altLang="zh-CN"/>
              <a:t>Claim；</a:t>
            </a:r>
            <a:r>
              <a:rPr lang="zh-CN" altLang="en-US"/>
              <a:t>支持自反思 </a:t>
            </a:r>
            <a:r>
              <a:rPr lang="en-US" altLang="zh-CN"/>
              <a:t>self‑reflection </a:t>
            </a:r>
            <a:r>
              <a:rPr lang="zh-CN" altLang="en-US"/>
              <a:t>迭代，提升大 </a:t>
            </a:r>
            <a:r>
              <a:rPr lang="en-US" altLang="zh-CN"/>
              <a:t>chunk </a:t>
            </a:r>
            <a:r>
              <a:rPr lang="zh-CN" altLang="en-US"/>
              <a:t>下实体召回。</a:t>
            </a:r>
            <a:endParaRPr lang="zh-CN" altLang="en-US"/>
          </a:p>
          <a:p>
            <a:r>
              <a:rPr lang="zh-CN" altLang="en-US"/>
              <a:t>3. **构建知识图谱**：把抽取结果融合；相同实体、关系做聚合；关系重复次数作为边权重。</a:t>
            </a:r>
            <a:endParaRPr lang="zh-CN" altLang="en-US"/>
          </a:p>
          <a:p>
            <a:r>
              <a:rPr lang="zh-CN" altLang="en-US"/>
              <a:t>4. **层次社区检测**：采用**</a:t>
            </a:r>
            <a:r>
              <a:rPr lang="en-US" altLang="zh-CN"/>
              <a:t>Leiden </a:t>
            </a:r>
            <a:r>
              <a:rPr lang="zh-CN" altLang="en-US"/>
              <a:t>社区检测算法**，递归对图划分，形成多层级社区：</a:t>
            </a:r>
            <a:endParaRPr lang="zh-CN" altLang="en-US"/>
          </a:p>
          <a:p>
            <a:r>
              <a:rPr lang="en-US" altLang="zh-CN"/>
              <a:t>   - C0 </a:t>
            </a:r>
            <a:r>
              <a:rPr lang="zh-CN" altLang="en-US"/>
              <a:t>根社区（高层，数量少，概括性强）</a:t>
            </a:r>
            <a:endParaRPr lang="zh-CN" altLang="en-US"/>
          </a:p>
          <a:p>
            <a:r>
              <a:rPr lang="en-US" altLang="zh-CN"/>
              <a:t>   - C1/C2/C3 </a:t>
            </a:r>
            <a:r>
              <a:rPr lang="zh-CN" altLang="en-US"/>
              <a:t>逐层向下，子社区粒度越来越细，节点数量变多。</a:t>
            </a:r>
            <a:endParaRPr lang="zh-CN" altLang="en-US"/>
          </a:p>
          <a:p>
            <a:r>
              <a:rPr lang="zh-CN" altLang="en-US"/>
              <a:t>5. **生成社区报告 </a:t>
            </a:r>
            <a:r>
              <a:rPr lang="en-US" altLang="zh-CN"/>
              <a:t>Community Summaries**</a:t>
            </a:r>
            <a:endParaRPr lang="en-US" altLang="zh-CN"/>
          </a:p>
          <a:p>
            <a:r>
              <a:rPr lang="zh-CN" altLang="en-US"/>
              <a:t>   - 叶子社区：把社区内部节点、边、事实整理送入 </a:t>
            </a:r>
            <a:r>
              <a:rPr lang="en-US" altLang="zh-CN"/>
              <a:t>LLM，</a:t>
            </a:r>
            <a:r>
              <a:rPr lang="zh-CN" altLang="en-US"/>
              <a:t>生成结构化社区报告（标题、总结、影响评分、详细发现、引用溯源）。</a:t>
            </a:r>
            <a:endParaRPr lang="zh-CN" altLang="en-US"/>
          </a:p>
          <a:p>
            <a:r>
              <a:rPr lang="zh-CN" altLang="en-US"/>
              <a:t>   - 高层社区：复用下层子社区的报告，递归向上合并生成高层报告。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输出：一套分层社区摘要库，不需要每次查询重新读取原始文档块。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🔹查询阶段（</a:t>
            </a:r>
            <a:r>
              <a:rPr lang="en-US" altLang="zh-CN"/>
              <a:t>Query Time，Map‑Reduce </a:t>
            </a:r>
            <a:r>
              <a:rPr lang="zh-CN" altLang="en-US"/>
              <a:t>范式）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将社区摘要分块打乱，送入 </a:t>
            </a:r>
            <a:r>
              <a:rPr lang="en-US" altLang="zh-CN"/>
              <a:t>map </a:t>
            </a:r>
            <a:r>
              <a:rPr lang="zh-CN" altLang="en-US"/>
              <a:t>阶段：每个社区摘要独立生成针对用户 </a:t>
            </a:r>
            <a:r>
              <a:rPr lang="en-US" altLang="zh-CN"/>
              <a:t>query </a:t>
            </a:r>
            <a:r>
              <a:rPr lang="zh-CN" altLang="en-US"/>
              <a:t>的局部中间答案，同时输出 0‑100 帮助性得分，过滤掉得分为 0 的无关结果。</a:t>
            </a:r>
            <a:endParaRPr lang="zh-CN" altLang="en-US"/>
          </a:p>
          <a:p>
            <a:r>
              <a:rPr lang="en-US" altLang="zh-CN"/>
              <a:t>2. **Reduce </a:t>
            </a:r>
            <a:r>
              <a:rPr lang="zh-CN" altLang="en-US"/>
              <a:t>归约**：将筛选后的中间答案按得分排序，填充进 </a:t>
            </a:r>
            <a:r>
              <a:rPr lang="en-US" altLang="zh-CN"/>
              <a:t>LLM </a:t>
            </a:r>
            <a:r>
              <a:rPr lang="zh-CN" altLang="en-US"/>
              <a:t>上下文窗口，生成最终**全局答案**。</a:t>
            </a:r>
            <a:endParaRPr lang="en-US" altLang="zh-CN"/>
          </a:p>
          <a:p>
            <a:r>
              <a:rPr lang="zh-CN" altLang="en-US"/>
              <a:t>&gt; 可以选择不同层级社区（</a:t>
            </a:r>
            <a:r>
              <a:rPr lang="en-US" altLang="zh-CN"/>
              <a:t>C0/C1/C2/C3）</a:t>
            </a:r>
            <a:r>
              <a:rPr lang="zh-CN" altLang="en-US"/>
              <a:t>做查询：高层 </a:t>
            </a:r>
            <a:r>
              <a:rPr lang="en-US" altLang="zh-CN"/>
              <a:t>C0 token </a:t>
            </a:r>
            <a:r>
              <a:rPr lang="zh-CN" altLang="en-US"/>
              <a:t>开销极低；低层 </a:t>
            </a:r>
            <a:r>
              <a:rPr lang="en-US" altLang="zh-CN"/>
              <a:t>C2/C3 </a:t>
            </a:r>
            <a:r>
              <a:rPr lang="zh-CN" altLang="en-US"/>
              <a:t>细节更丰富，但是 </a:t>
            </a:r>
            <a:r>
              <a:rPr lang="en-US" altLang="zh-CN"/>
              <a:t>token </a:t>
            </a:r>
            <a:r>
              <a:rPr lang="zh-CN" altLang="en-US"/>
              <a:t>消耗上升。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针对 </a:t>
            </a:r>
            <a:r>
              <a:rPr lang="en-US" altLang="zh-CN"/>
              <a:t>GraphRAG </a:t>
            </a:r>
            <a:r>
              <a:rPr lang="zh-CN" altLang="en-US"/>
              <a:t>社区聚合开销巨大、增量更新困难的痛点进行优化。它构建实体‑关系普通图，设计**双层检索机制**，兼顾细粒度实体关系和高层主题概念，同时支持增量更新，在大幅降低计算开销的前提下提升复杂查询的回答质量，项目已开源。</a:t>
            </a:r>
            <a:endParaRPr lang="zh-CN" altLang="en-US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**传统普通 </a:t>
            </a:r>
            <a:r>
              <a:rPr lang="en-US" altLang="zh-CN"/>
              <a:t>RAG（Naive‑RAG、HyDE、RQ‑RAG）**：</a:t>
            </a:r>
            <a:r>
              <a:rPr lang="zh-CN" altLang="en-US"/>
              <a:t>以文本块 </a:t>
            </a:r>
            <a:r>
              <a:rPr lang="en-US" altLang="zh-CN"/>
              <a:t>chunk </a:t>
            </a:r>
            <a:r>
              <a:rPr lang="zh-CN" altLang="en-US"/>
              <a:t>作为检索单元，扁平化存储。面对跨多文档、多实体的复杂关联问题，只能返回碎片化片段，难以把实体间的依赖关系综合起来，回答完整性差。</a:t>
            </a:r>
            <a:endParaRPr lang="zh-CN" altLang="en-US"/>
          </a:p>
          <a:p>
            <a:r>
              <a:rPr lang="en-US" altLang="zh-CN"/>
              <a:t>2. **GraphRAG**：</a:t>
            </a:r>
            <a:r>
              <a:rPr lang="zh-CN" altLang="en-US"/>
              <a:t>同样使用 </a:t>
            </a:r>
            <a:r>
              <a:rPr lang="en-US" altLang="zh-CN"/>
              <a:t>LLM </a:t>
            </a:r>
            <a:r>
              <a:rPr lang="zh-CN" altLang="en-US"/>
              <a:t>抽取实体、关系构建知识图谱，但核心操作是做**社区聚类 + 生成社区摘要报告**。</a:t>
            </a:r>
            <a:endParaRPr lang="zh-CN" altLang="en-US"/>
          </a:p>
          <a:p>
            <a:r>
              <a:rPr lang="zh-CN" altLang="en-US"/>
              <a:t>   - 缺点：检索阶段要读取大量社区报告 </a:t>
            </a:r>
            <a:r>
              <a:rPr lang="en-US" altLang="zh-CN"/>
              <a:t>token，</a:t>
            </a:r>
            <a:r>
              <a:rPr lang="zh-CN" altLang="en-US"/>
              <a:t>计算成本极高；新增文档时需要重新计算全部社区，无法增量更新，只能整体重建索引，不适应动态更新的知识库。</a:t>
            </a:r>
            <a:endParaRPr lang="zh-CN" altLang="en-US"/>
          </a:p>
          <a:p>
            <a:r>
              <a:rPr lang="zh-CN" altLang="en-US"/>
              <a:t>3. 本文要解决三大挑战：①实现全面信息检索，捕捉实体之间复杂依赖；②提升图 </a:t>
            </a:r>
            <a:r>
              <a:rPr lang="en-US" altLang="zh-CN"/>
              <a:t>RAG </a:t>
            </a:r>
            <a:r>
              <a:rPr lang="zh-CN" altLang="en-US"/>
              <a:t>检索效率，降低 </a:t>
            </a:r>
            <a:r>
              <a:rPr lang="en-US" altLang="zh-CN"/>
              <a:t>token </a:t>
            </a:r>
            <a:r>
              <a:rPr lang="zh-CN" altLang="en-US"/>
              <a:t>与 </a:t>
            </a:r>
            <a:r>
              <a:rPr lang="en-US" altLang="zh-CN"/>
              <a:t>API </a:t>
            </a:r>
            <a:r>
              <a:rPr lang="zh-CN" altLang="en-US"/>
              <a:t>调用开销；③支持新增数据快速接入，实现增量更新。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核心方法架构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LightRAG </a:t>
            </a:r>
            <a:r>
              <a:rPr lang="zh-CN" altLang="en-US"/>
              <a:t>整体分为**基于图的文本索引、双层检索范式、检索增强生成**三大部分。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1. 基于图的文本索引 </a:t>
            </a:r>
            <a:r>
              <a:rPr lang="en-US" altLang="zh-CN"/>
              <a:t>Graph‑based Text Indexing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1. **实体与关系抽取**：文档切分为文本块，调用 </a:t>
            </a:r>
            <a:r>
              <a:rPr lang="en-US" altLang="zh-CN"/>
              <a:t>LLM </a:t>
            </a:r>
            <a:r>
              <a:rPr lang="zh-CN" altLang="en-US"/>
              <a:t>从每个 </a:t>
            </a:r>
            <a:r>
              <a:rPr lang="en-US" altLang="zh-CN"/>
              <a:t>chunk </a:t>
            </a:r>
            <a:r>
              <a:rPr lang="zh-CN" altLang="en-US"/>
              <a:t>抽取实体（节点）、关系（边）。</a:t>
            </a:r>
            <a:endParaRPr lang="zh-CN" altLang="en-US"/>
          </a:p>
          <a:p>
            <a:r>
              <a:rPr lang="en-US" altLang="zh-CN"/>
              <a:t>2. **LLM Profiling </a:t>
            </a:r>
            <a:r>
              <a:rPr lang="zh-CN" altLang="en-US"/>
              <a:t>生成 </a:t>
            </a:r>
            <a:r>
              <a:rPr lang="en-US" altLang="zh-CN"/>
              <a:t>KV </a:t>
            </a:r>
            <a:r>
              <a:rPr lang="zh-CN" altLang="en-US"/>
              <a:t>对**：每个实体、关系生成 </a:t>
            </a:r>
            <a:r>
              <a:rPr lang="en-US" altLang="zh-CN"/>
              <a:t>key‑value；key </a:t>
            </a:r>
            <a:r>
              <a:rPr lang="zh-CN" altLang="en-US"/>
              <a:t>用于检索，</a:t>
            </a:r>
            <a:r>
              <a:rPr lang="en-US" altLang="zh-CN"/>
              <a:t>value </a:t>
            </a:r>
            <a:r>
              <a:rPr lang="zh-CN" altLang="en-US"/>
              <a:t>是相关文本摘要，用于后续生成答案。实体 </a:t>
            </a:r>
            <a:r>
              <a:rPr lang="en-US" altLang="zh-CN"/>
              <a:t>key </a:t>
            </a:r>
            <a:r>
              <a:rPr lang="zh-CN" altLang="en-US"/>
              <a:t>为实体名；关系会生成多个高层主题关键词。</a:t>
            </a:r>
            <a:endParaRPr lang="zh-CN" altLang="en-US"/>
          </a:p>
          <a:p>
            <a:r>
              <a:rPr lang="zh-CN" altLang="en-US"/>
              <a:t>3. **去重合并**：合并不同 </a:t>
            </a:r>
            <a:r>
              <a:rPr lang="en-US" altLang="zh-CN"/>
              <a:t>chunk </a:t>
            </a:r>
            <a:r>
              <a:rPr lang="zh-CN" altLang="en-US"/>
              <a:t>抽取出的相同实体、关系，压缩图谱规模，减少运算开销。</a:t>
            </a:r>
            <a:endParaRPr lang="zh-CN" altLang="en-US"/>
          </a:p>
          <a:p>
            <a:r>
              <a:rPr lang="zh-CN" altLang="en-US"/>
              <a:t>4. **增量更新算法（核心创新）**：新文档不需要重新处理全部旧语料。对新文档做同样抽取流程得到新的子图，直接和原有图谱做节点、边集合的并集，无缝融合新知识，**不需要重建整个图，也不需要社区重计算**，极大减少新增数据的成本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&gt; </a:t>
            </a:r>
            <a:endParaRPr lang="en-US" altLang="zh-CN"/>
          </a:p>
          <a:p>
            <a:r>
              <a:rPr lang="zh-CN" altLang="en-US"/>
              <a:t>&gt; 和 </a:t>
            </a:r>
            <a:r>
              <a:rPr lang="en-US" altLang="zh-CN"/>
              <a:t>GraphRAG </a:t>
            </a:r>
            <a:r>
              <a:rPr lang="zh-CN" altLang="en-US"/>
              <a:t>最大区别：</a:t>
            </a:r>
            <a:r>
              <a:rPr lang="en-US" altLang="zh-CN"/>
              <a:t>LightRAG**</a:t>
            </a:r>
            <a:r>
              <a:rPr lang="zh-CN" altLang="en-US"/>
              <a:t>不做社区聚类、不生成社区报告**。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2. 双层检索范式 </a:t>
            </a:r>
            <a:r>
              <a:rPr lang="en-US" altLang="zh-CN"/>
              <a:t>Dual‑level Retrieval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区分两类查询：**具体查询（关注特定实体细节）、抽象查询（高层主题概念）**。检索时先从用户问题提取**低层关键词（具体实体）、高层关键词（宏观主题概念）**。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**低层检索 </a:t>
            </a:r>
            <a:r>
              <a:rPr lang="en-US" altLang="zh-CN"/>
              <a:t>Low‑Level**：</a:t>
            </a:r>
            <a:r>
              <a:rPr lang="zh-CN" altLang="en-US"/>
              <a:t>面向细节，匹配低层关键词，检索精确的实体、关系以及一跳邻居节点，获取细粒度事实。适合需要精准事实的问题。</a:t>
            </a:r>
            <a:endParaRPr lang="zh-CN" altLang="en-US"/>
          </a:p>
          <a:p>
            <a:r>
              <a:rPr lang="zh-CN" altLang="en-US"/>
              <a:t>- **高层检索 </a:t>
            </a:r>
            <a:r>
              <a:rPr lang="en-US" altLang="zh-CN"/>
              <a:t>High‑Level**：</a:t>
            </a:r>
            <a:r>
              <a:rPr lang="zh-CN" altLang="en-US"/>
              <a:t>面向宏观主题，匹配高层关键词，检索跨实体的宽泛主题、全局关系集合，获取大范围上下文。适合综合性、多实体关联的复杂问题。</a:t>
            </a:r>
            <a:endParaRPr lang="zh-CN" altLang="en-US"/>
          </a:p>
          <a:p>
            <a:r>
              <a:rPr lang="zh-CN" altLang="en-US"/>
              <a:t>- 融合：将两层检索结果合并，拿到实体、关系以及对应的摘要文本，同时引入图的一跳邻居，补充高阶关联信息。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3. 检索增强生成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把检索得到的实体、关系对应的 </a:t>
            </a:r>
            <a:r>
              <a:rPr lang="en-US" altLang="zh-CN"/>
              <a:t>value </a:t>
            </a:r>
            <a:r>
              <a:rPr lang="zh-CN" altLang="en-US"/>
              <a:t>摘要文本拼接，和原始用户问题一起送入大模型，输出最终回答。消融实验发现：**仅使用图抽取的摘要，不输入原始 </a:t>
            </a:r>
            <a:r>
              <a:rPr lang="en-US" altLang="zh-CN"/>
              <a:t>chunk </a:t>
            </a:r>
            <a:r>
              <a:rPr lang="zh-CN" altLang="en-US"/>
              <a:t>文本，性能也不会明显下降，有时还会更好**，原始文本会引入噪声</a:t>
            </a:r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用超图格式进行数据构建和</a:t>
            </a:r>
            <a:r>
              <a:rPr lang="zh-CN" altLang="en-US"/>
              <a:t>检索：提出**</a:t>
            </a:r>
            <a:r>
              <a:rPr lang="en-US" altLang="zh-CN"/>
              <a:t>HyperGraphRAG**，</a:t>
            </a:r>
            <a:r>
              <a:rPr lang="zh-CN" altLang="en-US"/>
              <a:t>是首个基于超图的检索增强生成框架，用来解决传统图 </a:t>
            </a:r>
            <a:r>
              <a:rPr lang="en-US" altLang="zh-CN"/>
              <a:t>RAG </a:t>
            </a:r>
            <a:r>
              <a:rPr lang="zh-CN" altLang="en-US"/>
              <a:t>只能建模二元关系，无法很好表达现实世界 </a:t>
            </a:r>
            <a:r>
              <a:rPr lang="en-US" altLang="zh-CN"/>
              <a:t>n </a:t>
            </a:r>
            <a:r>
              <a:rPr lang="zh-CN" altLang="en-US"/>
              <a:t>元（</a:t>
            </a:r>
            <a:r>
              <a:rPr lang="en-US" altLang="zh-CN"/>
              <a:t>n≥3）</a:t>
            </a:r>
            <a:r>
              <a:rPr lang="zh-CN" altLang="en-US"/>
              <a:t>知识事实的缺陷</a:t>
            </a:r>
            <a:endParaRPr lang="zh-CN" altLang="en-US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**标准 </a:t>
            </a:r>
            <a:r>
              <a:rPr lang="en-US" altLang="zh-CN"/>
              <a:t>RAG**：</a:t>
            </a:r>
            <a:r>
              <a:rPr lang="zh-CN" altLang="en-US"/>
              <a:t>基于文本分块检索，忽略实体之间的关联关系。</a:t>
            </a:r>
            <a:endParaRPr lang="zh-CN" altLang="en-US"/>
          </a:p>
          <a:p>
            <a:r>
              <a:rPr lang="en-US" altLang="zh-CN"/>
              <a:t>2. **GraphRAG </a:t>
            </a:r>
            <a:r>
              <a:rPr lang="zh-CN" altLang="en-US"/>
              <a:t>系列（</a:t>
            </a:r>
            <a:r>
              <a:rPr lang="en-US" altLang="zh-CN"/>
              <a:t>GraphRAG、LightRAG、PathRAG、HippoRAG2）**：</a:t>
            </a:r>
            <a:r>
              <a:rPr lang="zh-CN" altLang="en-US"/>
              <a:t>用普通图组织知识，但普通图边只能连接两个实体，只能表达二元关系。当现实中存在多实体共同参与的事实时，必须拆成大量三元组，会造成知识碎片化、信息丢失、表示稀疏，例如医学里同时涉及患者性别、指标、诊断的复合临床事实。</a:t>
            </a:r>
            <a:endParaRPr lang="zh-CN" altLang="en-US"/>
          </a:p>
          <a:p>
            <a:r>
              <a:rPr lang="zh-CN" altLang="en-US"/>
              <a:t>3. 超图可以通过**超边**一次性连接≥2 个实体，天然适配 </a:t>
            </a:r>
            <a:r>
              <a:rPr lang="en-US" altLang="zh-CN"/>
              <a:t>n </a:t>
            </a:r>
            <a:r>
              <a:rPr lang="zh-CN" altLang="en-US"/>
              <a:t>元关系建模，论文将超图引入 </a:t>
            </a:r>
            <a:r>
              <a:rPr lang="en-US" altLang="zh-CN"/>
              <a:t>RAG </a:t>
            </a:r>
            <a:r>
              <a:rPr lang="zh-CN" altLang="en-US"/>
              <a:t>系统。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方法整体流水线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HyperGraphRAG </a:t>
            </a:r>
            <a:r>
              <a:rPr lang="zh-CN" altLang="en-US"/>
              <a:t>分为三大模块：**知识超图构建、超图检索、超图引导生成**。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1. 知识超图构建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**LLM </a:t>
            </a:r>
            <a:r>
              <a:rPr lang="zh-CN" altLang="en-US"/>
              <a:t>驱动的 </a:t>
            </a:r>
            <a:r>
              <a:rPr lang="en-US" altLang="zh-CN"/>
              <a:t>n </a:t>
            </a:r>
            <a:r>
              <a:rPr lang="zh-CN" altLang="en-US"/>
              <a:t>元关系抽取**：使用大模型从原始文档抽取 </a:t>
            </a:r>
            <a:r>
              <a:rPr lang="en-US" altLang="zh-CN"/>
              <a:t>n </a:t>
            </a:r>
            <a:r>
              <a:rPr lang="zh-CN" altLang="en-US"/>
              <a:t>元事实。每条超边包含自然语言描述文本与置信度分数；每个实体包含名称、类型、解释、提取置信度。</a:t>
            </a:r>
            <a:endParaRPr lang="zh-CN" altLang="en-US"/>
          </a:p>
          <a:p>
            <a:r>
              <a:rPr lang="zh-CN" altLang="en-US"/>
              <a:t>2. **二分图无损存储超图**：把超边也作为一类节点，实体节点与超边节点之间建立连接，将超图转化为普通二分图存入图数据库。证明了二分图可以无损保存、查询超图，支持增量更新。</a:t>
            </a:r>
            <a:endParaRPr lang="zh-CN" altLang="en-US"/>
          </a:p>
          <a:p>
            <a:r>
              <a:rPr lang="zh-CN" altLang="en-US"/>
              <a:t>3. **向量库存储**：对实体、超边使用同一个嵌入模型编码，存入向量数据库，用于后续语义检索。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2. 超图检索策略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**实体检索**：从用户问题提取关键实体，通过向量相似度检索知识库内相关实体，结合实体置信度做排序过滤。</a:t>
            </a:r>
            <a:endParaRPr lang="zh-CN" altLang="en-US"/>
          </a:p>
          <a:p>
            <a:r>
              <a:rPr lang="zh-CN" altLang="en-US"/>
              <a:t>2. **超边检索**：直接对问题做向量匹配，检索语义相关的超边，结合超边置信度过滤。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3. 超图引导生成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**双向扩展知识融合**：</a:t>
            </a:r>
            <a:endParaRPr lang="zh-CN" altLang="en-US"/>
          </a:p>
          <a:p>
            <a:r>
              <a:rPr lang="zh-CN" altLang="en-US"/>
              <a:t>   - 从检索得到的实体向外扩展，拿到所有关联超边；</a:t>
            </a:r>
            <a:endParaRPr lang="zh-CN" altLang="en-US"/>
          </a:p>
          <a:p>
            <a:r>
              <a:rPr lang="zh-CN" altLang="en-US"/>
              <a:t>   - 从检索得到的超边向外扩展，拿到全部关联实体；</a:t>
            </a:r>
            <a:endParaRPr lang="zh-CN" altLang="en-US"/>
          </a:p>
          <a:p>
            <a:r>
              <a:rPr lang="zh-CN" altLang="en-US"/>
              <a:t>   - 合并得到完整 </a:t>
            </a:r>
            <a:r>
              <a:rPr lang="en-US" altLang="zh-CN"/>
              <a:t>n </a:t>
            </a:r>
            <a:r>
              <a:rPr lang="zh-CN" altLang="en-US"/>
              <a:t>元事实集合。</a:t>
            </a:r>
            <a:endParaRPr lang="zh-CN" altLang="en-US"/>
          </a:p>
          <a:p>
            <a:r>
              <a:rPr lang="zh-CN" altLang="en-US"/>
              <a:t>2. **混合检索融合**：把超图得到结构化知识，和传统 </a:t>
            </a:r>
            <a:r>
              <a:rPr lang="en-US" altLang="zh-CN"/>
              <a:t>RAG </a:t>
            </a:r>
            <a:r>
              <a:rPr lang="zh-CN" altLang="en-US"/>
              <a:t>检索得到文本块结合，构成最终输入知识。</a:t>
            </a:r>
            <a:endParaRPr lang="zh-CN" altLang="en-US"/>
          </a:p>
          <a:p>
            <a:r>
              <a:rPr lang="zh-CN" altLang="en-US"/>
              <a:t>3. 将全部知识与用户问题送入大模型得到最终回答。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用超图格式进行数据构建和</a:t>
            </a:r>
            <a:r>
              <a:rPr lang="zh-CN" altLang="en-US"/>
              <a:t>检索：提出**</a:t>
            </a:r>
            <a:r>
              <a:rPr lang="en-US" altLang="zh-CN"/>
              <a:t>HyperGraphRAG**，</a:t>
            </a:r>
            <a:r>
              <a:rPr lang="zh-CN" altLang="en-US"/>
              <a:t>是首个基于超图的检索增强生成框架，用来解决传统图 </a:t>
            </a:r>
            <a:r>
              <a:rPr lang="en-US" altLang="zh-CN"/>
              <a:t>RAG </a:t>
            </a:r>
            <a:r>
              <a:rPr lang="zh-CN" altLang="en-US"/>
              <a:t>只能建模二元关系，无法很好表达现实世界 </a:t>
            </a:r>
            <a:r>
              <a:rPr lang="en-US" altLang="zh-CN"/>
              <a:t>n </a:t>
            </a:r>
            <a:r>
              <a:rPr lang="zh-CN" altLang="en-US"/>
              <a:t>元（</a:t>
            </a:r>
            <a:r>
              <a:rPr lang="en-US" altLang="zh-CN"/>
              <a:t>n≥3）</a:t>
            </a:r>
            <a:r>
              <a:rPr lang="zh-CN" altLang="en-US"/>
              <a:t>知识事实的缺陷</a:t>
            </a:r>
            <a:endParaRPr lang="zh-CN" altLang="en-US"/>
          </a:p>
          <a:p>
            <a:r>
              <a:rPr lang="zh-CN" altLang="en-US"/>
              <a:t>## 研究背景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**标准 </a:t>
            </a:r>
            <a:r>
              <a:rPr lang="en-US" altLang="zh-CN"/>
              <a:t>RAG**：</a:t>
            </a:r>
            <a:r>
              <a:rPr lang="zh-CN" altLang="en-US"/>
              <a:t>基于文本分块检索，忽略实体之间的关联关系。</a:t>
            </a:r>
            <a:endParaRPr lang="zh-CN" altLang="en-US"/>
          </a:p>
          <a:p>
            <a:r>
              <a:rPr lang="en-US" altLang="zh-CN"/>
              <a:t>2. **GraphRAG </a:t>
            </a:r>
            <a:r>
              <a:rPr lang="zh-CN" altLang="en-US"/>
              <a:t>系列（</a:t>
            </a:r>
            <a:r>
              <a:rPr lang="en-US" altLang="zh-CN"/>
              <a:t>GraphRAG、LightRAG、PathRAG、HippoRAG2）**：</a:t>
            </a:r>
            <a:r>
              <a:rPr lang="zh-CN" altLang="en-US"/>
              <a:t>用普通图组织知识，但普通图边只能连接两个实体，只能表达二元关系。当现实中存在多实体共同参与的事实时，必须拆成大量三元组，会造成知识碎片化、信息丢失、表示稀疏，例如医学里同时涉及患者性别、指标、诊断的复合临床事实。</a:t>
            </a:r>
            <a:endParaRPr lang="zh-CN" altLang="en-US"/>
          </a:p>
          <a:p>
            <a:r>
              <a:rPr lang="zh-CN" altLang="en-US"/>
              <a:t>3. 超图可以通过**超边**一次性连接≥2 个实体，天然适配 </a:t>
            </a:r>
            <a:r>
              <a:rPr lang="en-US" altLang="zh-CN"/>
              <a:t>n </a:t>
            </a:r>
            <a:r>
              <a:rPr lang="zh-CN" altLang="en-US"/>
              <a:t>元关系建模，论文将超图引入 </a:t>
            </a:r>
            <a:r>
              <a:rPr lang="en-US" altLang="zh-CN"/>
              <a:t>RAG </a:t>
            </a:r>
            <a:r>
              <a:rPr lang="zh-CN" altLang="en-US"/>
              <a:t>系统。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方法整体流水线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HyperGraphRAG </a:t>
            </a:r>
            <a:r>
              <a:rPr lang="zh-CN" altLang="en-US"/>
              <a:t>分为三大模块：**知识超图构建、超图检索、超图引导生成**。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1. 知识超图构建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**LLM </a:t>
            </a:r>
            <a:r>
              <a:rPr lang="zh-CN" altLang="en-US"/>
              <a:t>驱动的 </a:t>
            </a:r>
            <a:r>
              <a:rPr lang="en-US" altLang="zh-CN"/>
              <a:t>n </a:t>
            </a:r>
            <a:r>
              <a:rPr lang="zh-CN" altLang="en-US"/>
              <a:t>元关系抽取**：使用大模型从原始文档抽取 </a:t>
            </a:r>
            <a:r>
              <a:rPr lang="en-US" altLang="zh-CN"/>
              <a:t>n </a:t>
            </a:r>
            <a:r>
              <a:rPr lang="zh-CN" altLang="en-US"/>
              <a:t>元事实。每条超边包含自然语言描述文本与置信度分数；每个实体包含名称、类型、解释、提取置信度。</a:t>
            </a:r>
            <a:endParaRPr lang="zh-CN" altLang="en-US"/>
          </a:p>
          <a:p>
            <a:r>
              <a:rPr lang="zh-CN" altLang="en-US"/>
              <a:t>2. **二分图无损存储超图**：把超边也作为一类节点，实体节点与超边节点之间建立连接，将超图转化为普通二分图存入图数据库。证明了二分图可以无损保存、查询超图，支持增量更新。</a:t>
            </a:r>
            <a:endParaRPr lang="zh-CN" altLang="en-US"/>
          </a:p>
          <a:p>
            <a:r>
              <a:rPr lang="zh-CN" altLang="en-US"/>
              <a:t>3. **向量库存储**：对实体、超边使用同一个嵌入模型编码，存入向量数据库，用于后续语义检索。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2. 超图检索策略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**实体检索**：从用户问题提取关键实体，通过向量相似度检索知识库内相关实体，结合实体置信度做排序过滤。</a:t>
            </a:r>
            <a:endParaRPr lang="zh-CN" altLang="en-US"/>
          </a:p>
          <a:p>
            <a:r>
              <a:rPr lang="zh-CN" altLang="en-US"/>
              <a:t>2. **超边检索**：直接对问题做向量匹配，检索语义相关的超边，结合超边置信度过滤。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### 3. 超图引导生成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**双向扩展知识融合**：</a:t>
            </a:r>
            <a:endParaRPr lang="zh-CN" altLang="en-US"/>
          </a:p>
          <a:p>
            <a:r>
              <a:rPr lang="zh-CN" altLang="en-US"/>
              <a:t>   - 从检索得到的实体向外扩展，拿到所有关联超边；</a:t>
            </a:r>
            <a:endParaRPr lang="zh-CN" altLang="en-US"/>
          </a:p>
          <a:p>
            <a:r>
              <a:rPr lang="zh-CN" altLang="en-US"/>
              <a:t>   - 从检索得到的超边向外扩展，拿到全部关联实体；</a:t>
            </a:r>
            <a:endParaRPr lang="zh-CN" altLang="en-US"/>
          </a:p>
          <a:p>
            <a:r>
              <a:rPr lang="zh-CN" altLang="en-US"/>
              <a:t>   - 合并得到完整 </a:t>
            </a:r>
            <a:r>
              <a:rPr lang="en-US" altLang="zh-CN"/>
              <a:t>n </a:t>
            </a:r>
            <a:r>
              <a:rPr lang="zh-CN" altLang="en-US"/>
              <a:t>元事实集合。</a:t>
            </a:r>
            <a:endParaRPr lang="zh-CN" altLang="en-US"/>
          </a:p>
          <a:p>
            <a:r>
              <a:rPr lang="zh-CN" altLang="en-US"/>
              <a:t>2. **混合检索融合**：把超图得到结构化知识，和传统 </a:t>
            </a:r>
            <a:r>
              <a:rPr lang="en-US" altLang="zh-CN"/>
              <a:t>RAG </a:t>
            </a:r>
            <a:r>
              <a:rPr lang="zh-CN" altLang="en-US"/>
              <a:t>检索得到文本块结合，构成最终输入知识。</a:t>
            </a:r>
            <a:endParaRPr lang="zh-CN" altLang="en-US"/>
          </a:p>
          <a:p>
            <a:r>
              <a:rPr lang="zh-CN" altLang="en-US"/>
              <a:t>3. 将全部知识与用户问题送入大模型得到最终回答。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所有</a:t>
            </a:r>
            <a:r>
              <a:rPr lang="en-US" altLang="zh-CN"/>
              <a:t>patch</a:t>
            </a:r>
            <a:r>
              <a:rPr lang="zh-CN" altLang="en-US"/>
              <a:t>合成一个</a:t>
            </a:r>
            <a:r>
              <a:rPr lang="zh-CN" altLang="en-US"/>
              <a:t>向量：提出</a:t>
            </a:r>
            <a:r>
              <a:rPr lang="en-US" altLang="zh-CN"/>
              <a:t>VisRAG，</a:t>
            </a:r>
            <a:r>
              <a:rPr lang="zh-CN" altLang="en-US"/>
              <a:t>一套完全基于视觉的检索增强生成 </a:t>
            </a:r>
            <a:r>
              <a:rPr lang="en-US" altLang="zh-CN"/>
              <a:t>RAG </a:t>
            </a:r>
            <a:r>
              <a:rPr lang="zh-CN" altLang="en-US"/>
              <a:t>流水线。区别传统 </a:t>
            </a:r>
            <a:r>
              <a:rPr lang="en-US" altLang="zh-CN"/>
              <a:t>TextRAG </a:t>
            </a:r>
            <a:r>
              <a:rPr lang="zh-CN" altLang="en-US"/>
              <a:t>需要 </a:t>
            </a:r>
            <a:r>
              <a:rPr lang="en-US" altLang="zh-CN"/>
              <a:t>OCR + </a:t>
            </a:r>
            <a:r>
              <a:rPr lang="zh-CN" altLang="en-US"/>
              <a:t>布局解析抽取文本，</a:t>
            </a:r>
            <a:r>
              <a:rPr lang="en-US" altLang="zh-CN"/>
              <a:t>VisRAG </a:t>
            </a:r>
            <a:r>
              <a:rPr lang="zh-CN" altLang="en-US"/>
              <a:t>直接把 </a:t>
            </a:r>
            <a:r>
              <a:rPr lang="en-US" altLang="zh-CN"/>
              <a:t>PDF / </a:t>
            </a:r>
            <a:r>
              <a:rPr lang="zh-CN" altLang="en-US"/>
              <a:t>文档页面当作图像处理，跳过解析步骤，保留图表、版式、图片等视觉信息，面向多模态文档问答。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已有多模态 </a:t>
            </a:r>
            <a:r>
              <a:rPr lang="en-US" altLang="zh-CN"/>
              <a:t>RAG </a:t>
            </a:r>
            <a:r>
              <a:rPr lang="zh-CN" altLang="en-US"/>
              <a:t>大多还是先抽取图文对；</a:t>
            </a:r>
            <a:r>
              <a:rPr lang="en-US" altLang="zh-CN"/>
              <a:t>ColPali/DSE </a:t>
            </a:r>
            <a:r>
              <a:rPr lang="zh-CN" altLang="en-US"/>
              <a:t>虽然做文档截图检索，但只研究检索模块，缺少端到端 </a:t>
            </a:r>
            <a:r>
              <a:rPr lang="en-US" altLang="zh-CN"/>
              <a:t>RAG（</a:t>
            </a:r>
            <a:r>
              <a:rPr lang="zh-CN" altLang="en-US"/>
              <a:t>检索 + 生成）完整评估。</a:t>
            </a:r>
            <a:endParaRPr lang="zh-CN" altLang="en-US"/>
          </a:p>
          <a:p>
            <a:r>
              <a:rPr lang="zh-CN" altLang="en-US"/>
              <a:t>本文核心思想：文档页面以原始图像作为基本检索单元，用多模态大模型 </a:t>
            </a:r>
            <a:r>
              <a:rPr lang="en-US" altLang="zh-CN"/>
              <a:t>VLM </a:t>
            </a:r>
            <a:r>
              <a:rPr lang="zh-CN" altLang="en-US"/>
              <a:t>完成检索与生成，绕开 </a:t>
            </a:r>
            <a:r>
              <a:rPr lang="en-US" altLang="zh-CN"/>
              <a:t>OCR </a:t>
            </a:r>
            <a:r>
              <a:rPr lang="zh-CN" altLang="en-US"/>
              <a:t>解析流程。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VisRAG </a:t>
            </a:r>
            <a:r>
              <a:rPr lang="zh-CN" altLang="en-US"/>
              <a:t>整体架构</a:t>
            </a:r>
            <a:endParaRPr lang="zh-CN" altLang="en-US"/>
          </a:p>
          <a:p>
            <a:r>
              <a:rPr lang="zh-CN" altLang="en-US"/>
              <a:t>整套系统分为两大部分：</a:t>
            </a:r>
            <a:r>
              <a:rPr lang="en-US" altLang="zh-CN"/>
              <a:t>VisRAG‑Ret </a:t>
            </a:r>
            <a:r>
              <a:rPr lang="zh-CN" altLang="en-US"/>
              <a:t>检索器、</a:t>
            </a:r>
            <a:r>
              <a:rPr lang="en-US" altLang="zh-CN"/>
              <a:t>VisRAG‑Gen </a:t>
            </a:r>
            <a:r>
              <a:rPr lang="zh-CN" altLang="en-US"/>
              <a:t>生成器。知识库存储文档页面截图图像，不再存储解析后的文本。</a:t>
            </a:r>
            <a:endParaRPr lang="zh-CN" altLang="en-US"/>
          </a:p>
          <a:p>
            <a:r>
              <a:rPr lang="en-US" altLang="zh-CN"/>
              <a:t>2.1 VisRAG‑Ret（</a:t>
            </a:r>
            <a:r>
              <a:rPr lang="zh-CN" altLang="en-US"/>
              <a:t>检索模块）</a:t>
            </a:r>
            <a:endParaRPr lang="zh-CN" altLang="en-US"/>
          </a:p>
          <a:p>
            <a:r>
              <a:rPr lang="zh-CN" altLang="en-US"/>
              <a:t>借鉴稠密检索双编码器范式，但是输入分别为：文本 </a:t>
            </a:r>
            <a:r>
              <a:rPr lang="en-US" altLang="zh-CN"/>
              <a:t>query、</a:t>
            </a:r>
            <a:r>
              <a:rPr lang="zh-CN" altLang="en-US"/>
              <a:t>文档页面图像。</a:t>
            </a:r>
            <a:endParaRPr lang="zh-CN" altLang="en-US"/>
          </a:p>
          <a:p>
            <a:r>
              <a:rPr lang="zh-CN" altLang="en-US"/>
              <a:t>基座：</a:t>
            </a:r>
            <a:r>
              <a:rPr lang="en-US" altLang="zh-CN"/>
              <a:t>MiniCPM‑V‑2.0 VLM；query </a:t>
            </a:r>
            <a:r>
              <a:rPr lang="zh-CN" altLang="en-US"/>
              <a:t>走文本编码，文档走图像编码；</a:t>
            </a:r>
            <a:endParaRPr lang="zh-CN" altLang="en-US"/>
          </a:p>
          <a:p>
            <a:r>
              <a:rPr lang="zh-CN" altLang="en-US"/>
              <a:t>对 </a:t>
            </a:r>
            <a:r>
              <a:rPr lang="en-US" altLang="zh-CN"/>
              <a:t>VLM </a:t>
            </a:r>
            <a:r>
              <a:rPr lang="zh-CN" altLang="en-US"/>
              <a:t>最后一层隐状态做位置加权均值池化得到单向量 </a:t>
            </a:r>
            <a:r>
              <a:rPr lang="en-US" altLang="zh-CN"/>
              <a:t>embedding；</a:t>
            </a:r>
            <a:r>
              <a:rPr lang="zh-CN" altLang="en-US"/>
              <a:t>越靠后的 </a:t>
            </a:r>
            <a:r>
              <a:rPr lang="en-US" altLang="zh-CN"/>
              <a:t>token </a:t>
            </a:r>
            <a:r>
              <a:rPr lang="zh-CN" altLang="en-US"/>
              <a:t>权重越高；</a:t>
            </a:r>
            <a:endParaRPr lang="zh-CN" altLang="en-US"/>
          </a:p>
          <a:p>
            <a:r>
              <a:rPr lang="zh-CN" altLang="en-US"/>
              <a:t>损失：</a:t>
            </a:r>
            <a:r>
              <a:rPr lang="en-US" altLang="zh-CN"/>
              <a:t>InfoNCE </a:t>
            </a:r>
            <a:r>
              <a:rPr lang="zh-CN" altLang="en-US"/>
              <a:t>对比损失，优化 </a:t>
            </a:r>
            <a:r>
              <a:rPr lang="en-US" altLang="zh-CN"/>
              <a:t>query‑</a:t>
            </a:r>
            <a:r>
              <a:rPr lang="zh-CN" altLang="en-US"/>
              <a:t>正文档相似度高于负样本；</a:t>
            </a:r>
            <a:endParaRPr lang="zh-CN" altLang="en-US"/>
          </a:p>
          <a:p>
            <a:r>
              <a:rPr lang="zh-CN" altLang="en-US"/>
              <a:t>离线阶段：把全部文档页面图像编码为向量建立 </a:t>
            </a:r>
            <a:r>
              <a:rPr lang="en-US" altLang="zh-CN"/>
              <a:t>ANN </a:t>
            </a:r>
            <a:r>
              <a:rPr lang="zh-CN" altLang="en-US"/>
              <a:t>索引；</a:t>
            </a:r>
            <a:endParaRPr lang="zh-CN" altLang="en-US"/>
          </a:p>
          <a:p>
            <a:r>
              <a:rPr lang="zh-CN" altLang="en-US"/>
              <a:t>推理：输入文本 </a:t>
            </a:r>
            <a:r>
              <a:rPr lang="en-US" altLang="zh-CN"/>
              <a:t>query </a:t>
            </a:r>
            <a:r>
              <a:rPr lang="zh-CN" altLang="en-US"/>
              <a:t>编码，</a:t>
            </a:r>
            <a:r>
              <a:rPr lang="en-US" altLang="zh-CN"/>
              <a:t>ANN </a:t>
            </a:r>
            <a:r>
              <a:rPr lang="zh-CN" altLang="en-US"/>
              <a:t>召回 </a:t>
            </a:r>
            <a:r>
              <a:rPr lang="en-US" altLang="zh-CN"/>
              <a:t>top‑k </a:t>
            </a:r>
            <a:r>
              <a:rPr lang="zh-CN" altLang="en-US"/>
              <a:t>相关页面图像。</a:t>
            </a:r>
            <a:endParaRPr lang="zh-CN" altLang="en-US"/>
          </a:p>
          <a:p>
            <a:r>
              <a:rPr lang="zh-CN" altLang="en-US"/>
              <a:t>对比 </a:t>
            </a:r>
            <a:r>
              <a:rPr lang="en-US" altLang="zh-CN"/>
              <a:t>ColPali：ColPali </a:t>
            </a:r>
            <a:r>
              <a:rPr lang="zh-CN" altLang="en-US"/>
              <a:t>输出大量多向量；</a:t>
            </a:r>
            <a:r>
              <a:rPr lang="en-US" altLang="zh-CN"/>
              <a:t>VisRAG‑Ret </a:t>
            </a:r>
            <a:r>
              <a:rPr lang="zh-CN" altLang="en-US"/>
              <a:t>输出单个 2304 维向量，内存开销小很多，更适合大规模库。</a:t>
            </a:r>
            <a:endParaRPr lang="zh-CN" altLang="en-US"/>
          </a:p>
          <a:p>
            <a:r>
              <a:rPr lang="en-US" altLang="zh-CN"/>
              <a:t>2.2 VisRAG‑Gen（</a:t>
            </a:r>
            <a:r>
              <a:rPr lang="zh-CN" altLang="en-US"/>
              <a:t>生成模块）</a:t>
            </a:r>
            <a:endParaRPr lang="zh-CN" altLang="en-US"/>
          </a:p>
          <a:p>
            <a:r>
              <a:rPr lang="zh-CN" altLang="en-US"/>
              <a:t>拿到召回的多张页面图像，根据 </a:t>
            </a:r>
            <a:r>
              <a:rPr lang="en-US" altLang="zh-CN"/>
              <a:t>VLM </a:t>
            </a:r>
            <a:r>
              <a:rPr lang="zh-CN" altLang="en-US"/>
              <a:t>能力，提供三种处理方案：</a:t>
            </a:r>
            <a:endParaRPr lang="zh-CN" altLang="en-US"/>
          </a:p>
          <a:p>
            <a:r>
              <a:rPr lang="zh-CN" altLang="en-US"/>
              <a:t>页面拼接 </a:t>
            </a:r>
            <a:r>
              <a:rPr lang="en-US" altLang="zh-CN"/>
              <a:t>Page Concatenation：</a:t>
            </a:r>
            <a:r>
              <a:rPr lang="zh-CN" altLang="en-US"/>
              <a:t>针对仅支持单图输入的 </a:t>
            </a:r>
            <a:r>
              <a:rPr lang="en-US" altLang="zh-CN"/>
              <a:t>VLM，</a:t>
            </a:r>
            <a:r>
              <a:rPr lang="zh-CN" altLang="en-US"/>
              <a:t>把多张召回图拼接成一张大图送入模型；</a:t>
            </a:r>
            <a:endParaRPr lang="zh-CN" altLang="en-US"/>
          </a:p>
          <a:p>
            <a:r>
              <a:rPr lang="zh-CN" altLang="en-US"/>
              <a:t>加权选择 </a:t>
            </a:r>
            <a:r>
              <a:rPr lang="en-US" altLang="zh-CN"/>
              <a:t>Weighted Selection：</a:t>
            </a:r>
            <a:r>
              <a:rPr lang="zh-CN" altLang="en-US"/>
              <a:t>每张图单独推理生成答案，结合检索相似度与生成困惑度加权，选出最终答案；</a:t>
            </a:r>
            <a:endParaRPr lang="zh-CN" altLang="en-US"/>
          </a:p>
          <a:p>
            <a:r>
              <a:rPr lang="zh-CN" altLang="en-US"/>
              <a:t>原生多图 </a:t>
            </a:r>
            <a:r>
              <a:rPr lang="en-US" altLang="zh-CN"/>
              <a:t>VLM </a:t>
            </a:r>
            <a:r>
              <a:rPr lang="zh-CN" altLang="en-US"/>
              <a:t>输入：</a:t>
            </a:r>
            <a:r>
              <a:rPr lang="en-US" altLang="zh-CN"/>
              <a:t>MiniCPM‑V‑2.6、GPT‑4o </a:t>
            </a:r>
            <a:r>
              <a:rPr lang="zh-CN" altLang="en-US"/>
              <a:t>这类原生支持多图像输入的 </a:t>
            </a:r>
            <a:r>
              <a:rPr lang="en-US" altLang="zh-CN"/>
              <a:t>VLM，</a:t>
            </a:r>
            <a:r>
              <a:rPr lang="zh-CN" altLang="en-US"/>
              <a:t>直接把多张页面图像连同问题一起输入，做多页跨图推理。</a:t>
            </a:r>
            <a:endParaRPr lang="zh-CN" altLang="en-US"/>
          </a:p>
          <a:p>
            <a:r>
              <a:rPr lang="zh-CN" altLang="en-US"/>
              <a:t>整套流水线支持闭环，不需要任何 </a:t>
            </a:r>
            <a:r>
              <a:rPr lang="en-US" altLang="zh-CN"/>
              <a:t>OCR、</a:t>
            </a:r>
            <a:r>
              <a:rPr lang="zh-CN" altLang="en-US"/>
              <a:t>文档解析预处理。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检索的每个模态用智能体</a:t>
            </a:r>
            <a:r>
              <a:rPr lang="zh-CN" altLang="en-US"/>
              <a:t>实现：提出</a:t>
            </a:r>
            <a:r>
              <a:rPr lang="en-US" altLang="zh-CN"/>
              <a:t>HM‑RAG </a:t>
            </a:r>
            <a:r>
              <a:rPr lang="zh-CN" altLang="en-US"/>
              <a:t>分层多智能体多模态检索增强生成框架。针对现有 </a:t>
            </a:r>
            <a:r>
              <a:rPr lang="en-US" altLang="zh-CN"/>
              <a:t>RAG </a:t>
            </a:r>
            <a:r>
              <a:rPr lang="zh-CN" altLang="en-US"/>
              <a:t>大多采用单一检索方式，难以处理异构混合数据（非结构化文本、图结构知识、网页实时信息）的复杂多模态查询问题，通过多个专用智能体协同完成查询解析、多源并行检索、多证据融合决策，在零样本多模态问答任务取得 </a:t>
            </a:r>
            <a:r>
              <a:rPr lang="en-US" altLang="zh-CN"/>
              <a:t>SOTA。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传统单智能体 </a:t>
            </a:r>
            <a:r>
              <a:rPr lang="en-US" altLang="zh-CN"/>
              <a:t>RAG：</a:t>
            </a:r>
            <a:r>
              <a:rPr lang="zh-CN" altLang="en-US"/>
              <a:t>只采用向量检索，擅长非结构化文本，但缺少关系推理能力，无法利用图知识；</a:t>
            </a:r>
            <a:endParaRPr lang="zh-CN" altLang="en-US"/>
          </a:p>
          <a:p>
            <a:r>
              <a:rPr lang="en-US" altLang="zh-CN"/>
              <a:t>Graph‑RAG </a:t>
            </a:r>
            <a:r>
              <a:rPr lang="zh-CN" altLang="en-US"/>
              <a:t>类图检索：擅长实体关系、多跳推理，但细粒度文本细节容易丢失；</a:t>
            </a:r>
            <a:endParaRPr lang="zh-CN" altLang="en-US"/>
          </a:p>
          <a:p>
            <a:r>
              <a:rPr lang="zh-CN" altLang="en-US"/>
              <a:t>各类检索源各有优劣，但大多系统只使用单一检索范式，缺少一套可插拔、协同融合向量库、知识图谱、网页搜索的完整多模态 </a:t>
            </a:r>
            <a:r>
              <a:rPr lang="en-US" altLang="zh-CN"/>
              <a:t>RAG；</a:t>
            </a:r>
            <a:endParaRPr lang="en-US" altLang="zh-CN"/>
          </a:p>
          <a:p>
            <a:r>
              <a:rPr lang="zh-CN" altLang="en-US"/>
              <a:t>多模态问题同时包含图片与文本，需要融合视觉信息、结构化关系、外部实时网页知识，单一路检索经常证据不全、答案冲突。</a:t>
            </a:r>
            <a:endParaRPr lang="zh-CN" altLang="en-US"/>
          </a:p>
          <a:p>
            <a:r>
              <a:rPr lang="zh-CN" altLang="en-US"/>
              <a:t>现有工作缺陷：各个检索器独立运行，缺少统一查询分解、多源证据冲突消解、结果融合机制。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. HM‑RAG </a:t>
            </a:r>
            <a:r>
              <a:rPr lang="zh-CN" altLang="en-US"/>
              <a:t>整体架构整体分为知识库预处理、分解智能体、多源检索智能体组、决策智能体四层。2.1 多模态知识库预处理输入是图文混合文档。</a:t>
            </a:r>
            <a:endParaRPr lang="zh-CN" altLang="en-US"/>
          </a:p>
          <a:p>
            <a:r>
              <a:rPr lang="zh-CN" altLang="en-US"/>
              <a:t>使用 </a:t>
            </a:r>
            <a:r>
              <a:rPr lang="en-US" altLang="zh-CN"/>
              <a:t>BLIP‑2 </a:t>
            </a:r>
            <a:r>
              <a:rPr lang="zh-CN" altLang="en-US"/>
              <a:t>将图像转成描述文本，和原始文本拼接，构建多模态文本库，用于向量检索；</a:t>
            </a:r>
            <a:endParaRPr lang="zh-CN" altLang="en-US"/>
          </a:p>
          <a:p>
            <a:r>
              <a:rPr lang="zh-CN" altLang="en-US"/>
              <a:t>基于 </a:t>
            </a:r>
            <a:r>
              <a:rPr lang="en-US" altLang="zh-CN"/>
              <a:t>LightRAG </a:t>
            </a:r>
            <a:r>
              <a:rPr lang="zh-CN" altLang="en-US"/>
              <a:t>流程抽取实体‑关系三元组，构建多模态知识图谱 </a:t>
            </a:r>
            <a:r>
              <a:rPr lang="en-US" altLang="zh-CN"/>
              <a:t>MMKG；</a:t>
            </a:r>
            <a:r>
              <a:rPr lang="zh-CN" altLang="en-US"/>
              <a:t>图谱中保存图像的来源位置，实现图谱实体与原始图像双向关联。</a:t>
            </a:r>
            <a:endParaRPr lang="zh-CN" altLang="en-US"/>
          </a:p>
          <a:p>
            <a:r>
              <a:rPr lang="en-US" altLang="zh-CN"/>
              <a:t>2.2 Decomposition Agent </a:t>
            </a:r>
            <a:r>
              <a:rPr lang="zh-CN" altLang="en-US"/>
              <a:t>查询分解智能体接收用户原始问题：</a:t>
            </a:r>
            <a:endParaRPr lang="zh-CN" altLang="en-US"/>
          </a:p>
          <a:p>
            <a:r>
              <a:rPr lang="zh-CN" altLang="en-US"/>
              <a:t>先做判断：该查询是单意图还是多意图；</a:t>
            </a:r>
            <a:endParaRPr lang="zh-CN" altLang="en-US"/>
          </a:p>
          <a:p>
            <a:r>
              <a:rPr lang="zh-CN" altLang="en-US"/>
              <a:t>如果是多意图，使用 </a:t>
            </a:r>
            <a:r>
              <a:rPr lang="en-US" altLang="zh-CN"/>
              <a:t>LLM </a:t>
            </a:r>
            <a:r>
              <a:rPr lang="zh-CN" altLang="en-US"/>
              <a:t>提示把复杂问题拆解为 2‑3 个逻辑连贯的子查询，保留原始关键词；</a:t>
            </a:r>
            <a:endParaRPr lang="zh-CN" altLang="en-US"/>
          </a:p>
          <a:p>
            <a:r>
              <a:rPr lang="zh-CN" altLang="en-US"/>
              <a:t>输出子查询送入下游多个检索智能体并行处理。</a:t>
            </a:r>
            <a:endParaRPr lang="zh-CN" altLang="en-US"/>
          </a:p>
          <a:p>
            <a:r>
              <a:rPr lang="en-US" altLang="zh-CN"/>
              <a:t>2.3 Multi‑source Retrieval Agents </a:t>
            </a:r>
            <a:r>
              <a:rPr lang="zh-CN" altLang="en-US"/>
              <a:t>可插拔多源检索智能体组，三类并行检索</a:t>
            </a:r>
            <a:endParaRPr lang="zh-CN" altLang="en-US"/>
          </a:p>
          <a:p>
            <a:r>
              <a:rPr lang="zh-CN" altLang="en-US"/>
              <a:t>向量检索智能体（</a:t>
            </a:r>
            <a:r>
              <a:rPr lang="en-US" altLang="zh-CN"/>
              <a:t>VA）：</a:t>
            </a:r>
            <a:r>
              <a:rPr lang="zh-CN" altLang="en-US"/>
              <a:t>面向非结构化细粒度文本。对查询做文本 </a:t>
            </a:r>
            <a:r>
              <a:rPr lang="en-US" altLang="zh-CN"/>
              <a:t>embedding，</a:t>
            </a:r>
            <a:r>
              <a:rPr lang="zh-CN" altLang="en-US"/>
              <a:t>向量相似度召回 </a:t>
            </a:r>
            <a:r>
              <a:rPr lang="en-US" altLang="zh-CN"/>
              <a:t>top‑k </a:t>
            </a:r>
            <a:r>
              <a:rPr lang="zh-CN" altLang="en-US"/>
              <a:t>文档片段，</a:t>
            </a:r>
            <a:r>
              <a:rPr lang="en-US" altLang="zh-CN"/>
              <a:t>LLM </a:t>
            </a:r>
            <a:r>
              <a:rPr lang="zh-CN" altLang="en-US"/>
              <a:t>基于召回片段生成候选答案\(</a:t>
            </a:r>
            <a:r>
              <a:rPr lang="en-US" altLang="zh-CN"/>
              <a:t>A_v\)。</a:t>
            </a:r>
            <a:endParaRPr lang="en-US" altLang="zh-CN"/>
          </a:p>
          <a:p>
            <a:r>
              <a:rPr lang="zh-CN" altLang="en-US"/>
              <a:t>图谱检索智能体（</a:t>
            </a:r>
            <a:r>
              <a:rPr lang="en-US" altLang="zh-CN"/>
              <a:t>GA）：</a:t>
            </a:r>
            <a:r>
              <a:rPr lang="zh-CN" altLang="en-US"/>
              <a:t>面向实体、关系、多跳推理。基于 </a:t>
            </a:r>
            <a:r>
              <a:rPr lang="en-US" altLang="zh-CN"/>
              <a:t>MMKG，</a:t>
            </a:r>
            <a:r>
              <a:rPr lang="zh-CN" altLang="en-US"/>
              <a:t>做局部一跳邻居 + 全局子图检索，得到相关三元组，生成候选答案\(</a:t>
            </a:r>
            <a:r>
              <a:rPr lang="en-US" altLang="zh-CN"/>
              <a:t>A_g\)。</a:t>
            </a:r>
            <a:endParaRPr lang="en-US" altLang="zh-CN"/>
          </a:p>
          <a:p>
            <a:r>
              <a:rPr lang="zh-CN" altLang="en-US"/>
              <a:t>网页检索智能体（</a:t>
            </a:r>
            <a:r>
              <a:rPr lang="en-US" altLang="zh-CN"/>
              <a:t>WA）：</a:t>
            </a:r>
            <a:r>
              <a:rPr lang="zh-CN" altLang="en-US"/>
              <a:t>调用搜索 </a:t>
            </a:r>
            <a:r>
              <a:rPr lang="en-US" altLang="zh-CN"/>
              <a:t>API </a:t>
            </a:r>
            <a:r>
              <a:rPr lang="zh-CN" altLang="en-US"/>
              <a:t>获取互联网实时外部证据，生成候选答案\(</a:t>
            </a:r>
            <a:r>
              <a:rPr lang="en-US" altLang="zh-CN"/>
              <a:t>A_w\)。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三个智能体是插件式，可以按需开启关闭，互不耦合。</a:t>
            </a:r>
            <a:endParaRPr lang="zh-CN" altLang="en-US"/>
          </a:p>
          <a:p>
            <a:r>
              <a:rPr lang="en-US" altLang="zh-CN"/>
              <a:t>2.4 Decision Agent </a:t>
            </a:r>
            <a:r>
              <a:rPr lang="zh-CN" altLang="en-US"/>
              <a:t>决策智能体（核心，解决多源答案冲突）接收来自向量、图谱、网页的多份候选答案，两步处理：</a:t>
            </a:r>
            <a:endParaRPr lang="zh-CN" altLang="en-US"/>
          </a:p>
          <a:p>
            <a:r>
              <a:rPr lang="zh-CN" altLang="en-US"/>
              <a:t>一致性投票：使用 </a:t>
            </a:r>
            <a:r>
              <a:rPr lang="en-US" altLang="zh-CN"/>
              <a:t>ROUGE‑L、BLEU </a:t>
            </a:r>
            <a:r>
              <a:rPr lang="zh-CN" altLang="en-US"/>
              <a:t>计算多个候选答案之间语义相似度；相似度高于阈值代表证据大体一致，做摘要融合输出；</a:t>
            </a:r>
            <a:endParaRPr lang="zh-CN" altLang="en-US"/>
          </a:p>
          <a:p>
            <a:r>
              <a:rPr lang="zh-CN" altLang="en-US"/>
              <a:t>专家模型精炼 </a:t>
            </a:r>
            <a:r>
              <a:rPr lang="en-US" altLang="zh-CN"/>
              <a:t>Expert Model Refinement：</a:t>
            </a:r>
            <a:r>
              <a:rPr lang="zh-CN" altLang="en-US"/>
              <a:t>如果候选答案互相矛盾、相似度低，则交给 </a:t>
            </a:r>
            <a:r>
              <a:rPr lang="en-US" altLang="zh-CN"/>
              <a:t>MLLM </a:t>
            </a:r>
            <a:r>
              <a:rPr lang="zh-CN" altLang="en-US"/>
              <a:t>专家模型，综合全部检索证据重新推理生成最终答案，消解冲突。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检索的每个模态用智能体</a:t>
            </a:r>
            <a:r>
              <a:rPr lang="zh-CN" altLang="en-US"/>
              <a:t>实现：提出</a:t>
            </a:r>
            <a:r>
              <a:rPr lang="en-US" altLang="zh-CN"/>
              <a:t>HM‑RAG </a:t>
            </a:r>
            <a:r>
              <a:rPr lang="zh-CN" altLang="en-US"/>
              <a:t>分层多智能体多模态检索增强生成框架。针对现有 </a:t>
            </a:r>
            <a:r>
              <a:rPr lang="en-US" altLang="zh-CN"/>
              <a:t>RAG </a:t>
            </a:r>
            <a:r>
              <a:rPr lang="zh-CN" altLang="en-US"/>
              <a:t>大多采用单一检索方式，难以处理异构混合数据（非结构化文本、图结构知识、网页实时信息）的复杂多模态查询问题，通过多个专用智能体协同完成查询解析、多源并行检索、多证据融合决策，在零样本多模态问答任务取得 </a:t>
            </a:r>
            <a:r>
              <a:rPr lang="en-US" altLang="zh-CN"/>
              <a:t>SOTA。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传统单智能体 </a:t>
            </a:r>
            <a:r>
              <a:rPr lang="en-US" altLang="zh-CN"/>
              <a:t>RAG：</a:t>
            </a:r>
            <a:r>
              <a:rPr lang="zh-CN" altLang="en-US"/>
              <a:t>只采用向量检索，擅长非结构化文本，但缺少关系推理能力，无法利用图知识；</a:t>
            </a:r>
            <a:endParaRPr lang="zh-CN" altLang="en-US"/>
          </a:p>
          <a:p>
            <a:r>
              <a:rPr lang="en-US" altLang="zh-CN"/>
              <a:t>Graph‑RAG </a:t>
            </a:r>
            <a:r>
              <a:rPr lang="zh-CN" altLang="en-US"/>
              <a:t>类图检索：擅长实体关系、多跳推理，但细粒度文本细节容易丢失；</a:t>
            </a:r>
            <a:endParaRPr lang="zh-CN" altLang="en-US"/>
          </a:p>
          <a:p>
            <a:r>
              <a:rPr lang="zh-CN" altLang="en-US"/>
              <a:t>各类检索源各有优劣，但大多系统只使用单一检索范式，缺少一套可插拔、协同融合向量库、知识图谱、网页搜索的完整多模态 </a:t>
            </a:r>
            <a:r>
              <a:rPr lang="en-US" altLang="zh-CN"/>
              <a:t>RAG；</a:t>
            </a:r>
            <a:endParaRPr lang="en-US" altLang="zh-CN"/>
          </a:p>
          <a:p>
            <a:r>
              <a:rPr lang="zh-CN" altLang="en-US"/>
              <a:t>多模态问题同时包含图片与文本，需要融合视觉信息、结构化关系、外部实时网页知识，单一路检索经常证据不全、答案冲突。</a:t>
            </a:r>
            <a:endParaRPr lang="zh-CN" altLang="en-US"/>
          </a:p>
          <a:p>
            <a:r>
              <a:rPr lang="zh-CN" altLang="en-US"/>
              <a:t>现有工作缺陷：各个检索器独立运行，缺少统一查询分解、多源证据冲突消解、结果融合机制。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. HM‑RAG </a:t>
            </a:r>
            <a:r>
              <a:rPr lang="zh-CN" altLang="en-US"/>
              <a:t>整体架构整体分为知识库预处理、分解智能体、多源检索智能体组、决策智能体四层。2.1 多模态知识库预处理输入是图文混合文档。</a:t>
            </a:r>
            <a:endParaRPr lang="zh-CN" altLang="en-US"/>
          </a:p>
          <a:p>
            <a:r>
              <a:rPr lang="zh-CN" altLang="en-US"/>
              <a:t>使用 </a:t>
            </a:r>
            <a:r>
              <a:rPr lang="en-US" altLang="zh-CN"/>
              <a:t>BLIP‑2 </a:t>
            </a:r>
            <a:r>
              <a:rPr lang="zh-CN" altLang="en-US"/>
              <a:t>将图像转成描述文本，和原始文本拼接，构建多模态文本库，用于向量检索；</a:t>
            </a:r>
            <a:endParaRPr lang="zh-CN" altLang="en-US"/>
          </a:p>
          <a:p>
            <a:r>
              <a:rPr lang="zh-CN" altLang="en-US"/>
              <a:t>基于 </a:t>
            </a:r>
            <a:r>
              <a:rPr lang="en-US" altLang="zh-CN"/>
              <a:t>LightRAG </a:t>
            </a:r>
            <a:r>
              <a:rPr lang="zh-CN" altLang="en-US"/>
              <a:t>流程抽取实体‑关系三元组，构建多模态知识图谱 </a:t>
            </a:r>
            <a:r>
              <a:rPr lang="en-US" altLang="zh-CN"/>
              <a:t>MMKG；</a:t>
            </a:r>
            <a:r>
              <a:rPr lang="zh-CN" altLang="en-US"/>
              <a:t>图谱中保存图像的来源位置，实现图谱实体与原始图像双向关联。</a:t>
            </a:r>
            <a:endParaRPr lang="zh-CN" altLang="en-US"/>
          </a:p>
          <a:p>
            <a:r>
              <a:rPr lang="en-US" altLang="zh-CN"/>
              <a:t>2.2 Decomposition Agent </a:t>
            </a:r>
            <a:r>
              <a:rPr lang="zh-CN" altLang="en-US"/>
              <a:t>查询分解智能体接收用户原始问题：</a:t>
            </a:r>
            <a:endParaRPr lang="zh-CN" altLang="en-US"/>
          </a:p>
          <a:p>
            <a:r>
              <a:rPr lang="zh-CN" altLang="en-US"/>
              <a:t>先做判断：该查询是单意图还是多意图；</a:t>
            </a:r>
            <a:endParaRPr lang="zh-CN" altLang="en-US"/>
          </a:p>
          <a:p>
            <a:r>
              <a:rPr lang="zh-CN" altLang="en-US"/>
              <a:t>如果是多意图，使用 </a:t>
            </a:r>
            <a:r>
              <a:rPr lang="en-US" altLang="zh-CN"/>
              <a:t>LLM </a:t>
            </a:r>
            <a:r>
              <a:rPr lang="zh-CN" altLang="en-US"/>
              <a:t>提示把复杂问题拆解为 2‑3 个逻辑连贯的子查询，保留原始关键词；</a:t>
            </a:r>
            <a:endParaRPr lang="zh-CN" altLang="en-US"/>
          </a:p>
          <a:p>
            <a:r>
              <a:rPr lang="zh-CN" altLang="en-US"/>
              <a:t>输出子查询送入下游多个检索智能体并行处理。</a:t>
            </a:r>
            <a:endParaRPr lang="zh-CN" altLang="en-US"/>
          </a:p>
          <a:p>
            <a:r>
              <a:rPr lang="en-US" altLang="zh-CN"/>
              <a:t>2.3 Multi‑source Retrieval Agents </a:t>
            </a:r>
            <a:r>
              <a:rPr lang="zh-CN" altLang="en-US"/>
              <a:t>可插拔多源检索智能体组，三类并行检索</a:t>
            </a:r>
            <a:endParaRPr lang="zh-CN" altLang="en-US"/>
          </a:p>
          <a:p>
            <a:r>
              <a:rPr lang="zh-CN" altLang="en-US"/>
              <a:t>向量检索智能体（</a:t>
            </a:r>
            <a:r>
              <a:rPr lang="en-US" altLang="zh-CN"/>
              <a:t>VA）：</a:t>
            </a:r>
            <a:r>
              <a:rPr lang="zh-CN" altLang="en-US"/>
              <a:t>面向非结构化细粒度文本。对查询做文本 </a:t>
            </a:r>
            <a:r>
              <a:rPr lang="en-US" altLang="zh-CN"/>
              <a:t>embedding，</a:t>
            </a:r>
            <a:r>
              <a:rPr lang="zh-CN" altLang="en-US"/>
              <a:t>向量相似度召回 </a:t>
            </a:r>
            <a:r>
              <a:rPr lang="en-US" altLang="zh-CN"/>
              <a:t>top‑k </a:t>
            </a:r>
            <a:r>
              <a:rPr lang="zh-CN" altLang="en-US"/>
              <a:t>文档片段，</a:t>
            </a:r>
            <a:r>
              <a:rPr lang="en-US" altLang="zh-CN"/>
              <a:t>LLM </a:t>
            </a:r>
            <a:r>
              <a:rPr lang="zh-CN" altLang="en-US"/>
              <a:t>基于召回片段生成候选答案\(</a:t>
            </a:r>
            <a:r>
              <a:rPr lang="en-US" altLang="zh-CN"/>
              <a:t>A_v\)。</a:t>
            </a:r>
            <a:endParaRPr lang="en-US" altLang="zh-CN"/>
          </a:p>
          <a:p>
            <a:r>
              <a:rPr lang="zh-CN" altLang="en-US"/>
              <a:t>图谱检索智能体（</a:t>
            </a:r>
            <a:r>
              <a:rPr lang="en-US" altLang="zh-CN"/>
              <a:t>GA）：</a:t>
            </a:r>
            <a:r>
              <a:rPr lang="zh-CN" altLang="en-US"/>
              <a:t>面向实体、关系、多跳推理。基于 </a:t>
            </a:r>
            <a:r>
              <a:rPr lang="en-US" altLang="zh-CN"/>
              <a:t>MMKG，</a:t>
            </a:r>
            <a:r>
              <a:rPr lang="zh-CN" altLang="en-US"/>
              <a:t>做局部一跳邻居 + 全局子图检索，得到相关三元组，生成候选答案\(</a:t>
            </a:r>
            <a:r>
              <a:rPr lang="en-US" altLang="zh-CN"/>
              <a:t>A_g\)。</a:t>
            </a:r>
            <a:endParaRPr lang="en-US" altLang="zh-CN"/>
          </a:p>
          <a:p>
            <a:r>
              <a:rPr lang="zh-CN" altLang="en-US"/>
              <a:t>网页检索智能体（</a:t>
            </a:r>
            <a:r>
              <a:rPr lang="en-US" altLang="zh-CN"/>
              <a:t>WA）：</a:t>
            </a:r>
            <a:r>
              <a:rPr lang="zh-CN" altLang="en-US"/>
              <a:t>调用搜索 </a:t>
            </a:r>
            <a:r>
              <a:rPr lang="en-US" altLang="zh-CN"/>
              <a:t>API </a:t>
            </a:r>
            <a:r>
              <a:rPr lang="zh-CN" altLang="en-US"/>
              <a:t>获取互联网实时外部证据，生成候选答案\(</a:t>
            </a:r>
            <a:r>
              <a:rPr lang="en-US" altLang="zh-CN"/>
              <a:t>A_w\)。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三个智能体是插件式，可以按需开启关闭，互不耦合。</a:t>
            </a:r>
            <a:endParaRPr lang="zh-CN" altLang="en-US"/>
          </a:p>
          <a:p>
            <a:r>
              <a:rPr lang="en-US" altLang="zh-CN"/>
              <a:t>2.4 Decision Agent </a:t>
            </a:r>
            <a:r>
              <a:rPr lang="zh-CN" altLang="en-US"/>
              <a:t>决策智能体（核心，解决多源答案冲突）接收来自向量、图谱、网页的多份候选答案，两步处理：</a:t>
            </a:r>
            <a:endParaRPr lang="zh-CN" altLang="en-US"/>
          </a:p>
          <a:p>
            <a:r>
              <a:rPr lang="zh-CN" altLang="en-US"/>
              <a:t>一致性投票：使用 </a:t>
            </a:r>
            <a:r>
              <a:rPr lang="en-US" altLang="zh-CN"/>
              <a:t>ROUGE‑L、BLEU </a:t>
            </a:r>
            <a:r>
              <a:rPr lang="zh-CN" altLang="en-US"/>
              <a:t>计算多个候选答案之间语义相似度；相似度高于阈值代表证据大体一致，做摘要融合输出；</a:t>
            </a:r>
            <a:endParaRPr lang="zh-CN" altLang="en-US"/>
          </a:p>
          <a:p>
            <a:r>
              <a:rPr lang="zh-CN" altLang="en-US"/>
              <a:t>专家模型精炼 </a:t>
            </a:r>
            <a:r>
              <a:rPr lang="en-US" altLang="zh-CN"/>
              <a:t>Expert Model Refinement：</a:t>
            </a:r>
            <a:r>
              <a:rPr lang="zh-CN" altLang="en-US"/>
              <a:t>如果候选答案互相矛盾、相似度低，则交给 </a:t>
            </a:r>
            <a:r>
              <a:rPr lang="en-US" altLang="zh-CN"/>
              <a:t>MLLM </a:t>
            </a:r>
            <a:r>
              <a:rPr lang="zh-CN" altLang="en-US"/>
              <a:t>专家模型，综合全部检索证据重新推理生成最终答案，消解冲突。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5248"/>
            <a:ext cx="7316470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000" y="419117"/>
            <a:ext cx="7972425" cy="4957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2676" y="1175208"/>
            <a:ext cx="3810000" cy="2233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Arial" panose="020B0604020202020204" pitchFamily="34" charset="0"/>
          <a:ea typeface="+mj-ea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0">
        <a:defRPr>
          <a:latin typeface="Arial" panose="020B0604020202020204" pitchFamily="34" charset="0"/>
          <a:ea typeface="+mn-ea"/>
          <a:cs typeface="Arial" panose="020B0604020202020204" pitchFamily="34" charset="0"/>
          <a:sym typeface="Arial" panose="020B0604020202020204" pitchFamily="34" charset="0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1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9.png"/><Relationship Id="rId24" Type="http://schemas.openxmlformats.org/officeDocument/2006/relationships/image" Target="../media/image8.svg"/><Relationship Id="rId23" Type="http://schemas.openxmlformats.org/officeDocument/2006/relationships/image" Target="../media/image7.png"/><Relationship Id="rId22" Type="http://schemas.openxmlformats.org/officeDocument/2006/relationships/tags" Target="../tags/tag16.xml"/><Relationship Id="rId21" Type="http://schemas.openxmlformats.org/officeDocument/2006/relationships/image" Target="../media/image6.svg"/><Relationship Id="rId20" Type="http://schemas.openxmlformats.org/officeDocument/2006/relationships/image" Target="../media/image5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image" Target="../media/image4.svg"/><Relationship Id="rId17" Type="http://schemas.openxmlformats.org/officeDocument/2006/relationships/image" Target="../media/image3.png"/><Relationship Id="rId16" Type="http://schemas.openxmlformats.org/officeDocument/2006/relationships/tags" Target="../tags/tag14.xml"/><Relationship Id="rId15" Type="http://schemas.openxmlformats.org/officeDocument/2006/relationships/image" Target="../media/image2.svg"/><Relationship Id="rId14" Type="http://schemas.openxmlformats.org/officeDocument/2006/relationships/image" Target="../media/image1.png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18.svg"/><Relationship Id="rId24" Type="http://schemas.openxmlformats.org/officeDocument/2006/relationships/image" Target="../media/image17.png"/><Relationship Id="rId23" Type="http://schemas.openxmlformats.org/officeDocument/2006/relationships/tags" Target="../tags/tag32.xml"/><Relationship Id="rId22" Type="http://schemas.openxmlformats.org/officeDocument/2006/relationships/image" Target="../media/image16.svg"/><Relationship Id="rId21" Type="http://schemas.openxmlformats.org/officeDocument/2006/relationships/image" Target="../media/image15.png"/><Relationship Id="rId20" Type="http://schemas.openxmlformats.org/officeDocument/2006/relationships/tags" Target="../tags/tag31.xml"/><Relationship Id="rId2" Type="http://schemas.openxmlformats.org/officeDocument/2006/relationships/tags" Target="../tags/tag18.xml"/><Relationship Id="rId19" Type="http://schemas.openxmlformats.org/officeDocument/2006/relationships/image" Target="../media/image14.svg"/><Relationship Id="rId18" Type="http://schemas.openxmlformats.org/officeDocument/2006/relationships/image" Target="../media/image13.png"/><Relationship Id="rId17" Type="http://schemas.openxmlformats.org/officeDocument/2006/relationships/tags" Target="../tags/tag30.xml"/><Relationship Id="rId16" Type="http://schemas.openxmlformats.org/officeDocument/2006/relationships/image" Target="../media/image12.svg"/><Relationship Id="rId15" Type="http://schemas.openxmlformats.org/officeDocument/2006/relationships/image" Target="../media/image11.png"/><Relationship Id="rId14" Type="http://schemas.openxmlformats.org/officeDocument/2006/relationships/tags" Target="../tags/tag29.xml"/><Relationship Id="rId13" Type="http://schemas.openxmlformats.org/officeDocument/2006/relationships/image" Target="../media/image10.jpeg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3.xml"/><Relationship Id="rId19" Type="http://schemas.openxmlformats.org/officeDocument/2006/relationships/image" Target="../media/image28.svg"/><Relationship Id="rId18" Type="http://schemas.openxmlformats.org/officeDocument/2006/relationships/image" Target="../media/image27.png"/><Relationship Id="rId17" Type="http://schemas.openxmlformats.org/officeDocument/2006/relationships/tags" Target="../tags/tag44.xml"/><Relationship Id="rId16" Type="http://schemas.openxmlformats.org/officeDocument/2006/relationships/image" Target="../media/image26.svg"/><Relationship Id="rId15" Type="http://schemas.openxmlformats.org/officeDocument/2006/relationships/image" Target="../media/image25.png"/><Relationship Id="rId14" Type="http://schemas.openxmlformats.org/officeDocument/2006/relationships/tags" Target="../tags/tag43.xml"/><Relationship Id="rId13" Type="http://schemas.openxmlformats.org/officeDocument/2006/relationships/image" Target="../media/image16.svg"/><Relationship Id="rId12" Type="http://schemas.openxmlformats.org/officeDocument/2006/relationships/image" Target="../media/image5.png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2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3.png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7" Type="http://schemas.openxmlformats.org/officeDocument/2006/relationships/notesSlide" Target="../notesSlides/notesSlide14.xml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46.jpeg"/><Relationship Id="rId24" Type="http://schemas.openxmlformats.org/officeDocument/2006/relationships/tags" Target="../tags/tag66.xml"/><Relationship Id="rId23" Type="http://schemas.openxmlformats.org/officeDocument/2006/relationships/tags" Target="../tags/tag65.xml"/><Relationship Id="rId22" Type="http://schemas.openxmlformats.org/officeDocument/2006/relationships/image" Target="../media/image45.svg"/><Relationship Id="rId21" Type="http://schemas.openxmlformats.org/officeDocument/2006/relationships/image" Target="../media/image44.png"/><Relationship Id="rId20" Type="http://schemas.openxmlformats.org/officeDocument/2006/relationships/tags" Target="../tags/tag64.xml"/><Relationship Id="rId2" Type="http://schemas.openxmlformats.org/officeDocument/2006/relationships/tags" Target="../tags/tag52.xml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image" Target="../media/image43.svg"/><Relationship Id="rId15" Type="http://schemas.openxmlformats.org/officeDocument/2006/relationships/image" Target="../media/image42.png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image" Target="../media/image41.svg"/><Relationship Id="rId1" Type="http://schemas.openxmlformats.org/officeDocument/2006/relationships/tags" Target="../tags/tag5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image" Target="../media/image50.jpeg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svg"/><Relationship Id="rId7" Type="http://schemas.openxmlformats.org/officeDocument/2006/relationships/image" Target="../media/image59.png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2" Type="http://schemas.openxmlformats.org/officeDocument/2006/relationships/notesSlide" Target="../notesSlides/notesSlide20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2.svg"/><Relationship Id="rId1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75.xml"/><Relationship Id="rId19" Type="http://schemas.openxmlformats.org/officeDocument/2006/relationships/image" Target="../media/image28.svg"/><Relationship Id="rId18" Type="http://schemas.openxmlformats.org/officeDocument/2006/relationships/image" Target="../media/image27.png"/><Relationship Id="rId17" Type="http://schemas.openxmlformats.org/officeDocument/2006/relationships/tags" Target="../tags/tag86.xml"/><Relationship Id="rId16" Type="http://schemas.openxmlformats.org/officeDocument/2006/relationships/image" Target="../media/image26.svg"/><Relationship Id="rId15" Type="http://schemas.openxmlformats.org/officeDocument/2006/relationships/image" Target="../media/image25.png"/><Relationship Id="rId14" Type="http://schemas.openxmlformats.org/officeDocument/2006/relationships/tags" Target="../tags/tag85.xml"/><Relationship Id="rId13" Type="http://schemas.openxmlformats.org/officeDocument/2006/relationships/image" Target="../media/image16.svg"/><Relationship Id="rId12" Type="http://schemas.openxmlformats.org/officeDocument/2006/relationships/image" Target="../media/image5.png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jpe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tags" Target="../tags/tag90.xml"/><Relationship Id="rId7" Type="http://schemas.openxmlformats.org/officeDocument/2006/relationships/image" Target="../media/image75.svg"/><Relationship Id="rId6" Type="http://schemas.openxmlformats.org/officeDocument/2006/relationships/image" Target="../media/image74.png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image" Target="../media/image73.svg"/><Relationship Id="rId20" Type="http://schemas.openxmlformats.org/officeDocument/2006/relationships/notesSlide" Target="../notesSlides/notesSlide26.xml"/><Relationship Id="rId2" Type="http://schemas.openxmlformats.org/officeDocument/2006/relationships/image" Target="../media/image72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94.xml"/><Relationship Id="rId17" Type="http://schemas.openxmlformats.org/officeDocument/2006/relationships/image" Target="../media/image81.svg"/><Relationship Id="rId16" Type="http://schemas.openxmlformats.org/officeDocument/2006/relationships/image" Target="../media/image80.png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image" Target="../media/image79.svg"/><Relationship Id="rId12" Type="http://schemas.openxmlformats.org/officeDocument/2006/relationships/image" Target="../media/image78.png"/><Relationship Id="rId11" Type="http://schemas.openxmlformats.org/officeDocument/2006/relationships/tags" Target="../tags/tag91.xml"/><Relationship Id="rId10" Type="http://schemas.openxmlformats.org/officeDocument/2006/relationships/image" Target="../media/image77.svg"/><Relationship Id="rId1" Type="http://schemas.openxmlformats.org/officeDocument/2006/relationships/tags" Target="../tags/tag8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4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1" Type="http://schemas.openxmlformats.org/officeDocument/2006/relationships/image" Target="../media/image85.jpe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7.jpeg"/><Relationship Id="rId1" Type="http://schemas.openxmlformats.org/officeDocument/2006/relationships/tags" Target="../tags/tag9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8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9.jpe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1.jpeg"/><Relationship Id="rId1" Type="http://schemas.openxmlformats.org/officeDocument/2006/relationships/image" Target="../media/image90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2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3.jpe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1" Type="http://schemas.openxmlformats.org/officeDocument/2006/relationships/image" Target="../media/image94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6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7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8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9.png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svg"/><Relationship Id="rId8" Type="http://schemas.openxmlformats.org/officeDocument/2006/relationships/image" Target="../media/image59.png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image" Target="../media/image102.svg"/><Relationship Id="rId3" Type="http://schemas.openxmlformats.org/officeDocument/2006/relationships/image" Target="../media/image101.png"/><Relationship Id="rId2" Type="http://schemas.openxmlformats.org/officeDocument/2006/relationships/tags" Target="../tags/tag96.xml"/><Relationship Id="rId13" Type="http://schemas.openxmlformats.org/officeDocument/2006/relationships/notesSlide" Target="../notesSlides/notesSlide41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image" Target="../media/image10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5.png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9.png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image" Target="../media/image111.svg"/><Relationship Id="rId5" Type="http://schemas.openxmlformats.org/officeDocument/2006/relationships/image" Target="../media/image110.png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0" Type="http://schemas.openxmlformats.org/officeDocument/2006/relationships/notesSlide" Target="../notesSlides/notesSlide47.xml"/><Relationship Id="rId2" Type="http://schemas.openxmlformats.org/officeDocument/2006/relationships/tags" Target="../tags/tag10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image" Target="../media/image115.svg"/><Relationship Id="rId15" Type="http://schemas.openxmlformats.org/officeDocument/2006/relationships/image" Target="../media/image114.png"/><Relationship Id="rId14" Type="http://schemas.openxmlformats.org/officeDocument/2006/relationships/tags" Target="../tags/tag111.xml"/><Relationship Id="rId13" Type="http://schemas.openxmlformats.org/officeDocument/2006/relationships/tags" Target="../tags/tag110.xml"/><Relationship Id="rId12" Type="http://schemas.openxmlformats.org/officeDocument/2006/relationships/tags" Target="../tags/tag109.xml"/><Relationship Id="rId11" Type="http://schemas.openxmlformats.org/officeDocument/2006/relationships/image" Target="../media/image113.svg"/><Relationship Id="rId10" Type="http://schemas.openxmlformats.org/officeDocument/2006/relationships/image" Target="../media/image112.png"/><Relationship Id="rId1" Type="http://schemas.openxmlformats.org/officeDocument/2006/relationships/tags" Target="../tags/tag102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8.jpeg"/><Relationship Id="rId2" Type="http://schemas.openxmlformats.org/officeDocument/2006/relationships/image" Target="../media/image117.jpeg"/><Relationship Id="rId1" Type="http://schemas.openxmlformats.org/officeDocument/2006/relationships/image" Target="../media/image116.jpe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0.jpeg"/><Relationship Id="rId1" Type="http://schemas.openxmlformats.org/officeDocument/2006/relationships/image" Target="../media/image119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1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2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7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7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73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0" Type="http://schemas.openxmlformats.org/officeDocument/2006/relationships/notesSlide" Target="../notesSlides/notesSlide58.xml"/><Relationship Id="rId2" Type="http://schemas.openxmlformats.org/officeDocument/2006/relationships/tags" Target="../tags/tag121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tags" Target="../tags/tag12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8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1.png"/><Relationship Id="rId1" Type="http://schemas.openxmlformats.org/officeDocument/2006/relationships/image" Target="../media/image3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3.png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0" Type="http://schemas.openxmlformats.org/officeDocument/2006/relationships/notesSlide" Target="../notesSlides/notesSlide71.xml"/><Relationship Id="rId2" Type="http://schemas.openxmlformats.org/officeDocument/2006/relationships/tags" Target="../tags/tag141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7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0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7.png"/><Relationship Id="rId1" Type="http://schemas.openxmlformats.org/officeDocument/2006/relationships/image" Target="../media/image136.jpeg"/></Relationships>
</file>

<file path=ppt/slides/_rels/slide89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image" Target="../media/image135.png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1" Type="http://schemas.openxmlformats.org/officeDocument/2006/relationships/notesSlide" Target="../notesSlides/notesSlide74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34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0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0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5060" y="1346454"/>
            <a:ext cx="7731125" cy="108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sz="5200" dirty="0">
                <a:latin typeface="黑体" panose="02010609060101010101" charset="-122"/>
                <a:ea typeface="黑体" panose="02010609060101010101" charset="-122"/>
              </a:rPr>
              <a:t>检索增强生成模型</a:t>
            </a:r>
            <a:br>
              <a:rPr lang="zh-CN" sz="5200" dirty="0">
                <a:latin typeface="黑体" panose="02010609060101010101" charset="-122"/>
                <a:ea typeface="黑体" panose="02010609060101010101" charset="-122"/>
              </a:rPr>
            </a:br>
            <a:endParaRPr lang="en-US" altLang="zh-CN" sz="18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52800" y="2114550"/>
            <a:ext cx="4653280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——Retrieval-Augmented Generation (RAG)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b="1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b="1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b="1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多模态</a:t>
            </a:r>
            <a:r>
              <a:rPr lang="en-US" altLang="zh-CN" spc="-10" dirty="0">
                <a:solidFill>
                  <a:schemeClr val="tx1"/>
                </a:solidFill>
              </a:rPr>
              <a:t>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大模型存在的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局限性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6"/>
          <p:cNvSpPr/>
          <p:nvPr>
            <p:custDataLst>
              <p:tags r:id="rId1"/>
            </p:custDataLst>
          </p:nvPr>
        </p:nvSpPr>
        <p:spPr>
          <a:xfrm>
            <a:off x="3819525" y="140081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27" name="AutoShape 8"/>
          <p:cNvSpPr/>
          <p:nvPr>
            <p:custDataLst>
              <p:tags r:id="rId2"/>
            </p:custDataLst>
          </p:nvPr>
        </p:nvSpPr>
        <p:spPr>
          <a:xfrm>
            <a:off x="4353560" y="1532890"/>
            <a:ext cx="1818640" cy="389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存在幻觉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1"/>
          <p:cNvSpPr/>
          <p:nvPr>
            <p:custDataLst>
              <p:tags r:id="rId3"/>
            </p:custDataLst>
          </p:nvPr>
        </p:nvSpPr>
        <p:spPr>
          <a:xfrm>
            <a:off x="3971925" y="2086610"/>
            <a:ext cx="2032000" cy="668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模型基于概率预测而非事实验证工作，缺乏对生成内容的真实理解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6"/>
          <p:cNvSpPr/>
          <p:nvPr>
            <p:custDataLst>
              <p:tags r:id="rId4"/>
            </p:custDataLst>
          </p:nvPr>
        </p:nvSpPr>
        <p:spPr>
          <a:xfrm>
            <a:off x="6261100" y="140843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1" name="AutoShape 8"/>
          <p:cNvSpPr/>
          <p:nvPr>
            <p:custDataLst>
              <p:tags r:id="rId5"/>
            </p:custDataLst>
          </p:nvPr>
        </p:nvSpPr>
        <p:spPr>
          <a:xfrm>
            <a:off x="6790690" y="1540510"/>
            <a:ext cx="1866900" cy="3536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知识过时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1"/>
          <p:cNvSpPr/>
          <p:nvPr>
            <p:custDataLst>
              <p:tags r:id="rId6"/>
            </p:custDataLst>
          </p:nvPr>
        </p:nvSpPr>
        <p:spPr>
          <a:xfrm>
            <a:off x="6410325" y="1985010"/>
            <a:ext cx="2032000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知识截止于训练数据的时间点，面对快速变化的现实世界，知识陈旧成为固有短板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AutoShape 6"/>
          <p:cNvSpPr/>
          <p:nvPr>
            <p:custDataLst>
              <p:tags r:id="rId7"/>
            </p:custDataLst>
          </p:nvPr>
        </p:nvSpPr>
        <p:spPr>
          <a:xfrm>
            <a:off x="3813810" y="303530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5" name="AutoShape 8"/>
          <p:cNvSpPr/>
          <p:nvPr>
            <p:custDataLst>
              <p:tags r:id="rId8"/>
            </p:custDataLst>
          </p:nvPr>
        </p:nvSpPr>
        <p:spPr>
          <a:xfrm>
            <a:off x="4347845" y="3167380"/>
            <a:ext cx="166878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生成黑盒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11"/>
          <p:cNvSpPr/>
          <p:nvPr>
            <p:custDataLst>
              <p:tags r:id="rId9"/>
            </p:custDataLst>
          </p:nvPr>
        </p:nvSpPr>
        <p:spPr>
          <a:xfrm>
            <a:off x="3872230" y="3611880"/>
            <a:ext cx="2254885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大模型的生成过程缺乏透明性，决策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来源难以追溯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AutoShape 6"/>
          <p:cNvSpPr/>
          <p:nvPr>
            <p:custDataLst>
              <p:tags r:id="rId10"/>
            </p:custDataLst>
          </p:nvPr>
        </p:nvSpPr>
        <p:spPr>
          <a:xfrm>
            <a:off x="6266815" y="303530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9" name="AutoShape 8"/>
          <p:cNvSpPr/>
          <p:nvPr>
            <p:custDataLst>
              <p:tags r:id="rId11"/>
            </p:custDataLst>
          </p:nvPr>
        </p:nvSpPr>
        <p:spPr>
          <a:xfrm>
            <a:off x="6800850" y="3167380"/>
            <a:ext cx="1708785" cy="370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部署效率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较低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11"/>
          <p:cNvSpPr/>
          <p:nvPr>
            <p:custDataLst>
              <p:tags r:id="rId12"/>
            </p:custDataLst>
          </p:nvPr>
        </p:nvSpPr>
        <p:spPr>
          <a:xfrm>
            <a:off x="6416040" y="3611880"/>
            <a:ext cx="2159000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大模型的庞大体量使其在资源受限场景下部署困难，成本成为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工程落地的关键瓶颈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59860" y="1616710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10325" y="1606550"/>
            <a:ext cx="304800" cy="30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59860" y="3243580"/>
            <a:ext cx="304800" cy="304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98895" y="3229610"/>
            <a:ext cx="304800" cy="304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5"/>
          <a:srcRect b="4658"/>
          <a:stretch>
            <a:fillRect/>
          </a:stretch>
        </p:blipFill>
        <p:spPr>
          <a:xfrm>
            <a:off x="494030" y="1733550"/>
            <a:ext cx="3089275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检索增强生成</a:t>
            </a:r>
            <a:r>
              <a:rPr lang="zh-CN" altLang="en-US">
                <a:solidFill>
                  <a:schemeClr val="tx1"/>
                </a:solidFill>
                <a:ea typeface="黑体" panose="02010609060101010101" charset="-122"/>
                <a:sym typeface="Noto Sans SC" panose="020B0200000000000000" charset="-122"/>
              </a:rPr>
              <a:t>（</a:t>
            </a:r>
            <a:r>
              <a:rPr lang="en-US" altLang="zh-CN">
                <a:solidFill>
                  <a:schemeClr val="tx1"/>
                </a:solidFill>
                <a:ea typeface="黑体" panose="02010609060101010101" charset="-122"/>
                <a:sym typeface="Noto Sans SC" panose="020B0200000000000000" charset="-122"/>
              </a:rPr>
              <a:t>RAG</a:t>
            </a:r>
            <a:r>
              <a:rPr lang="zh-CN" altLang="en-US">
                <a:solidFill>
                  <a:schemeClr val="tx1"/>
                </a:solidFill>
                <a:ea typeface="黑体" panose="02010609060101010101" charset="-122"/>
                <a:sym typeface="Noto Sans SC" panose="020B0200000000000000" charset="-122"/>
              </a:rPr>
              <a:t>）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带来的</a:t>
            </a:r>
            <a:r>
              <a:rPr lang="zh-CN" altLang="en-US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Noto Sans SC" panose="020B0200000000000000" charset="-122"/>
                <a:sym typeface="Noto Sans SC" panose="020B0200000000000000" charset="-122"/>
              </a:rPr>
              <a:t>优势</a:t>
            </a:r>
            <a:endParaRPr lang="zh-CN" altLang="en-US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6"/>
          <p:cNvSpPr/>
          <p:nvPr>
            <p:custDataLst>
              <p:tags r:id="rId1"/>
            </p:custDataLst>
          </p:nvPr>
        </p:nvSpPr>
        <p:spPr>
          <a:xfrm>
            <a:off x="3582035" y="140843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27" name="AutoShape 8"/>
          <p:cNvSpPr/>
          <p:nvPr>
            <p:custDataLst>
              <p:tags r:id="rId2"/>
            </p:custDataLst>
          </p:nvPr>
        </p:nvSpPr>
        <p:spPr>
          <a:xfrm>
            <a:off x="4116070" y="1540510"/>
            <a:ext cx="1818640" cy="389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抑制模型幻觉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1"/>
          <p:cNvSpPr/>
          <p:nvPr>
            <p:custDataLst>
              <p:tags r:id="rId3"/>
            </p:custDataLst>
          </p:nvPr>
        </p:nvSpPr>
        <p:spPr>
          <a:xfrm>
            <a:off x="3734435" y="1941830"/>
            <a:ext cx="2032000" cy="6680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依托真实知识库，从源头保障信息可靠性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6"/>
          <p:cNvSpPr/>
          <p:nvPr>
            <p:custDataLst>
              <p:tags r:id="rId4"/>
            </p:custDataLst>
          </p:nvPr>
        </p:nvSpPr>
        <p:spPr>
          <a:xfrm>
            <a:off x="6023610" y="141605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1" name="AutoShape 8"/>
          <p:cNvSpPr/>
          <p:nvPr>
            <p:custDataLst>
              <p:tags r:id="rId5"/>
            </p:custDataLst>
          </p:nvPr>
        </p:nvSpPr>
        <p:spPr>
          <a:xfrm>
            <a:off x="6557645" y="1548130"/>
            <a:ext cx="1713865" cy="370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知识动态刷新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1"/>
          <p:cNvSpPr/>
          <p:nvPr>
            <p:custDataLst>
              <p:tags r:id="rId6"/>
            </p:custDataLst>
          </p:nvPr>
        </p:nvSpPr>
        <p:spPr>
          <a:xfrm>
            <a:off x="6172835" y="1992630"/>
            <a:ext cx="2032000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基础模型保持稳定，外部知识库灵活更新，实现高效知识迭代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AutoShape 6"/>
          <p:cNvSpPr/>
          <p:nvPr>
            <p:custDataLst>
              <p:tags r:id="rId7"/>
            </p:custDataLst>
          </p:nvPr>
        </p:nvSpPr>
        <p:spPr>
          <a:xfrm>
            <a:off x="3576320" y="304292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5" name="AutoShape 8"/>
          <p:cNvSpPr/>
          <p:nvPr>
            <p:custDataLst>
              <p:tags r:id="rId8"/>
            </p:custDataLst>
          </p:nvPr>
        </p:nvSpPr>
        <p:spPr>
          <a:xfrm>
            <a:off x="4110355" y="3175000"/>
            <a:ext cx="166878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决策可追溯源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11"/>
          <p:cNvSpPr/>
          <p:nvPr>
            <p:custDataLst>
              <p:tags r:id="rId9"/>
            </p:custDataLst>
          </p:nvPr>
        </p:nvSpPr>
        <p:spPr>
          <a:xfrm>
            <a:off x="3634740" y="3619500"/>
            <a:ext cx="2254885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生成结果可直接溯源，提升推理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可信度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8" name="AutoShape 6"/>
          <p:cNvSpPr/>
          <p:nvPr>
            <p:custDataLst>
              <p:tags r:id="rId10"/>
            </p:custDataLst>
          </p:nvPr>
        </p:nvSpPr>
        <p:spPr>
          <a:xfrm>
            <a:off x="6029325" y="3042920"/>
            <a:ext cx="2313940" cy="150749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9" name="AutoShape 8"/>
          <p:cNvSpPr/>
          <p:nvPr>
            <p:custDataLst>
              <p:tags r:id="rId11"/>
            </p:custDataLst>
          </p:nvPr>
        </p:nvSpPr>
        <p:spPr>
          <a:xfrm>
            <a:off x="6563360" y="3175000"/>
            <a:ext cx="1708785" cy="370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轻量化低成本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11"/>
          <p:cNvSpPr/>
          <p:nvPr>
            <p:custDataLst>
              <p:tags r:id="rId12"/>
            </p:custDataLst>
          </p:nvPr>
        </p:nvSpPr>
        <p:spPr>
          <a:xfrm>
            <a:off x="6178550" y="3619500"/>
            <a:ext cx="2159000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算力开销更小、实施周期更短、落地成本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更低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3"/>
          <a:srcRect t="596" b="596"/>
          <a:stretch>
            <a:fillRect/>
          </a:stretch>
        </p:blipFill>
        <p:spPr>
          <a:xfrm>
            <a:off x="762635" y="1428750"/>
            <a:ext cx="2542540" cy="32359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Picture 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722370" y="1624330"/>
            <a:ext cx="3048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72835" y="1614170"/>
            <a:ext cx="304800" cy="30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722370" y="3251200"/>
            <a:ext cx="304800" cy="304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161405" y="323723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b="1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b="1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b="1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多模态</a:t>
            </a:r>
            <a:r>
              <a:rPr lang="en-US" altLang="zh-CN" spc="-10" dirty="0">
                <a:solidFill>
                  <a:schemeClr val="tx1"/>
                </a:solidFill>
              </a:rPr>
              <a:t>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RAG (Patrick, et al., NIPS 2021)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81150"/>
            <a:ext cx="7947660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RAGe2e (Kaluarachchi, et al., 2022)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02080"/>
            <a:ext cx="7033895" cy="33108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Self-RAG (Patrick, et al., 2023)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71550"/>
            <a:ext cx="7576185" cy="41040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PlanRAG (Prakhar, et al., 2025)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500505"/>
            <a:ext cx="4008755" cy="26720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504950"/>
            <a:ext cx="4488180" cy="2878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b="1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多模态</a:t>
            </a:r>
            <a:r>
              <a:rPr lang="en-US" altLang="zh-CN" spc="-10" dirty="0">
                <a:solidFill>
                  <a:schemeClr val="tx1"/>
                </a:solidFill>
              </a:rPr>
              <a:t>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图检索增强生成（</a:t>
            </a:r>
            <a:r>
              <a:rPr lang="en-US" altLang="zh-CN" dirty="0">
                <a:ea typeface="黑体" panose="02010609060101010101" charset="-122"/>
                <a:sym typeface="+mn-ea"/>
              </a:rPr>
              <a:t>GraphRAG</a:t>
            </a:r>
            <a:r>
              <a:rPr lang="zh-CN" altLang="en-US" dirty="0">
                <a:ea typeface="黑体" panose="02010609060101010101" charset="-122"/>
                <a:sym typeface="+mn-ea"/>
              </a:rPr>
              <a:t>）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  <a:sym typeface="+mn-ea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 l="3264" r="3264"/>
          <a:stretch>
            <a:fillRect/>
          </a:stretch>
        </p:blipFill>
        <p:spPr>
          <a:xfrm>
            <a:off x="412750" y="1927225"/>
            <a:ext cx="4980940" cy="2242185"/>
          </a:xfrm>
          <a:prstGeom prst="roundRect">
            <a:avLst>
              <a:gd name="adj" fmla="val 5555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990600" y="4095750"/>
            <a:ext cx="381317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图示：GraphRAG 与传统 RAG 的数据处理流程对比，展示了图结构如何通过结构化的方式重构知识检索与生成逻辑。</a:t>
            </a:r>
            <a:endParaRPr lang="en-US" sz="1100"/>
          </a:p>
        </p:txBody>
      </p:sp>
      <p:sp>
        <p:nvSpPr>
          <p:cNvPr id="25" name="AutoShape 6"/>
          <p:cNvSpPr/>
          <p:nvPr>
            <p:custDataLst>
              <p:tags r:id="rId2"/>
            </p:custDataLst>
          </p:nvPr>
        </p:nvSpPr>
        <p:spPr>
          <a:xfrm>
            <a:off x="5569585" y="1696720"/>
            <a:ext cx="2957830" cy="103378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27" name="AutoShape 8"/>
          <p:cNvSpPr/>
          <p:nvPr>
            <p:custDataLst>
              <p:tags r:id="rId3"/>
            </p:custDataLst>
          </p:nvPr>
        </p:nvSpPr>
        <p:spPr>
          <a:xfrm>
            <a:off x="6076315" y="1661795"/>
            <a:ext cx="1952625" cy="389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结构化知识表示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1"/>
          <p:cNvSpPr/>
          <p:nvPr>
            <p:custDataLst>
              <p:tags r:id="rId4"/>
            </p:custDataLst>
          </p:nvPr>
        </p:nvSpPr>
        <p:spPr>
          <a:xfrm>
            <a:off x="5704205" y="2097405"/>
            <a:ext cx="2640965" cy="549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将非结构化信息转化为“实体-关系”的图结构，捕捉实体间的深层关联</a:t>
            </a:r>
            <a:endParaRPr lang="zh-CN" altLang="en-US" sz="12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6"/>
          <p:cNvSpPr/>
          <p:nvPr>
            <p:custDataLst>
              <p:tags r:id="rId5"/>
            </p:custDataLst>
          </p:nvPr>
        </p:nvSpPr>
        <p:spPr>
          <a:xfrm>
            <a:off x="5569585" y="2736215"/>
            <a:ext cx="2957830" cy="106108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1" name="AutoShape 8"/>
          <p:cNvSpPr/>
          <p:nvPr>
            <p:custDataLst>
              <p:tags r:id="rId6"/>
            </p:custDataLst>
          </p:nvPr>
        </p:nvSpPr>
        <p:spPr>
          <a:xfrm>
            <a:off x="6076315" y="2815590"/>
            <a:ext cx="2224405" cy="370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基于图的检索推理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1"/>
          <p:cNvSpPr/>
          <p:nvPr>
            <p:custDataLst>
              <p:tags r:id="rId7"/>
            </p:custDataLst>
          </p:nvPr>
        </p:nvSpPr>
        <p:spPr>
          <a:xfrm>
            <a:off x="5713095" y="3079115"/>
            <a:ext cx="2631440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在图上进行遍历、查找与推理，挖掘问题背后的关联链条</a:t>
            </a:r>
            <a:endParaRPr lang="zh-CN" altLang="en-US" sz="12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AutoShape 6"/>
          <p:cNvSpPr/>
          <p:nvPr>
            <p:custDataLst>
              <p:tags r:id="rId8"/>
            </p:custDataLst>
          </p:nvPr>
        </p:nvSpPr>
        <p:spPr>
          <a:xfrm>
            <a:off x="5570220" y="3805555"/>
            <a:ext cx="2959100" cy="10394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5" name="AutoShape 8"/>
          <p:cNvSpPr/>
          <p:nvPr>
            <p:custDataLst>
              <p:tags r:id="rId9"/>
            </p:custDataLst>
          </p:nvPr>
        </p:nvSpPr>
        <p:spPr>
          <a:xfrm>
            <a:off x="6076315" y="3859530"/>
            <a:ext cx="256857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增强生成与逻辑验证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11"/>
          <p:cNvSpPr/>
          <p:nvPr>
            <p:custDataLst>
              <p:tags r:id="rId10"/>
            </p:custDataLst>
          </p:nvPr>
        </p:nvSpPr>
        <p:spPr>
          <a:xfrm>
            <a:off x="5704840" y="4286885"/>
            <a:ext cx="2639695" cy="4686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将结构化的图信息作为上下文输入</a:t>
            </a:r>
            <a:r>
              <a:rPr lang="en-US" altLang="zh-CN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LLM，</a:t>
            </a: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辅助模型进行严谨的多步推理</a:t>
            </a:r>
            <a:endParaRPr lang="zh-CN" altLang="en-US" sz="12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13095" y="2856865"/>
            <a:ext cx="304800" cy="304800"/>
          </a:xfrm>
          <a:prstGeom prst="rect">
            <a:avLst/>
          </a:prstGeom>
        </p:spPr>
      </p:pic>
      <p:pic>
        <p:nvPicPr>
          <p:cNvPr id="2" name="Picture 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87695" y="1699260"/>
            <a:ext cx="355600" cy="355600"/>
          </a:xfrm>
          <a:prstGeom prst="rect">
            <a:avLst/>
          </a:prstGeom>
        </p:spPr>
      </p:pic>
      <p:pic>
        <p:nvPicPr>
          <p:cNvPr id="5" name="Picture 1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87695" y="3887470"/>
            <a:ext cx="355600" cy="3556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381000" y="971550"/>
            <a:ext cx="828167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GraphRAG 是一种融合图结构的检索增强生成技术，它将</a:t>
            </a:r>
            <a:r>
              <a:rPr lang="en-US" sz="14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知识图谱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作为核心外部知识源，把隐式的关系知识显式化，为大语言模型提供结构化的推理支撑，从而解决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传统向量数据库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RAG的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碎片化</a:t>
            </a:r>
            <a:r>
              <a:rPr lang="zh-CN" alt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、跨文档推理难等</a:t>
            </a: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问题，提升回答的准确性与深度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b="1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多模态</a:t>
            </a:r>
            <a:r>
              <a:rPr lang="en-US" altLang="zh-CN" spc="-10" dirty="0">
                <a:solidFill>
                  <a:schemeClr val="tx1"/>
                </a:solidFill>
              </a:rPr>
              <a:t>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GraphRAG 1.0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4810" y="1123950"/>
            <a:ext cx="830707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核心思想：微软提出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GraphRAG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，</a:t>
            </a:r>
            <a:r>
              <a:rPr lang="zh-CN" altLang="en-US" sz="1800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离线阶段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将文档拆成（头实体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-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关系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-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尾实体）三元组、抽取图结构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并建立索引，查询阶段复用建好的图做检索增强。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457200" y="1978025"/>
            <a:ext cx="3251835" cy="29889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解析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将文档拆成（头实体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-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关系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-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尾实体）三元组；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索引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文本图结构化，并构建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全量社区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摘要，存入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图数据库建立索引；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检索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根据用户查询，匹配最相关的文本片段；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生成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:LLM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整合信息，生成纯文本形式的答案；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marR="354330" indent="-367030">
              <a:lnSpc>
                <a:spcPct val="115000"/>
              </a:lnSpc>
              <a:buChar char="●"/>
              <a:tabLst>
                <a:tab pos="379095" algn="l"/>
              </a:tabLst>
            </a:pP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400" y="1885950"/>
            <a:ext cx="4117340" cy="2628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GraphRAG 2.0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4810" y="1123950"/>
            <a:ext cx="830707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核心思想：针对 “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GraphRAG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中</a:t>
            </a: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大模型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抽取图谱开销过大”的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问题，出现大量改进变体，例如图检索优化、降低建图代价等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技术路线。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457200" y="1978025"/>
            <a:ext cx="2664460" cy="259969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图检索优化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：取消全量社区摘要生成，通过双层级检索兼顾细节与宏观主题（</a:t>
            </a:r>
            <a:r>
              <a:rPr lang="en-US" altLang="zh-CN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LightRAG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）；</a:t>
            </a:r>
            <a:endParaRPr lang="zh-CN" altLang="en-US" sz="1800" b="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降低建图代价：</a:t>
            </a:r>
            <a:r>
              <a:rPr kumimoji="0" lang="zh-CN" altLang="en-US" sz="1800" b="0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使用传统 NLP 抽取</a:t>
            </a:r>
            <a:r>
              <a:rPr kumimoji="0" lang="zh-CN" altLang="en-US" sz="1800" b="0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名词</a:t>
            </a:r>
            <a:r>
              <a:rPr kumimoji="0" lang="zh-CN" altLang="en-US" sz="1800" b="0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kumimoji="0" lang="zh-CN" altLang="en-US" sz="1800" b="0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以及共现关系构建概念共现图，大幅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降低索引开销（</a:t>
            </a:r>
            <a:r>
              <a:rPr lang="en-US" altLang="zh-CN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LazyGraphRAG)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endParaRPr lang="zh-CN" altLang="en-US" sz="1800" b="0" spc="-1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39074"/>
          <a:stretch>
            <a:fillRect/>
          </a:stretch>
        </p:blipFill>
        <p:spPr>
          <a:xfrm>
            <a:off x="3276600" y="2266950"/>
            <a:ext cx="5182235" cy="1798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GraphRAG 3.0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4810" y="1123950"/>
            <a:ext cx="830707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核心思想：混合检索成为 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GraphRAG 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主流范式，借助 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Reciprocal Rank Fusion (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RRF) 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融合向量、关键词、图遍历检索结果，并引入查询路由模块，依据问题复杂度动态调度检索策略。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457200" y="1978025"/>
            <a:ext cx="2664460" cy="2877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并行召回</a:t>
            </a:r>
            <a:r>
              <a:rPr lang="en-US" altLang="zh-CN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后融合模式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：向量、</a:t>
            </a:r>
            <a:r>
              <a:rPr lang="en-US" altLang="zh-CN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BM25、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图检索同时执行，多路候选集用</a:t>
            </a:r>
            <a:r>
              <a:rPr lang="en-US" altLang="zh-CN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RRF 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倒数排名融合（</a:t>
            </a:r>
            <a:r>
              <a:rPr lang="en-US" altLang="zh-CN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HyperGraphRAG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）；</a:t>
            </a:r>
            <a:endParaRPr lang="zh-CN" altLang="en-US" sz="1800" b="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路由选择模式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：查询分类器判断复杂度，简单查询直接向量 / </a:t>
            </a:r>
            <a:r>
              <a:rPr lang="en-US" altLang="zh-CN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BM25，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复杂查询才调用图检索（</a:t>
            </a:r>
            <a:r>
              <a:rPr lang="en-US" altLang="zh-CN" sz="1800" b="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StructRAG</a:t>
            </a:r>
            <a:r>
              <a:rPr lang="zh-CN" altLang="en-US" sz="1800" b="0" spc="-1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）；</a:t>
            </a:r>
            <a:endParaRPr lang="zh-CN" altLang="en-US" sz="1800" b="0" spc="-1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r="29121"/>
          <a:stretch>
            <a:fillRect/>
          </a:stretch>
        </p:blipFill>
        <p:spPr>
          <a:xfrm>
            <a:off x="3429000" y="2266950"/>
            <a:ext cx="506349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b="1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zh-CN" altLang="en-US" sz="1800" b="1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多模态</a:t>
            </a:r>
            <a:r>
              <a:rPr lang="en-US" altLang="zh-CN" spc="-10" dirty="0">
                <a:solidFill>
                  <a:schemeClr val="tx1"/>
                </a:solidFill>
              </a:rPr>
              <a:t>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GraphRAG</a:t>
            </a:r>
            <a:r>
              <a:rPr lang="zh-CN" altLang="en-US" dirty="0">
                <a:ea typeface="黑体" panose="02010609060101010101" charset="-122"/>
                <a:sym typeface="+mn-ea"/>
              </a:rPr>
              <a:t>核心技术组件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1"/>
          <a:srcRect l="275" r="275"/>
          <a:stretch>
            <a:fillRect/>
          </a:stretch>
        </p:blipFill>
        <p:spPr>
          <a:xfrm>
            <a:off x="685800" y="2114550"/>
            <a:ext cx="7740650" cy="239649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5"/>
          <p:cNvSpPr/>
          <p:nvPr/>
        </p:nvSpPr>
        <p:spPr>
          <a:xfrm>
            <a:off x="301625" y="895350"/>
            <a:ext cx="8583930" cy="14471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4"/>
          <p:cNvSpPr/>
          <p:nvPr/>
        </p:nvSpPr>
        <p:spPr>
          <a:xfrm>
            <a:off x="384810" y="1047750"/>
            <a:ext cx="8402320" cy="992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457200">
              <a:lnSpc>
                <a:spcPct val="117000"/>
              </a:lnSpc>
            </a:pPr>
            <a:r>
              <a:rPr kumimoji="0" lang="zh-CN" altLang="en-US" sz="1800" b="0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Noto Sans SC" panose="020B0200000000000000" charset="-122"/>
              </a:rPr>
              <a:t>将非结构化文本转化为结构化的知识图谱，利用图结构的关联性进行深度推理，其主要组件包括：</a:t>
            </a:r>
            <a:r>
              <a:rPr kumimoji="0" lang="zh-CN" altLang="en-US" sz="1800" b="1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Noto Sans SC" panose="020B0200000000000000" charset="-122"/>
              </a:rPr>
              <a:t>图谱构建</a:t>
            </a:r>
            <a:r>
              <a:rPr kumimoji="0" lang="zh-CN" altLang="en-US" sz="1800" b="0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Noto Sans SC" panose="020B0200000000000000" charset="-122"/>
              </a:rPr>
              <a:t>、</a:t>
            </a:r>
            <a:r>
              <a:rPr kumimoji="0" lang="zh-CN" altLang="en-US" sz="1800" b="1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Noto Sans SC" panose="020B0200000000000000" charset="-122"/>
              </a:rPr>
              <a:t>查询处理器、智能检索器、信息组织器、答案生成器</a:t>
            </a:r>
            <a:r>
              <a:rPr kumimoji="0" lang="zh-CN" altLang="en-US" sz="1800" b="0" i="0" u="none" strike="noStrike" kern="0" cap="none" spc="-10" normalizeH="0" baseline="0" noProof="1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Noto Sans SC" panose="020B0200000000000000" charset="-122"/>
              </a:rPr>
              <a:t>。</a:t>
            </a:r>
            <a:endParaRPr kumimoji="0" lang="zh-CN" altLang="en-US" sz="1800" b="0" i="0" u="none" strike="noStrike" kern="0" cap="none" spc="-10" normalizeH="0" baseline="0" noProof="1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GraphRAG</a:t>
            </a:r>
            <a:r>
              <a:rPr lang="zh-CN" altLang="en-US" dirty="0">
                <a:ea typeface="黑体" panose="02010609060101010101" charset="-122"/>
                <a:sym typeface="+mn-ea"/>
              </a:rPr>
              <a:t>核心技术组件</a:t>
            </a:r>
            <a:r>
              <a:rPr lang="en-US" altLang="zh-CN" dirty="0">
                <a:ea typeface="黑体" panose="02010609060101010101" charset="-122"/>
                <a:sym typeface="+mn-ea"/>
              </a:rPr>
              <a:t>-1</a:t>
            </a:r>
            <a:r>
              <a:rPr lang="zh-CN" altLang="en-US" dirty="0">
                <a:ea typeface="黑体" panose="02010609060101010101" charset="-122"/>
                <a:sym typeface="+mn-ea"/>
              </a:rPr>
              <a:t>：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图谱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构建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1000" y="861060"/>
            <a:ext cx="8307070" cy="954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若知识图数据缺乏细致整理，系统性能往往难以达到理想的效果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，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提升数据的质量与相关性对取得优秀实验结果至关重要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3" name="AutoShape 6"/>
          <p:cNvSpPr/>
          <p:nvPr>
            <p:custDataLst>
              <p:tags r:id="rId1"/>
            </p:custDataLst>
          </p:nvPr>
        </p:nvSpPr>
        <p:spPr>
          <a:xfrm>
            <a:off x="4800600" y="1844675"/>
            <a:ext cx="2058670" cy="289242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5" name="AutoShape 8"/>
          <p:cNvSpPr/>
          <p:nvPr>
            <p:custDataLst>
              <p:tags r:id="rId2"/>
            </p:custDataLst>
          </p:nvPr>
        </p:nvSpPr>
        <p:spPr>
          <a:xfrm>
            <a:off x="5257800" y="2038350"/>
            <a:ext cx="1338580" cy="2444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显式构建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>
            <p:custDataLst>
              <p:tags r:id="rId3"/>
            </p:custDataLst>
          </p:nvPr>
        </p:nvSpPr>
        <p:spPr>
          <a:xfrm>
            <a:off x="4892675" y="2379345"/>
            <a:ext cx="1870710" cy="191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r>
              <a:rPr lang="zh-CN" altLang="en-US" sz="12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：基于数据预先定义的显式关系完成图结构搭建</a:t>
            </a:r>
            <a:endParaRPr lang="zh-CN" altLang="en-US" sz="12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2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zh-CN" altLang="en-US" sz="12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典型实例：</a:t>
            </a:r>
            <a:endParaRPr lang="zh-CN" altLang="en-US" sz="12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altLang="zh-CN" sz="120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1) </a:t>
            </a:r>
            <a:r>
              <a:rPr lang="zh-CN" altLang="en-US" sz="120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分子图是根据原子间的连接关系构建的</a:t>
            </a:r>
            <a:endParaRPr lang="zh-CN" altLang="en-US" sz="120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20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r>
              <a:rPr lang="en-US" altLang="zh-CN" sz="120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2) </a:t>
            </a:r>
            <a:r>
              <a:rPr lang="zh-CN" altLang="en-US" sz="120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引文图是通过将论文按引文关系进行关联而构建的</a:t>
            </a:r>
            <a:endParaRPr lang="zh-CN" altLang="en-US" sz="120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0"/>
          <p:cNvSpPr/>
          <p:nvPr>
            <p:custDataLst>
              <p:tags r:id="rId4"/>
            </p:custDataLst>
          </p:nvPr>
        </p:nvSpPr>
        <p:spPr>
          <a:xfrm>
            <a:off x="6961505" y="1844675"/>
            <a:ext cx="2008505" cy="289242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3" name="AutoShape 12"/>
          <p:cNvSpPr/>
          <p:nvPr>
            <p:custDataLst>
              <p:tags r:id="rId5"/>
            </p:custDataLst>
          </p:nvPr>
        </p:nvSpPr>
        <p:spPr>
          <a:xfrm>
            <a:off x="7336790" y="2002790"/>
            <a:ext cx="1258570" cy="3162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隐式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</a:t>
            </a:r>
            <a:endParaRPr lang="zh-CN" alt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3"/>
          <p:cNvSpPr/>
          <p:nvPr>
            <p:custDataLst>
              <p:tags r:id="rId6"/>
            </p:custDataLst>
          </p:nvPr>
        </p:nvSpPr>
        <p:spPr>
          <a:xfrm>
            <a:off x="7010400" y="2379345"/>
            <a:ext cx="1895475" cy="2092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0000"/>
              </a:lnSpc>
              <a:defRPr/>
            </a:pP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r>
              <a:rPr lang="zh-CN" altLang="en-US" sz="12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：节点缺少显式关系，但可以推导得到隐式连接</a:t>
            </a:r>
            <a:endParaRPr lang="zh-CN" altLang="en-US" sz="12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00000"/>
              </a:lnSpc>
              <a:defRPr/>
            </a:pPr>
            <a:endParaRPr lang="zh-CN" altLang="en-US" sz="12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00000"/>
              </a:lnSpc>
              <a:defRPr/>
            </a:pPr>
            <a:r>
              <a:rPr lang="zh-CN" altLang="en-US" sz="12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典型实例</a:t>
            </a:r>
            <a:r>
              <a:rPr lang="zh-CN" altLang="en-US" sz="12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zh-CN" altLang="en-US" sz="120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00000"/>
              </a:lnSpc>
              <a:defRPr/>
            </a:pPr>
            <a:r>
              <a:rPr lang="zh-CN" altLang="en-US" sz="12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1) 文档中的词语共现现象可暗示存在共享的语义信息</a:t>
            </a:r>
            <a:endParaRPr lang="zh-CN" altLang="en-US" sz="12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00000"/>
              </a:lnSpc>
              <a:defRPr/>
            </a:pPr>
            <a:endParaRPr lang="zh-CN" altLang="en-US" sz="120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00000"/>
              </a:lnSpc>
              <a:defRPr/>
            </a:pPr>
            <a:r>
              <a:rPr lang="zh-CN" altLang="en-US" sz="12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2) 表格数据中的特征交互则可揭示特征之间的相关性</a:t>
            </a:r>
            <a:endParaRPr lang="zh-CN" altLang="en-US" sz="12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defRPr/>
            </a:pPr>
            <a:endParaRPr lang="zh-CN" altLang="en-US" sz="12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962150"/>
            <a:ext cx="4318000" cy="25869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EDC (Zhang, et al., EMNLP 2024)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971550"/>
            <a:ext cx="2964180" cy="38938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971550"/>
            <a:ext cx="3206750" cy="36722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COMET (Bosselut, et al., 2019)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0150"/>
            <a:ext cx="3919220" cy="34423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200150"/>
            <a:ext cx="3795395" cy="34429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GraphRAG</a:t>
            </a:r>
            <a:r>
              <a:rPr lang="zh-CN" altLang="en-US" dirty="0">
                <a:ea typeface="黑体" panose="02010609060101010101" charset="-122"/>
                <a:sym typeface="+mn-ea"/>
              </a:rPr>
              <a:t>核心技术组件</a:t>
            </a:r>
            <a:r>
              <a:rPr lang="en-US" altLang="zh-CN" dirty="0">
                <a:ea typeface="黑体" panose="02010609060101010101" charset="-122"/>
                <a:sym typeface="+mn-ea"/>
              </a:rPr>
              <a:t>-2</a:t>
            </a:r>
            <a:r>
              <a:rPr lang="zh-CN" altLang="en-US" dirty="0">
                <a:ea typeface="黑体" panose="02010609060101010101" charset="-122"/>
                <a:sym typeface="+mn-ea"/>
              </a:rPr>
              <a:t>：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查询处理器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1000" y="819150"/>
            <a:ext cx="8307070" cy="954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查询器负责将非结构化的自然语言查询（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Q）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精准转换为图检索器可理解的结构化形式（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Q̂），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是实现高效图检索的前置关键环节。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3" name="AutoShape 6"/>
          <p:cNvSpPr/>
          <p:nvPr>
            <p:custDataLst>
              <p:tags r:id="rId1"/>
            </p:custDataLst>
          </p:nvPr>
        </p:nvSpPr>
        <p:spPr>
          <a:xfrm>
            <a:off x="454025" y="3520673"/>
            <a:ext cx="2075574" cy="1334846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86" y="3722340"/>
            <a:ext cx="307303" cy="307303"/>
          </a:xfrm>
          <a:prstGeom prst="rect">
            <a:avLst/>
          </a:prstGeom>
        </p:spPr>
      </p:pic>
      <p:sp>
        <p:nvSpPr>
          <p:cNvPr id="5" name="AutoShape 8"/>
          <p:cNvSpPr/>
          <p:nvPr>
            <p:custDataLst>
              <p:tags r:id="rId5"/>
            </p:custDataLst>
          </p:nvPr>
        </p:nvSpPr>
        <p:spPr>
          <a:xfrm>
            <a:off x="1079514" y="3737065"/>
            <a:ext cx="1349571" cy="24648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实体识别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9"/>
          <p:cNvSpPr/>
          <p:nvPr>
            <p:custDataLst>
              <p:tags r:id="rId6"/>
            </p:custDataLst>
          </p:nvPr>
        </p:nvSpPr>
        <p:spPr>
          <a:xfrm>
            <a:off x="546856" y="4096865"/>
            <a:ext cx="1886070" cy="7682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从自然语言中精准定位核心实体，建立与图数据库节点的直接映射，奠定检索基础</a:t>
            </a:r>
            <a:endParaRPr lang="en-US" sz="1100"/>
          </a:p>
        </p:txBody>
      </p:sp>
      <p:sp>
        <p:nvSpPr>
          <p:cNvPr id="11" name="AutoShape 10"/>
          <p:cNvSpPr/>
          <p:nvPr>
            <p:custDataLst>
              <p:tags r:id="rId7"/>
            </p:custDataLst>
          </p:nvPr>
        </p:nvSpPr>
        <p:spPr>
          <a:xfrm>
            <a:off x="2685171" y="3520673"/>
            <a:ext cx="1972499" cy="133100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43944" y="3716578"/>
            <a:ext cx="307303" cy="307303"/>
          </a:xfrm>
          <a:prstGeom prst="rect">
            <a:avLst/>
          </a:prstGeom>
        </p:spPr>
      </p:pic>
      <p:sp>
        <p:nvSpPr>
          <p:cNvPr id="13" name="AutoShape 12"/>
          <p:cNvSpPr/>
          <p:nvPr>
            <p:custDataLst>
              <p:tags r:id="rId11"/>
            </p:custDataLst>
          </p:nvPr>
        </p:nvSpPr>
        <p:spPr>
          <a:xfrm>
            <a:off x="3230633" y="3703456"/>
            <a:ext cx="1268904" cy="31882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关系提取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3"/>
          <p:cNvSpPr/>
          <p:nvPr>
            <p:custDataLst>
              <p:tags r:id="rId12"/>
            </p:custDataLst>
          </p:nvPr>
        </p:nvSpPr>
        <p:spPr>
          <a:xfrm>
            <a:off x="2742150" y="4096865"/>
            <a:ext cx="1870065" cy="7682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识别查询中的语义关联，匹配图结构中的边关系，构建实体间的逻辑连接网络</a:t>
            </a:r>
            <a:endParaRPr lang="en-US" sz="1100"/>
          </a:p>
        </p:txBody>
      </p:sp>
      <p:sp>
        <p:nvSpPr>
          <p:cNvPr id="15" name="AutoShape 14"/>
          <p:cNvSpPr/>
          <p:nvPr>
            <p:custDataLst>
              <p:tags r:id="rId13"/>
            </p:custDataLst>
          </p:nvPr>
        </p:nvSpPr>
        <p:spPr>
          <a:xfrm>
            <a:off x="6877291" y="3522593"/>
            <a:ext cx="2075574" cy="1329084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005850" y="3714657"/>
            <a:ext cx="307303" cy="307303"/>
          </a:xfrm>
          <a:prstGeom prst="rect">
            <a:avLst/>
          </a:prstGeom>
        </p:spPr>
      </p:pic>
      <p:sp>
        <p:nvSpPr>
          <p:cNvPr id="17" name="AutoShape 16"/>
          <p:cNvSpPr/>
          <p:nvPr>
            <p:custDataLst>
              <p:tags r:id="rId17"/>
            </p:custDataLst>
          </p:nvPr>
        </p:nvSpPr>
        <p:spPr>
          <a:xfrm>
            <a:off x="7363917" y="3703550"/>
            <a:ext cx="1453286" cy="30730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查询结构化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7"/>
          <p:cNvSpPr/>
          <p:nvPr>
            <p:custDataLst>
              <p:tags r:id="rId18"/>
            </p:custDataLst>
          </p:nvPr>
        </p:nvSpPr>
        <p:spPr>
          <a:xfrm>
            <a:off x="6970122" y="4098786"/>
            <a:ext cx="1882229" cy="7682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将自然语言转化为标准图查询语言（如Cypher），生成机器可执行的精准检索指令</a:t>
            </a:r>
            <a:endParaRPr lang="en-US" sz="1100"/>
          </a:p>
        </p:txBody>
      </p:sp>
      <p:sp>
        <p:nvSpPr>
          <p:cNvPr id="19" name="AutoShape 18"/>
          <p:cNvSpPr/>
          <p:nvPr>
            <p:custDataLst>
              <p:tags r:id="rId19"/>
            </p:custDataLst>
          </p:nvPr>
        </p:nvSpPr>
        <p:spPr>
          <a:xfrm>
            <a:off x="4769067" y="3522593"/>
            <a:ext cx="1967377" cy="1344449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00184" y="3714657"/>
            <a:ext cx="307303" cy="307303"/>
          </a:xfrm>
          <a:prstGeom prst="rect">
            <a:avLst/>
          </a:prstGeom>
        </p:spPr>
      </p:pic>
      <p:sp>
        <p:nvSpPr>
          <p:cNvPr id="21" name="AutoShape 20"/>
          <p:cNvSpPr/>
          <p:nvPr>
            <p:custDataLst>
              <p:tags r:id="rId23"/>
            </p:custDataLst>
          </p:nvPr>
        </p:nvSpPr>
        <p:spPr>
          <a:xfrm>
            <a:off x="5384313" y="3714657"/>
            <a:ext cx="1253539" cy="2688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查询分解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1"/>
          <p:cNvSpPr/>
          <p:nvPr>
            <p:custDataLst>
              <p:tags r:id="rId24"/>
            </p:custDataLst>
          </p:nvPr>
        </p:nvSpPr>
        <p:spPr>
          <a:xfrm>
            <a:off x="4821564" y="4083421"/>
            <a:ext cx="1869425" cy="76825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将复杂多跳问题拆解为简单子查询，分步执行并聚合结果，提升准确性与效率</a:t>
            </a:r>
            <a:endParaRPr lang="en-US" sz="1100"/>
          </a:p>
        </p:txBody>
      </p:sp>
      <p:pic>
        <p:nvPicPr>
          <p:cNvPr id="24" name="Picture 22"/>
          <p:cNvPicPr>
            <a:picLocks noChangeAspect="1"/>
          </p:cNvPicPr>
          <p:nvPr/>
        </p:nvPicPr>
        <p:blipFill>
          <a:blip r:embed="rId25"/>
          <a:srcRect l="-1315" r="-498"/>
          <a:stretch>
            <a:fillRect/>
          </a:stretch>
        </p:blipFill>
        <p:spPr>
          <a:xfrm>
            <a:off x="2057400" y="1661795"/>
            <a:ext cx="5208270" cy="1657985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</a:rPr>
              <a:t>QDRAG (Petcu, et al. 2025)</a:t>
            </a:r>
            <a:endParaRPr lang="en-US" altLang="zh-CN" dirty="0"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428750"/>
            <a:ext cx="854964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</a:rPr>
              <a:t>SQC (Wang, et al. 2019)</a:t>
            </a:r>
            <a:endParaRPr lang="en-US" altLang="zh-CN" dirty="0"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047750"/>
            <a:ext cx="3535045" cy="38373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047750"/>
            <a:ext cx="3589655" cy="38627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GraphRAG</a:t>
            </a:r>
            <a:r>
              <a:rPr lang="zh-CN" altLang="en-US" dirty="0">
                <a:ea typeface="黑体" panose="02010609060101010101" charset="-122"/>
                <a:sym typeface="+mn-ea"/>
              </a:rPr>
              <a:t>核心技术组件</a:t>
            </a:r>
            <a:r>
              <a:rPr lang="en-US" altLang="zh-CN" dirty="0">
                <a:ea typeface="黑体" panose="02010609060101010101" charset="-122"/>
                <a:sym typeface="+mn-ea"/>
              </a:rPr>
              <a:t>-3</a:t>
            </a:r>
            <a:r>
              <a:rPr lang="zh-CN" altLang="en-US" dirty="0">
                <a:ea typeface="黑体" panose="02010609060101010101" charset="-122"/>
                <a:sym typeface="+mn-ea"/>
              </a:rPr>
              <a:t>：检索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1000" y="1004570"/>
            <a:ext cx="8307070" cy="954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检索器是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GraphRAG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的核心组件，负责根据用户查询从图数据库中精准检索出最相关的实体、关系与子图，是连接自然语言查询与结构化知识库的关键桥梁。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1066800" y="3568065"/>
            <a:ext cx="3533140" cy="1497330"/>
            <a:chOff x="7800" y="3186"/>
            <a:chExt cx="5564" cy="2358"/>
          </a:xfrm>
        </p:grpSpPr>
        <p:sp>
          <p:nvSpPr>
            <p:cNvPr id="12" name="AutoShape 5"/>
            <p:cNvSpPr/>
            <p:nvPr>
              <p:custDataLst>
                <p:tags r:id="rId2"/>
              </p:custDataLst>
            </p:nvPr>
          </p:nvSpPr>
          <p:spPr>
            <a:xfrm>
              <a:off x="7800" y="3186"/>
              <a:ext cx="5564" cy="235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0000"/>
              </a:srgbClr>
            </a:solidFill>
            <a:ln w="12700" cap="flat" cmpd="sng">
              <a:solidFill>
                <a:schemeClr val="tx1">
                  <a:alpha val="3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3" name="AutoShape 6"/>
            <p:cNvSpPr/>
            <p:nvPr>
              <p:custDataLst>
                <p:tags r:id="rId3"/>
              </p:custDataLst>
            </p:nvPr>
          </p:nvSpPr>
          <p:spPr>
            <a:xfrm>
              <a:off x="8083" y="3469"/>
              <a:ext cx="5061" cy="566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01 基于启发式的检索器</a:t>
              </a:r>
              <a:endPara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4" name="AutoShape 7"/>
            <p:cNvSpPr/>
            <p:nvPr>
              <p:custDataLst>
                <p:tags r:id="rId4"/>
              </p:custDataLst>
            </p:nvPr>
          </p:nvSpPr>
          <p:spPr>
            <a:xfrm>
              <a:off x="8040" y="4130"/>
              <a:ext cx="4897" cy="132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08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sz="130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核心检索策略：图遍历与精确匹配</a:t>
              </a:r>
              <a:endPara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30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核心优势：逻辑透明，可解释性强</a:t>
              </a:r>
              <a:endPara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30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适用场景：规则明确、路径清晰的查询</a:t>
              </a:r>
              <a:endPara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  <p:pic>
        <p:nvPicPr>
          <p:cNvPr id="20" name="Picture 11"/>
          <p:cNvPicPr>
            <a:picLocks noChangeAspect="1"/>
          </p:cNvPicPr>
          <p:nvPr/>
        </p:nvPicPr>
        <p:blipFill>
          <a:blip r:embed="rId5"/>
          <a:srcRect l="560" r="559"/>
          <a:stretch>
            <a:fillRect/>
          </a:stretch>
        </p:blipFill>
        <p:spPr>
          <a:xfrm>
            <a:off x="2286000" y="1885950"/>
            <a:ext cx="4832350" cy="15760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</p:pic>
      <p:grpSp>
        <p:nvGrpSpPr>
          <p:cNvPr id="24" name="组合 23"/>
          <p:cNvGrpSpPr/>
          <p:nvPr>
            <p:custDataLst>
              <p:tags r:id="rId6"/>
            </p:custDataLst>
          </p:nvPr>
        </p:nvGrpSpPr>
        <p:grpSpPr>
          <a:xfrm>
            <a:off x="4724400" y="3568065"/>
            <a:ext cx="3533140" cy="1497330"/>
            <a:chOff x="7800" y="5659"/>
            <a:chExt cx="5564" cy="2358"/>
          </a:xfrm>
        </p:grpSpPr>
        <p:sp>
          <p:nvSpPr>
            <p:cNvPr id="15" name="AutoShape 8"/>
            <p:cNvSpPr/>
            <p:nvPr>
              <p:custDataLst>
                <p:tags r:id="rId7"/>
              </p:custDataLst>
            </p:nvPr>
          </p:nvSpPr>
          <p:spPr>
            <a:xfrm>
              <a:off x="7800" y="5659"/>
              <a:ext cx="5564" cy="2359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0000"/>
              </a:srgbClr>
            </a:solidFill>
            <a:ln w="12700" cap="flat" cmpd="sng">
              <a:solidFill>
                <a:schemeClr val="tx1">
                  <a:alpha val="30000"/>
                </a:scheme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16" name="AutoShape 9"/>
            <p:cNvSpPr/>
            <p:nvPr>
              <p:custDataLst>
                <p:tags r:id="rId8"/>
              </p:custDataLst>
            </p:nvPr>
          </p:nvSpPr>
          <p:spPr>
            <a:xfrm>
              <a:off x="8083" y="5942"/>
              <a:ext cx="4379" cy="575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800" b="1" i="0" u="none" strike="noStrike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02 基于学习的检索器</a:t>
              </a:r>
              <a:endPara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22" name="AutoShape 7"/>
            <p:cNvSpPr/>
            <p:nvPr>
              <p:custDataLst>
                <p:tags r:id="rId9"/>
              </p:custDataLst>
            </p:nvPr>
          </p:nvSpPr>
          <p:spPr>
            <a:xfrm>
              <a:off x="8040" y="6570"/>
              <a:ext cx="5273" cy="1321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171450" indent="-171450" algn="l">
                <a:lnSpc>
                  <a:spcPct val="108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30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核心检索策略：图学习嵌入与语义匹配</a:t>
              </a:r>
              <a:endPara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30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高级能力：集成检索与自适应迭代</a:t>
              </a:r>
              <a:endPara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  <a:p>
              <a:pPr marL="171450" indent="-171450" algn="l">
                <a:lnSpc>
                  <a:spcPct val="108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300">
                  <a:solidFill>
                    <a:schemeClr val="tx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</a:rPr>
                <a:t>核心优势：提升复杂语义查询的召回与精度</a:t>
              </a:r>
              <a:endPara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</a:rPr>
              <a:t>RoG (Luo, et al. 2024)</a:t>
            </a:r>
            <a:endParaRPr lang="en-US" altLang="zh-CN" dirty="0"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00150"/>
            <a:ext cx="6869430" cy="36366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</a:rPr>
              <a:t>TEMPLE-MQA (Chen, et al. 2024)</a:t>
            </a:r>
            <a:endParaRPr lang="en-US" altLang="zh-CN" dirty="0"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35" y="1733550"/>
            <a:ext cx="763524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GraphRAG</a:t>
            </a:r>
            <a:r>
              <a:rPr lang="zh-CN" altLang="en-US" dirty="0">
                <a:ea typeface="黑体" panose="02010609060101010101" charset="-122"/>
                <a:sym typeface="+mn-ea"/>
              </a:rPr>
              <a:t>核心技术组件</a:t>
            </a:r>
            <a:r>
              <a:rPr lang="en-US" altLang="zh-CN" dirty="0">
                <a:ea typeface="黑体" panose="02010609060101010101" charset="-122"/>
                <a:sym typeface="+mn-ea"/>
              </a:rPr>
              <a:t>-4&amp;5</a:t>
            </a:r>
            <a:r>
              <a:rPr lang="zh-CN" altLang="en-US" dirty="0">
                <a:ea typeface="黑体" panose="02010609060101010101" charset="-122"/>
                <a:sym typeface="+mn-ea"/>
              </a:rPr>
              <a:t>：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组织与</a:t>
            </a:r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生成器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AutoShape 4"/>
          <p:cNvSpPr/>
          <p:nvPr/>
        </p:nvSpPr>
        <p:spPr>
          <a:xfrm>
            <a:off x="533400" y="1405890"/>
            <a:ext cx="3522345" cy="355981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69290" y="1405890"/>
            <a:ext cx="321945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</a:t>
            </a: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组织器 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69290" y="1977390"/>
            <a:ext cx="3345815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对检索到的图内容进行后处理和优化，去除冗余信息，使其更适合生成器。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7"/>
          <p:cNvCxnSpPr/>
          <p:nvPr/>
        </p:nvCxnSpPr>
        <p:spPr>
          <a:xfrm>
            <a:off x="669290" y="2675890"/>
            <a:ext cx="3149628" cy="609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9290" y="2929890"/>
            <a:ext cx="254000" cy="254000"/>
          </a:xfrm>
          <a:prstGeom prst="rect">
            <a:avLst/>
          </a:prstGeom>
        </p:spPr>
      </p:pic>
      <p:sp>
        <p:nvSpPr>
          <p:cNvPr id="12" name="AutoShape 9"/>
          <p:cNvSpPr/>
          <p:nvPr/>
        </p:nvSpPr>
        <p:spPr>
          <a:xfrm>
            <a:off x="1050290" y="2904490"/>
            <a:ext cx="291719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图修剪 (Graph Pruning)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：移除无关节点和边，过滤噪声，提升数据纯度。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290" y="3628390"/>
            <a:ext cx="254000" cy="254000"/>
          </a:xfrm>
          <a:prstGeom prst="rect">
            <a:avLst/>
          </a:prstGeom>
        </p:spPr>
      </p:pic>
      <p:sp>
        <p:nvSpPr>
          <p:cNvPr id="15" name="AutoShape 11"/>
          <p:cNvSpPr/>
          <p:nvPr/>
        </p:nvSpPr>
        <p:spPr>
          <a:xfrm>
            <a:off x="1050290" y="3602990"/>
            <a:ext cx="291719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重排序 (Reranker)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：按相关性重新排列信息，确保最关键内容优先呈现。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6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9290" y="4326890"/>
            <a:ext cx="254000" cy="254000"/>
          </a:xfrm>
          <a:prstGeom prst="rect">
            <a:avLst/>
          </a:prstGeom>
        </p:spPr>
      </p:pic>
      <p:sp>
        <p:nvSpPr>
          <p:cNvPr id="17" name="AutoShape 13"/>
          <p:cNvSpPr/>
          <p:nvPr/>
        </p:nvSpPr>
        <p:spPr>
          <a:xfrm>
            <a:off x="1050290" y="4301490"/>
            <a:ext cx="291719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语言化 (Verbalizing)</a:t>
            </a:r>
            <a:r>
              <a:rPr 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：将图结构转化为自然语言文本，适配LLM的输入格式。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4"/>
          <p:cNvSpPr/>
          <p:nvPr/>
        </p:nvSpPr>
        <p:spPr>
          <a:xfrm>
            <a:off x="4267200" y="1405890"/>
            <a:ext cx="3898900" cy="355981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5"/>
          <p:cNvSpPr/>
          <p:nvPr/>
        </p:nvSpPr>
        <p:spPr>
          <a:xfrm>
            <a:off x="4521200" y="137795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答案</a:t>
            </a: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生成器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6"/>
          <p:cNvSpPr/>
          <p:nvPr/>
        </p:nvSpPr>
        <p:spPr>
          <a:xfrm>
            <a:off x="4521200" y="1949450"/>
            <a:ext cx="325755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结合处理后的查询意图与优化后的图信息，生成精准、详实且符合逻辑的最终答案。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17"/>
          <p:cNvCxnSpPr/>
          <p:nvPr/>
        </p:nvCxnSpPr>
        <p:spPr>
          <a:xfrm flipV="1">
            <a:off x="4521200" y="2647847"/>
            <a:ext cx="3327412" cy="10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tx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200" y="2940050"/>
            <a:ext cx="254000" cy="254000"/>
          </a:xfrm>
          <a:prstGeom prst="rect">
            <a:avLst/>
          </a:prstGeom>
        </p:spPr>
      </p:pic>
      <p:sp>
        <p:nvSpPr>
          <p:cNvPr id="25" name="AutoShape 19"/>
          <p:cNvSpPr/>
          <p:nvPr/>
        </p:nvSpPr>
        <p:spPr>
          <a:xfrm>
            <a:off x="4902200" y="2914650"/>
            <a:ext cx="287782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基于LLM的生成器</a:t>
            </a:r>
            <a:br>
              <a:rPr lang="en-US" sz="16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融合GNN图编码与文本嵌入特征，增强LLM对复杂关联的理解，提升生成质量。</a:t>
            </a:r>
            <a:endParaRPr 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1200" y="4019550"/>
            <a:ext cx="254000" cy="254000"/>
          </a:xfrm>
          <a:prstGeom prst="rect">
            <a:avLst/>
          </a:prstGeom>
        </p:spPr>
      </p:pic>
      <p:sp>
        <p:nvSpPr>
          <p:cNvPr id="27" name="AutoShape 21"/>
          <p:cNvSpPr/>
          <p:nvPr/>
        </p:nvSpPr>
        <p:spPr>
          <a:xfrm>
            <a:off x="4902200" y="3994150"/>
            <a:ext cx="2877185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基于Graph的生成器</a:t>
            </a:r>
            <a:endParaRPr lang="en-US" sz="15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保留原生图结构，生成精确的图谱表征，主要应用于生物分子等领域</a:t>
            </a: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GraphQA (Taunk, et al. 2023)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00150"/>
            <a:ext cx="7665720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GRQA (Li, et al. 2023)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890" y="1428750"/>
            <a:ext cx="8110220" cy="29356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G-Retriever (He, et al. 2024)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66875"/>
            <a:ext cx="7715250" cy="260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RetMol (Wang, et al. ICLR 2023)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AutoShape 5"/>
          <p:cNvSpPr/>
          <p:nvPr/>
        </p:nvSpPr>
        <p:spPr>
          <a:xfrm>
            <a:off x="301625" y="895350"/>
            <a:ext cx="8583930" cy="7715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457200" algn="l">
              <a:lnSpc>
                <a:spcPct val="117000"/>
              </a:lnSpc>
            </a:pP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085" y="1504950"/>
            <a:ext cx="8481060" cy="314896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</a:rPr>
              <a:t>多模态</a:t>
            </a:r>
            <a:r>
              <a:rPr lang="en-US" altLang="zh-CN" b="1" spc="-10" dirty="0">
                <a:solidFill>
                  <a:schemeClr val="tx1"/>
                </a:solidFill>
              </a:rPr>
              <a:t>RAG</a:t>
            </a: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多模态</a:t>
            </a:r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检索增强生成</a:t>
            </a:r>
            <a:r>
              <a:rPr 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ulti-Modal RAG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）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57350"/>
            <a:ext cx="4545330" cy="31400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7200" y="1002030"/>
            <a:ext cx="79400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1400"/>
              <a:t>多模态 </a:t>
            </a:r>
            <a:r>
              <a:rPr lang="en-US" altLang="zh-CN" sz="1400"/>
              <a:t>RAG </a:t>
            </a:r>
            <a:r>
              <a:rPr lang="zh-CN" altLang="en-US" sz="1400"/>
              <a:t>对比仅处理文本的传统 </a:t>
            </a:r>
            <a:r>
              <a:rPr lang="en-US" altLang="zh-CN" sz="1400"/>
              <a:t>RAG，</a:t>
            </a:r>
            <a:r>
              <a:rPr lang="zh-CN" altLang="en-US" sz="1400"/>
              <a:t>支持</a:t>
            </a:r>
            <a:r>
              <a:rPr lang="zh-CN" altLang="en-US" sz="1400" b="1"/>
              <a:t>文本、图片、图表、扫描件</a:t>
            </a:r>
            <a:r>
              <a:rPr lang="zh-CN" altLang="en-US" sz="1400"/>
              <a:t>等多类数据，通过多模态嵌入实现跨模态检索，可直接解析图表语义，省去大量图像转文字工作，拓展知识范围，支持图文混合提问，召回图文证据，减少图表场景下模型幻觉，适配图文混杂业务文档。</a:t>
            </a:r>
            <a:endParaRPr lang="zh-CN" altLang="en-US" sz="1400"/>
          </a:p>
        </p:txBody>
      </p:sp>
      <p:sp>
        <p:nvSpPr>
          <p:cNvPr id="25" name="AutoShape 6"/>
          <p:cNvSpPr/>
          <p:nvPr>
            <p:custDataLst>
              <p:tags r:id="rId2"/>
            </p:custDataLst>
          </p:nvPr>
        </p:nvSpPr>
        <p:spPr>
          <a:xfrm>
            <a:off x="5486400" y="1760855"/>
            <a:ext cx="2957830" cy="103378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27" name="AutoShape 8"/>
          <p:cNvSpPr/>
          <p:nvPr>
            <p:custDataLst>
              <p:tags r:id="rId3"/>
            </p:custDataLst>
          </p:nvPr>
        </p:nvSpPr>
        <p:spPr>
          <a:xfrm>
            <a:off x="5993130" y="1725930"/>
            <a:ext cx="2267585" cy="3467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知识载体兼容更广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11"/>
          <p:cNvSpPr/>
          <p:nvPr>
            <p:custDataLst>
              <p:tags r:id="rId4"/>
            </p:custDataLst>
          </p:nvPr>
        </p:nvSpPr>
        <p:spPr>
          <a:xfrm>
            <a:off x="5621020" y="2161540"/>
            <a:ext cx="2765425" cy="5499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支持文本、图片、图表、扫描件等多类数据，摆脱传统 </a:t>
            </a:r>
            <a:r>
              <a:rPr lang="en-US" altLang="zh-CN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 </a:t>
            </a: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仅处理纯文本的局限</a:t>
            </a:r>
            <a:endParaRPr lang="zh-CN" altLang="en-US" sz="12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AutoShape 6"/>
          <p:cNvSpPr/>
          <p:nvPr>
            <p:custDataLst>
              <p:tags r:id="rId5"/>
            </p:custDataLst>
          </p:nvPr>
        </p:nvSpPr>
        <p:spPr>
          <a:xfrm>
            <a:off x="5486400" y="2800350"/>
            <a:ext cx="2957830" cy="106108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1" name="AutoShape 8"/>
          <p:cNvSpPr/>
          <p:nvPr>
            <p:custDataLst>
              <p:tags r:id="rId6"/>
            </p:custDataLst>
          </p:nvPr>
        </p:nvSpPr>
        <p:spPr>
          <a:xfrm>
            <a:off x="5993130" y="2879725"/>
            <a:ext cx="2224405" cy="3708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检索交互能力增强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11"/>
          <p:cNvSpPr/>
          <p:nvPr>
            <p:custDataLst>
              <p:tags r:id="rId7"/>
            </p:custDataLst>
          </p:nvPr>
        </p:nvSpPr>
        <p:spPr>
          <a:xfrm>
            <a:off x="5629910" y="3143250"/>
            <a:ext cx="2631440" cy="775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基于多模态嵌入实现跨模态检索，支持图文混合提问，同时召回文本与图像</a:t>
            </a:r>
            <a:endParaRPr lang="zh-CN" altLang="en-US" sz="12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4" name="AutoShape 6"/>
          <p:cNvSpPr/>
          <p:nvPr>
            <p:custDataLst>
              <p:tags r:id="rId8"/>
            </p:custDataLst>
          </p:nvPr>
        </p:nvSpPr>
        <p:spPr>
          <a:xfrm>
            <a:off x="5487035" y="3869690"/>
            <a:ext cx="2959100" cy="10394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5" name="AutoShape 8"/>
          <p:cNvSpPr/>
          <p:nvPr>
            <p:custDataLst>
              <p:tags r:id="rId9"/>
            </p:custDataLst>
          </p:nvPr>
        </p:nvSpPr>
        <p:spPr>
          <a:xfrm>
            <a:off x="5993130" y="3923665"/>
            <a:ext cx="256857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回答可靠性得到提升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11"/>
          <p:cNvSpPr/>
          <p:nvPr>
            <p:custDataLst>
              <p:tags r:id="rId10"/>
            </p:custDataLst>
          </p:nvPr>
        </p:nvSpPr>
        <p:spPr>
          <a:xfrm>
            <a:off x="5621655" y="4351020"/>
            <a:ext cx="2722880" cy="4686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r>
              <a:rPr lang="zh-CN" alt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无需大量人工将图像转写文字，有效降低图表场景下的模型幻觉</a:t>
            </a:r>
            <a:endParaRPr lang="zh-CN" altLang="en-US" sz="12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29910" y="2921000"/>
            <a:ext cx="304800" cy="304800"/>
          </a:xfrm>
          <a:prstGeom prst="rect">
            <a:avLst/>
          </a:prstGeom>
        </p:spPr>
      </p:pic>
      <p:pic>
        <p:nvPicPr>
          <p:cNvPr id="4" name="Picture 6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4510" y="1763395"/>
            <a:ext cx="355600" cy="355600"/>
          </a:xfrm>
          <a:prstGeom prst="rect">
            <a:avLst/>
          </a:prstGeom>
        </p:spPr>
      </p:pic>
      <p:pic>
        <p:nvPicPr>
          <p:cNvPr id="5" name="Picture 1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604510" y="3951605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664845" y="0"/>
            <a:ext cx="2479154" cy="2925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为什么多模态重要</a:t>
            </a:r>
            <a:r>
              <a:rPr spc="-1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?</a:t>
            </a:r>
            <a:endParaRPr spc="-1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810" y="1445260"/>
            <a:ext cx="7533640" cy="402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endParaRPr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366395" eaLnBrk="1" fontAlgn="auto" latinLnBrk="0" hangingPunct="1">
              <a:lnSpc>
                <a:spcPct val="150000"/>
              </a:lnSpc>
              <a:spcBef>
                <a:spcPts val="0"/>
              </a:spcBef>
              <a:buChar char="●"/>
              <a:tabLst>
                <a:tab pos="469265" algn="l"/>
              </a:tabLst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忠实还原现实：人类的感知体验是多模态的；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366395" eaLnBrk="1" fontAlgn="auto" latinLnBrk="0" hangingPunct="1">
              <a:lnSpc>
                <a:spcPct val="150000"/>
              </a:lnSpc>
              <a:spcBef>
                <a:spcPts val="0"/>
              </a:spcBef>
              <a:buChar char="●"/>
              <a:tabLst>
                <a:tab pos="469265" algn="l"/>
              </a:tabLst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现实应用层面：大量应用场景（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社交媒体、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军事侦察）本身就具备多模态特性；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366395" eaLnBrk="1" fontAlgn="auto" latinLnBrk="0" hangingPunct="1">
              <a:lnSpc>
                <a:spcPct val="150000"/>
              </a:lnSpc>
              <a:spcBef>
                <a:spcPts val="0"/>
              </a:spcBef>
              <a:buChar char="●"/>
              <a:tabLst>
                <a:tab pos="469265" algn="l"/>
              </a:tabLst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数据效率与可得性：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" indent="45720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tabLst>
                <a:tab pos="469265" algn="l"/>
              </a:tabLst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i)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效率优势：语言只是人类使用的并不完备、存在缺陷的低带宽序列化传输协议，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而多模态数据信息丰富，属于 “高带宽” 数据，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因此更利于模型学习；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" indent="45720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tabLst>
                <a:tab pos="469265" algn="l"/>
              </a:tabLst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ii)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规模拓展：数据越多效果越好，而目前高质量文本数据已接近枯竭。</a:t>
            </a: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" indent="0" eaLnBrk="1" fontAlgn="auto" latinLnBrk="0" hangingPunct="1">
              <a:lnSpc>
                <a:spcPct val="150000"/>
              </a:lnSpc>
              <a:spcBef>
                <a:spcPts val="0"/>
              </a:spcBef>
              <a:buNone/>
              <a:tabLst>
                <a:tab pos="469265" algn="l"/>
              </a:tabLst>
            </a:pP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</a:rPr>
              <a:t>多模态</a:t>
            </a:r>
            <a:r>
              <a:rPr lang="en-US" altLang="zh-CN" b="1" spc="-10" dirty="0">
                <a:solidFill>
                  <a:schemeClr val="tx1"/>
                </a:solidFill>
              </a:rPr>
              <a:t>RAG</a:t>
            </a: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b="1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MRAG 1.0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4810" y="1123950"/>
            <a:ext cx="830707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核心思想：</a:t>
            </a:r>
            <a:r>
              <a:rPr lang="zh-CN" altLang="en-US" sz="1800" i="0" u="none" strike="noStrike" spc="-10" dirty="0">
                <a:solidFill>
                  <a:srgbClr val="FF0000"/>
                </a:solidFill>
                <a:cs typeface="Arial" panose="020B0604020202020204" pitchFamily="34" charset="0"/>
                <a:sym typeface="Noto Sans SC" panose="020B0200000000000000" charset="-122"/>
              </a:rPr>
              <a:t>Text In, Text Out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 —— 将图像、表格等多模态数据通过OCR与生成技术统一转换为文本，复用成熟的文本RAG生态体系。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1"/>
          <a:srcRect l="1619" r="1619"/>
          <a:stretch>
            <a:fillRect/>
          </a:stretch>
        </p:blipFill>
        <p:spPr>
          <a:xfrm>
            <a:off x="3505200" y="1885950"/>
            <a:ext cx="5148580" cy="2845435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8" name="object 3"/>
          <p:cNvSpPr txBox="1"/>
          <p:nvPr/>
        </p:nvSpPr>
        <p:spPr>
          <a:xfrm>
            <a:off x="384810" y="1978025"/>
            <a:ext cx="3167380" cy="27527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解析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:OCR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提取与多模态内容的文本化描述生成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索引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文本向量化，存入向量数据库建立索引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检索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根据用户查询，匹配最相关的文本片段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marR="354330" indent="-367030">
              <a:lnSpc>
                <a:spcPct val="115000"/>
              </a:lnSpc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生成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:LLM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整合信息，生成纯文本形式的答案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marR="354330" indent="-367030">
              <a:lnSpc>
                <a:spcPct val="115000"/>
              </a:lnSpc>
              <a:buChar char="●"/>
              <a:tabLst>
                <a:tab pos="379095" algn="l"/>
              </a:tabLst>
            </a:pP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MRAG 2.0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4810" y="1123950"/>
            <a:ext cx="830707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核心思想：</a:t>
            </a:r>
            <a:r>
              <a:rPr lang="en-US" altLang="zh-CN" sz="1800" b="0" i="0" u="none" strike="noStrike" spc="-10" dirty="0">
                <a:solidFill>
                  <a:srgbClr val="FF0000"/>
                </a:solidFill>
                <a:cs typeface="Arial" panose="020B0604020202020204" pitchFamily="34" charset="0"/>
                <a:sym typeface="Noto Sans SC" panose="020B0200000000000000" charset="-122"/>
              </a:rPr>
              <a:t>MultiModal In, Text Out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 —— 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通过引入多模态大模型（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MLLMs），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让系统直接理解和处理这些异构数据，回归数据的真实语义。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384810" y="1978025"/>
            <a:ext cx="3167380" cy="26295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统一特征表征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利用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MLLM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直接提取多模态数据的统一语义特征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跨模态检索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打破单一模态壁垒，支持“文本搜图”或“以图搜文”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增强型生成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基于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MLLM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对多模态信息的深度理解，生成符合数据语境的答案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241" r="241"/>
          <a:stretch>
            <a:fillRect/>
          </a:stretch>
        </p:blipFill>
        <p:spPr>
          <a:xfrm>
            <a:off x="3733800" y="1885950"/>
            <a:ext cx="4958080" cy="3062605"/>
          </a:xfrm>
          <a:prstGeom prst="rect">
            <a:avLst/>
          </a:prstGeom>
          <a:noFill/>
          <a:ln w="25400" cap="flat" cmpd="sng">
            <a:solidFill>
              <a:schemeClr val="bg1">
                <a:lumMod val="85000"/>
                <a:alpha val="40000"/>
              </a:scheme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MRAG 3.0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4810" y="1123950"/>
            <a:ext cx="830707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核心思想：</a:t>
            </a:r>
            <a:r>
              <a:rPr lang="en-US" altLang="zh-CN" sz="1800" b="0" i="0" u="none" strike="noStrike" spc="-10" dirty="0">
                <a:solidFill>
                  <a:srgbClr val="FF0000"/>
                </a:solidFill>
                <a:cs typeface="Arial" panose="020B0604020202020204" pitchFamily="34" charset="0"/>
                <a:sym typeface="Noto Sans SC" panose="020B0200000000000000" charset="-122"/>
              </a:rPr>
              <a:t>MultiModal In, MultiModal Out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 —— 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打通了从多模态输入、智能检索到多模态输出的完整闭环，实现了真正意义上的人机协同交互体验。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384810" y="1978025"/>
            <a:ext cx="4182110" cy="265366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增强型文档解析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创新引入「文档截图」解析机制，还原始排版、图表与版式细节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多模态闭环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系统可直接输出包含图片、表格、公式的结构化富媒体答案，实现输入与输出的双向多模态化。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lang="zh-CN" altLang="en-US" sz="1800" b="1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场景价值跃迁</a:t>
            </a:r>
            <a:r>
              <a:rPr lang="en-US" altLang="zh-CN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CN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自动生成可视化分析报告、智能设备操作手册、多模态数据分析看板等复杂场景</a:t>
            </a:r>
            <a:endParaRPr lang="zh-CN" altLang="en-US"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rcRect t="1644" b="1644"/>
          <a:stretch>
            <a:fillRect/>
          </a:stretch>
        </p:blipFill>
        <p:spPr>
          <a:xfrm>
            <a:off x="4724400" y="1758950"/>
            <a:ext cx="3514725" cy="3131820"/>
          </a:xfrm>
          <a:prstGeom prst="rect">
            <a:avLst/>
          </a:prstGeom>
          <a:noFill/>
          <a:ln w="25400" cap="flat" cmpd="sng">
            <a:solidFill>
              <a:schemeClr val="bg1">
                <a:lumMod val="85000"/>
                <a:alpha val="80000"/>
              </a:scheme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</a:rPr>
              <a:t>多模态</a:t>
            </a:r>
            <a:r>
              <a:rPr lang="en-US" altLang="zh-CN" b="1" spc="-10" dirty="0">
                <a:solidFill>
                  <a:schemeClr val="tx1"/>
                </a:solidFill>
              </a:rPr>
              <a:t>RAG</a:t>
            </a: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b="1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b="1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子课题实践任务</a:t>
            </a:r>
            <a:endParaRPr lang="zh-CN" altLang="en-US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MRAG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核心技术组件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-1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：多模态文档解析与索引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00" y="192405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838200" y="1758950"/>
            <a:ext cx="284226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非结构化数据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包括纯文本文档、图像、视频等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4"/>
          <p:cNvSpPr/>
          <p:nvPr/>
        </p:nvSpPr>
        <p:spPr>
          <a:xfrm>
            <a:off x="384810" y="1123950"/>
            <a:ext cx="32537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01 / 多模态文档的分类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11" name="AutoShape 4"/>
          <p:cNvSpPr/>
          <p:nvPr/>
        </p:nvSpPr>
        <p:spPr>
          <a:xfrm>
            <a:off x="4191000" y="1123315"/>
            <a:ext cx="32537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algn="l" rtl="0" eaLnBrk="1" fontAlgn="auto" latinLnBrk="0" hangingPunct="1">
              <a:lnSpc>
                <a:spcPct val="108000"/>
              </a:lnSpc>
              <a:buClrTx/>
              <a:buSzTx/>
              <a:buFontTx/>
              <a:buNone/>
              <a:defRPr/>
            </a:pP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02 </a:t>
            </a:r>
            <a:r>
              <a:rPr lang="zh-CN" altLang="en-US" sz="1800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/ 核心解析方法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7500" y="196215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572000" y="1750695"/>
            <a:ext cx="4220210" cy="10496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基于提取 (Extractive-Based) · MRAG 1.0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将文档拆解为独立元素，如提取纯文本、利用OCR识别扫描件、分离多模态组件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500" y="3174365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572000" y="2876550"/>
            <a:ext cx="4445000" cy="10934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7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基于表示 (Representation-Based) · MRAG 2.0/3.0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将文档整体（如版式、截图）作为单一视觉实体进行索引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3700" y="2686050"/>
            <a:ext cx="304800" cy="304800"/>
          </a:xfrm>
          <a:prstGeom prst="rect">
            <a:avLst/>
          </a:prstGeom>
        </p:spPr>
      </p:pic>
      <p:sp>
        <p:nvSpPr>
          <p:cNvPr id="13" name="AutoShape 10"/>
          <p:cNvSpPr/>
          <p:nvPr>
            <p:custDataLst>
              <p:tags r:id="rId14"/>
            </p:custDataLst>
          </p:nvPr>
        </p:nvSpPr>
        <p:spPr>
          <a:xfrm>
            <a:off x="838200" y="2495550"/>
            <a:ext cx="2694305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半结构化数据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典型如PDF、HTML、JSON等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3700" y="3409950"/>
            <a:ext cx="304800" cy="304800"/>
          </a:xfrm>
          <a:prstGeom prst="rect">
            <a:avLst/>
          </a:prstGeom>
        </p:spPr>
      </p:pic>
      <p:sp>
        <p:nvSpPr>
          <p:cNvPr id="21" name="AutoShape 13"/>
          <p:cNvSpPr/>
          <p:nvPr>
            <p:custDataLst>
              <p:tags r:id="rId18"/>
            </p:custDataLst>
          </p:nvPr>
        </p:nvSpPr>
        <p:spPr>
          <a:xfrm>
            <a:off x="838200" y="3257550"/>
            <a:ext cx="2696845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结构化数据</a:t>
            </a:r>
            <a:endParaRPr lang="en-US" sz="1100">
              <a:solidFill>
                <a:schemeClr val="tx1"/>
              </a:solidFill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以关系型数据库、知识图谱为代表</a:t>
            </a:r>
            <a:endParaRPr lang="en-US" sz="14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115" y="1281430"/>
            <a:ext cx="3509010" cy="34969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75" y="1296670"/>
            <a:ext cx="3267710" cy="3447415"/>
          </a:xfrm>
          <a:prstGeom prst="rect">
            <a:avLst/>
          </a:prstGeom>
        </p:spPr>
      </p:pic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CRAFT (Youngmin Baek, et al., CVPR 2019)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TrOCR(Minghao Li, et al., 2023)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71550"/>
            <a:ext cx="8493760" cy="388747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85" y="419100"/>
            <a:ext cx="8726170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/>
              <a:t>Multimodal</a:t>
            </a:r>
            <a:r>
              <a:rPr spc="-30" dirty="0"/>
              <a:t> </a:t>
            </a:r>
            <a:r>
              <a:rPr lang="en-US" dirty="0"/>
              <a:t>D</a:t>
            </a:r>
            <a:r>
              <a:rPr dirty="0"/>
              <a:t>istributional</a:t>
            </a:r>
            <a:r>
              <a:rPr spc="-25" dirty="0"/>
              <a:t> </a:t>
            </a:r>
            <a:r>
              <a:rPr lang="en-US" dirty="0"/>
              <a:t>S</a:t>
            </a:r>
            <a:r>
              <a:rPr dirty="0"/>
              <a:t>emantics</a:t>
            </a:r>
            <a:r>
              <a:rPr spc="-25" dirty="0"/>
              <a:t> </a:t>
            </a:r>
            <a:r>
              <a:rPr dirty="0"/>
              <a:t>(Bruni</a:t>
            </a:r>
            <a:r>
              <a:rPr spc="-25" dirty="0"/>
              <a:t> </a:t>
            </a:r>
            <a:r>
              <a:rPr dirty="0"/>
              <a:t>et</a:t>
            </a:r>
            <a:r>
              <a:rPr spc="-25" dirty="0"/>
              <a:t> </a:t>
            </a:r>
            <a:r>
              <a:rPr dirty="0"/>
              <a:t>al.,</a:t>
            </a:r>
            <a:r>
              <a:rPr spc="-25" dirty="0"/>
              <a:t> </a:t>
            </a:r>
            <a:r>
              <a:rPr lang="en-US" spc="-25" dirty="0"/>
              <a:t>JAIR </a:t>
            </a:r>
            <a:r>
              <a:rPr spc="-10" dirty="0"/>
              <a:t>2014)</a:t>
            </a:r>
            <a:endParaRPr spc="-10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648200" y="1428750"/>
            <a:ext cx="4258945" cy="32753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8435"/>
            <a:ext cx="3339465" cy="31819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4810" y="971550"/>
            <a:ext cx="3736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图像</a:t>
            </a:r>
            <a:r>
              <a:rPr lang="zh-CN" altLang="en-US"/>
              <a:t>描述词语义表示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1828800" y="1200150"/>
            <a:ext cx="5156835" cy="3573780"/>
          </a:xfrm>
          <a:prstGeom prst="rect">
            <a:avLst/>
          </a:prstGeom>
        </p:spPr>
      </p:pic>
      <p:sp>
        <p:nvSpPr>
          <p:cNvPr id="8" name="object 2" descr="$PPTXTitle"/>
          <p:cNvSpPr txBox="1">
            <a:spLocks noGrp="1"/>
          </p:cNvSpPr>
          <p:nvPr/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spcBef>
                <a:spcPts val="120"/>
              </a:spcBef>
            </a:pPr>
            <a:r>
              <a:rPr lang="en-US" dirty="0">
                <a:ea typeface="Arial" panose="020B0604020202020204" pitchFamily="34" charset="0"/>
                <a:cs typeface="+mn-ea"/>
                <a:sym typeface="+mn-ea"/>
              </a:rPr>
              <a:t>CNN-MAX</a:t>
            </a:r>
            <a:r>
              <a:rPr spc="-20" dirty="0">
                <a:ea typeface="Arial" panose="020B0604020202020204" pitchFamily="34" charset="0"/>
                <a:cs typeface="+mn-ea"/>
                <a:sym typeface="+mn-ea"/>
              </a:rPr>
              <a:t> </a:t>
            </a:r>
            <a:r>
              <a:rPr dirty="0">
                <a:ea typeface="Arial" panose="020B0604020202020204" pitchFamily="34" charset="0"/>
                <a:cs typeface="+mn-ea"/>
                <a:sym typeface="+mn-ea"/>
              </a:rPr>
              <a:t>(</a:t>
            </a:r>
            <a:r>
              <a:rPr lang="en-US" altLang="zh-CN" dirty="0">
                <a:ea typeface="Arial" panose="020B0604020202020204" pitchFamily="34" charset="0"/>
                <a:cs typeface="+mn-ea"/>
                <a:sym typeface="+mn-ea"/>
              </a:rPr>
              <a:t>Kiela</a:t>
            </a:r>
            <a:r>
              <a:rPr spc="-20" dirty="0">
                <a:ea typeface="Arial" panose="020B0604020202020204" pitchFamily="34" charset="0"/>
                <a:cs typeface="+mn-ea"/>
                <a:sym typeface="+mn-ea"/>
              </a:rPr>
              <a:t> </a:t>
            </a:r>
            <a:r>
              <a:rPr dirty="0">
                <a:ea typeface="Arial" panose="020B0604020202020204" pitchFamily="34" charset="0"/>
                <a:cs typeface="+mn-ea"/>
                <a:sym typeface="+mn-ea"/>
              </a:rPr>
              <a:t>et</a:t>
            </a:r>
            <a:r>
              <a:rPr spc="-20" dirty="0">
                <a:ea typeface="Arial" panose="020B0604020202020204" pitchFamily="34" charset="0"/>
                <a:cs typeface="+mn-ea"/>
                <a:sym typeface="+mn-ea"/>
              </a:rPr>
              <a:t> </a:t>
            </a:r>
            <a:r>
              <a:rPr dirty="0">
                <a:ea typeface="Arial" panose="020B0604020202020204" pitchFamily="34" charset="0"/>
                <a:cs typeface="+mn-ea"/>
                <a:sym typeface="+mn-ea"/>
              </a:rPr>
              <a:t>al</a:t>
            </a:r>
            <a:r>
              <a:rPr lang="en-US" dirty="0">
                <a:ea typeface="Arial" panose="020B0604020202020204" pitchFamily="34" charset="0"/>
                <a:cs typeface="+mn-ea"/>
                <a:sym typeface="+mn-ea"/>
              </a:rPr>
              <a:t>.</a:t>
            </a:r>
            <a:r>
              <a:rPr dirty="0">
                <a:ea typeface="Arial" panose="020B0604020202020204" pitchFamily="34" charset="0"/>
                <a:cs typeface="+mn-ea"/>
                <a:sym typeface="+mn-ea"/>
              </a:rPr>
              <a:t>,</a:t>
            </a:r>
            <a:r>
              <a:rPr spc="-20" dirty="0">
                <a:ea typeface="Arial" panose="020B0604020202020204" pitchFamily="34" charset="0"/>
                <a:cs typeface="+mn-ea"/>
                <a:sym typeface="+mn-ea"/>
              </a:rPr>
              <a:t> </a:t>
            </a:r>
            <a:r>
              <a:rPr lang="en-US" spc="-20" dirty="0">
                <a:ea typeface="Arial" panose="020B0604020202020204" pitchFamily="34" charset="0"/>
                <a:cs typeface="+mn-ea"/>
                <a:sym typeface="+mn-ea"/>
              </a:rPr>
              <a:t>ACL </a:t>
            </a:r>
            <a:r>
              <a:rPr dirty="0">
                <a:ea typeface="Arial" panose="020B0604020202020204" pitchFamily="34" charset="0"/>
                <a:cs typeface="+mn-ea"/>
                <a:sym typeface="+mn-ea"/>
              </a:rPr>
              <a:t>2014</a:t>
            </a:r>
            <a:r>
              <a:rPr spc="-10" dirty="0">
                <a:ea typeface="Arial" panose="020B0604020202020204" pitchFamily="34" charset="0"/>
                <a:cs typeface="+mn-ea"/>
                <a:sym typeface="+mn-ea"/>
              </a:rPr>
              <a:t>)</a:t>
            </a:r>
            <a:endParaRPr lang="zh-CN" spc="-10" dirty="0">
              <a:latin typeface="黑体" panose="02010609060101010101" charset="-122"/>
              <a:ea typeface="Arial" panose="020B0604020202020204" pitchFamily="34" charset="0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4810" y="971550"/>
            <a:ext cx="3736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图像描述</a:t>
            </a:r>
            <a:r>
              <a:rPr lang="zh-CN" altLang="en-US"/>
              <a:t>词语义表示</a:t>
            </a:r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BERT</a:t>
            </a:r>
            <a:r>
              <a:rPr lang="en-US" dirty="0"/>
              <a:t> (</a:t>
            </a:r>
            <a:r>
              <a:rPr lang="en-US" altLang="zh-CN" dirty="0"/>
              <a:t>Jacob Devlin, et al., ACL 2019)</a:t>
            </a:r>
            <a:endParaRPr lang="en-US" altLang="zh-CN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28605" y="1047638"/>
            <a:ext cx="5396050" cy="37390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85" y="419100"/>
            <a:ext cx="828738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/>
              <a:t>Visual</a:t>
            </a:r>
            <a:r>
              <a:rPr spc="-75" dirty="0"/>
              <a:t> </a:t>
            </a:r>
            <a:r>
              <a:rPr spc="-25" dirty="0"/>
              <a:t>BERTs:</a:t>
            </a:r>
            <a:r>
              <a:rPr spc="-75" dirty="0"/>
              <a:t> </a:t>
            </a:r>
            <a:r>
              <a:rPr spc="-10" dirty="0"/>
              <a:t>VisualBERT</a:t>
            </a:r>
            <a:r>
              <a:rPr lang="en-US" spc="-10" dirty="0"/>
              <a:t> (</a:t>
            </a:r>
            <a:r>
              <a:rPr lang="en-US" altLang="zh-CN" spc="-10" dirty="0"/>
              <a:t>Liunian Harold Li, et al., 2019</a:t>
            </a:r>
            <a:r>
              <a:rPr lang="en-US" spc="-10" dirty="0"/>
              <a:t>)</a:t>
            </a:r>
            <a:endParaRPr lang="en-US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9554" y="1244088"/>
            <a:ext cx="7556276" cy="26904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9439" y="3995645"/>
            <a:ext cx="14643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 panose="020B0604020202020204" pitchFamily="34" charset="0"/>
                <a:cs typeface="Arial" panose="020B0604020202020204" pitchFamily="34" charset="0"/>
              </a:rPr>
              <a:t>VisualBERT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sz="1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et al.</a:t>
            </a:r>
            <a:r>
              <a:rPr sz="1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/>
              <a:t>Visual</a:t>
            </a:r>
            <a:r>
              <a:rPr spc="-75" dirty="0"/>
              <a:t> </a:t>
            </a:r>
            <a:r>
              <a:rPr spc="-25" dirty="0"/>
              <a:t>BERTs:</a:t>
            </a:r>
            <a:r>
              <a:rPr spc="-75" dirty="0"/>
              <a:t> </a:t>
            </a:r>
            <a:r>
              <a:rPr spc="-10" dirty="0"/>
              <a:t>ViLBERT</a:t>
            </a:r>
            <a:r>
              <a:rPr lang="en-US" spc="-10" dirty="0"/>
              <a:t> (</a:t>
            </a:r>
            <a:r>
              <a:rPr lang="en-US" altLang="zh-CN" spc="-10" dirty="0"/>
              <a:t>Jiasen Lu, et al., NIPS 2019)</a:t>
            </a:r>
            <a:endParaRPr lang="en-US" altLang="zh-CN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801566"/>
            <a:ext cx="9144000" cy="17775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99369" y="4746445"/>
            <a:ext cx="13449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 panose="020B0604020202020204" pitchFamily="34" charset="0"/>
                <a:cs typeface="Arial" panose="020B0604020202020204" pitchFamily="34" charset="0"/>
              </a:rPr>
              <a:t>ViLBERT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Lu</a:t>
            </a:r>
            <a:r>
              <a:rPr sz="1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et</a:t>
            </a:r>
            <a:r>
              <a:rPr sz="1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al.</a:t>
            </a:r>
            <a:r>
              <a:rPr sz="1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08" y="998073"/>
            <a:ext cx="8991882" cy="169020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810" y="505460"/>
            <a:ext cx="804926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Visual</a:t>
            </a:r>
            <a:r>
              <a:rPr spc="-75" dirty="0"/>
              <a:t> </a:t>
            </a:r>
            <a:r>
              <a:rPr spc="-25" dirty="0"/>
              <a:t>BERTs:</a:t>
            </a:r>
            <a:r>
              <a:rPr spc="-75" dirty="0"/>
              <a:t> </a:t>
            </a:r>
            <a:r>
              <a:rPr spc="-10" dirty="0"/>
              <a:t>LXMERT</a:t>
            </a:r>
            <a:r>
              <a:rPr lang="en-US" spc="-10" dirty="0"/>
              <a:t> (</a:t>
            </a:r>
            <a:r>
              <a:rPr lang="en-US" altLang="zh-CN" spc="-10" dirty="0"/>
              <a:t>Hao Tan, et al., EMNLP 2019)</a:t>
            </a:r>
            <a:endParaRPr lang="en-US" altLang="zh-CN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1688426"/>
            <a:ext cx="9113212" cy="277090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54755" y="4558070"/>
            <a:ext cx="163448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 panose="020B0604020202020204" pitchFamily="34" charset="0"/>
                <a:cs typeface="Arial" panose="020B0604020202020204" pitchFamily="34" charset="0"/>
              </a:rPr>
              <a:t>LXMERT</a:t>
            </a:r>
            <a:r>
              <a:rPr sz="1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35" dirty="0">
                <a:latin typeface="Arial" panose="020B0604020202020204" pitchFamily="34" charset="0"/>
                <a:cs typeface="Arial" panose="020B0604020202020204" pitchFamily="34" charset="0"/>
              </a:rPr>
              <a:t>Tan</a:t>
            </a:r>
            <a:r>
              <a:rPr sz="10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sz="1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Bansal</a:t>
            </a:r>
            <a:r>
              <a:rPr sz="10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216355"/>
            <a:ext cx="707580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>
                <a:latin typeface="Arial" panose="020B0604020202020204" pitchFamily="34" charset="0"/>
                <a:cs typeface="Arial" panose="020B0604020202020204" pitchFamily="34" charset="0"/>
              </a:rPr>
              <a:t>基于 </a:t>
            </a:r>
            <a:r>
              <a:rPr lang="en-US" altLang="zh-CN" sz="1800">
                <a:latin typeface="Arial" panose="020B0604020202020204" pitchFamily="34" charset="0"/>
                <a:cs typeface="Arial" panose="020B0604020202020204" pitchFamily="34" charset="0"/>
              </a:rPr>
              <a:t>Transformer </a:t>
            </a:r>
            <a:r>
              <a:rPr lang="zh-CN" altLang="en-US" sz="1800">
                <a:latin typeface="Arial" panose="020B0604020202020204" pitchFamily="34" charset="0"/>
                <a:cs typeface="Arial" panose="020B0604020202020204" pitchFamily="34" charset="0"/>
              </a:rPr>
              <a:t>学习跨模态编码器表示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86995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>
                <a:sym typeface="+mn-ea"/>
              </a:rPr>
              <a:t>Visual</a:t>
            </a:r>
            <a:r>
              <a:rPr spc="-75" dirty="0">
                <a:sym typeface="+mn-ea"/>
              </a:rPr>
              <a:t> </a:t>
            </a:r>
            <a:r>
              <a:rPr spc="-25" dirty="0">
                <a:sym typeface="+mn-ea"/>
              </a:rPr>
              <a:t>BERTs:</a:t>
            </a:r>
            <a:r>
              <a:rPr spc="-75" dirty="0">
                <a:sym typeface="+mn-ea"/>
              </a:rPr>
              <a:t> </a:t>
            </a:r>
            <a:r>
              <a:rPr spc="-10" dirty="0"/>
              <a:t>UNITER</a:t>
            </a:r>
            <a:r>
              <a:rPr lang="en-US" spc="-10" dirty="0"/>
              <a:t> (</a:t>
            </a:r>
            <a:r>
              <a:rPr lang="en-US" altLang="zh-CN" spc="-10" dirty="0"/>
              <a:t>Yen-Chun Chen, et al., ECCV 2020)</a:t>
            </a:r>
            <a:endParaRPr lang="en-US" altLang="zh-CN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8443" y="1399735"/>
            <a:ext cx="7310427" cy="29498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/>
              <a:t>Visual</a:t>
            </a:r>
            <a:r>
              <a:rPr spc="-75" dirty="0"/>
              <a:t> </a:t>
            </a:r>
            <a:r>
              <a:rPr spc="-25" dirty="0"/>
              <a:t>BERTs:</a:t>
            </a:r>
            <a:r>
              <a:rPr spc="-75" dirty="0"/>
              <a:t> </a:t>
            </a:r>
            <a:r>
              <a:rPr spc="-10" dirty="0"/>
              <a:t>PixelBert</a:t>
            </a:r>
            <a:r>
              <a:rPr lang="en-US" spc="-10" dirty="0"/>
              <a:t> (</a:t>
            </a:r>
            <a:r>
              <a:rPr lang="en-US" altLang="zh-CN" spc="-10" dirty="0"/>
              <a:t>Zhicheng Huang, et al., 2020)</a:t>
            </a:r>
            <a:endParaRPr lang="en-US" altLang="zh-CN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37720" y="1153812"/>
            <a:ext cx="7169891" cy="36260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02532" y="4771569"/>
            <a:ext cx="15697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PixelBert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Huang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et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al.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 2020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833" y="4888944"/>
            <a:ext cx="24307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Misnomer:</a:t>
            </a:r>
            <a:r>
              <a:rPr sz="10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they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mean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segment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10" dirty="0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0887" y="4663020"/>
            <a:ext cx="67587" cy="25689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86995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/>
              <a:t>Visual</a:t>
            </a:r>
            <a:r>
              <a:rPr spc="-60" dirty="0"/>
              <a:t> </a:t>
            </a:r>
            <a:r>
              <a:rPr spc="-25" dirty="0"/>
              <a:t>BERTs:</a:t>
            </a:r>
            <a:r>
              <a:rPr spc="-60" dirty="0"/>
              <a:t> </a:t>
            </a:r>
            <a:r>
              <a:rPr dirty="0"/>
              <a:t>Supervised</a:t>
            </a:r>
            <a:r>
              <a:rPr spc="-60" dirty="0"/>
              <a:t> </a:t>
            </a:r>
            <a:r>
              <a:rPr dirty="0"/>
              <a:t>Multimodal</a:t>
            </a:r>
            <a:r>
              <a:rPr spc="-60" dirty="0"/>
              <a:t> </a:t>
            </a:r>
            <a:r>
              <a:rPr spc="-10" dirty="0"/>
              <a:t>Bitransformers</a:t>
            </a:r>
            <a:r>
              <a:rPr lang="en-US" spc="-10" dirty="0"/>
              <a:t> </a:t>
            </a:r>
            <a:br>
              <a:rPr lang="en-US" spc="-10" dirty="0"/>
            </a:br>
            <a:r>
              <a:rPr lang="en-US" spc="-10" dirty="0"/>
              <a:t>(</a:t>
            </a:r>
            <a:r>
              <a:rPr lang="en-US" altLang="zh-CN" spc="-10" dirty="0"/>
              <a:t>Douwe Kiela, et al., 2020)</a:t>
            </a:r>
            <a:endParaRPr lang="en-US" altLang="zh-CN"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59253" y="1261475"/>
            <a:ext cx="6831630" cy="3486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32676" y="4776445"/>
            <a:ext cx="13417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MMBT</a:t>
            </a:r>
            <a:r>
              <a:rPr sz="1000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Kiela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et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dirty="0">
                <a:latin typeface="Arial" panose="020B0604020202020204" pitchFamily="34" charset="0"/>
                <a:cs typeface="Arial" panose="020B0604020202020204" pitchFamily="34" charset="0"/>
              </a:rPr>
              <a:t>al.</a:t>
            </a:r>
            <a:r>
              <a:rPr sz="100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000" spc="-20" dirty="0">
                <a:latin typeface="Arial" panose="020B0604020202020204" pitchFamily="34" charset="0"/>
                <a:cs typeface="Arial" panose="020B0604020202020204" pitchFamily="34" charset="0"/>
              </a:rPr>
              <a:t>2019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CLIP</a:t>
            </a:r>
            <a:r>
              <a:rPr spc="-65" dirty="0"/>
              <a:t> </a:t>
            </a:r>
            <a:r>
              <a:rPr dirty="0"/>
              <a:t>(Radford</a:t>
            </a:r>
            <a:r>
              <a:rPr spc="-15" dirty="0"/>
              <a:t> </a:t>
            </a:r>
            <a:r>
              <a:rPr dirty="0"/>
              <a:t>et</a:t>
            </a:r>
            <a:r>
              <a:rPr spc="-15" dirty="0"/>
              <a:t> </a:t>
            </a:r>
            <a:r>
              <a:rPr dirty="0"/>
              <a:t>al.</a:t>
            </a:r>
            <a:r>
              <a:rPr spc="-15" dirty="0"/>
              <a:t> </a:t>
            </a:r>
            <a:r>
              <a:rPr lang="en-US" spc="-15" dirty="0"/>
              <a:t>ICML </a:t>
            </a:r>
            <a:r>
              <a:rPr spc="-10" dirty="0"/>
              <a:t>2021)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4800" y="1809750"/>
            <a:ext cx="8585835" cy="303149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ALIGN</a:t>
            </a:r>
            <a:r>
              <a:rPr spc="-25" dirty="0"/>
              <a:t> </a:t>
            </a:r>
            <a:r>
              <a:rPr dirty="0"/>
              <a:t>(Jia</a:t>
            </a:r>
            <a:r>
              <a:rPr spc="-15" dirty="0"/>
              <a:t> </a:t>
            </a:r>
            <a:r>
              <a:rPr dirty="0"/>
              <a:t>et</a:t>
            </a:r>
            <a:r>
              <a:rPr spc="-15" dirty="0"/>
              <a:t> </a:t>
            </a:r>
            <a:r>
              <a:rPr dirty="0"/>
              <a:t>al.,</a:t>
            </a:r>
            <a:r>
              <a:rPr spc="-10" dirty="0"/>
              <a:t> </a:t>
            </a:r>
            <a:r>
              <a:rPr lang="en-US" spc="-10" dirty="0"/>
              <a:t>ICML </a:t>
            </a:r>
            <a:r>
              <a:rPr spc="-10" dirty="0"/>
              <a:t>2021)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8303259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相同的思路</a:t>
            </a:r>
            <a:r>
              <a:rPr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数据规模更大</a:t>
            </a:r>
            <a:r>
              <a:rPr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(JFT</a:t>
            </a:r>
            <a:r>
              <a:rPr sz="1800" spc="-5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</a:t>
            </a:r>
            <a:r>
              <a:rPr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1.8B</a:t>
            </a:r>
            <a:r>
              <a:rPr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图像</a:t>
            </a:r>
            <a:r>
              <a:rPr lang="en-US" altLang="zh-CN"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文本对</a:t>
            </a:r>
            <a:r>
              <a:rPr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CLIP’s</a:t>
            </a:r>
            <a:r>
              <a:rPr sz="18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00</a:t>
            </a:r>
            <a:r>
              <a:rPr lang="en-US" altLang="en-US"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1800" spc="-1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sz="1800" spc="-1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2007" y="1686198"/>
            <a:ext cx="8867330" cy="257402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LLaVA (Haotian Liu, et al., 2023)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4950"/>
            <a:ext cx="7734300" cy="30556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MRAG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核心技术组件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-2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：多模态检索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1000" y="904875"/>
            <a:ext cx="8307070" cy="6794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系统基石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：检索器、重排序器与精炼器—— 三者构成“召回-排序-提纯”的完整闭环。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rcRect t="526" b="526"/>
          <a:stretch>
            <a:fillRect/>
          </a:stretch>
        </p:blipFill>
        <p:spPr>
          <a:xfrm>
            <a:off x="3352800" y="1733550"/>
            <a:ext cx="5254625" cy="282448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6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3400425" y="452501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图：多模态检索器架构对比（经典双塔 vs 生成式范式）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175895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685800" y="173355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经典范式：单流与双流架构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304800" y="2139950"/>
            <a:ext cx="256476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单流：</a:t>
            </a: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图像与文本融合后统一编码；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b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双流：</a:t>
            </a: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图文独立编码后映射至统一语义空间。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800" y="343535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685800" y="340995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前沿演进：生成式检索架构</a:t>
            </a:r>
            <a:endParaRPr lang="en-US" sz="16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1"/>
            </p:custDataLst>
          </p:nvPr>
        </p:nvSpPr>
        <p:spPr>
          <a:xfrm>
            <a:off x="304800" y="3597275"/>
            <a:ext cx="298577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利用LLM/MLLM的生成能力直接预测或生成目标内容ID</a:t>
            </a:r>
            <a:endParaRPr lang="en-US" sz="1300" b="0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LAPS(Zheren Fu, et al., CVPR 2024)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0833"/>
          <a:stretch>
            <a:fillRect/>
          </a:stretch>
        </p:blipFill>
        <p:spPr>
          <a:xfrm>
            <a:off x="304800" y="1733550"/>
            <a:ext cx="8695690" cy="197421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USER(Yan Zhang, et al., TIP 2021)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1047750"/>
            <a:ext cx="6965950" cy="39084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GeMKR (Xinwei Long, et al., AAAI 2024)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165" y="1275715"/>
            <a:ext cx="3908425" cy="36106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" y="1664335"/>
            <a:ext cx="4368165" cy="283337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ZipRerank (Sun, et al., ICML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 2026)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123950"/>
            <a:ext cx="7052310" cy="358838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PromptMM (Wei Wei, et al., WWW 2024)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428750"/>
            <a:ext cx="8569960" cy="271907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AutoShape 6"/>
          <p:cNvSpPr/>
          <p:nvPr>
            <p:custDataLst>
              <p:tags r:id="rId1"/>
            </p:custDataLst>
          </p:nvPr>
        </p:nvSpPr>
        <p:spPr>
          <a:xfrm>
            <a:off x="5906770" y="2058670"/>
            <a:ext cx="2681605" cy="22586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0" name="AutoShape 6"/>
          <p:cNvSpPr/>
          <p:nvPr>
            <p:custDataLst>
              <p:tags r:id="rId2"/>
            </p:custDataLst>
          </p:nvPr>
        </p:nvSpPr>
        <p:spPr>
          <a:xfrm>
            <a:off x="3190240" y="2059305"/>
            <a:ext cx="2731135" cy="22586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9" name="AutoShape 6"/>
          <p:cNvSpPr/>
          <p:nvPr>
            <p:custDataLst>
              <p:tags r:id="rId3"/>
            </p:custDataLst>
          </p:nvPr>
        </p:nvSpPr>
        <p:spPr>
          <a:xfrm>
            <a:off x="420370" y="2058670"/>
            <a:ext cx="2617470" cy="22586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5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MRAG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核心技术组件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-3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：多模态生成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6" name="AutoShape 4"/>
          <p:cNvSpPr/>
          <p:nvPr/>
        </p:nvSpPr>
        <p:spPr>
          <a:xfrm>
            <a:off x="381000" y="1004570"/>
            <a:ext cx="8307070" cy="954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核心目标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：打破单一文本交互的局限，生成整合图像、图表、视频等多种模态特征的丰富答案，实现“图文互证、视听一体”的智能输出，提升信息传达的效率与深度。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805" y="220345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954405" y="2190750"/>
            <a:ext cx="14966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位置识别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569595" y="2635250"/>
            <a:ext cx="238125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智能解析文本</a:t>
            </a:r>
            <a:r>
              <a: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语义</a:t>
            </a:r>
            <a:r>
              <a:rPr 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脉络</a:t>
            </a:r>
            <a:endParaRPr 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精准匹配图文嵌入节点</a:t>
            </a:r>
            <a:endParaRPr lang="zh-CN" alt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91205" y="219075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2"/>
            </p:custDataLst>
          </p:nvPr>
        </p:nvSpPr>
        <p:spPr>
          <a:xfrm>
            <a:off x="3773805" y="2178050"/>
            <a:ext cx="164846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候选集检索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3383280" y="2635250"/>
            <a:ext cx="240411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语义理解与关键词提取</a:t>
            </a:r>
            <a:endParaRPr lang="zh-CN" alt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跨源检索与候选池构建</a:t>
            </a:r>
            <a:endParaRPr lang="zh-CN" alt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06465" y="217805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17"/>
            </p:custDataLst>
          </p:nvPr>
        </p:nvSpPr>
        <p:spPr>
          <a:xfrm>
            <a:off x="6489065" y="2165350"/>
            <a:ext cx="18141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匹配与插入</a:t>
            </a:r>
            <a:endParaRPr lang="en-US" sz="18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>
            <p:custDataLst>
              <p:tags r:id="rId18"/>
            </p:custDataLst>
          </p:nvPr>
        </p:nvSpPr>
        <p:spPr>
          <a:xfrm>
            <a:off x="6132830" y="2635250"/>
            <a:ext cx="241998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智能优选与精准插入</a:t>
            </a:r>
            <a:endParaRPr lang="zh-CN" alt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样式优化与成品输出</a:t>
            </a:r>
            <a:endParaRPr lang="zh-CN" altLang="en-US" sz="13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/>
          <p:cNvSpPr/>
          <p:nvPr/>
        </p:nvSpPr>
        <p:spPr>
          <a:xfrm>
            <a:off x="69215" y="2084705"/>
            <a:ext cx="1588135" cy="2179955"/>
          </a:xfrm>
          <a:prstGeom prst="round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+mn-ea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1169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spc="-10" dirty="0">
                <a:ea typeface="黑体" panose="02010609060101010101" charset="-122"/>
              </a:rPr>
              <a:t>Show and tell (Vinyals et al., 2015); </a:t>
            </a:r>
            <a:br>
              <a:rPr lang="en-US" altLang="zh-CN" spc="-10" dirty="0">
                <a:ea typeface="黑体" panose="02010609060101010101" charset="-122"/>
              </a:rPr>
            </a:br>
            <a:r>
              <a:rPr lang="en-US" altLang="zh-CN" spc="-10" dirty="0">
                <a:ea typeface="黑体" panose="02010609060101010101" charset="-122"/>
              </a:rPr>
              <a:t>Show, attend and tell (Xu et al., PMLR 2016)</a:t>
            </a:r>
            <a:br>
              <a:rPr lang="en-US" altLang="zh-CN" spc="-10" dirty="0">
                <a:ea typeface="黑体" panose="02010609060101010101" charset="-122"/>
              </a:rPr>
            </a:br>
            <a:endParaRPr lang="en-US" altLang="zh-CN" spc="-10" dirty="0">
              <a:ea typeface="黑体" panose="02010609060101010101" charset="-122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2237105"/>
            <a:ext cx="1423670" cy="19075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962150"/>
            <a:ext cx="3004185" cy="24250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2810" y="2361283"/>
            <a:ext cx="3823759" cy="16561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05039" y="4552760"/>
            <a:ext cx="1095375" cy="166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Show</a:t>
            </a:r>
            <a:r>
              <a:rPr sz="10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and</a:t>
            </a:r>
            <a:r>
              <a:rPr sz="1000" spc="-2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tell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24600" y="4554220"/>
            <a:ext cx="1322705" cy="1651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Show,</a:t>
            </a:r>
            <a:r>
              <a:rPr sz="1000" spc="-4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attend</a:t>
            </a:r>
            <a:r>
              <a:rPr sz="1000" spc="-35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and</a:t>
            </a:r>
            <a:r>
              <a:rPr sz="1000" spc="-3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tell</a:t>
            </a:r>
            <a:endParaRPr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800600" y="1657350"/>
            <a:ext cx="0" cy="2895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曲线连接符 10"/>
          <p:cNvCxnSpPr>
            <a:endCxn id="12" idx="0"/>
          </p:cNvCxnSpPr>
          <p:nvPr/>
        </p:nvCxnSpPr>
        <p:spPr>
          <a:xfrm rot="10800000">
            <a:off x="863600" y="2084070"/>
            <a:ext cx="1579880" cy="592455"/>
          </a:xfrm>
          <a:prstGeom prst="curvedConnector4">
            <a:avLst>
              <a:gd name="adj1" fmla="val -401"/>
              <a:gd name="adj2" fmla="val 140193"/>
            </a:avLst>
          </a:prstGeom>
          <a:ln w="63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dirty="0"/>
              <a:t>FiLM</a:t>
            </a:r>
            <a:r>
              <a:rPr spc="-5" dirty="0"/>
              <a:t> </a:t>
            </a:r>
            <a:r>
              <a:rPr dirty="0"/>
              <a:t>(Perez</a:t>
            </a:r>
            <a:r>
              <a:rPr spc="-5" dirty="0"/>
              <a:t> </a:t>
            </a:r>
            <a:r>
              <a:rPr dirty="0"/>
              <a:t>et</a:t>
            </a:r>
            <a:r>
              <a:rPr spc="-5" dirty="0"/>
              <a:t> </a:t>
            </a:r>
            <a:r>
              <a:rPr dirty="0"/>
              <a:t>al.,</a:t>
            </a:r>
            <a:r>
              <a:rPr spc="-5" dirty="0"/>
              <a:t> </a:t>
            </a:r>
            <a:r>
              <a:rPr lang="en-US" spc="-5" dirty="0"/>
              <a:t>AAAI </a:t>
            </a:r>
            <a:r>
              <a:rPr spc="-10" dirty="0"/>
              <a:t>201</a:t>
            </a:r>
            <a:r>
              <a:rPr lang="en-US" spc="-10" dirty="0"/>
              <a:t>8</a:t>
            </a:r>
            <a:r>
              <a:rPr spc="-10" dirty="0"/>
              <a:t>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46625" y="1217626"/>
            <a:ext cx="4161790" cy="66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lang="zh-CN" altLang="en-US" sz="1550" spc="-16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</a:rPr>
              <a:t>以一个模态按层对另一个模态做条件调制。</a:t>
            </a:r>
            <a:endParaRPr lang="zh-CN" altLang="en-US" sz="1550" spc="-16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spcBef>
                <a:spcPts val="100"/>
              </a:spcBef>
            </a:pPr>
            <a:endParaRPr lang="zh-CN" altLang="en-US" sz="1550" spc="-16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0800">
              <a:lnSpc>
                <a:spcPct val="100000"/>
              </a:lnSpc>
              <a:spcBef>
                <a:spcPts val="100"/>
              </a:spcBef>
            </a:pPr>
            <a:endParaRPr sz="1000" spc="-8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676277" y="1657563"/>
            <a:ext cx="1651997" cy="28910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0880" y="1048059"/>
            <a:ext cx="3811306" cy="377046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SimVLM</a:t>
            </a:r>
            <a:r>
              <a:rPr spc="-25" dirty="0"/>
              <a:t> </a:t>
            </a:r>
            <a:r>
              <a:rPr dirty="0"/>
              <a:t>(Wang</a:t>
            </a:r>
            <a:r>
              <a:rPr spc="-25" dirty="0"/>
              <a:t> </a:t>
            </a:r>
            <a:r>
              <a:rPr dirty="0"/>
              <a:t>et</a:t>
            </a:r>
            <a:r>
              <a:rPr spc="-20" dirty="0"/>
              <a:t> </a:t>
            </a:r>
            <a:r>
              <a:rPr dirty="0"/>
              <a:t>al.,</a:t>
            </a:r>
            <a:r>
              <a:rPr spc="-25" dirty="0"/>
              <a:t> </a:t>
            </a:r>
            <a:r>
              <a:rPr lang="en-US" spc="-25" dirty="0"/>
              <a:t>ICLR </a:t>
            </a:r>
            <a:r>
              <a:rPr spc="-10" dirty="0"/>
              <a:t>2022)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4725" y="1047445"/>
            <a:ext cx="6068695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>
                <a:latin typeface="Arial" panose="020B0604020202020204" pitchFamily="34" charset="0"/>
                <a:cs typeface="Arial" panose="020B0604020202020204" pitchFamily="34" charset="0"/>
              </a:rPr>
              <a:t>逐步从对比 / 判别式范式转向生成式范式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19139" y="1505218"/>
            <a:ext cx="6622476" cy="336801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CoCa</a:t>
            </a:r>
            <a:r>
              <a:rPr spc="-25" dirty="0"/>
              <a:t> </a:t>
            </a:r>
            <a:r>
              <a:rPr dirty="0"/>
              <a:t>Contrastive</a:t>
            </a:r>
            <a:r>
              <a:rPr spc="-25" dirty="0"/>
              <a:t> </a:t>
            </a:r>
            <a:r>
              <a:rPr dirty="0"/>
              <a:t>Captioner</a:t>
            </a:r>
            <a:r>
              <a:rPr spc="-25" dirty="0"/>
              <a:t> </a:t>
            </a:r>
            <a:r>
              <a:rPr dirty="0"/>
              <a:t>(Yu</a:t>
            </a:r>
            <a:r>
              <a:rPr spc="-20" dirty="0"/>
              <a:t> </a:t>
            </a:r>
            <a:r>
              <a:rPr dirty="0"/>
              <a:t>et</a:t>
            </a:r>
            <a:r>
              <a:rPr spc="-25" dirty="0"/>
              <a:t> </a:t>
            </a:r>
            <a:r>
              <a:rPr dirty="0"/>
              <a:t>al.,</a:t>
            </a:r>
            <a:r>
              <a:rPr spc="-25" dirty="0"/>
              <a:t> </a:t>
            </a:r>
            <a:r>
              <a:rPr spc="-10" dirty="0"/>
              <a:t>2022)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0259" y="1672765"/>
            <a:ext cx="8555372" cy="29274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4725" y="1216355"/>
            <a:ext cx="492633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1800">
                <a:latin typeface="Arial" panose="020B0604020202020204" pitchFamily="34" charset="0"/>
                <a:cs typeface="Arial" panose="020B0604020202020204" pitchFamily="34" charset="0"/>
              </a:rPr>
              <a:t>兼顾对比式与生成式两者的优势。</a:t>
            </a:r>
            <a:endParaRPr lang="zh-CN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BLIP/BLIP2</a:t>
            </a:r>
            <a:r>
              <a:rPr spc="-20" dirty="0"/>
              <a:t> </a:t>
            </a:r>
            <a:r>
              <a:rPr dirty="0"/>
              <a:t>(Li</a:t>
            </a:r>
            <a:r>
              <a:rPr spc="-20" dirty="0"/>
              <a:t> </a:t>
            </a:r>
            <a:r>
              <a:rPr dirty="0"/>
              <a:t>et</a:t>
            </a:r>
            <a:r>
              <a:rPr spc="-20" dirty="0"/>
              <a:t> </a:t>
            </a:r>
            <a:r>
              <a:rPr dirty="0"/>
              <a:t>al.,</a:t>
            </a:r>
            <a:r>
              <a:rPr spc="-15" dirty="0"/>
              <a:t> </a:t>
            </a:r>
            <a:r>
              <a:rPr lang="en-US" spc="-15" dirty="0"/>
              <a:t>ICML </a:t>
            </a:r>
            <a:r>
              <a:rPr spc="-10" dirty="0"/>
              <a:t>2023)</a:t>
            </a:r>
            <a:endParaRPr spc="-1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15778"/>
          <a:stretch>
            <a:fillRect/>
          </a:stretch>
        </p:blipFill>
        <p:spPr>
          <a:xfrm>
            <a:off x="685800" y="1428750"/>
            <a:ext cx="7701280" cy="300799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/>
              <a:t>BLIP/BLIP2</a:t>
            </a:r>
            <a:r>
              <a:rPr spc="-20" dirty="0"/>
              <a:t> </a:t>
            </a:r>
            <a:r>
              <a:rPr dirty="0"/>
              <a:t>(Li</a:t>
            </a:r>
            <a:r>
              <a:rPr spc="-20" dirty="0"/>
              <a:t> </a:t>
            </a:r>
            <a:r>
              <a:rPr dirty="0"/>
              <a:t>et</a:t>
            </a:r>
            <a:r>
              <a:rPr spc="-20" dirty="0"/>
              <a:t> </a:t>
            </a:r>
            <a:r>
              <a:rPr dirty="0"/>
              <a:t>al.,</a:t>
            </a:r>
            <a:r>
              <a:rPr spc="-15" dirty="0"/>
              <a:t> </a:t>
            </a:r>
            <a:r>
              <a:rPr lang="en-US" spc="-15" dirty="0"/>
              <a:t>ICML </a:t>
            </a:r>
            <a:r>
              <a:rPr spc="-10" dirty="0"/>
              <a:t>2023)</a:t>
            </a:r>
            <a:endParaRPr spc="-1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1123950"/>
            <a:ext cx="8750300" cy="360489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Qwen-VL(Jinze Bai, et al., 2023)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504950"/>
            <a:ext cx="76123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Stable Diffusion (Ling Yang, et al., 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CVPR 2022)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047750"/>
            <a:ext cx="7475220" cy="36957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RPG (Ling Yang, et al., ICML 2024)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810" y="1047750"/>
            <a:ext cx="8075295" cy="362966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9000" y="419117"/>
            <a:ext cx="7972425" cy="485140"/>
          </a:xfrm>
          <a:prstGeom prst="rect">
            <a:avLst/>
          </a:prstGeom>
        </p:spPr>
        <p:txBody>
          <a:bodyPr vert="horz" wrap="square" lIns="0" tIns="101371" rIns="0" bIns="0" rtlCol="0">
            <a:spAutoFit/>
          </a:bodyPr>
          <a:lstStyle/>
          <a:p>
            <a:pPr marL="98425">
              <a:lnSpc>
                <a:spcPct val="100000"/>
              </a:lnSpc>
              <a:spcBef>
                <a:spcPts val="120"/>
              </a:spcBef>
            </a:pPr>
            <a:r>
              <a:rPr lang="zh-CN" spc="-10" dirty="0">
                <a:latin typeface="黑体" panose="02010609060101010101" charset="-122"/>
                <a:ea typeface="黑体" panose="02010609060101010101" charset="-122"/>
              </a:rPr>
              <a:t>大纲</a:t>
            </a:r>
            <a:endParaRPr lang="zh-CN" spc="-1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6966" y="1047573"/>
            <a:ext cx="3810000" cy="36385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背景介绍</a:t>
            </a:r>
            <a:endParaRPr lang="zh-CN" altLang="en-US" sz="1800" spc="-10" dirty="0">
              <a:solidFill>
                <a:schemeClr val="tx1"/>
              </a:solidFill>
              <a:sym typeface="+mn-ea"/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经典</a:t>
            </a:r>
            <a:r>
              <a:rPr lang="en-US" altLang="zh-CN" sz="1800" spc="-10" dirty="0">
                <a:solidFill>
                  <a:schemeClr val="tx1"/>
                </a:solidFill>
                <a:sym typeface="+mn-ea"/>
              </a:rPr>
              <a:t>RAG</a:t>
            </a:r>
            <a:r>
              <a:rPr lang="zh-CN" altLang="en-US" sz="1800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en-US" altLang="zh-CN" spc="-10" dirty="0">
                <a:solidFill>
                  <a:schemeClr val="tx1"/>
                </a:solidFill>
                <a:sym typeface="+mn-ea"/>
              </a:rPr>
              <a:t>GraphRAG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</a:rPr>
              <a:t>多模态</a:t>
            </a:r>
            <a:r>
              <a:rPr lang="en-US" altLang="zh-CN" spc="-10" dirty="0">
                <a:solidFill>
                  <a:schemeClr val="tx1"/>
                </a:solidFill>
              </a:rPr>
              <a:t>RAG</a:t>
            </a: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算法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核心思想</a:t>
            </a:r>
            <a:endParaRPr lang="zh-CN" altLang="en-US" spc="-10" dirty="0">
              <a:solidFill>
                <a:schemeClr val="tx1"/>
              </a:solidFill>
              <a:sym typeface="+mn-ea"/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发展路径</a:t>
            </a:r>
            <a:endParaRPr lang="zh-CN" altLang="en-US" spc="-10" dirty="0">
              <a:solidFill>
                <a:schemeClr val="tx1"/>
              </a:solidFill>
            </a:endParaRPr>
          </a:p>
          <a:p>
            <a:pPr marL="1270000" lvl="2" indent="-34290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  <a:tabLst>
                <a:tab pos="431800" algn="l"/>
              </a:tabLst>
            </a:pPr>
            <a:r>
              <a:rPr lang="zh-CN" altLang="en-US" spc="-10" dirty="0">
                <a:solidFill>
                  <a:schemeClr val="tx1"/>
                </a:solidFill>
                <a:sym typeface="+mn-ea"/>
              </a:rPr>
              <a:t>技术架构</a:t>
            </a:r>
            <a:endParaRPr lang="en-US" altLang="zh-CN" spc="-10" dirty="0">
              <a:solidFill>
                <a:schemeClr val="tx1"/>
              </a:solidFill>
            </a:endParaRPr>
          </a:p>
          <a:p>
            <a:pPr marL="812800" lvl="1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lang="zh-CN" altLang="en-US" b="1" spc="-10" dirty="0">
                <a:solidFill>
                  <a:schemeClr val="tx1"/>
                </a:solidFill>
              </a:rPr>
              <a:t>子课题实践任务</a:t>
            </a:r>
            <a:endParaRPr lang="zh-CN" altLang="en-US" b="1" spc="-1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子课题实践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任务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AutoShape 4"/>
          <p:cNvSpPr/>
          <p:nvPr/>
        </p:nvSpPr>
        <p:spPr>
          <a:xfrm>
            <a:off x="381000" y="1004570"/>
            <a:ext cx="8307070" cy="954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核心目标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：通过复现高质量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论文算法并集成至规划决策系统，探究</a:t>
            </a:r>
            <a:r>
              <a:rPr lang="en-US" altLang="zh-CN" sz="1800" b="0" i="0" u="none" strike="noStrike" spc="-10" dirty="0">
                <a:solidFill>
                  <a:srgbClr val="FF0000"/>
                </a:solidFill>
                <a:cs typeface="Arial" panose="020B0604020202020204" pitchFamily="34" charset="0"/>
                <a:sym typeface="Noto Sans SC" panose="020B0200000000000000" charset="-122"/>
              </a:rPr>
              <a:t>GraphRAG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和</a:t>
            </a:r>
            <a:r>
              <a:rPr lang="zh-CN" altLang="en-US" sz="1800" b="0" i="0" u="none" strike="noStrike" spc="-10" dirty="0">
                <a:solidFill>
                  <a:srgbClr val="FF0000"/>
                </a:solidFill>
                <a:cs typeface="Arial" panose="020B0604020202020204" pitchFamily="34" charset="0"/>
                <a:sym typeface="Noto Sans SC" panose="020B0200000000000000" charset="-122"/>
              </a:rPr>
              <a:t>多模态</a:t>
            </a:r>
            <a:r>
              <a:rPr lang="en-US" altLang="zh-CN" sz="1800" b="0" i="0" u="none" strike="noStrike" spc="-10" dirty="0">
                <a:solidFill>
                  <a:srgbClr val="FF0000"/>
                </a:solidFill>
                <a:cs typeface="Arial" panose="020B0604020202020204" pitchFamily="34" charset="0"/>
                <a:sym typeface="Noto Sans SC" panose="020B0200000000000000" charset="-122"/>
              </a:rPr>
              <a:t>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的内在逻辑，最终构建模块化、可扩展的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应用系统。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17" name="AutoShape 6"/>
          <p:cNvSpPr/>
          <p:nvPr>
            <p:custDataLst>
              <p:tags r:id="rId1"/>
            </p:custDataLst>
          </p:nvPr>
        </p:nvSpPr>
        <p:spPr>
          <a:xfrm>
            <a:off x="454025" y="2058670"/>
            <a:ext cx="3763010" cy="22586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8"/>
          <p:cNvSpPr/>
          <p:nvPr>
            <p:custDataLst>
              <p:tags r:id="rId2"/>
            </p:custDataLst>
          </p:nvPr>
        </p:nvSpPr>
        <p:spPr>
          <a:xfrm>
            <a:off x="1586865" y="2190750"/>
            <a:ext cx="14966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复现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1"/>
          <p:cNvSpPr/>
          <p:nvPr>
            <p:custDataLst>
              <p:tags r:id="rId3"/>
            </p:custDataLst>
          </p:nvPr>
        </p:nvSpPr>
        <p:spPr>
          <a:xfrm>
            <a:off x="603250" y="2635250"/>
            <a:ext cx="350710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任务：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基于给定的</a:t>
            </a:r>
            <a:r>
              <a:rPr lang="en-US" altLang="zh-CN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相关开源代码论文，</a:t>
            </a:r>
            <a:r>
              <a:rPr lang="zh-CN" altLang="en-US" sz="13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完成代码运行与结果复现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</a:t>
            </a:r>
            <a:r>
              <a:rPr lang="zh-CN" altLang="en-US" sz="13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并</a:t>
            </a:r>
            <a:r>
              <a:rPr lang="zh-CN" altLang="en-US" sz="13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根据要求的单</a:t>
            </a:r>
            <a:r>
              <a:rPr lang="en-US" altLang="zh-CN" sz="13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/</a:t>
            </a:r>
            <a:r>
              <a:rPr lang="zh-CN" altLang="en-US" sz="13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多模态数据，构建对应知识库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。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要求：在运行现有代码的基础上，深入理解算法原理，真正掌握核心技术创新点。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AutoShape 6"/>
          <p:cNvSpPr/>
          <p:nvPr>
            <p:custDataLst>
              <p:tags r:id="rId4"/>
            </p:custDataLst>
          </p:nvPr>
        </p:nvSpPr>
        <p:spPr>
          <a:xfrm>
            <a:off x="4572000" y="2114550"/>
            <a:ext cx="4131945" cy="22586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8"/>
          <p:cNvSpPr/>
          <p:nvPr>
            <p:custDataLst>
              <p:tags r:id="rId5"/>
            </p:custDataLst>
          </p:nvPr>
        </p:nvSpPr>
        <p:spPr>
          <a:xfrm>
            <a:off x="5943600" y="2134870"/>
            <a:ext cx="14966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</a:t>
            </a:r>
            <a:endParaRPr lang="zh-CN" altLang="en-US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1"/>
          <p:cNvSpPr/>
          <p:nvPr>
            <p:custDataLst>
              <p:tags r:id="rId6"/>
            </p:custDataLst>
          </p:nvPr>
        </p:nvSpPr>
        <p:spPr>
          <a:xfrm>
            <a:off x="4673600" y="2439670"/>
            <a:ext cx="3931920" cy="15925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任务：将复现</a:t>
            </a:r>
            <a:r>
              <a:rPr lang="en-US" altLang="zh-CN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RAG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模块统一纳入规划决策系统框架，遵循接口规范设计，掌握工程化落地的关键。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要求：编写</a:t>
            </a:r>
            <a:r>
              <a:rPr lang="en-US" altLang="zh-CN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</a:t>
            </a:r>
            <a:r>
              <a:rPr lang="zh-CN" altLang="en-US" sz="13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响应决策系统的调用请求，对知识库进行检索归纳，生成可溯源的知识增强结果。</a:t>
            </a:r>
            <a:endParaRPr lang="zh-CN" altLang="en-US" sz="13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810" y="505460"/>
            <a:ext cx="3547745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子课题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-1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GraphRAG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81000" y="1123950"/>
            <a:ext cx="8307070" cy="954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任务背景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：传统向量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在处理复杂问题时存在语义碎片化、缺乏结构化推理能力等局限。子课题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-1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以复现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GraphRAG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系统为核心，采用</a:t>
            </a: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图结构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进行数据的组织存储与检索召回，以突破上述瓶颈。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7" name="燕尾形 6"/>
          <p:cNvSpPr/>
          <p:nvPr>
            <p:custDataLst>
              <p:tags r:id="rId1"/>
            </p:custDataLst>
          </p:nvPr>
        </p:nvSpPr>
        <p:spPr>
          <a:xfrm>
            <a:off x="762000" y="2297430"/>
            <a:ext cx="1524000" cy="838200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 </a:t>
            </a:r>
            <a:r>
              <a:rPr lang="zh-CN" altLang="en-US"/>
              <a:t>图谱</a:t>
            </a:r>
            <a:r>
              <a:rPr lang="zh-CN" altLang="en-US"/>
              <a:t>构建</a:t>
            </a:r>
            <a:endParaRPr lang="zh-CN" altLang="en-US"/>
          </a:p>
        </p:txBody>
      </p:sp>
      <p:sp>
        <p:nvSpPr>
          <p:cNvPr id="8" name="燕尾形 7"/>
          <p:cNvSpPr/>
          <p:nvPr>
            <p:custDataLst>
              <p:tags r:id="rId2"/>
            </p:custDataLst>
          </p:nvPr>
        </p:nvSpPr>
        <p:spPr>
          <a:xfrm>
            <a:off x="1981200" y="2297430"/>
            <a:ext cx="1524000" cy="83820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 </a:t>
            </a:r>
            <a:r>
              <a:rPr lang="zh-CN" altLang="en-US"/>
              <a:t>数据</a:t>
            </a:r>
            <a:r>
              <a:rPr lang="zh-CN" altLang="en-US"/>
              <a:t>搜集</a:t>
            </a:r>
            <a:endParaRPr lang="zh-CN" altLang="en-US"/>
          </a:p>
        </p:txBody>
      </p:sp>
      <p:sp>
        <p:nvSpPr>
          <p:cNvPr id="9" name="燕尾形 8"/>
          <p:cNvSpPr/>
          <p:nvPr>
            <p:custDataLst>
              <p:tags r:id="rId3"/>
            </p:custDataLst>
          </p:nvPr>
        </p:nvSpPr>
        <p:spPr>
          <a:xfrm>
            <a:off x="3200400" y="2297430"/>
            <a:ext cx="1524000" cy="838200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03 </a:t>
            </a:r>
            <a:r>
              <a:rPr lang="zh-CN" altLang="en-US">
                <a:sym typeface="+mn-ea"/>
              </a:rPr>
              <a:t>知识抽取</a:t>
            </a:r>
            <a:endParaRPr lang="zh-CN" altLang="en-US"/>
          </a:p>
        </p:txBody>
      </p:sp>
      <p:sp>
        <p:nvSpPr>
          <p:cNvPr id="10" name="燕尾形 9"/>
          <p:cNvSpPr/>
          <p:nvPr>
            <p:custDataLst>
              <p:tags r:id="rId4"/>
            </p:custDataLst>
          </p:nvPr>
        </p:nvSpPr>
        <p:spPr>
          <a:xfrm>
            <a:off x="5566410" y="2297430"/>
            <a:ext cx="1524000" cy="83820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05 RAG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11" name="燕尾形 10"/>
          <p:cNvSpPr/>
          <p:nvPr>
            <p:custDataLst>
              <p:tags r:id="rId5"/>
            </p:custDataLst>
          </p:nvPr>
        </p:nvSpPr>
        <p:spPr>
          <a:xfrm>
            <a:off x="6785610" y="2297430"/>
            <a:ext cx="1524000" cy="8382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06 </a:t>
            </a:r>
            <a:r>
              <a:rPr lang="zh-CN" altLang="en-US"/>
              <a:t>封装集成</a:t>
            </a:r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750570" y="336423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指挥决策知识图谱实体</a:t>
            </a:r>
            <a:r>
              <a:rPr lang="zh-CN" altLang="en-US">
                <a:solidFill>
                  <a:schemeClr val="tx1"/>
                </a:solidFill>
              </a:rPr>
              <a:t>及关系设计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1969770" y="336423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搜集条令条例和作战案例的文档</a:t>
            </a:r>
            <a:r>
              <a:rPr lang="zh-CN" altLang="en-US">
                <a:solidFill>
                  <a:schemeClr val="tx1"/>
                </a:solidFill>
              </a:rPr>
              <a:t>数据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3166745" y="3364230"/>
            <a:ext cx="1180465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0170" rIns="90170"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基于提示词对条令条例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作战案例进行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知识抽取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5554980" y="336423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对指挥决策知识图谱检索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生成测试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矩形 1"/>
          <p:cNvSpPr/>
          <p:nvPr>
            <p:custDataLst>
              <p:tags r:id="rId10"/>
            </p:custDataLst>
          </p:nvPr>
        </p:nvSpPr>
        <p:spPr>
          <a:xfrm>
            <a:off x="6774180" y="336423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代码封装</a:t>
            </a:r>
            <a:r>
              <a:rPr lang="zh-CN" altLang="en-US">
                <a:solidFill>
                  <a:schemeClr val="tx1"/>
                </a:solidFill>
              </a:rPr>
              <a:t>集成接入规划系统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燕尾形 4"/>
          <p:cNvSpPr/>
          <p:nvPr>
            <p:custDataLst>
              <p:tags r:id="rId11"/>
            </p:custDataLst>
          </p:nvPr>
        </p:nvSpPr>
        <p:spPr>
          <a:xfrm>
            <a:off x="4389120" y="2297430"/>
            <a:ext cx="1524000" cy="838200"/>
          </a:xfrm>
          <a:prstGeom prst="chevr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04 </a:t>
            </a:r>
            <a:r>
              <a:rPr lang="zh-CN" altLang="en-US">
                <a:solidFill>
                  <a:schemeClr val="bg1"/>
                </a:solidFill>
              </a:rPr>
              <a:t>基准复现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>
            <p:custDataLst>
              <p:tags r:id="rId12"/>
            </p:custDataLst>
          </p:nvPr>
        </p:nvSpPr>
        <p:spPr>
          <a:xfrm>
            <a:off x="4377690" y="336423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GraphRAG </a:t>
            </a:r>
            <a:r>
              <a:rPr lang="zh-CN" altLang="en-US">
                <a:solidFill>
                  <a:schemeClr val="tx1"/>
                </a:solidFill>
              </a:rPr>
              <a:t>复现与</a:t>
            </a:r>
            <a:r>
              <a:rPr lang="zh-CN" altLang="en-US">
                <a:solidFill>
                  <a:schemeClr val="tx1"/>
                </a:solidFill>
              </a:rPr>
              <a:t>原版数据集性能验证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8" name="直接连接符 17"/>
          <p:cNvCxnSpPr>
            <a:stCxn id="5" idx="2"/>
            <a:endCxn id="12" idx="0"/>
          </p:cNvCxnSpPr>
          <p:nvPr>
            <p:custDataLst>
              <p:tags r:id="rId13"/>
            </p:custDataLst>
          </p:nvPr>
        </p:nvCxnSpPr>
        <p:spPr>
          <a:xfrm>
            <a:off x="4941570" y="313563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>
            <a:stCxn id="7" idx="2"/>
            <a:endCxn id="13" idx="0"/>
          </p:cNvCxnSpPr>
          <p:nvPr>
            <p:custDataLst>
              <p:tags r:id="rId14"/>
            </p:custDataLst>
          </p:nvPr>
        </p:nvCxnSpPr>
        <p:spPr>
          <a:xfrm>
            <a:off x="1314450" y="313563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8" idx="2"/>
            <a:endCxn id="14" idx="0"/>
          </p:cNvCxnSpPr>
          <p:nvPr>
            <p:custDataLst>
              <p:tags r:id="rId15"/>
            </p:custDataLst>
          </p:nvPr>
        </p:nvCxnSpPr>
        <p:spPr>
          <a:xfrm>
            <a:off x="2533650" y="313563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9" idx="2"/>
            <a:endCxn id="15" idx="0"/>
          </p:cNvCxnSpPr>
          <p:nvPr>
            <p:custDataLst>
              <p:tags r:id="rId16"/>
            </p:custDataLst>
          </p:nvPr>
        </p:nvCxnSpPr>
        <p:spPr>
          <a:xfrm>
            <a:off x="3752850" y="3135630"/>
            <a:ext cx="4445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0" idx="2"/>
            <a:endCxn id="16" idx="0"/>
          </p:cNvCxnSpPr>
          <p:nvPr>
            <p:custDataLst>
              <p:tags r:id="rId17"/>
            </p:custDataLst>
          </p:nvPr>
        </p:nvCxnSpPr>
        <p:spPr>
          <a:xfrm>
            <a:off x="6118860" y="313563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1" idx="2"/>
            <a:endCxn id="2" idx="0"/>
          </p:cNvCxnSpPr>
          <p:nvPr>
            <p:custDataLst>
              <p:tags r:id="rId18"/>
            </p:custDataLst>
          </p:nvPr>
        </p:nvCxnSpPr>
        <p:spPr>
          <a:xfrm>
            <a:off x="7338060" y="313563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1-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图谱构建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实体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类型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38200" y="1428750"/>
          <a:ext cx="738949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0185"/>
                <a:gridCol w="590931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实体</a:t>
                      </a:r>
                      <a:r>
                        <a:rPr lang="zh-CN" altLang="en-US"/>
                        <a:t>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实体类型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指挥组织域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作战单元、指挥机构、指挥员、参谋岗位、协同编组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兵力装备域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兵力要素、武器系统、作战平台、保障资源、侦察装备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任务行动域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作战任务、作战行动、任务阶段、作战效果、威胁目标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战场环境域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地理区域、地形要素、气象条件、障碍要素、通信环境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方案预案域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作战方案、预案模板、方案约束、推演记录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规则条令域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作战规则、作战经验、战例实体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1-</a:t>
            </a:r>
            <a:r>
              <a:rPr lang="zh-CN" altLang="en-US" dirty="0">
                <a:ea typeface="黑体" panose="02010609060101010101" charset="-122"/>
                <a:sym typeface="+mn-ea"/>
              </a:rPr>
              <a:t>图谱构建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关系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类型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62000" y="1047750"/>
          <a:ext cx="7389495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910"/>
                <a:gridCol w="53155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关系域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关系类型（</a:t>
                      </a:r>
                      <a:r>
                        <a:rPr lang="zh-CN" altLang="en-US"/>
                        <a:t>三元组）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指挥组织关系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ym typeface="+mn-ea"/>
                        </a:rPr>
                        <a:t>（指挥员 ，</a:t>
                      </a:r>
                      <a:r>
                        <a:rPr lang="zh-CN" altLang="en-US" b="1">
                          <a:sym typeface="+mn-ea"/>
                        </a:rPr>
                        <a:t>指挥</a:t>
                      </a:r>
                      <a:r>
                        <a:rPr lang="zh-CN" altLang="en-US">
                          <a:sym typeface="+mn-ea"/>
                        </a:rPr>
                        <a:t>，指挥机构）</a:t>
                      </a:r>
                      <a:r>
                        <a:rPr lang="zh-CN" altLang="en-US"/>
                        <a:t>、</a:t>
                      </a:r>
                      <a:r>
                        <a:rPr lang="zh-CN" altLang="en-US">
                          <a:sym typeface="+mn-ea"/>
                        </a:rPr>
                        <a:t>（作战单元 ，</a:t>
                      </a:r>
                      <a:r>
                        <a:rPr lang="zh-CN" altLang="en-US" b="1">
                          <a:sym typeface="+mn-ea"/>
                        </a:rPr>
                        <a:t>隶属</a:t>
                      </a:r>
                      <a:r>
                        <a:rPr lang="zh-CN" altLang="en-US">
                          <a:sym typeface="+mn-ea"/>
                        </a:rPr>
                        <a:t>，指挥机构）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兵力装备编成关系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（作战单元，</a:t>
                      </a:r>
                      <a:r>
                        <a:rPr lang="zh-CN" altLang="en-US" b="1"/>
                        <a:t>装备</a:t>
                      </a:r>
                      <a:r>
                        <a:rPr lang="zh-CN" altLang="en-US"/>
                        <a:t>，武器系统）、（作战单元，</a:t>
                      </a:r>
                      <a:r>
                        <a:rPr lang="zh-CN" altLang="en-US" b="1"/>
                        <a:t>消耗</a:t>
                      </a:r>
                      <a:r>
                        <a:rPr lang="zh-CN" altLang="en-US"/>
                        <a:t>，保障资源）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任务行动核心关系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（</a:t>
                      </a:r>
                      <a:r>
                        <a:rPr lang="zh-CN" altLang="en-US">
                          <a:sym typeface="+mn-ea"/>
                        </a:rPr>
                        <a:t>作战单元，</a:t>
                      </a:r>
                      <a:r>
                        <a:rPr lang="zh-CN" altLang="en-US" b="1">
                          <a:sym typeface="+mn-ea"/>
                        </a:rPr>
                        <a:t>执行</a:t>
                      </a:r>
                      <a:r>
                        <a:rPr lang="zh-CN" altLang="en-US">
                          <a:sym typeface="+mn-ea"/>
                        </a:rPr>
                        <a:t>，任务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）、（</a:t>
                      </a:r>
                      <a:r>
                        <a:rPr lang="zh-CN" altLang="en-US">
                          <a:sym typeface="+mn-ea"/>
                        </a:rPr>
                        <a:t>任务</a:t>
                      </a:r>
                      <a:r>
                        <a:rPr lang="en-US" altLang="zh-CN"/>
                        <a:t>A</a:t>
                      </a:r>
                      <a:r>
                        <a:rPr lang="zh-CN" altLang="en-US"/>
                        <a:t>，</a:t>
                      </a:r>
                      <a:r>
                        <a:rPr lang="zh-CN" altLang="en-US" b="1"/>
                        <a:t>与</a:t>
                      </a:r>
                      <a:r>
                        <a:rPr lang="en-US" altLang="zh-CN" b="1"/>
                        <a:t>......</a:t>
                      </a:r>
                      <a:r>
                        <a:rPr lang="zh-CN" altLang="en-US" b="1"/>
                        <a:t>同步</a:t>
                      </a:r>
                      <a:r>
                        <a:rPr lang="zh-CN" altLang="en-US"/>
                        <a:t>，</a:t>
                      </a:r>
                      <a:r>
                        <a:rPr lang="zh-CN" altLang="en-US">
                          <a:sym typeface="+mn-ea"/>
                        </a:rPr>
                        <a:t>任务</a:t>
                      </a:r>
                      <a:r>
                        <a:rPr lang="en-US" altLang="zh-CN"/>
                        <a:t>B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环境约束关系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>
                          <a:sym typeface="+mn-ea"/>
                        </a:rPr>
                        <a:t>（环境，</a:t>
                      </a:r>
                      <a:r>
                        <a:rPr lang="zh-CN" altLang="en-US" b="1">
                          <a:sym typeface="+mn-ea"/>
                        </a:rPr>
                        <a:t>影响</a:t>
                      </a:r>
                      <a:r>
                        <a:rPr lang="zh-CN" altLang="en-US" b="0">
                          <a:sym typeface="+mn-ea"/>
                        </a:rPr>
                        <a:t>，</a:t>
                      </a:r>
                      <a:r>
                        <a:rPr lang="zh-CN" altLang="en-US">
                          <a:sym typeface="+mn-ea"/>
                        </a:rPr>
                        <a:t>任务</a:t>
                      </a:r>
                      <a:r>
                        <a:rPr lang="en-US" altLang="zh-CN" b="0">
                          <a:sym typeface="+mn-ea"/>
                        </a:rPr>
                        <a:t>A</a:t>
                      </a:r>
                      <a:r>
                        <a:rPr lang="zh-CN" altLang="en-US">
                          <a:sym typeface="+mn-ea"/>
                        </a:rPr>
                        <a:t>）、</a:t>
                      </a:r>
                      <a:r>
                        <a:rPr lang="zh-CN" altLang="en-US"/>
                        <a:t>（区域，</a:t>
                      </a:r>
                      <a:r>
                        <a:rPr lang="zh-CN" altLang="en-US" b="1"/>
                        <a:t>包含</a:t>
                      </a:r>
                      <a:r>
                        <a:rPr lang="zh-CN" altLang="en-US" b="0"/>
                        <a:t>，</a:t>
                      </a:r>
                      <a:r>
                        <a:rPr lang="zh-CN" altLang="en-US"/>
                        <a:t>障碍）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方案预案关系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（态势，</a:t>
                      </a:r>
                      <a:r>
                        <a:rPr lang="zh-CN" altLang="en-US" b="1"/>
                        <a:t>触发</a:t>
                      </a:r>
                      <a:r>
                        <a:rPr lang="zh-CN" altLang="en-US" b="0"/>
                        <a:t>，预案</a:t>
                      </a:r>
                      <a:r>
                        <a:rPr lang="zh-CN" altLang="en-US"/>
                        <a:t>）、（方案，</a:t>
                      </a:r>
                      <a:r>
                        <a:rPr lang="zh-CN" altLang="en-US" b="1"/>
                        <a:t>参考</a:t>
                      </a:r>
                      <a:r>
                        <a:rPr lang="zh-CN" altLang="en-US"/>
                        <a:t>，</a:t>
                      </a:r>
                      <a:r>
                        <a:rPr lang="zh-CN" altLang="en-US"/>
                        <a:t>案例）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规则知识关联关系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（方案，</a:t>
                      </a:r>
                      <a:r>
                        <a:rPr lang="zh-CN" altLang="en-US" b="1"/>
                        <a:t>遵从</a:t>
                      </a:r>
                      <a:r>
                        <a:rPr lang="zh-CN" altLang="en-US"/>
                        <a:t>，规则）、（</a:t>
                      </a:r>
                      <a:r>
                        <a:rPr lang="zh-CN" altLang="en-US">
                          <a:sym typeface="+mn-ea"/>
                        </a:rPr>
                        <a:t>方案，</a:t>
                      </a:r>
                      <a:r>
                        <a:rPr lang="zh-CN" altLang="en-US" b="1">
                          <a:sym typeface="+mn-ea"/>
                        </a:rPr>
                        <a:t>存在</a:t>
                      </a:r>
                      <a:r>
                        <a:rPr lang="zh-CN" altLang="en-US">
                          <a:sym typeface="+mn-ea"/>
                        </a:rPr>
                        <a:t>，风险</a:t>
                      </a:r>
                      <a:r>
                        <a:rPr lang="zh-CN" altLang="en-US"/>
                        <a:t>）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810" y="505460"/>
            <a:ext cx="8319135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20"/>
              </a:spcBef>
              <a:buClrTx/>
              <a:buSzTx/>
              <a:buFontTx/>
            </a:pPr>
            <a:r>
              <a:rPr lang="en-US" altLang="zh-CN" dirty="0">
                <a:ea typeface="黑体" panose="02010609060101010101" charset="-122"/>
                <a:sym typeface="+mn-ea"/>
              </a:rPr>
              <a:t>2-</a:t>
            </a:r>
            <a:r>
              <a:rPr lang="zh-CN" altLang="en-US" dirty="0">
                <a:ea typeface="黑体" panose="02010609060101010101" charset="-122"/>
                <a:sym typeface="+mn-ea"/>
              </a:rPr>
              <a:t>数据整理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条令条例（美军条令系列：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JP3-30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AFDP3-60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）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4800" y="1428750"/>
            <a:ext cx="4495165" cy="316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1. Joint Air Operations Planning </a:t>
            </a:r>
            <a:endParaRPr lang="en-US" altLang="zh-CN" sz="1200"/>
          </a:p>
          <a:p>
            <a:r>
              <a:rPr lang="en-US" altLang="zh-CN" sz="1200"/>
              <a:t>While the discussion in this chapter assumes the JFC has designated a JFACC, if the </a:t>
            </a:r>
            <a:endParaRPr lang="en-US" altLang="zh-CN" sz="1200"/>
          </a:p>
          <a:p>
            <a:r>
              <a:rPr lang="en-US" altLang="zh-CN" sz="1200"/>
              <a:t>JFC retained control of joint air operations, the JFC’s designated staff would plan and </a:t>
            </a:r>
            <a:endParaRPr lang="en-US" altLang="zh-CN" sz="1200"/>
          </a:p>
          <a:p>
            <a:r>
              <a:rPr lang="en-US" altLang="zh-CN" sz="1200"/>
              <a:t>execute joint air operations and should follow a similar process. Planning for joint air </a:t>
            </a:r>
            <a:endParaRPr lang="en-US" altLang="zh-CN" sz="1200"/>
          </a:p>
          <a:p>
            <a:r>
              <a:rPr lang="en-US" altLang="zh-CN" sz="1200"/>
              <a:t>operations begins with understanding the JFC’s mission and intent. The JFC’s estimate</a:t>
            </a:r>
            <a:endParaRPr lang="en-US" altLang="zh-CN" sz="1200"/>
          </a:p>
          <a:p>
            <a:r>
              <a:rPr lang="en-US" altLang="zh-CN" sz="1200"/>
              <a:t>of the operational environment and articulation of the objectives needed to accomplish the </a:t>
            </a:r>
            <a:endParaRPr lang="en-US" altLang="zh-CN" sz="1200"/>
          </a:p>
          <a:p>
            <a:r>
              <a:rPr lang="en-US" altLang="zh-CN" sz="1200"/>
              <a:t>mission form the basis for determining components’ objectives. The JFACC uses the </a:t>
            </a:r>
            <a:endParaRPr lang="en-US" altLang="zh-CN" sz="1200"/>
          </a:p>
          <a:p>
            <a:r>
              <a:rPr lang="en-US" altLang="zh-CN" sz="1200"/>
              <a:t>JFC’s mission, commander’s estimate and objectives, commander’s intent, CONOPS, and </a:t>
            </a:r>
            <a:endParaRPr lang="en-US" altLang="zh-CN" sz="1200"/>
          </a:p>
          <a:p>
            <a:r>
              <a:rPr lang="en-US" altLang="zh-CN" sz="1200"/>
              <a:t>the components’ objectives to develop a course of action (COA).</a:t>
            </a:r>
            <a:endParaRPr lang="en-US" altLang="zh-CN" sz="12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800" y="1428750"/>
            <a:ext cx="3827145" cy="29038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7200" y="971550"/>
            <a:ext cx="2255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文档</a:t>
            </a:r>
            <a:r>
              <a:rPr lang="zh-CN" altLang="en-US"/>
              <a:t>统一翻译为中文</a:t>
            </a:r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533400" y="1276350"/>
            <a:ext cx="7854950" cy="3455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457200"/>
            <a:r>
              <a:rPr lang="zh-CN" altLang="en-US" sz="1600"/>
              <a:t>美军空袭的斩首开局，代号“白雪行动”。1991年1月17日凌晨2点38分，沙漠风暴行动正式打响，美军根本没先派主力战机冲上去，而是率先出动</a:t>
            </a:r>
            <a:r>
              <a:rPr lang="en-US" altLang="zh-CN" sz="1600"/>
              <a:t>EF-111、EA-6B</a:t>
            </a:r>
            <a:r>
              <a:rPr lang="zh-CN" altLang="en-US" sz="1600"/>
              <a:t>和</a:t>
            </a:r>
            <a:r>
              <a:rPr lang="en-US" altLang="zh-CN" sz="1600"/>
              <a:t>EC-130H</a:t>
            </a:r>
            <a:r>
              <a:rPr lang="zh-CN" altLang="en-US" sz="1600"/>
              <a:t>三款电子战飞机，组成电子战编队，对伊拉克全境的雷达、通信、防空指挥系统，发动了全频段、无死角的电磁压制，这也是全球战争史上，第一次把电子战当成开战核心先手。</a:t>
            </a:r>
            <a:endParaRPr lang="zh-CN" altLang="en-US" sz="1600"/>
          </a:p>
          <a:p>
            <a:endParaRPr lang="en-US" altLang="zh-CN" sz="1600"/>
          </a:p>
          <a:p>
            <a:pPr indent="457200"/>
            <a:r>
              <a:rPr lang="zh-CN" altLang="en-US" sz="1600"/>
              <a:t>美军的电子战策略分三大杀招，招招致命：</a:t>
            </a:r>
            <a:endParaRPr lang="zh-CN" altLang="en-US" sz="1600"/>
          </a:p>
          <a:p>
            <a:pPr indent="457200"/>
            <a:r>
              <a:rPr lang="zh-CN" altLang="en-US" sz="1600" b="1"/>
              <a:t>第一</a:t>
            </a:r>
            <a:r>
              <a:rPr lang="zh-CN" altLang="en-US" sz="1600"/>
              <a:t>是压制性干扰，发射大功率电磁信号，直接把伊军雷达屏幕糊成一片雪花，根本探测不到任何空中目标；</a:t>
            </a:r>
            <a:endParaRPr lang="zh-CN" altLang="en-US" sz="1600"/>
          </a:p>
          <a:p>
            <a:pPr indent="457200"/>
            <a:r>
              <a:rPr lang="zh-CN" altLang="en-US" sz="1600" b="1"/>
              <a:t>第二</a:t>
            </a:r>
            <a:r>
              <a:rPr lang="zh-CN" altLang="en-US" sz="1600"/>
              <a:t>是欺骗性干扰，发射130多枚</a:t>
            </a:r>
            <a:r>
              <a:rPr lang="en-US" altLang="zh-CN" sz="1600"/>
              <a:t>ADM-141</a:t>
            </a:r>
            <a:r>
              <a:rPr lang="zh-CN" altLang="en-US" sz="1600"/>
              <a:t>战术空射诱饵，模拟战机飞行信号，诱骗伊军防空导弹开火，白白消耗防空火力；</a:t>
            </a:r>
            <a:endParaRPr lang="zh-CN" altLang="en-US" sz="1600"/>
          </a:p>
          <a:p>
            <a:pPr indent="457200"/>
            <a:r>
              <a:rPr lang="zh-CN" altLang="en-US" sz="1600" b="1"/>
              <a:t>第三</a:t>
            </a:r>
            <a:r>
              <a:rPr lang="zh-CN" altLang="en-US" sz="1600"/>
              <a:t>就是反辐射攻击，用</a:t>
            </a:r>
            <a:r>
              <a:rPr lang="en-US" altLang="zh-CN" sz="1600"/>
              <a:t>AGM-88“</a:t>
            </a:r>
            <a:r>
              <a:rPr lang="zh-CN" altLang="en-US" sz="1600"/>
              <a:t>哈姆”反辐射导弹，顺着雷达信号源，直接精准摧毁雷达设施本身。这一套组合拳打下来，伊军的防空网络直接变成“聋子”和“瞎子”，上下指挥通信彻底中断。</a:t>
            </a:r>
            <a:endParaRPr lang="zh-CN" altLang="en-US" sz="1600"/>
          </a:p>
        </p:txBody>
      </p:sp>
      <p:sp>
        <p:nvSpPr>
          <p:cNvPr id="10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810" y="505460"/>
            <a:ext cx="798195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20"/>
              </a:spcBef>
              <a:buClrTx/>
              <a:buSzTx/>
              <a:buFontTx/>
            </a:pPr>
            <a:r>
              <a:rPr lang="zh-CN" altLang="en-US" dirty="0">
                <a:ea typeface="黑体" panose="02010609060101010101" charset="-122"/>
                <a:sym typeface="+mn-ea"/>
              </a:rPr>
              <a:t>数据示例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文本数据（海湾战争、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阿富汗战争、美伊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战争）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3-</a:t>
            </a:r>
            <a:r>
              <a:rPr lang="zh-CN" altLang="en-US" dirty="0">
                <a:ea typeface="黑体" panose="02010609060101010101" charset="-122"/>
                <a:sym typeface="+mn-ea"/>
              </a:rPr>
              <a:t>知识抽取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EDC (Zhang, et al., EMNLP 2024)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971550"/>
            <a:ext cx="2879725" cy="37833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971550"/>
            <a:ext cx="3206750" cy="36722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52600" y="4732020"/>
            <a:ext cx="6456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000"/>
              <a:t>Extract, Define, Canonicalize: An LLM-based Framework for Knowledge Graph Construction</a:t>
            </a:r>
            <a:endParaRPr lang="en-US" altLang="zh-CN" sz="1000"/>
          </a:p>
          <a:p>
            <a:pPr algn="r"/>
            <a:r>
              <a:rPr lang="en-US" altLang="zh-CN" sz="1000"/>
              <a:t>Code Link: https://github.com/clear-nus/edc</a:t>
            </a:r>
            <a:endParaRPr lang="en-US" altLang="zh-CN" sz="10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3-</a:t>
            </a:r>
            <a:r>
              <a:rPr lang="zh-CN" altLang="en-US" dirty="0">
                <a:ea typeface="黑体" panose="02010609060101010101" charset="-122"/>
                <a:sym typeface="+mn-ea"/>
              </a:rPr>
              <a:t>知识抽取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ea typeface="黑体" panose="02010609060101010101" charset="-122"/>
                <a:sym typeface="+mn-ea"/>
              </a:rPr>
              <a:t>提示词</a:t>
            </a:r>
            <a:r>
              <a:rPr lang="zh-CN" altLang="en-US" dirty="0">
                <a:ea typeface="黑体" panose="02010609060101010101" charset="-122"/>
                <a:sym typeface="+mn-ea"/>
              </a:rPr>
              <a:t>设计</a:t>
            </a:r>
            <a:endParaRPr lang="zh-CN" altLang="en-US" dirty="0">
              <a:ea typeface="黑体" panose="0201060906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4810" y="895350"/>
            <a:ext cx="42633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######################</a:t>
            </a:r>
            <a:endParaRPr lang="en-US" altLang="zh-CN" sz="1200"/>
          </a:p>
          <a:p>
            <a:r>
              <a:rPr lang="en-US" altLang="zh-CN" sz="1200"/>
              <a:t>-Real Data-</a:t>
            </a:r>
            <a:endParaRPr lang="en-US" altLang="zh-CN" sz="1200"/>
          </a:p>
          <a:p>
            <a:r>
              <a:rPr lang="en-US" altLang="zh-CN" sz="1200"/>
              <a:t>######################</a:t>
            </a:r>
            <a:endParaRPr lang="en-US" altLang="zh-CN" sz="1200"/>
          </a:p>
          <a:p>
            <a:r>
              <a:rPr lang="en-US" altLang="zh-CN" sz="1200"/>
              <a:t>Entity_types: ORGANIZATION,PERSON,TASK,</a:t>
            </a:r>
            <a:r>
              <a:rPr lang="en-US" altLang="zh-CN" sz="1200">
                <a:sym typeface="+mn-ea"/>
              </a:rPr>
              <a:t>COMBAT_UNIT,</a:t>
            </a:r>
            <a:r>
              <a:rPr lang="en-US" altLang="zh-CN" sz="1200"/>
              <a:t>EQUIPMENT,RESOURCE,ENVIRONMENT,PLAN,RULE</a:t>
            </a:r>
            <a:endParaRPr lang="en-US" altLang="zh-CN" sz="1200"/>
          </a:p>
          <a:p>
            <a:r>
              <a:rPr lang="en-US" altLang="zh-CN" sz="1200"/>
              <a:t>Text: [</a:t>
            </a:r>
            <a:r>
              <a:rPr lang="zh-CN" altLang="en-US" sz="1200"/>
              <a:t>此处为实际输入文本]</a:t>
            </a:r>
            <a:endParaRPr lang="zh-CN" altLang="en-US" sz="1200"/>
          </a:p>
          <a:p>
            <a:r>
              <a:rPr lang="en-US" altLang="zh-CN" sz="1200"/>
              <a:t>######################</a:t>
            </a:r>
            <a:endParaRPr lang="en-US" altLang="zh-CN" sz="1200"/>
          </a:p>
          <a:p>
            <a:r>
              <a:rPr lang="en-US" altLang="zh-CN" sz="1200"/>
              <a:t>Output:</a:t>
            </a:r>
            <a:endParaRPr lang="en-US" altLang="zh-CN" sz="1200"/>
          </a:p>
          <a:p>
            <a:r>
              <a:rPr lang="en-US" altLang="zh-CN" sz="1200"/>
              <a:t>("entity"{tuple_delimiter}</a:t>
            </a:r>
            <a:r>
              <a:rPr lang="zh-CN" altLang="en-US" sz="1200"/>
              <a:t>作战单元{</a:t>
            </a:r>
            <a:r>
              <a:rPr lang="en-US" altLang="zh-CN" sz="1200"/>
              <a:t>tuple_delimiter}</a:t>
            </a:r>
            <a:r>
              <a:rPr lang="en-US" altLang="zh-CN" sz="1200"/>
              <a:t>COMBAT_UNIT{tuple_delimiter}</a:t>
            </a:r>
            <a:r>
              <a:rPr lang="zh-CN" altLang="en-US" sz="1200"/>
              <a:t>执行作战任务的基本编组单位，可隶属于指挥机构)</a:t>
            </a:r>
            <a:endParaRPr lang="zh-CN" altLang="en-US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  <a:p>
            <a:r>
              <a:rPr lang="en-US" altLang="zh-CN" sz="1200"/>
              <a:t>("entity"{tuple_delimiter}</a:t>
            </a:r>
            <a:r>
              <a:rPr lang="zh-CN" altLang="en-US" sz="1200"/>
              <a:t>指挥机构{</a:t>
            </a:r>
            <a:r>
              <a:rPr lang="en-US" altLang="zh-CN" sz="1200"/>
              <a:t>tuple_delimiter}ORGANIZATION{tuple_delimiter}</a:t>
            </a:r>
            <a:r>
              <a:rPr lang="zh-CN" altLang="en-US" sz="1200"/>
              <a:t>负责指挥和协调作战行动的机构)</a:t>
            </a:r>
            <a:endParaRPr lang="zh-CN" altLang="en-US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  <a:p>
            <a:r>
              <a:rPr lang="en-US" altLang="zh-CN" sz="1200"/>
              <a:t>("entity"{tuple_delimiter}</a:t>
            </a:r>
            <a:r>
              <a:rPr lang="zh-CN" altLang="en-US" sz="1200"/>
              <a:t>指挥员{</a:t>
            </a:r>
            <a:r>
              <a:rPr lang="en-US" altLang="zh-CN" sz="1200"/>
              <a:t>tuple_delimiter}PERSON{tuple_delimiter}</a:t>
            </a:r>
            <a:r>
              <a:rPr lang="zh-CN" altLang="en-US" sz="1200"/>
              <a:t>担任指挥职责的军事人员)</a:t>
            </a:r>
            <a:endParaRPr lang="zh-CN" altLang="en-US" sz="1200"/>
          </a:p>
          <a:p>
            <a:r>
              <a:rPr lang="en-US" altLang="zh-CN" sz="1200"/>
              <a:t>{record_delimiter}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4800600" y="2495550"/>
            <a:ext cx="37363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("relationship"{tuple_delimiter}</a:t>
            </a:r>
            <a:r>
              <a:rPr lang="zh-CN" altLang="en-US" sz="1200"/>
              <a:t>作战单元{</a:t>
            </a:r>
            <a:r>
              <a:rPr lang="en-US" altLang="zh-CN" sz="1200"/>
              <a:t>tuple_delimiter}</a:t>
            </a:r>
            <a:r>
              <a:rPr lang="zh-CN" altLang="en-US" sz="1200"/>
              <a:t>武器系统{</a:t>
            </a:r>
            <a:r>
              <a:rPr lang="en-US" altLang="zh-CN" sz="1200"/>
              <a:t>tuple_delimiter}</a:t>
            </a:r>
            <a:r>
              <a:rPr lang="zh-CN" altLang="en-US" sz="1200"/>
              <a:t>作战单元装备有武器系统{</a:t>
            </a:r>
            <a:r>
              <a:rPr lang="en-US" altLang="zh-CN" sz="1200"/>
              <a:t>tuple_delimiter}7)</a:t>
            </a:r>
            <a:endParaRPr lang="en-US" altLang="zh-CN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  <a:p>
            <a:r>
              <a:rPr lang="en-US" altLang="zh-CN" sz="1200"/>
              <a:t>("relationship"{tuple_delimiter}</a:t>
            </a:r>
            <a:r>
              <a:rPr lang="zh-CN" altLang="en-US" sz="1200"/>
              <a:t>作战单元{</a:t>
            </a:r>
            <a:r>
              <a:rPr lang="en-US" altLang="zh-CN" sz="1200"/>
              <a:t>tuple_delimiter}</a:t>
            </a:r>
            <a:r>
              <a:rPr lang="zh-CN" altLang="en-US" sz="1200"/>
              <a:t>保障资源{</a:t>
            </a:r>
            <a:r>
              <a:rPr lang="en-US" altLang="zh-CN" sz="1200"/>
              <a:t>tuple_delimiter}</a:t>
            </a:r>
            <a:r>
              <a:rPr lang="zh-CN" altLang="en-US" sz="1200"/>
              <a:t>作战单元消耗保障资源{</a:t>
            </a:r>
            <a:r>
              <a:rPr lang="en-US" altLang="zh-CN" sz="1200"/>
              <a:t>tuple_delimiter}6)</a:t>
            </a:r>
            <a:endParaRPr lang="en-US" altLang="zh-CN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  <a:p>
            <a:r>
              <a:rPr lang="en-US" altLang="zh-CN" sz="1200"/>
              <a:t>("relationship"{tuple_delimiter}</a:t>
            </a:r>
            <a:r>
              <a:rPr lang="zh-CN" altLang="en-US" sz="1200"/>
              <a:t>作战单元{</a:t>
            </a:r>
            <a:r>
              <a:rPr lang="en-US" altLang="zh-CN" sz="1200"/>
              <a:t>tuple_delimiter}</a:t>
            </a:r>
            <a:r>
              <a:rPr lang="zh-CN" altLang="en-US" sz="1200"/>
              <a:t>作战任务{</a:t>
            </a:r>
            <a:r>
              <a:rPr lang="en-US" altLang="zh-CN" sz="1200"/>
              <a:t>tuple_delimiter}</a:t>
            </a:r>
            <a:r>
              <a:rPr lang="zh-CN" altLang="en-US" sz="1200"/>
              <a:t>作战单元执行任务</a:t>
            </a:r>
            <a:r>
              <a:rPr lang="en-US" altLang="zh-CN" sz="1200"/>
              <a:t>A{tuple_delimiter}9)</a:t>
            </a:r>
            <a:endParaRPr lang="en-US" altLang="zh-CN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3-</a:t>
            </a:r>
            <a:r>
              <a:rPr lang="zh-CN" altLang="en-US" dirty="0">
                <a:ea typeface="黑体" panose="02010609060101010101" charset="-122"/>
                <a:sym typeface="+mn-ea"/>
              </a:rPr>
              <a:t>知识抽取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对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GraphRAG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原本提示词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文件进行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替换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276350"/>
            <a:ext cx="3703320" cy="275336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09600" y="2266950"/>
            <a:ext cx="1600200" cy="25908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114800" y="971550"/>
            <a:ext cx="4006850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-Goal-</a:t>
            </a:r>
            <a:endParaRPr lang="en-US" altLang="zh-CN" sz="1200"/>
          </a:p>
          <a:p>
            <a:r>
              <a:rPr lang="en-US" altLang="zh-CN" sz="1200"/>
              <a:t>Given a text document that is potentially relevant to this activity and a list of entity types, identify all entities of those types from the text and all relationships among the identified entities.</a:t>
            </a:r>
            <a:endParaRPr lang="en-US" altLang="zh-CN" sz="1200"/>
          </a:p>
          <a:p>
            <a:r>
              <a:rPr lang="en-US" altLang="zh-CN" sz="1200"/>
              <a:t> </a:t>
            </a:r>
            <a:endParaRPr lang="en-US" altLang="zh-CN" sz="1200"/>
          </a:p>
          <a:p>
            <a:r>
              <a:rPr lang="en-US" altLang="zh-CN" sz="1200"/>
              <a:t>("entity"{tuple_delimiter}SAMUEL NAMARA{tuple_delimiter}PERSON{tuple_delimiter}Aurelian who spent time in Tiruzia's Alhamia Prison)</a:t>
            </a:r>
            <a:endParaRPr lang="en-US" altLang="zh-CN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  <a:p>
            <a:r>
              <a:rPr lang="en-US" altLang="zh-CN" sz="1200"/>
              <a:t>("entity"{tuple_delimiter}ALHAMIA PRISON{tuple_delimiter}GEO{tuple_delimiter}Prison in Tiruzia)</a:t>
            </a:r>
            <a:endParaRPr lang="en-US" altLang="zh-CN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("relationship"{tuple_delimiter}FIRUZABAD{tuple_delimiter}AURELIA{tuple_delimiter}Firuzabad negotiated a hostage exchange with Aurelia{tuple_delimiter}2)</a:t>
            </a:r>
            <a:endParaRPr lang="en-US" altLang="zh-CN" sz="1200"/>
          </a:p>
          <a:p>
            <a:r>
              <a:rPr lang="en-US" altLang="zh-CN" sz="1200"/>
              <a:t>{record_delimiter}</a:t>
            </a:r>
            <a:endParaRPr lang="en-US" altLang="zh-CN" sz="1200"/>
          </a:p>
        </p:txBody>
      </p:sp>
      <p:sp>
        <p:nvSpPr>
          <p:cNvPr id="8" name="文本框 7"/>
          <p:cNvSpPr txBox="1"/>
          <p:nvPr/>
        </p:nvSpPr>
        <p:spPr>
          <a:xfrm>
            <a:off x="609600" y="978535"/>
            <a:ext cx="2304415" cy="239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/>
              <a:t>prompt</a:t>
            </a:r>
            <a:r>
              <a:rPr lang="zh-CN" altLang="en-US" sz="1200"/>
              <a:t>文件路径：</a:t>
            </a:r>
            <a:r>
              <a:rPr lang="en-US" altLang="zh-CN" sz="1200"/>
              <a:t>~/prompts</a:t>
            </a:r>
            <a:endParaRPr lang="zh-CN" altLang="en-US" sz="12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3-</a:t>
            </a:r>
            <a:r>
              <a:rPr lang="zh-CN" altLang="en-US" dirty="0">
                <a:ea typeface="黑体" panose="02010609060101010101" charset="-122"/>
                <a:sym typeface="+mn-ea"/>
              </a:rPr>
              <a:t>知识抽取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ea typeface="黑体" panose="02010609060101010101" charset="-122"/>
                <a:sym typeface="+mn-ea"/>
              </a:rPr>
              <a:t>抽取结果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图谱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示例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 descr="knowledge_graph"/>
          <p:cNvPicPr>
            <a:picLocks noChangeAspect="1"/>
          </p:cNvPicPr>
          <p:nvPr/>
        </p:nvPicPr>
        <p:blipFill>
          <a:blip r:embed="rId1"/>
          <a:srcRect l="33825" t="11346" r="18943" b="57897"/>
          <a:stretch>
            <a:fillRect/>
          </a:stretch>
        </p:blipFill>
        <p:spPr>
          <a:xfrm>
            <a:off x="609600" y="1581150"/>
            <a:ext cx="789813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4-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代码复现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-GraphRAG (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Darren, et al., 2025)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930" y="1123950"/>
            <a:ext cx="5692140" cy="3634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83995" y="4744720"/>
            <a:ext cx="59340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000"/>
              <a:t>From Local to Global: A GraphRAG Approach to Query-Focused Summarization</a:t>
            </a:r>
            <a:endParaRPr lang="en-US" altLang="zh-CN" sz="1000"/>
          </a:p>
          <a:p>
            <a:pPr algn="r"/>
            <a:r>
              <a:rPr lang="en-US" altLang="zh-CN" sz="1000"/>
              <a:t>Code Link: https://github.com/microsoft/graphrag</a:t>
            </a:r>
            <a:endParaRPr lang="en-US" altLang="zh-CN" sz="1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4-</a:t>
            </a:r>
            <a:r>
              <a:rPr lang="zh-CN" altLang="en-US" dirty="0">
                <a:ea typeface="黑体" panose="02010609060101010101" charset="-122"/>
                <a:sym typeface="+mn-ea"/>
              </a:rPr>
              <a:t>代码复现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LightRAG (Guo, et al., EMNLP 2025)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123950"/>
            <a:ext cx="8505825" cy="17983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904" t="2394" b="1862"/>
          <a:stretch>
            <a:fillRect/>
          </a:stretch>
        </p:blipFill>
        <p:spPr>
          <a:xfrm>
            <a:off x="381000" y="3028950"/>
            <a:ext cx="8348980" cy="1600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文本框 1"/>
          <p:cNvSpPr txBox="1"/>
          <p:nvPr/>
        </p:nvSpPr>
        <p:spPr>
          <a:xfrm>
            <a:off x="4495800" y="4705350"/>
            <a:ext cx="3688080" cy="415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1000"/>
              <a:t>LightRAG: Simple and Fast Retrieval-Augmented Generation</a:t>
            </a:r>
            <a:endParaRPr lang="en-US" altLang="zh-CN" sz="1000"/>
          </a:p>
          <a:p>
            <a:pPr algn="r"/>
            <a:r>
              <a:rPr lang="en-US" altLang="zh-CN" sz="1000"/>
              <a:t>Code Link: https://github.com/HKUDS/LightRAG</a:t>
            </a:r>
            <a:endParaRPr lang="en-US" altLang="zh-CN" sz="10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784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4-</a:t>
            </a:r>
            <a:r>
              <a:rPr lang="zh-CN" altLang="en-US" dirty="0">
                <a:ea typeface="黑体" panose="02010609060101010101" charset="-122"/>
                <a:sym typeface="+mn-ea"/>
              </a:rPr>
              <a:t>代码复现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HyperGraphRAG (Haoran, et al., NIPS 2025)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52550"/>
            <a:ext cx="8171815" cy="31984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447800" y="4629150"/>
            <a:ext cx="7018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000"/>
              <a:t>HyperGraphRAG: Retrieval-Augmented Generation via Hypergraph-Structured Knowledge Representation</a:t>
            </a:r>
            <a:endParaRPr lang="en-US" altLang="zh-CN" sz="1000"/>
          </a:p>
          <a:p>
            <a:pPr algn="r"/>
            <a:r>
              <a:rPr lang="en-US" altLang="zh-CN" sz="1000"/>
              <a:t>Code Link: https://github.com/LHRLAB/HyperGraphRAG</a:t>
            </a:r>
            <a:endParaRPr lang="en-US" altLang="zh-CN" sz="10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5&amp;6-</a:t>
            </a:r>
            <a:r>
              <a:rPr lang="zh-CN" altLang="en-US" dirty="0">
                <a:ea typeface="黑体" panose="02010609060101010101" charset="-122"/>
                <a:sym typeface="+mn-ea"/>
              </a:rPr>
              <a:t>测试与</a:t>
            </a:r>
            <a:r>
              <a:rPr lang="zh-CN" altLang="en-US" dirty="0">
                <a:ea typeface="黑体" panose="02010609060101010101" charset="-122"/>
                <a:sym typeface="+mn-ea"/>
              </a:rPr>
              <a:t>集成</a:t>
            </a:r>
            <a:endParaRPr lang="zh-CN" altLang="en-US" dirty="0">
              <a:ea typeface="黑体" panose="02010609060101010101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733550"/>
            <a:ext cx="5956935" cy="32753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57835" y="996315"/>
            <a:ext cx="8500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/>
              <a:t>使用部署完成的</a:t>
            </a:r>
            <a:r>
              <a:rPr lang="en-US" altLang="zh-CN"/>
              <a:t>GraphRAG</a:t>
            </a:r>
            <a:r>
              <a:rPr lang="zh-CN" altLang="en-US"/>
              <a:t>代码，对知识图谱进行检索测试，并构建</a:t>
            </a:r>
            <a:r>
              <a:rPr lang="en-US" altLang="zh-CN"/>
              <a:t>WebUI</a:t>
            </a:r>
            <a:r>
              <a:rPr lang="zh-CN" altLang="en-US"/>
              <a:t>系统；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根据工程师提供的接口文档，对</a:t>
            </a:r>
            <a:r>
              <a:rPr lang="en-US" altLang="zh-CN">
                <a:sym typeface="+mn-ea"/>
              </a:rPr>
              <a:t>GraphRAG</a:t>
            </a:r>
            <a:r>
              <a:rPr lang="zh-CN" altLang="en-US">
                <a:sym typeface="+mn-ea"/>
              </a:rPr>
              <a:t>代码进行修改，为集成</a:t>
            </a:r>
            <a:r>
              <a:rPr lang="zh-CN" altLang="en-US">
                <a:sym typeface="+mn-ea"/>
              </a:rPr>
              <a:t>做准备；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子课题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-2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：多模态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RAG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81000" y="1004570"/>
            <a:ext cx="8307070" cy="9544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任务背景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：传统文本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存在显著局限，大量现实数据为多模态形式，而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OCR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易出错且缺乏跨模态协同，导致语义丢失与推理失败。子课题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-2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以复现多模态</a:t>
            </a:r>
            <a:r>
              <a:rPr lang="en-US" altLang="zh-CN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RAG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为核心，推动系统从纯文本处理向</a:t>
            </a:r>
            <a:r>
              <a:rPr lang="zh-CN" altLang="en-US" sz="1800" b="1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跨模态理解与检索</a:t>
            </a:r>
            <a:r>
              <a:rPr lang="zh-CN" altLang="en-US" sz="1800" b="0" i="0" u="none" strike="noStrike" spc="-10" dirty="0">
                <a:solidFill>
                  <a:schemeClr val="tx1"/>
                </a:solidFill>
                <a:cs typeface="Arial" panose="020B0604020202020204" pitchFamily="34" charset="0"/>
                <a:sym typeface="Noto Sans SC" panose="020B0200000000000000" charset="-122"/>
              </a:rPr>
              <a:t>的全面升级</a:t>
            </a:r>
            <a:endParaRPr lang="zh-CN" altLang="en-US" sz="1800" b="0" i="0" u="none" strike="noStrike" spc="-10" dirty="0">
              <a:solidFill>
                <a:schemeClr val="tx1"/>
              </a:solidFill>
              <a:cs typeface="Arial" panose="020B0604020202020204" pitchFamily="34" charset="0"/>
              <a:sym typeface="Noto Sans SC" panose="020B0200000000000000" charset="-122"/>
            </a:endParaRPr>
          </a:p>
        </p:txBody>
      </p:sp>
      <p:sp>
        <p:nvSpPr>
          <p:cNvPr id="5" name="燕尾形 4"/>
          <p:cNvSpPr/>
          <p:nvPr>
            <p:custDataLst>
              <p:tags r:id="rId1"/>
            </p:custDataLst>
          </p:nvPr>
        </p:nvSpPr>
        <p:spPr>
          <a:xfrm>
            <a:off x="4396740" y="2266950"/>
            <a:ext cx="1524000" cy="838200"/>
          </a:xfrm>
          <a:prstGeom prst="chevr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</a:rPr>
              <a:t>04-</a:t>
            </a:r>
            <a:r>
              <a:rPr lang="zh-CN" altLang="en-US">
                <a:solidFill>
                  <a:schemeClr val="bg1"/>
                </a:solidFill>
              </a:rPr>
              <a:t>基准复现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燕尾形 6"/>
          <p:cNvSpPr/>
          <p:nvPr>
            <p:custDataLst>
              <p:tags r:id="rId2"/>
            </p:custDataLst>
          </p:nvPr>
        </p:nvSpPr>
        <p:spPr>
          <a:xfrm>
            <a:off x="795655" y="2266950"/>
            <a:ext cx="1524000" cy="838200"/>
          </a:xfrm>
          <a:prstGeom prst="chevr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01-</a:t>
            </a:r>
            <a:r>
              <a:rPr lang="zh-CN" altLang="en-US"/>
              <a:t>图像</a:t>
            </a:r>
            <a:r>
              <a:rPr lang="zh-CN" altLang="en-US"/>
              <a:t>采集</a:t>
            </a:r>
            <a:endParaRPr lang="zh-CN" altLang="en-US"/>
          </a:p>
        </p:txBody>
      </p:sp>
      <p:sp>
        <p:nvSpPr>
          <p:cNvPr id="8" name="燕尾形 7"/>
          <p:cNvSpPr/>
          <p:nvPr>
            <p:custDataLst>
              <p:tags r:id="rId3"/>
            </p:custDataLst>
          </p:nvPr>
        </p:nvSpPr>
        <p:spPr>
          <a:xfrm>
            <a:off x="2014855" y="2266950"/>
            <a:ext cx="1524000" cy="83820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02-</a:t>
            </a:r>
            <a:r>
              <a:rPr lang="zh-CN" altLang="en-US">
                <a:sym typeface="+mn-ea"/>
              </a:rPr>
              <a:t>文本采集</a:t>
            </a:r>
            <a:endParaRPr lang="zh-CN" altLang="en-US">
              <a:sym typeface="+mn-ea"/>
            </a:endParaRPr>
          </a:p>
        </p:txBody>
      </p:sp>
      <p:sp>
        <p:nvSpPr>
          <p:cNvPr id="9" name="燕尾形 8"/>
          <p:cNvSpPr/>
          <p:nvPr>
            <p:custDataLst>
              <p:tags r:id="rId4"/>
            </p:custDataLst>
          </p:nvPr>
        </p:nvSpPr>
        <p:spPr>
          <a:xfrm>
            <a:off x="3234055" y="2266950"/>
            <a:ext cx="1524000" cy="838200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03-</a:t>
            </a:r>
            <a:r>
              <a:rPr lang="zh-CN" altLang="en-US">
                <a:sym typeface="+mn-ea"/>
              </a:rPr>
              <a:t>表格采集</a:t>
            </a:r>
            <a:endParaRPr lang="zh-CN" altLang="en-US">
              <a:sym typeface="+mn-ea"/>
            </a:endParaRPr>
          </a:p>
        </p:txBody>
      </p:sp>
      <p:sp>
        <p:nvSpPr>
          <p:cNvPr id="10" name="燕尾形 9"/>
          <p:cNvSpPr/>
          <p:nvPr>
            <p:custDataLst>
              <p:tags r:id="rId5"/>
            </p:custDataLst>
          </p:nvPr>
        </p:nvSpPr>
        <p:spPr>
          <a:xfrm>
            <a:off x="5638800" y="2266950"/>
            <a:ext cx="1524000" cy="838200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05-RAG</a:t>
            </a:r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11" name="燕尾形 10"/>
          <p:cNvSpPr/>
          <p:nvPr>
            <p:custDataLst>
              <p:tags r:id="rId6"/>
            </p:custDataLst>
          </p:nvPr>
        </p:nvSpPr>
        <p:spPr>
          <a:xfrm>
            <a:off x="6858000" y="2266950"/>
            <a:ext cx="1524000" cy="8382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06-</a:t>
            </a:r>
            <a:r>
              <a:rPr lang="zh-CN" altLang="en-US"/>
              <a:t>封装集成</a:t>
            </a:r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4385310" y="333375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MRAG </a:t>
            </a:r>
            <a:r>
              <a:rPr lang="zh-CN" altLang="en-US">
                <a:solidFill>
                  <a:schemeClr val="tx1"/>
                </a:solidFill>
              </a:rPr>
              <a:t> 开源代码复现，对齐论文基准指标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784225" y="333375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仿真态势图、遥感</a:t>
            </a:r>
            <a:r>
              <a:rPr lang="zh-CN" altLang="en-US">
                <a:solidFill>
                  <a:schemeClr val="tx1"/>
                </a:solidFill>
              </a:rPr>
              <a:t>图像采集，配套</a:t>
            </a:r>
            <a:r>
              <a:rPr lang="zh-CN" altLang="en-US">
                <a:solidFill>
                  <a:schemeClr val="tx1"/>
                </a:solidFill>
              </a:rPr>
              <a:t>对应文本描述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2003425" y="333375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作战案例文本数据</a:t>
            </a:r>
            <a:r>
              <a:rPr lang="zh-CN" altLang="en-US">
                <a:solidFill>
                  <a:schemeClr val="tx1"/>
                </a:solidFill>
              </a:rPr>
              <a:t>采集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3200400" y="3333750"/>
            <a:ext cx="1180465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rIns="0"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作战飞机参数表格数据</a:t>
            </a:r>
            <a:r>
              <a:rPr lang="zh-CN" altLang="en-US">
                <a:solidFill>
                  <a:schemeClr val="tx1"/>
                </a:solidFill>
              </a:rPr>
              <a:t>采集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>
            <p:custDataLst>
              <p:tags r:id="rId11"/>
            </p:custDataLst>
          </p:nvPr>
        </p:nvSpPr>
        <p:spPr>
          <a:xfrm>
            <a:off x="5627370" y="333375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0170" rIns="90170"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输入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查询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，执行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MRAG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检索与回答生成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12"/>
            </p:custDataLst>
          </p:nvPr>
        </p:nvSpPr>
        <p:spPr>
          <a:xfrm>
            <a:off x="6846570" y="3333750"/>
            <a:ext cx="112776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代码封装</a:t>
            </a:r>
            <a:r>
              <a:rPr lang="zh-CN" altLang="en-US">
                <a:solidFill>
                  <a:schemeClr val="tx1"/>
                </a:solidFill>
              </a:rPr>
              <a:t>集成接入规划系统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8" name="直接连接符 17"/>
          <p:cNvCxnSpPr>
            <a:stCxn id="5" idx="2"/>
            <a:endCxn id="12" idx="0"/>
          </p:cNvCxnSpPr>
          <p:nvPr>
            <p:custDataLst>
              <p:tags r:id="rId13"/>
            </p:custDataLst>
          </p:nvPr>
        </p:nvCxnSpPr>
        <p:spPr>
          <a:xfrm>
            <a:off x="4949190" y="310515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7" idx="2"/>
            <a:endCxn id="13" idx="0"/>
          </p:cNvCxnSpPr>
          <p:nvPr>
            <p:custDataLst>
              <p:tags r:id="rId14"/>
            </p:custDataLst>
          </p:nvPr>
        </p:nvCxnSpPr>
        <p:spPr>
          <a:xfrm>
            <a:off x="1348105" y="310515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8" idx="2"/>
            <a:endCxn id="14" idx="0"/>
          </p:cNvCxnSpPr>
          <p:nvPr>
            <p:custDataLst>
              <p:tags r:id="rId15"/>
            </p:custDataLst>
          </p:nvPr>
        </p:nvCxnSpPr>
        <p:spPr>
          <a:xfrm>
            <a:off x="2567305" y="310515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9" idx="2"/>
            <a:endCxn id="15" idx="0"/>
          </p:cNvCxnSpPr>
          <p:nvPr>
            <p:custDataLst>
              <p:tags r:id="rId16"/>
            </p:custDataLst>
          </p:nvPr>
        </p:nvCxnSpPr>
        <p:spPr>
          <a:xfrm>
            <a:off x="3786505" y="3105150"/>
            <a:ext cx="4445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0" idx="2"/>
            <a:endCxn id="16" idx="0"/>
          </p:cNvCxnSpPr>
          <p:nvPr>
            <p:custDataLst>
              <p:tags r:id="rId17"/>
            </p:custDataLst>
          </p:nvPr>
        </p:nvCxnSpPr>
        <p:spPr>
          <a:xfrm>
            <a:off x="6191250" y="310515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11" idx="2"/>
            <a:endCxn id="3" idx="0"/>
          </p:cNvCxnSpPr>
          <p:nvPr>
            <p:custDataLst>
              <p:tags r:id="rId18"/>
            </p:custDataLst>
          </p:nvPr>
        </p:nvCxnSpPr>
        <p:spPr>
          <a:xfrm>
            <a:off x="7410450" y="3105150"/>
            <a:ext cx="0" cy="2286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1-</a:t>
            </a:r>
            <a:r>
              <a:rPr lang="zh-CN" altLang="en-US" dirty="0">
                <a:ea typeface="黑体" panose="02010609060101010101" charset="-122"/>
                <a:sym typeface="+mn-ea"/>
              </a:rPr>
              <a:t>图像数据采集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ea typeface="黑体" panose="02010609060101010101" charset="-122"/>
                <a:sym typeface="+mn-ea"/>
              </a:rPr>
              <a:t>态势图</a:t>
            </a:r>
            <a:r>
              <a:rPr lang="zh-CN" altLang="en-US" dirty="0">
                <a:ea typeface="黑体" panose="02010609060101010101" charset="-122"/>
                <a:sym typeface="+mn-ea"/>
              </a:rPr>
              <a:t>像数据</a:t>
            </a:r>
            <a:endParaRPr lang="zh-CN" altLang="en-US" dirty="0">
              <a:ea typeface="黑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4810" y="1123950"/>
            <a:ext cx="7411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zh-CN"/>
              <a:t>AFSim </a:t>
            </a:r>
            <a:r>
              <a:rPr lang="zh-CN" altLang="en-US"/>
              <a:t>仿真系统空战态势</a:t>
            </a:r>
            <a:r>
              <a:rPr lang="zh-CN" altLang="en-US"/>
              <a:t>图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809750"/>
            <a:ext cx="4064000" cy="26403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09750"/>
            <a:ext cx="4248785" cy="264033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ea typeface="黑体" panose="02010609060101010101" charset="-122"/>
                <a:sym typeface="+mn-ea"/>
              </a:rPr>
              <a:t>1-</a:t>
            </a:r>
            <a:r>
              <a:rPr lang="zh-CN" altLang="en-US" dirty="0">
                <a:ea typeface="黑体" panose="02010609060101010101" charset="-122"/>
                <a:sym typeface="+mn-ea"/>
              </a:rPr>
              <a:t>图像数据采集</a:t>
            </a:r>
            <a:r>
              <a:rPr lang="en-US" altLang="zh-CN" dirty="0">
                <a:ea typeface="黑体" panose="02010609060101010101" charset="-122"/>
                <a:sym typeface="+mn-ea"/>
              </a:rPr>
              <a:t>-</a:t>
            </a:r>
            <a:r>
              <a:rPr lang="zh-CN" altLang="en-US" dirty="0">
                <a:ea typeface="黑体" panose="02010609060101010101" charset="-122"/>
                <a:sym typeface="+mn-ea"/>
              </a:rPr>
              <a:t>遥感图</a:t>
            </a:r>
            <a:r>
              <a:rPr lang="zh-CN" altLang="en-US" dirty="0">
                <a:ea typeface="黑体" panose="02010609060101010101" charset="-122"/>
                <a:sym typeface="+mn-ea"/>
              </a:rPr>
              <a:t>像数据</a:t>
            </a:r>
            <a:endParaRPr lang="zh-CN" altLang="en-US" dirty="0">
              <a:ea typeface="黑体" panose="0201060906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0195" y="1123950"/>
            <a:ext cx="7411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军事</a:t>
            </a:r>
            <a:r>
              <a:rPr lang="zh-CN" altLang="en-US"/>
              <a:t>飞机目标遥感</a:t>
            </a:r>
            <a:r>
              <a:rPr lang="zh-CN" altLang="en-US"/>
              <a:t>图像</a:t>
            </a:r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762000" y="1711325"/>
            <a:ext cx="3464560" cy="27000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33550"/>
            <a:ext cx="3873500" cy="268097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1-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图像数据采集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图像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预处理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9265" y="1047750"/>
            <a:ext cx="8164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>
                <a:solidFill>
                  <a:schemeClr val="tx1"/>
                </a:solidFill>
                <a:sym typeface="+mn-ea"/>
              </a:rPr>
              <a:t>按照参考论文的图像数据的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要求，对态势图片进行格式（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jpg/png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）、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裁剪、分辨率等预处理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步骤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0" y="1733550"/>
            <a:ext cx="2148840" cy="1397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"/>
          <a:srcRect l="18203" t="21818" r="10875"/>
          <a:stretch>
            <a:fillRect/>
          </a:stretch>
        </p:blipFill>
        <p:spPr>
          <a:xfrm>
            <a:off x="5410200" y="1733550"/>
            <a:ext cx="1986280" cy="1423670"/>
          </a:xfrm>
          <a:prstGeom prst="rect">
            <a:avLst/>
          </a:prstGeom>
        </p:spPr>
      </p:pic>
      <p:sp>
        <p:nvSpPr>
          <p:cNvPr id="32" name="右箭头 31"/>
          <p:cNvSpPr/>
          <p:nvPr>
            <p:custDataLst>
              <p:tags r:id="rId3"/>
            </p:custDataLst>
          </p:nvPr>
        </p:nvSpPr>
        <p:spPr>
          <a:xfrm>
            <a:off x="4953000" y="2266950"/>
            <a:ext cx="304800" cy="3810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4"/>
            </p:custDataLst>
          </p:nvPr>
        </p:nvSpPr>
        <p:spPr>
          <a:xfrm>
            <a:off x="689610" y="1733550"/>
            <a:ext cx="454660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裁剪</a:t>
            </a:r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"/>
          <a:srcRect l="18203" t="21818" r="10875"/>
          <a:stretch>
            <a:fillRect/>
          </a:stretch>
        </p:blipFill>
        <p:spPr>
          <a:xfrm>
            <a:off x="7171690" y="3536315"/>
            <a:ext cx="1492250" cy="1031240"/>
          </a:xfrm>
          <a:prstGeom prst="rect">
            <a:avLst/>
          </a:prstGeom>
        </p:spPr>
      </p:pic>
      <p:sp>
        <p:nvSpPr>
          <p:cNvPr id="35" name="右箭头 34"/>
          <p:cNvSpPr/>
          <p:nvPr>
            <p:custDataLst>
              <p:tags r:id="rId6"/>
            </p:custDataLst>
          </p:nvPr>
        </p:nvSpPr>
        <p:spPr>
          <a:xfrm>
            <a:off x="4953000" y="3943350"/>
            <a:ext cx="304800" cy="3810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800">
              <a:latin typeface="Arial" panose="020B0604020202020204" pitchFamily="34" charset="0"/>
              <a:ea typeface="Arial" panose="020B0604020202020204" pitchFamily="34" charset="0"/>
              <a:cs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689610" y="3535680"/>
            <a:ext cx="675640" cy="1139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大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小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统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一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8"/>
          <a:srcRect l="23315" t="21212" r="15708" b="7648"/>
          <a:stretch>
            <a:fillRect/>
          </a:stretch>
        </p:blipFill>
        <p:spPr>
          <a:xfrm>
            <a:off x="1219200" y="3535680"/>
            <a:ext cx="1547495" cy="112268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"/>
          <a:srcRect l="18203" t="21818" r="10875"/>
          <a:stretch>
            <a:fillRect/>
          </a:stretch>
        </p:blipFill>
        <p:spPr>
          <a:xfrm>
            <a:off x="2851150" y="3535680"/>
            <a:ext cx="1966595" cy="135890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8"/>
          <a:srcRect l="23315" t="21212" r="15708" b="13442"/>
          <a:stretch>
            <a:fillRect/>
          </a:stretch>
        </p:blipFill>
        <p:spPr>
          <a:xfrm>
            <a:off x="5410200" y="3535680"/>
            <a:ext cx="1547495" cy="1031240"/>
          </a:xfrm>
          <a:prstGeom prst="rect">
            <a:avLst/>
          </a:prstGeom>
        </p:spPr>
      </p:pic>
      <p:cxnSp>
        <p:nvCxnSpPr>
          <p:cNvPr id="40" name="直接连接符 39"/>
          <p:cNvCxnSpPr/>
          <p:nvPr/>
        </p:nvCxnSpPr>
        <p:spPr>
          <a:xfrm>
            <a:off x="834390" y="3346450"/>
            <a:ext cx="792861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文本框 8"/>
          <p:cNvSpPr txBox="1"/>
          <p:nvPr/>
        </p:nvSpPr>
        <p:spPr>
          <a:xfrm>
            <a:off x="533400" y="1276350"/>
            <a:ext cx="7854950" cy="3455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1" indent="457200"/>
            <a:r>
              <a:rPr lang="zh-CN" altLang="en-US" sz="1600"/>
              <a:t>美军空袭的斩首开局，代号“白雪行动”。1991年1月17日凌晨2点38分，沙漠风暴行动正式打响，美军根本没先派主力战机冲上去，而是率先出动</a:t>
            </a:r>
            <a:r>
              <a:rPr lang="en-US" altLang="zh-CN" sz="1600"/>
              <a:t>EF-111、EA-6B</a:t>
            </a:r>
            <a:r>
              <a:rPr lang="zh-CN" altLang="en-US" sz="1600"/>
              <a:t>和</a:t>
            </a:r>
            <a:r>
              <a:rPr lang="en-US" altLang="zh-CN" sz="1600"/>
              <a:t>EC-130H</a:t>
            </a:r>
            <a:r>
              <a:rPr lang="zh-CN" altLang="en-US" sz="1600"/>
              <a:t>三款电子战飞机，组成电子战编队，对伊拉克全境的雷达、通信、防空指挥系统，发动了全频段、无死角的电磁压制，这也是全球战争史上，第一次把电子战当成开战核心先手。</a:t>
            </a:r>
            <a:endParaRPr lang="zh-CN" altLang="en-US" sz="1600"/>
          </a:p>
          <a:p>
            <a:endParaRPr lang="en-US" altLang="zh-CN" sz="1600"/>
          </a:p>
          <a:p>
            <a:pPr indent="457200"/>
            <a:r>
              <a:rPr lang="zh-CN" altLang="en-US" sz="1600"/>
              <a:t>美军的电子战策略分三大杀招，招招致命：</a:t>
            </a:r>
            <a:endParaRPr lang="zh-CN" altLang="en-US" sz="1600"/>
          </a:p>
          <a:p>
            <a:pPr indent="457200"/>
            <a:r>
              <a:rPr lang="zh-CN" altLang="en-US" sz="1600" b="1"/>
              <a:t>第一</a:t>
            </a:r>
            <a:r>
              <a:rPr lang="zh-CN" altLang="en-US" sz="1600"/>
              <a:t>是压制性干扰，发射大功率电磁信号，直接把伊军雷达屏幕糊成一片雪花，根本探测不到任何空中目标；</a:t>
            </a:r>
            <a:endParaRPr lang="zh-CN" altLang="en-US" sz="1600"/>
          </a:p>
          <a:p>
            <a:pPr indent="457200"/>
            <a:r>
              <a:rPr lang="zh-CN" altLang="en-US" sz="1600" b="1"/>
              <a:t>第二</a:t>
            </a:r>
            <a:r>
              <a:rPr lang="zh-CN" altLang="en-US" sz="1600"/>
              <a:t>是欺骗性干扰，发射130多枚</a:t>
            </a:r>
            <a:r>
              <a:rPr lang="en-US" altLang="zh-CN" sz="1600"/>
              <a:t>ADM-141</a:t>
            </a:r>
            <a:r>
              <a:rPr lang="zh-CN" altLang="en-US" sz="1600"/>
              <a:t>战术空射诱饵，模拟战机飞行信号，诱骗伊军防空导弹开火，白白消耗防空火力；</a:t>
            </a:r>
            <a:endParaRPr lang="zh-CN" altLang="en-US" sz="1600"/>
          </a:p>
          <a:p>
            <a:pPr indent="457200"/>
            <a:r>
              <a:rPr lang="zh-CN" altLang="en-US" sz="1600" b="1"/>
              <a:t>第三</a:t>
            </a:r>
            <a:r>
              <a:rPr lang="zh-CN" altLang="en-US" sz="1600"/>
              <a:t>就是反辐射攻击，用</a:t>
            </a:r>
            <a:r>
              <a:rPr lang="en-US" altLang="zh-CN" sz="1600"/>
              <a:t>AGM-88“</a:t>
            </a:r>
            <a:r>
              <a:rPr lang="zh-CN" altLang="en-US" sz="1600"/>
              <a:t>哈姆”反辐射导弹，顺着雷达信号源，直接精准摧毁雷达设施本身。这一套组合拳打下来，伊军的防空网络直接变成“聋子”和“瞎子”，上下指挥通信彻底中断。</a:t>
            </a:r>
            <a:endParaRPr lang="zh-CN" altLang="en-US" sz="1600"/>
          </a:p>
        </p:txBody>
      </p:sp>
      <p:sp>
        <p:nvSpPr>
          <p:cNvPr id="10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20"/>
              </a:spcBef>
              <a:buClrTx/>
              <a:buSzTx/>
              <a:buFontTx/>
            </a:pPr>
            <a:r>
              <a:rPr lang="en-US" altLang="zh-CN" dirty="0">
                <a:ea typeface="黑体" panose="02010609060101010101" charset="-122"/>
                <a:sym typeface="+mn-ea"/>
              </a:rPr>
              <a:t>2-</a:t>
            </a:r>
            <a:r>
              <a:rPr lang="zh-CN" altLang="en-US" dirty="0">
                <a:ea typeface="黑体" panose="02010609060101010101" charset="-122"/>
                <a:sym typeface="+mn-ea"/>
              </a:rPr>
              <a:t>文本数据采集</a:t>
            </a:r>
            <a:r>
              <a:rPr lang="zh-CN" altLang="en-US" dirty="0">
                <a:ea typeface="黑体" panose="02010609060101010101" charset="-122"/>
                <a:sym typeface="+mn-ea"/>
              </a:rPr>
              <a:t>（海湾战争、</a:t>
            </a:r>
            <a:r>
              <a:rPr lang="zh-CN" altLang="en-US" dirty="0">
                <a:ea typeface="黑体" panose="02010609060101010101" charset="-122"/>
                <a:sym typeface="+mn-ea"/>
              </a:rPr>
              <a:t>阿富汗战争、美伊战争）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20"/>
              </a:spcBef>
              <a:buClrTx/>
              <a:buSzTx/>
              <a:buFontTx/>
            </a:pPr>
            <a:r>
              <a:rPr lang="en-US" altLang="zh-CN" dirty="0">
                <a:ea typeface="黑体" panose="02010609060101010101" charset="-122"/>
                <a:sym typeface="+mn-ea"/>
              </a:rPr>
              <a:t>3-</a:t>
            </a:r>
            <a:r>
              <a:rPr lang="zh-CN" altLang="en-US" dirty="0">
                <a:ea typeface="黑体" panose="02010609060101010101" charset="-122"/>
                <a:sym typeface="+mn-ea"/>
              </a:rPr>
              <a:t>表格数据采集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（</a:t>
            </a: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装备参数）</a:t>
            </a:r>
            <a:endParaRPr lang="zh-CN" altLang="en-US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143000" y="1276350"/>
          <a:ext cx="6924675" cy="3169920"/>
        </p:xfrm>
        <a:graphic>
          <a:graphicData uri="http://schemas.openxmlformats.org/drawingml/2006/table">
            <a:tbl>
              <a:tblPr/>
              <a:tblGrid>
                <a:gridCol w="1648460"/>
                <a:gridCol w="5276215"/>
              </a:tblGrid>
              <a:tr h="0">
                <a:tc gridSpan="2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libri" panose="020F0502020204030204"/>
                          <a:ea typeface="Calibri" panose="020F0502020204030204"/>
                        </a:rPr>
                        <a:t>B-2</a:t>
                      </a: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隐身轰炸机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最大速度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libri" panose="020F0502020204030204"/>
                          <a:ea typeface="Calibri" panose="020F0502020204030204"/>
                        </a:rPr>
                        <a:t>1100 km/h</a:t>
                      </a:r>
                      <a:endParaRPr lang="en-US" altLang="zh-CN" sz="16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巡航速度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libri" panose="020F0502020204030204"/>
                          <a:ea typeface="Calibri" panose="020F0502020204030204"/>
                        </a:rPr>
                        <a:t>900 km/h</a:t>
                      </a:r>
                      <a:endParaRPr lang="en-US" altLang="zh-CN" sz="16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最大航程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libri" panose="020F0502020204030204"/>
                          <a:ea typeface="Calibri" panose="020F0502020204030204"/>
                        </a:rPr>
                        <a:t>10400 km</a:t>
                      </a:r>
                      <a:endParaRPr lang="en-US" altLang="zh-CN" sz="16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最大升限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libri" panose="020F0502020204030204"/>
                          <a:ea typeface="Calibri" panose="020F0502020204030204"/>
                        </a:rPr>
                        <a:t>15000 m</a:t>
                      </a:r>
                      <a:endParaRPr lang="en-US" altLang="zh-CN" sz="16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空重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libri" panose="020F0502020204030204"/>
                          <a:ea typeface="Calibri" panose="020F0502020204030204"/>
                        </a:rPr>
                        <a:t>71700 kg</a:t>
                      </a:r>
                      <a:endParaRPr lang="en-US" altLang="zh-CN" sz="16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最大起飞重量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>
                          <a:latin typeface="Calibri" panose="020F0502020204030204"/>
                          <a:ea typeface="Calibri" panose="020F0502020204030204"/>
                        </a:rPr>
                        <a:t>170600 kg</a:t>
                      </a:r>
                      <a:endParaRPr lang="en-US" altLang="zh-CN" sz="16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>
                          <a:latin typeface="Calibri" panose="020F0502020204030204"/>
                          <a:ea typeface="宋体" panose="02010600030101010101" pitchFamily="2" charset="-122"/>
                        </a:rPr>
                        <a:t>支持的武器挂载</a:t>
                      </a:r>
                      <a:endParaRPr lang="zh-CN" sz="1600">
                        <a:latin typeface="Calibri" panose="020F05020202040302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Mk-82 500</a:t>
                      </a:r>
                      <a:r>
                        <a:rPr lang="zh-CN" altLang="en-US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磅低阻力通用炸弹（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最大挂载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80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枚）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;</a:t>
                      </a:r>
                      <a:endParaRPr lang="en-US" altLang="zh-CN" sz="160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CBU-87</a:t>
                      </a:r>
                      <a:r>
                        <a:rPr lang="zh-CN" altLang="en-US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等集束炸弹（最大挂载36枚）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;</a:t>
                      </a:r>
                      <a:endParaRPr lang="zh-CN" altLang="en-US" sz="160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GBU-31 JDAM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（联合直接攻击弹药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,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最大挂载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16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枚）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;</a:t>
                      </a:r>
                      <a:endParaRPr lang="en-US" altLang="zh-CN" sz="160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GBU-57 </a:t>
                      </a:r>
                      <a:r>
                        <a:rPr lang="zh-CN" altLang="en-US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巨型钻地弹（最大挂载2枚）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;</a:t>
                      </a:r>
                      <a:endParaRPr lang="zh-CN" altLang="en-US" sz="160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AGM-129 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先进巡航导弹（可带核弹头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,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最大挂载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16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枚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;</a:t>
                      </a:r>
                      <a:endParaRPr lang="en-US" altLang="zh-CN" sz="160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B-61 </a:t>
                      </a:r>
                      <a:r>
                        <a:rPr lang="zh-CN" altLang="en-US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或 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B-83 </a:t>
                      </a:r>
                      <a:r>
                        <a:rPr lang="zh-CN" altLang="en-US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核炸弹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(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最大挂载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16</a:t>
                      </a:r>
                      <a:r>
                        <a:rPr 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宋体" panose="02010600030101010101" pitchFamily="2" charset="-122"/>
                        </a:rPr>
                        <a:t>枚</a:t>
                      </a:r>
                      <a:r>
                        <a:rPr lang="en-US" altLang="zh-CN" sz="1600" i="0">
                          <a:solidFill>
                            <a:srgbClr val="0F1115"/>
                          </a:solidFill>
                          <a:latin typeface="Segoe UI" panose="020B0502040204020203"/>
                          <a:ea typeface="Segoe UI" panose="020B0502040204020203"/>
                        </a:rPr>
                        <a:t>)</a:t>
                      </a:r>
                      <a:endParaRPr lang="en-US" altLang="zh-CN" sz="1600" i="0">
                        <a:solidFill>
                          <a:srgbClr val="0F1115"/>
                        </a:solidFill>
                        <a:latin typeface="Segoe UI" panose="020B0502040204020203"/>
                        <a:ea typeface="Segoe UI" panose="020B0502040204020203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  <a:sym typeface="+mn-ea"/>
              </a:rPr>
              <a:t>VISRAG 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(Shi, et al., 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ICLR 2025)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123950"/>
            <a:ext cx="7773035" cy="33743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957705" y="4629150"/>
            <a:ext cx="6424930" cy="442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sz="1000"/>
              <a:t>VISRAG: VISION-BASED RETRIEVAL-AUGMENTED GENERATION ON MULTI-MODALITY DOCUMENTS</a:t>
            </a:r>
            <a:endParaRPr lang="en-US" altLang="zh-CN" sz="1000"/>
          </a:p>
          <a:p>
            <a:pPr algn="r"/>
            <a:r>
              <a:rPr lang="en-US" altLang="zh-CN" sz="1000"/>
              <a:t>Code Link</a:t>
            </a:r>
            <a:r>
              <a:rPr lang="zh-CN" altLang="en-US" sz="1000">
                <a:ea typeface="宋体" panose="02010600030101010101" pitchFamily="2" charset="-122"/>
              </a:rPr>
              <a:t>：</a:t>
            </a:r>
            <a:r>
              <a:rPr lang="en-US" altLang="zh-CN" sz="1000">
                <a:ea typeface="宋体" panose="02010600030101010101" pitchFamily="2" charset="-122"/>
              </a:rPr>
              <a:t>https://github.com/openbmb/visrag</a:t>
            </a:r>
            <a:endParaRPr lang="en-US" altLang="zh-CN" sz="100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HM-RAG (Pei, et al., ACM MM 2025)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047750"/>
            <a:ext cx="7901940" cy="36525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91435" y="4698365"/>
            <a:ext cx="5561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000"/>
              <a:t>HM-RAG: Hierarchical Multi-Agent Multimodal Retrieval Augmented Generation</a:t>
            </a:r>
            <a:endParaRPr lang="en-US" altLang="zh-CN" sz="1000"/>
          </a:p>
          <a:p>
            <a:pPr algn="r"/>
            <a:r>
              <a:rPr lang="en-US" altLang="zh-CN" sz="1000"/>
              <a:t>Code Link: https://github.com/ocean-luna/HMRAG</a:t>
            </a:r>
            <a:endParaRPr lang="en-US" altLang="zh-CN" sz="10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RAG-Anything (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Zirui, et al., 2025)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91435" y="4698365"/>
            <a:ext cx="5561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en-US" altLang="zh-CN" sz="1000"/>
              <a:t>RAG-ANYTHING: ALL-IN-ONE RAG FRAMEWORK</a:t>
            </a:r>
            <a:endParaRPr lang="en-US" altLang="zh-CN" sz="1000"/>
          </a:p>
          <a:p>
            <a:pPr algn="r"/>
            <a:r>
              <a:rPr lang="en-US" altLang="zh-CN" sz="1000"/>
              <a:t>Code Link: https://github.com/HKUDS/RAG-Anything</a:t>
            </a:r>
            <a:endParaRPr lang="en-US" altLang="zh-CN" sz="1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7750"/>
            <a:ext cx="7955280" cy="355854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4725" y="505248"/>
            <a:ext cx="7316470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zh-CN" altLang="en-US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验收成果</a:t>
            </a:r>
            <a:r>
              <a:rPr lang="en-US" altLang="zh-CN" dirty="0">
                <a:latin typeface="Arial" panose="020B0604020202020204" pitchFamily="34" charset="0"/>
                <a:ea typeface="黑体" panose="02010609060101010101" charset="-122"/>
                <a:cs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  <a:ea typeface="黑体" panose="02010609060101010101" charset="-122"/>
              <a:cs typeface="Arial" panose="020B0604020202020204" pitchFamily="34" charset="0"/>
            </a:endParaRPr>
          </a:p>
        </p:txBody>
      </p:sp>
      <p:sp>
        <p:nvSpPr>
          <p:cNvPr id="17" name="AutoShape 6"/>
          <p:cNvSpPr/>
          <p:nvPr>
            <p:custDataLst>
              <p:tags r:id="rId1"/>
            </p:custDataLst>
          </p:nvPr>
        </p:nvSpPr>
        <p:spPr>
          <a:xfrm>
            <a:off x="454025" y="1266190"/>
            <a:ext cx="3980815" cy="347726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8"/>
          <p:cNvSpPr/>
          <p:nvPr>
            <p:custDataLst>
              <p:tags r:id="rId2"/>
            </p:custDataLst>
          </p:nvPr>
        </p:nvSpPr>
        <p:spPr>
          <a:xfrm>
            <a:off x="1586865" y="1352550"/>
            <a:ext cx="14966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altLang="zh-CN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GraphRAG</a:t>
            </a:r>
            <a:endParaRPr lang="en-US" altLang="zh-CN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11"/>
          <p:cNvSpPr/>
          <p:nvPr>
            <p:custDataLst>
              <p:tags r:id="rId3"/>
            </p:custDataLst>
          </p:nvPr>
        </p:nvSpPr>
        <p:spPr>
          <a:xfrm>
            <a:off x="609600" y="1885950"/>
            <a:ext cx="3814445" cy="25628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条令条例文档数量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≥</a:t>
            </a:r>
            <a:r>
              <a:rPr lang="en-US" altLang="zh-CN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3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、作战案例文档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数量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≥</a:t>
            </a:r>
            <a:r>
              <a:rPr lang="en-US" altLang="zh-CN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5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；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知识图谱的设计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范式；对应的知识图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谱结构数据；</a:t>
            </a: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完整可运行的</a:t>
            </a:r>
            <a:r>
              <a:rPr lang="en-US" altLang="zh-CN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GraphRAG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代码和模型，可以集成进规划系统；</a:t>
            </a: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独立可展示的</a:t>
            </a:r>
            <a:r>
              <a:rPr lang="en-US" altLang="zh-CN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GraphRAG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系统，以</a:t>
            </a:r>
            <a:r>
              <a:rPr lang="en-US" altLang="zh-CN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WebUI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形式展示。</a:t>
            </a: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endParaRPr lang="zh-CN" altLang="en-US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AutoShape 6"/>
          <p:cNvSpPr/>
          <p:nvPr>
            <p:custDataLst>
              <p:tags r:id="rId4"/>
            </p:custDataLst>
          </p:nvPr>
        </p:nvSpPr>
        <p:spPr>
          <a:xfrm>
            <a:off x="4632960" y="1266190"/>
            <a:ext cx="4137660" cy="346519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chemeClr val="bg1">
                <a:lumMod val="85000"/>
                <a:alpha val="3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8"/>
          <p:cNvSpPr/>
          <p:nvPr>
            <p:custDataLst>
              <p:tags r:id="rId5"/>
            </p:custDataLst>
          </p:nvPr>
        </p:nvSpPr>
        <p:spPr>
          <a:xfrm>
            <a:off x="5943600" y="1352550"/>
            <a:ext cx="14966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</a:t>
            </a:r>
            <a:r>
              <a:rPr lang="en-US" altLang="zh-CN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</a:t>
            </a:r>
            <a:endParaRPr lang="en-US" altLang="zh-CN" sz="18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11"/>
          <p:cNvSpPr/>
          <p:nvPr>
            <p:custDataLst>
              <p:tags r:id="rId6"/>
            </p:custDataLst>
          </p:nvPr>
        </p:nvSpPr>
        <p:spPr>
          <a:xfrm>
            <a:off x="4800600" y="1773555"/>
            <a:ext cx="3931920" cy="21012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buFont typeface="Wingdings" panose="05000000000000000000" charset="0"/>
              <a:buNone/>
              <a:defRPr/>
            </a:pPr>
            <a:endParaRPr lang="en-US" altLang="zh-CN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en-US" altLang="zh-CN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en-US" altLang="zh-CN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态势图片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数量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≥</a:t>
            </a:r>
            <a:r>
              <a:rPr lang="en-US" altLang="zh-CN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30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、遥感图片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数量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≥</a:t>
            </a:r>
            <a:r>
              <a:rPr lang="en-US" altLang="zh-CN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30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，装备参数表格≥</a:t>
            </a:r>
            <a:r>
              <a:rPr lang="en-US" altLang="zh-CN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10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作战案例文档数量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≥</a:t>
            </a:r>
            <a:r>
              <a:rPr lang="en-US" altLang="zh-CN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5</a:t>
            </a:r>
            <a:r>
              <a:rPr lang="zh-CN" altLang="en-US" sz="1600">
                <a:solidFill>
                  <a:schemeClr val="tx1"/>
                </a:solidFill>
                <a:ea typeface="Noto Sans SC" panose="020B0200000000000000" charset="-122"/>
                <a:cs typeface="Arial" panose="020B0604020202020204" pitchFamily="34" charset="0"/>
                <a:sym typeface="+mn-ea"/>
              </a:rPr>
              <a:t>；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对应的多模态数据库</a:t>
            </a:r>
            <a:r>
              <a:rPr lang="zh-CN" altLang="en-US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；</a:t>
            </a: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完整可运行的</a:t>
            </a:r>
            <a:r>
              <a:rPr lang="zh-CN" altLang="en-US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多模态</a:t>
            </a:r>
            <a:r>
              <a:rPr lang="en-US" altLang="zh-CN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RAG</a:t>
            </a:r>
            <a:r>
              <a:rPr lang="zh-CN" altLang="en-US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代码和模型，可以集成进规划系统；</a:t>
            </a:r>
            <a:endParaRPr lang="zh-CN" altLang="en-US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r>
              <a:rPr lang="zh-CN" altLang="en-US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独立可展示的多模态</a:t>
            </a:r>
            <a:r>
              <a:rPr lang="en-US" altLang="zh-CN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RAG</a:t>
            </a:r>
            <a:r>
              <a:rPr lang="zh-CN" altLang="en-US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系统，以</a:t>
            </a:r>
            <a:r>
              <a:rPr lang="en-US" altLang="zh-CN" sz="160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WebUI</a:t>
            </a:r>
            <a:r>
              <a:rPr lang="zh-CN" altLang="en-US" sz="16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形式展示。</a:t>
            </a:r>
            <a:endParaRPr lang="zh-CN" altLang="en-US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85750" indent="-285750" algn="l">
              <a:lnSpc>
                <a:spcPct val="117000"/>
              </a:lnSpc>
              <a:buFont typeface="Wingdings" panose="05000000000000000000" charset="0"/>
              <a:buChar char="l"/>
              <a:defRPr/>
            </a:pPr>
            <a:endParaRPr lang="zh-CN" altLang="en-US" sz="16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2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3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4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5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6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7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8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9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0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1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2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3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4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5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6.xml><?xml version="1.0" encoding="utf-8"?>
<p:tagLst xmlns:p="http://schemas.openxmlformats.org/presentationml/2006/main">
  <p:tag name="KSO_WM_DIAGRAM_VIRTUALLY_FRAME" val="{&quot;height&quot;:257.65,&quot;left&quot;:60,&quot;top&quot;:110.3,&quot;width&quot;:621.7}"/>
</p:tagLst>
</file>

<file path=ppt/tags/tag17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18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19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0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1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2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3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4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5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6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7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8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29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30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31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32.xml><?xml version="1.0" encoding="utf-8"?>
<p:tagLst xmlns:p="http://schemas.openxmlformats.org/presentationml/2006/main">
  <p:tag name="KSO_WM_DIAGRAM_VIRTUALLY_FRAME" val="{&quot;height&quot;:257.05,&quot;left&quot;:60,&quot;top&quot;:110.9,&quot;width&quot;:604.1}"/>
</p:tagLst>
</file>

<file path=ppt/tags/tag33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34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35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36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37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38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39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40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41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42.xml><?xml version="1.0" encoding="utf-8"?>
<p:tagLst xmlns:p="http://schemas.openxmlformats.org/presentationml/2006/main">
  <p:tag name="KSO_WM_DIAGRAM_VIRTUALLY_FRAME" val="{&quot;height&quot;:270.3,&quot;left&quot;:60,&quot;top&quot;:110.9,&quot;width&quot;:644.2}"/>
</p:tagLst>
</file>

<file path=ppt/tags/tag43.xml><?xml version="1.0" encoding="utf-8"?>
<p:tagLst xmlns:p="http://schemas.openxmlformats.org/presentationml/2006/main">
  <p:tag name="KSO_WM_DIAGRAM_VIRTUALLY_FRAME" val="{&quot;height&quot;:254,&quot;left&quot;:60,&quot;top&quot;:240,&quot;width&quot;:420}"/>
</p:tagLst>
</file>

<file path=ppt/tags/tag44.xml><?xml version="1.0" encoding="utf-8"?>
<p:tagLst xmlns:p="http://schemas.openxmlformats.org/presentationml/2006/main">
  <p:tag name="KSO_WM_DIAGRAM_VIRTUALLY_FRAME" val="{&quot;height&quot;:254,&quot;left&quot;:60,&quot;top&quot;:240,&quot;width&quot;:420}"/>
</p:tagLst>
</file>

<file path=ppt/tags/tag45.xml><?xml version="1.0" encoding="utf-8"?>
<p:tagLst xmlns:p="http://schemas.openxmlformats.org/presentationml/2006/main">
  <p:tag name="KSO_WM_DIAGRAM_VIRTUALLY_FRAME" val="{&quot;height&quot;:252,&quot;left&quot;:35,&quot;top&quot;:136.4,&quot;width&quot;:685.55}"/>
</p:tagLst>
</file>

<file path=ppt/tags/tag46.xml><?xml version="1.0" encoding="utf-8"?>
<p:tagLst xmlns:p="http://schemas.openxmlformats.org/presentationml/2006/main">
  <p:tag name="KSO_WM_DIAGRAM_VIRTUALLY_FRAME" val="{&quot;height&quot;:252,&quot;left&quot;:35,&quot;top&quot;:136.4,&quot;width&quot;:685.55}"/>
</p:tagLst>
</file>

<file path=ppt/tags/tag47.xml><?xml version="1.0" encoding="utf-8"?>
<p:tagLst xmlns:p="http://schemas.openxmlformats.org/presentationml/2006/main">
  <p:tag name="KSO_WM_DIAGRAM_VIRTUALLY_FRAME" val="{&quot;height&quot;:252,&quot;left&quot;:35,&quot;top&quot;:136.4,&quot;width&quot;:685.55}"/>
</p:tagLst>
</file>

<file path=ppt/tags/tag48.xml><?xml version="1.0" encoding="utf-8"?>
<p:tagLst xmlns:p="http://schemas.openxmlformats.org/presentationml/2006/main">
  <p:tag name="KSO_WM_DIAGRAM_VIRTUALLY_FRAME" val="{&quot;height&quot;:252,&quot;left&quot;:35,&quot;top&quot;:136.4,&quot;width&quot;:685.55}"/>
</p:tagLst>
</file>

<file path=ppt/tags/tag49.xml><?xml version="1.0" encoding="utf-8"?>
<p:tagLst xmlns:p="http://schemas.openxmlformats.org/presentationml/2006/main">
  <p:tag name="KSO_WM_DIAGRAM_VIRTUALLY_FRAME" val="{&quot;height&quot;:252,&quot;left&quot;:35,&quot;top&quot;:136.4,&quot;width&quot;:685.55}"/>
</p:tagLst>
</file>

<file path=ppt/tags/tag50.xml><?xml version="1.0" encoding="utf-8"?>
<p:tagLst xmlns:p="http://schemas.openxmlformats.org/presentationml/2006/main">
  <p:tag name="KSO_WM_DIAGRAM_VIRTUALLY_FRAME" val="{&quot;height&quot;:252,&quot;left&quot;:35,&quot;top&quot;:136.4,&quot;width&quot;:685.55}"/>
</p:tagLst>
</file>

<file path=ppt/tags/tag51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2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3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4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5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6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7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8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59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0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1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2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3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4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5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6.xml><?xml version="1.0" encoding="utf-8"?>
<p:tagLst xmlns:p="http://schemas.openxmlformats.org/presentationml/2006/main">
  <p:tag name="KSO_WM_DIAGRAM_VIRTUALLY_FRAME" val="{&quot;height&quot;:112.1,&quot;left&quot;:35,&quot;top&quot;:276.9,&quot;width&quot;:671.8}"/>
</p:tagLst>
</file>

<file path=ppt/tags/tag67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68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69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70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71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72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73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74.xml><?xml version="1.0" encoding="utf-8"?>
<p:tagLst xmlns:p="http://schemas.openxmlformats.org/presentationml/2006/main">
  <p:tag name="KSO_WM_DIAGRAM_VIRTUALLY_FRAME" val="{&quot;height&quot;:256,&quot;left&quot;:54,&quot;top&quot;:152.1,&quot;width&quot;:727.6}"/>
</p:tagLst>
</file>

<file path=ppt/tags/tag75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76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77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78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79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0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1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2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3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4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5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6.xml><?xml version="1.0" encoding="utf-8"?>
<p:tagLst xmlns:p="http://schemas.openxmlformats.org/presentationml/2006/main">
  <p:tag name="KSO_WM_DIAGRAM_VIRTUALLY_FRAME" val="{&quot;height&quot;:358.1,&quot;left&quot;:60,&quot;top&quot;:135.9,&quot;width&quot;:614.15}"/>
</p:tagLst>
</file>

<file path=ppt/tags/tag87.xml><?xml version="1.0" encoding="utf-8"?>
<p:tagLst xmlns:p="http://schemas.openxmlformats.org/presentationml/2006/main">
  <p:tag name="KSO_WM_DIAGRAM_VIRTUALLY_FRAME" val="{&quot;height&quot;:249,&quot;left&quot;:31,&quot;top&quot;:138.5,&quot;width&quot;:258.8}"/>
</p:tagLst>
</file>

<file path=ppt/tags/tag88.xml><?xml version="1.0" encoding="utf-8"?>
<p:tagLst xmlns:p="http://schemas.openxmlformats.org/presentationml/2006/main">
  <p:tag name="KSO_WM_DIAGRAM_VIRTUALLY_FRAME" val="{&quot;height&quot;:249,&quot;left&quot;:31,&quot;top&quot;:138.5,&quot;width&quot;:258.8}"/>
</p:tagLst>
</file>

<file path=ppt/tags/tag89.xml><?xml version="1.0" encoding="utf-8"?>
<p:tagLst xmlns:p="http://schemas.openxmlformats.org/presentationml/2006/main">
  <p:tag name="KSO_WM_DIAGRAM_VIRTUALLY_FRAME" val="{&quot;height&quot;:149,&quot;left&quot;:66,&quot;top&quot;:154.5,&quot;width&quot;:287}"/>
</p:tagLst>
</file>

<file path=ppt/tags/tag90.xml><?xml version="1.0" encoding="utf-8"?>
<p:tagLst xmlns:p="http://schemas.openxmlformats.org/presentationml/2006/main">
  <p:tag name="KSO_WM_DIAGRAM_VIRTUALLY_FRAME" val="{&quot;height&quot;:149,&quot;left&quot;:66,&quot;top&quot;:154.5,&quot;width&quot;:287}"/>
</p:tagLst>
</file>

<file path=ppt/tags/tag91.xml><?xml version="1.0" encoding="utf-8"?>
<p:tagLst xmlns:p="http://schemas.openxmlformats.org/presentationml/2006/main">
  <p:tag name="KSO_WM_DIAGRAM_VIRTUALLY_FRAME" val="{&quot;height&quot;:249,&quot;left&quot;:31,&quot;top&quot;:138.5,&quot;width&quot;:258.8}"/>
</p:tagLst>
</file>

<file path=ppt/tags/tag92.xml><?xml version="1.0" encoding="utf-8"?>
<p:tagLst xmlns:p="http://schemas.openxmlformats.org/presentationml/2006/main">
  <p:tag name="KSO_WM_DIAGRAM_VIRTUALLY_FRAME" val="{&quot;height&quot;:249,&quot;left&quot;:31,&quot;top&quot;:138.5,&quot;width&quot;:258.8}"/>
</p:tagLst>
</file>

<file path=ppt/tags/tag93.xml><?xml version="1.0" encoding="utf-8"?>
<p:tagLst xmlns:p="http://schemas.openxmlformats.org/presentationml/2006/main">
  <p:tag name="KSO_WM_DIAGRAM_VIRTUALLY_FRAME" val="{&quot;height&quot;:249,&quot;left&quot;:31,&quot;top&quot;:138.5,&quot;width&quot;:258.8}"/>
</p:tagLst>
</file>

<file path=ppt/tags/tag94.xml><?xml version="1.0" encoding="utf-8"?>
<p:tagLst xmlns:p="http://schemas.openxmlformats.org/presentationml/2006/main">
  <p:tag name="KSO_WM_DIAGRAM_VIRTUALLY_FRAME" val="{&quot;height&quot;:249,&quot;left&quot;:31,&quot;top&quot;:138.5,&quot;width&quot;:258.8}"/>
</p:tagLst>
</file>

<file path=ppt/tags/tag95.xml><?xml version="1.0" encoding="utf-8"?>
<p:tagLst xmlns:p="http://schemas.openxmlformats.org/presentationml/2006/main">
  <p:tag name="KSO_WM_DIAGRAM_VIRTUALLY_FRAME" val="{&quot;height&quot;:285.1323622047244,&quot;left&quot;:25.106929133858266,&quot;top&quot;:84.76763779527559,&quot;width&quot;:677.9408661417323}"/>
</p:tagLst>
</file>

<file path=ppt/tags/tag96.xml><?xml version="1.0" encoding="utf-8"?>
<p:tagLst xmlns:p="http://schemas.openxmlformats.org/presentationml/2006/main">
  <p:tag name="KSO_WM_DIAGRAM_VIRTUALLY_FRAME" val="{&quot;height&quot;:343.5,&quot;left&quot;:24,&quot;top&quot;:136.5,&quot;width&quot;:446}"/>
</p:tagLst>
</file>

<file path=ppt/tags/tag97.xml><?xml version="1.0" encoding="utf-8"?>
<p:tagLst xmlns:p="http://schemas.openxmlformats.org/presentationml/2006/main">
  <p:tag name="KSO_WM_DIAGRAM_VIRTUALLY_FRAME" val="{&quot;height&quot;:343.5,&quot;left&quot;:24,&quot;top&quot;:136.5,&quot;width&quot;:446}"/>
</p:tagLst>
</file>

<file path=ppt/tags/tag98.xml><?xml version="1.0" encoding="utf-8"?>
<p:tagLst xmlns:p="http://schemas.openxmlformats.org/presentationml/2006/main">
  <p:tag name="KSO_WM_DIAGRAM_VIRTUALLY_FRAME" val="{&quot;height&quot;:343.5,&quot;left&quot;:24,&quot;top&quot;:136.5,&quot;width&quot;:446}"/>
</p:tagLst>
</file>

<file path=ppt/tags/tag99.xml><?xml version="1.0" encoding="utf-8"?>
<p:tagLst xmlns:p="http://schemas.openxmlformats.org/presentationml/2006/main">
  <p:tag name="KSO_WM_DIAGRAM_VIRTUALLY_FRAME" val="{&quot;height&quot;:343.5,&quot;left&quot;:24,&quot;top&quot;:136.5,&quot;width&quot;:446}"/>
</p:tagLst>
</file>

<file path=ppt/tags/tag100.xml><?xml version="1.0" encoding="utf-8"?>
<p:tagLst xmlns:p="http://schemas.openxmlformats.org/presentationml/2006/main">
  <p:tag name="KSO_WM_DIAGRAM_VIRTUALLY_FRAME" val="{&quot;height&quot;:343.5,&quot;left&quot;:24,&quot;top&quot;:136.5,&quot;width&quot;:446}"/>
</p:tagLst>
</file>

<file path=ppt/tags/tag101.xml><?xml version="1.0" encoding="utf-8"?>
<p:tagLst xmlns:p="http://schemas.openxmlformats.org/presentationml/2006/main">
  <p:tag name="KSO_WM_DIAGRAM_VIRTUALLY_FRAME" val="{&quot;height&quot;:343.5,&quot;left&quot;:24,&quot;top&quot;:136.5,&quot;width&quot;:446}"/>
</p:tagLst>
</file>

<file path=ppt/tags/tag102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03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04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05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06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07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08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09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0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1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2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3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4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5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6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7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8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19.xml><?xml version="1.0" encoding="utf-8"?>
<p:tagLst xmlns:p="http://schemas.openxmlformats.org/presentationml/2006/main">
  <p:tag name="KSO_WM_DIAGRAM_VIRTUALLY_FRAME" val="{&quot;height&quot;:322.9,&quot;left&quot;:24,&quot;top&quot;:162.1,&quot;width&quot;:876}"/>
</p:tagLst>
</file>

<file path=ppt/tags/tag120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1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2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3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4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5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6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7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8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29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0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1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2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3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4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5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6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7.xml><?xml version="1.0" encoding="utf-8"?>
<p:tagLst xmlns:p="http://schemas.openxmlformats.org/presentationml/2006/main">
  <p:tag name="KSO_WM_DIAGRAM_VIRTUALLY_FRAME" val="{&quot;height&quot;:195.6,&quot;left&quot;:53.4,&quot;top&quot;:180.9,&quot;width&quot;:703.5}"/>
</p:tagLst>
</file>

<file path=ppt/tags/tag138.xml><?xml version="1.0" encoding="utf-8"?>
<p:tagLst xmlns:p="http://schemas.openxmlformats.org/presentationml/2006/main">
  <p:tag name="TABLE_ENDDRAG_ORIGIN_RECT" val="581*230"/>
  <p:tag name="TABLE_ENDDRAG_RECT" val="56*112*581*230"/>
</p:tagLst>
</file>

<file path=ppt/tags/tag139.xml><?xml version="1.0" encoding="utf-8"?>
<p:tagLst xmlns:p="http://schemas.openxmlformats.org/presentationml/2006/main">
  <p:tag name="TABLE_ENDDRAG_ORIGIN_RECT" val="581*230"/>
  <p:tag name="TABLE_ENDDRAG_RECT" val="56*112*581*230"/>
</p:tagLst>
</file>

<file path=ppt/tags/tag140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1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2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3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4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5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6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7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8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49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0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1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2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3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4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5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6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7.xml><?xml version="1.0" encoding="utf-8"?>
<p:tagLst xmlns:p="http://schemas.openxmlformats.org/presentationml/2006/main">
  <p:tag name="KSO_WM_DIAGRAM_VIRTUALLY_FRAME" val="{&quot;height&quot;:192,&quot;left&quot;:53.4,&quot;top&quot;:180.9,&quot;width&quot;:600.9}"/>
</p:tagLst>
</file>

<file path=ppt/tags/tag158.xml><?xml version="1.0" encoding="utf-8"?>
<p:tagLst xmlns:p="http://schemas.openxmlformats.org/presentationml/2006/main">
  <p:tag name="KSO_WM_DIAGRAM_VIRTUALLY_FRAME" val="{&quot;height&quot;:239,&quot;left&quot;:330,&quot;top&quot;:142.5,&quot;width&quot;:192.4}"/>
</p:tagLst>
</file>

<file path=ppt/tags/tag159.xml><?xml version="1.0" encoding="utf-8"?>
<p:tagLst xmlns:p="http://schemas.openxmlformats.org/presentationml/2006/main">
  <p:tag name="KSO_WM_DIAGRAM_VIRTUALLY_FRAME" val="{&quot;height&quot;:239,&quot;left&quot;:330,&quot;top&quot;:142.5,&quot;width&quot;:192.4}"/>
</p:tagLst>
</file>

<file path=ppt/tags/tag160.xml><?xml version="1.0" encoding="utf-8"?>
<p:tagLst xmlns:p="http://schemas.openxmlformats.org/presentationml/2006/main">
  <p:tag name="KSO_WM_DIAGRAM_VIRTUALLY_FRAME" val="{&quot;height&quot;:239,&quot;left&quot;:330,&quot;top&quot;:142.5,&quot;width&quot;:192.4}"/>
</p:tagLst>
</file>

<file path=ppt/tags/tag161.xml><?xml version="1.0" encoding="utf-8"?>
<p:tagLst xmlns:p="http://schemas.openxmlformats.org/presentationml/2006/main">
  <p:tag name="KSO_WM_DIAGRAM_VIRTUALLY_FRAME" val="{&quot;height&quot;:239,&quot;left&quot;:330,&quot;top&quot;:142.5,&quot;width&quot;:192.4}"/>
</p:tagLst>
</file>

<file path=ppt/tags/tag162.xml><?xml version="1.0" encoding="utf-8"?>
<p:tagLst xmlns:p="http://schemas.openxmlformats.org/presentationml/2006/main">
  <p:tag name="KSO_WM_DIAGRAM_VIRTUALLY_FRAME" val="{&quot;height&quot;:239,&quot;left&quot;:330,&quot;top&quot;:142.5,&quot;width&quot;:192.4}"/>
</p:tagLst>
</file>

<file path=ppt/tags/tag163.xml><?xml version="1.0" encoding="utf-8"?>
<p:tagLst xmlns:p="http://schemas.openxmlformats.org/presentationml/2006/main">
  <p:tag name="KSO_WM_DIAGRAM_VIRTUALLY_FRAME" val="{&quot;height&quot;:239,&quot;left&quot;:330,&quot;top&quot;:142.5,&quot;width&quot;:192.4}"/>
</p:tagLst>
</file>

<file path=ppt/tags/tag164.xml><?xml version="1.0" encoding="utf-8"?>
<p:tagLst xmlns:p="http://schemas.openxmlformats.org/presentationml/2006/main">
  <p:tag name="KSO_WM_DIAGRAM_VIRTUALLY_FRAME" val="{&quot;height&quot;:239,&quot;left&quot;:330,&quot;top&quot;:142.5,&quot;width&quot;:192.4}"/>
</p:tagLst>
</file>

<file path=ppt/tags/tag165.xml><?xml version="1.0" encoding="utf-8"?>
<p:tagLst xmlns:p="http://schemas.openxmlformats.org/presentationml/2006/main">
  <p:tag name="TABLE_ENDDRAG_ORIGIN_RECT" val="545*249"/>
  <p:tag name="TABLE_ENDDRAG_RECT" val="78*94*545*249"/>
</p:tagLst>
</file>

<file path=ppt/tags/tag166.xml><?xml version="1.0" encoding="utf-8"?>
<p:tagLst xmlns:p="http://schemas.openxmlformats.org/presentationml/2006/main">
  <p:tag name="KSO_WM_DIAGRAM_VIRTUALLY_FRAME" val="{&quot;height&quot;:385.3,&quot;left&quot;:24,&quot;top&quot;:99.7,&quot;width&quot;:876}"/>
</p:tagLst>
</file>

<file path=ppt/tags/tag167.xml><?xml version="1.0" encoding="utf-8"?>
<p:tagLst xmlns:p="http://schemas.openxmlformats.org/presentationml/2006/main">
  <p:tag name="KSO_WM_DIAGRAM_VIRTUALLY_FRAME" val="{&quot;height&quot;:385.3,&quot;left&quot;:24,&quot;top&quot;:99.7,&quot;width&quot;:876}"/>
</p:tagLst>
</file>

<file path=ppt/tags/tag168.xml><?xml version="1.0" encoding="utf-8"?>
<p:tagLst xmlns:p="http://schemas.openxmlformats.org/presentationml/2006/main">
  <p:tag name="KSO_WM_DIAGRAM_VIRTUALLY_FRAME" val="{&quot;height&quot;:385.3,&quot;left&quot;:24,&quot;top&quot;:99.7,&quot;width&quot;:876}"/>
</p:tagLst>
</file>

<file path=ppt/tags/tag169.xml><?xml version="1.0" encoding="utf-8"?>
<p:tagLst xmlns:p="http://schemas.openxmlformats.org/presentationml/2006/main">
  <p:tag name="KSO_WM_DIAGRAM_VIRTUALLY_FRAME" val="{&quot;height&quot;:385.3,&quot;left&quot;:24,&quot;top&quot;:99.7,&quot;width&quot;:876}"/>
</p:tagLst>
</file>

<file path=ppt/tags/tag170.xml><?xml version="1.0" encoding="utf-8"?>
<p:tagLst xmlns:p="http://schemas.openxmlformats.org/presentationml/2006/main">
  <p:tag name="KSO_WM_DIAGRAM_VIRTUALLY_FRAME" val="{&quot;height&quot;:385.3,&quot;left&quot;:24,&quot;top&quot;:99.7,&quot;width&quot;:876}"/>
</p:tagLst>
</file>

<file path=ppt/tags/tag171.xml><?xml version="1.0" encoding="utf-8"?>
<p:tagLst xmlns:p="http://schemas.openxmlformats.org/presentationml/2006/main">
  <p:tag name="KSO_WM_DIAGRAM_VIRTUALLY_FRAME" val="{&quot;height&quot;:385.3,&quot;left&quot;:24,&quot;top&quot;:99.7,&quot;width&quot;:87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12606</Words>
  <Application>WPS 演示</Application>
  <PresentationFormat>On-screen Show (4:3)</PresentationFormat>
  <Paragraphs>845</Paragraphs>
  <Slides>95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95</vt:i4>
      </vt:variant>
    </vt:vector>
  </HeadingPairs>
  <TitlesOfParts>
    <vt:vector size="110" baseType="lpstr">
      <vt:lpstr>Arial</vt:lpstr>
      <vt:lpstr>宋体</vt:lpstr>
      <vt:lpstr>Wingdings</vt:lpstr>
      <vt:lpstr>Arial MT</vt:lpstr>
      <vt:lpstr>黑体</vt:lpstr>
      <vt:lpstr>Noto Sans SC</vt:lpstr>
      <vt:lpstr>Wingdings</vt:lpstr>
      <vt:lpstr>微软雅黑</vt:lpstr>
      <vt:lpstr>Arial Unicode MS</vt:lpstr>
      <vt:lpstr>Calibri</vt:lpstr>
      <vt:lpstr>Arial MT</vt:lpstr>
      <vt:lpstr>Wonder Arial</vt:lpstr>
      <vt:lpstr>Calibri</vt:lpstr>
      <vt:lpstr>Segoe UI</vt:lpstr>
      <vt:lpstr>Office Theme</vt:lpstr>
      <vt:lpstr>检索增强生成模型 </vt:lpstr>
      <vt:lpstr>大纲</vt:lpstr>
      <vt:lpstr>大模型存在的局限性</vt:lpstr>
      <vt:lpstr>检索增强生成（RAG）带来的优势</vt:lpstr>
      <vt:lpstr>大纲</vt:lpstr>
      <vt:lpstr>RAG (Patrick, et al., NIPS 2021)</vt:lpstr>
      <vt:lpstr>RAGe2e (Kaluarachchi, et al., 2022)</vt:lpstr>
      <vt:lpstr>Self-RAG (Patrick, et al., 2023)</vt:lpstr>
      <vt:lpstr>PlanRAG (Prakhar, et al., 2025)</vt:lpstr>
      <vt:lpstr>大纲</vt:lpstr>
      <vt:lpstr>图检索增强生成（GraphRAG）</vt:lpstr>
      <vt:lpstr>大纲</vt:lpstr>
      <vt:lpstr>GraphRAG 1.0</vt:lpstr>
      <vt:lpstr>GraphRAG 2.0</vt:lpstr>
      <vt:lpstr>GraphRAG 3.0</vt:lpstr>
      <vt:lpstr>大纲</vt:lpstr>
      <vt:lpstr>GraphRAG核心技术组件</vt:lpstr>
      <vt:lpstr>GraphRAG核心技术组件-1：图谱构建</vt:lpstr>
      <vt:lpstr>EDC (Zhang, et al., EMNLP 2024)</vt:lpstr>
      <vt:lpstr>COMET (Bosselut, et al., 2019)</vt:lpstr>
      <vt:lpstr>GraphRAG核心技术组件-2：查询处理器</vt:lpstr>
      <vt:lpstr>QDRAG (Petcu, et al. 2025)</vt:lpstr>
      <vt:lpstr>SQC (Wang, et al. 2019)</vt:lpstr>
      <vt:lpstr>GraphRAG核心技术组件-3：检索器</vt:lpstr>
      <vt:lpstr>RoG (Luo, et al. 2024)</vt:lpstr>
      <vt:lpstr>TEMPLE-MQA (Chen, et al. 2024)</vt:lpstr>
      <vt:lpstr>GraphRAG核心技术组件-4&amp;5：组织与生成器</vt:lpstr>
      <vt:lpstr>GraphQA (Taunk, et al. 2023)</vt:lpstr>
      <vt:lpstr>GRQA (Li, et al. 2023)</vt:lpstr>
      <vt:lpstr>G-Retriever (He, et al. 2024)</vt:lpstr>
      <vt:lpstr>RetMol (Wang, et al. ICLR 2023)</vt:lpstr>
      <vt:lpstr>大纲</vt:lpstr>
      <vt:lpstr>多模态检索增强生成（Multi-Modal RAG）</vt:lpstr>
      <vt:lpstr>为什么多模态重要?</vt:lpstr>
      <vt:lpstr>大纲</vt:lpstr>
      <vt:lpstr>MRAG 1.0</vt:lpstr>
      <vt:lpstr>MRAG 2.0</vt:lpstr>
      <vt:lpstr>MRAG 3.0</vt:lpstr>
      <vt:lpstr>大纲</vt:lpstr>
      <vt:lpstr>MRAG核心技术组件-1：多模态文档解析与索引</vt:lpstr>
      <vt:lpstr>CRAFT (Youngmin Baek, et al., CVPR 2019)</vt:lpstr>
      <vt:lpstr>TrOCR(Minghao Li, et al., 2023)</vt:lpstr>
      <vt:lpstr>Multimodal Distributional Semantics (Bruni et al., JAIR 2014)</vt:lpstr>
      <vt:lpstr>PowerPoint 演示文稿</vt:lpstr>
      <vt:lpstr>BERT (Jacob Devlin, et al., ACL 2019)</vt:lpstr>
      <vt:lpstr>Visual BERTs: VisualBERT (Liunian Harold Li, et al., 2019)</vt:lpstr>
      <vt:lpstr>Visual BERTs: ViLBERT (Jiasen Lu, et al., NIPS 2019)</vt:lpstr>
      <vt:lpstr>Visual BERTs: LXMERT (Hao Tan, et al., EMNLP 2019)</vt:lpstr>
      <vt:lpstr>Visual BERTs: UNITER (Yen-Chun Chen, et al., ECCV 2020)</vt:lpstr>
      <vt:lpstr>Visual BERTs: PixelBert (Zhicheng Huang, et al., 2020)</vt:lpstr>
      <vt:lpstr>Visual BERTs: Supervised Multimodal Bitransformers  (Douwe Kiela, et al., 2020)</vt:lpstr>
      <vt:lpstr>CLIP (Radford et al. ICML 2021)</vt:lpstr>
      <vt:lpstr>ALIGN (Jia et al., ICML 2021)</vt:lpstr>
      <vt:lpstr>LLaVA (Haotian Liu, et al., 2023)</vt:lpstr>
      <vt:lpstr>MRAG核心技术组件-2：多模态检索</vt:lpstr>
      <vt:lpstr>LAPS(Zheren Fu, et al., CVPR 2024)</vt:lpstr>
      <vt:lpstr>USER(Yan Zhang, et al., TIP 2021)</vt:lpstr>
      <vt:lpstr>GeMKR (Xinwei Long, et al., AAAI 2024)</vt:lpstr>
      <vt:lpstr>ZipRerank (Sun, et al., ICML 2026)</vt:lpstr>
      <vt:lpstr>PromptMM (Wei Wei, et al., WWW 2024)</vt:lpstr>
      <vt:lpstr>MRAG核心技术组件-3：多模态生成</vt:lpstr>
      <vt:lpstr>Show and tell (Vinyals et al., 2015);  Show, attend and tell (Xu et al., PMLR 2016) </vt:lpstr>
      <vt:lpstr>FiLM (Perez et al., AAAI 2018)</vt:lpstr>
      <vt:lpstr>SimVLM (Wang et al., ICLR 2022)</vt:lpstr>
      <vt:lpstr>CoCa Contrastive Captioner (Yu et al., 2022)</vt:lpstr>
      <vt:lpstr>BLIP/BLIP2 (Li et al., ICML 2023)</vt:lpstr>
      <vt:lpstr>BLIP/BLIP2 (Li et al., ICML 2023)</vt:lpstr>
      <vt:lpstr>Qwen-VL(Jinze Bai, et al., 2023)</vt:lpstr>
      <vt:lpstr>Stable Diffusion (Ling Yang, et al., CVPR 2022)</vt:lpstr>
      <vt:lpstr>RPG (Ling Yang, et al., ICML 2024)</vt:lpstr>
      <vt:lpstr>大纲</vt:lpstr>
      <vt:lpstr>子课题实践任务</vt:lpstr>
      <vt:lpstr>子课题-1：GraphRAG</vt:lpstr>
      <vt:lpstr>1-图谱构建-实体类型</vt:lpstr>
      <vt:lpstr>1-图谱构建-关系类型</vt:lpstr>
      <vt:lpstr>2-数据整理-条令条例（空战条令系列）</vt:lpstr>
      <vt:lpstr>数据示例-文本数据（海湾战争、阿富汗战争、美伊战争）</vt:lpstr>
      <vt:lpstr>3-知识抽取-EDC (Zhang, et al., EMNLP 2024)</vt:lpstr>
      <vt:lpstr>3-知识抽取-提示词设计</vt:lpstr>
      <vt:lpstr>3-知识抽取-对GraphRAG原本提示词文件进行替换</vt:lpstr>
      <vt:lpstr>3-知识抽取-抽取结果图谱示例</vt:lpstr>
      <vt:lpstr>4-代码复现-GraphRAG (Darren, et al., 2025)</vt:lpstr>
      <vt:lpstr>4-代码复现-LightRAG (Guo, et al., EMNLP 2025)</vt:lpstr>
      <vt:lpstr>4-代码复现-HyperGraphRAG (Haoran, et al., NIPS 2025)</vt:lpstr>
      <vt:lpstr>5&amp;6-测试与集成</vt:lpstr>
      <vt:lpstr>子课题-2：多模态RAG</vt:lpstr>
      <vt:lpstr>1-图像数据采集-态势图像数据</vt:lpstr>
      <vt:lpstr>1-图像数据采集-遥感图像数据</vt:lpstr>
      <vt:lpstr>1-图像数据采集-图像预处理</vt:lpstr>
      <vt:lpstr>2-文本数据采集（海湾战争、阿富汗战争、美伊战争）</vt:lpstr>
      <vt:lpstr>3-表格数据采集（装备参数）</vt:lpstr>
      <vt:lpstr> VISRAG (Shi, et al., ICLR 2025)</vt:lpstr>
      <vt:lpstr>HM-RAG (Pei, et al., ACM MM 2025)</vt:lpstr>
      <vt:lpstr>RAG-Anything (Zirui, et al., 2025)</vt:lpstr>
      <vt:lpstr>验收成果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Deep Learning</dc:title>
  <dc:creator/>
  <cp:lastModifiedBy>王旭东</cp:lastModifiedBy>
  <cp:revision>763</cp:revision>
  <dcterms:created xsi:type="dcterms:W3CDTF">2026-08-10T02:16:00Z</dcterms:created>
  <dcterms:modified xsi:type="dcterms:W3CDTF">2026-09-05T01:28:28Z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2026-08-20T00:00:00Z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2026-08-20T00:00:00Z</vt:filetime>
  </property>
  <property fmtid="{D5CDD505-2E9C-101B-9397-08002B2CF9AE}" pid="6" name="KSOProductBuildVer">
    <vt:lpwstr>2052-12.1.0.28043</vt:lpwstr>
  </property>
  <property fmtid="{D5CDD505-2E9C-101B-9397-08002B2CF9AE}" pid="7" name="ICV">
    <vt:lpwstr>4E81AC687E0A490EB414C3BD10698B7C_13</vt:lpwstr>
  </property>
</Properties>
</file>