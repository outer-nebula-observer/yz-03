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3"/>
    <p:sldId id="258" r:id="rId4"/>
    <p:sldId id="262" r:id="rId5"/>
    <p:sldId id="263" r:id="rId6"/>
    <p:sldId id="273" r:id="rId8"/>
    <p:sldId id="268" r:id="rId9"/>
    <p:sldId id="269" r:id="rId10"/>
    <p:sldId id="261" r:id="rId11"/>
  </p:sldIdLst>
  <p:sldSz cx="12192000" cy="6858000"/>
  <p:notesSz cx="12192000" cy="6858000"/>
  <p:embeddedFontLst>
    <p:embeddedFont>
      <p:font typeface="MiSans" charset="-122"/>
      <p:regular r:id="rId15"/>
    </p:embeddedFont>
    <p:embeddedFont>
      <p:font typeface="Noto Serif SC" panose="02020200000000000000" charset="-122"/>
      <p:regular r:id="rId16"/>
      <p:bold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56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979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作战知识图谱构建：军事实体/关系 </a:t>
            </a:r>
            <a:r>
              <a:rPr lang="en-US" altLang="zh-CN"/>
              <a:t>schema </a:t>
            </a:r>
            <a:r>
              <a:rPr lang="zh-CN" altLang="en-US"/>
              <a:t>设计——实体类型对齐六类知识库（装备/平台/条令/战例/机构/地域/事件），关系类型对齐作战业务（装备-(杀伤链环节:探测/跟踪/打击/评估)→目标、条令-(约束)→装备、战例-(使用)→装备）；</a:t>
            </a:r>
            <a:r>
              <a:rPr lang="en-US" altLang="zh-CN"/>
              <a:t>LLM </a:t>
            </a:r>
            <a:r>
              <a:rPr lang="zh-CN" altLang="en-US"/>
              <a:t>抽取+规则词典辅助的 </a:t>
            </a:r>
            <a:r>
              <a:rPr lang="en-US" altLang="zh-CN"/>
              <a:t>NER/RE </a:t>
            </a:r>
            <a:r>
              <a:rPr lang="zh-CN" altLang="en-US"/>
              <a:t>管线；对公共数据集建图（≥200 实体、≥100 关系）；图存储与可视化。锚定约束①的落地：抽取出的实体必须与库内条目对齐校验，杜绝"库外实体"混入图——防编造从建图环节开始；</a:t>
            </a:r>
            <a:endParaRPr lang="zh-CN" altLang="en-US"/>
          </a:p>
          <a:p>
            <a:r>
              <a:rPr lang="zh-CN" altLang="en-US"/>
              <a:t>图索引与检索算法：微软 </a:t>
            </a:r>
            <a:r>
              <a:rPr lang="en-US" altLang="zh-CN"/>
              <a:t>GraphRAG </a:t>
            </a:r>
            <a:r>
              <a:rPr lang="zh-CN" altLang="en-US"/>
              <a:t>式（社区检测+社区摘要+全局/局部检索）或 </a:t>
            </a:r>
            <a:r>
              <a:rPr lang="en-US" altLang="zh-CN"/>
              <a:t>LightRAG </a:t>
            </a:r>
            <a:r>
              <a:rPr lang="zh-CN" altLang="en-US"/>
              <a:t>式（双层图+双层检索）主路线一条；查询→种子实体→邻域扩展→证据聚合，输出带推理路径的检索结果——推理路径就是约束④⑤"[推断]标注"的素材，也是 </a:t>
            </a:r>
            <a:r>
              <a:rPr lang="en-US" altLang="zh-CN"/>
              <a:t>R2 </a:t>
            </a:r>
            <a:r>
              <a:rPr lang="zh-CN" altLang="en-US"/>
              <a:t>溯源的天然载体；</a:t>
            </a:r>
            <a:endParaRPr lang="zh-CN" altLang="en-US"/>
          </a:p>
          <a:p>
            <a:r>
              <a:rPr lang="zh-CN" altLang="en-US"/>
              <a:t>混合检索融合：图路径证据与向量/稀疏 </a:t>
            </a:r>
            <a:r>
              <a:rPr lang="en-US" altLang="zh-CN"/>
              <a:t>chunk </a:t>
            </a:r>
            <a:r>
              <a:rPr lang="zh-CN" altLang="en-US"/>
              <a:t>证据的合并排序，避免"有图无文"召回损失；</a:t>
            </a:r>
            <a:endParaRPr lang="zh-CN" altLang="en-US"/>
          </a:p>
          <a:p>
            <a:r>
              <a:rPr lang="zh-CN" altLang="en-US"/>
              <a:t>评测与对比：与 </a:t>
            </a:r>
            <a:r>
              <a:rPr lang="en-US" altLang="zh-CN"/>
              <a:t>TF-IDF </a:t>
            </a:r>
            <a:r>
              <a:rPr lang="zh-CN" altLang="en-US"/>
              <a:t>基线、纯向量 </a:t>
            </a:r>
            <a:r>
              <a:rPr lang="en-US" altLang="zh-CN"/>
              <a:t>RAG </a:t>
            </a:r>
            <a:r>
              <a:rPr lang="zh-CN" altLang="en-US"/>
              <a:t>三路对比；重点分析多跳型/全局综述型查询；消融（去社区摘要/去邻域扩展）；构建成本与检索时延报告——时延报告不是走过场：</a:t>
            </a:r>
            <a:r>
              <a:rPr lang="en-US" altLang="zh-CN"/>
              <a:t>R4 </a:t>
            </a:r>
            <a:r>
              <a:rPr lang="zh-CN" altLang="en-US"/>
              <a:t>要求 30 秒内重算突防航线，图检索必须留出时延预算。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作战知识图谱构建：军事实体/关系 </a:t>
            </a:r>
            <a:r>
              <a:rPr lang="en-US" altLang="zh-CN"/>
              <a:t>schema </a:t>
            </a:r>
            <a:r>
              <a:rPr lang="zh-CN" altLang="en-US"/>
              <a:t>设计——实体类型对齐六类知识库（装备/平台/条令/战例/机构/地域/事件），关系类型对齐作战业务（装备-(杀伤链环节:探测/跟踪/打击/评估)→目标、条令-(约束)→装备、战例-(使用)→装备）；</a:t>
            </a:r>
            <a:r>
              <a:rPr lang="en-US" altLang="zh-CN"/>
              <a:t>LLM </a:t>
            </a:r>
            <a:r>
              <a:rPr lang="zh-CN" altLang="en-US"/>
              <a:t>抽取+规则词典辅助的 </a:t>
            </a:r>
            <a:r>
              <a:rPr lang="en-US" altLang="zh-CN"/>
              <a:t>NER/RE </a:t>
            </a:r>
            <a:r>
              <a:rPr lang="zh-CN" altLang="en-US"/>
              <a:t>管线；对公共数据集建图（≥200 实体、≥100 关系）；图存储与可视化。锚定约束①的落地：抽取出的实体必须与库内条目对齐校验，杜绝"库外实体"混入图——防编造从建图环节开始；</a:t>
            </a:r>
            <a:endParaRPr lang="zh-CN" altLang="en-US"/>
          </a:p>
          <a:p>
            <a:r>
              <a:rPr lang="zh-CN" altLang="en-US"/>
              <a:t>图索引与检索算法：微软 </a:t>
            </a:r>
            <a:r>
              <a:rPr lang="en-US" altLang="zh-CN"/>
              <a:t>GraphRAG </a:t>
            </a:r>
            <a:r>
              <a:rPr lang="zh-CN" altLang="en-US"/>
              <a:t>式（社区检测+社区摘要+全局/局部检索）或 </a:t>
            </a:r>
            <a:r>
              <a:rPr lang="en-US" altLang="zh-CN"/>
              <a:t>LightRAG </a:t>
            </a:r>
            <a:r>
              <a:rPr lang="zh-CN" altLang="en-US"/>
              <a:t>式（双层图+双层检索）主路线一条；查询→种子实体→邻域扩展→证据聚合，输出带推理路径的检索结果——推理路径就是约束④⑤"[推断]标注"的素材，也是 </a:t>
            </a:r>
            <a:r>
              <a:rPr lang="en-US" altLang="zh-CN"/>
              <a:t>R2 </a:t>
            </a:r>
            <a:r>
              <a:rPr lang="zh-CN" altLang="en-US"/>
              <a:t>溯源的天然载体；</a:t>
            </a:r>
            <a:endParaRPr lang="zh-CN" altLang="en-US"/>
          </a:p>
          <a:p>
            <a:r>
              <a:rPr lang="zh-CN" altLang="en-US"/>
              <a:t>混合检索融合：图路径证据与向量/稀疏 </a:t>
            </a:r>
            <a:r>
              <a:rPr lang="en-US" altLang="zh-CN"/>
              <a:t>chunk </a:t>
            </a:r>
            <a:r>
              <a:rPr lang="zh-CN" altLang="en-US"/>
              <a:t>证据的合并排序，避免"有图无文"召回损失；</a:t>
            </a:r>
            <a:endParaRPr lang="zh-CN" altLang="en-US"/>
          </a:p>
          <a:p>
            <a:r>
              <a:rPr lang="zh-CN" altLang="en-US"/>
              <a:t>评测与对比：与 </a:t>
            </a:r>
            <a:r>
              <a:rPr lang="en-US" altLang="zh-CN"/>
              <a:t>TF-IDF </a:t>
            </a:r>
            <a:r>
              <a:rPr lang="zh-CN" altLang="en-US"/>
              <a:t>基线、纯向量 </a:t>
            </a:r>
            <a:r>
              <a:rPr lang="en-US" altLang="zh-CN"/>
              <a:t>RAG </a:t>
            </a:r>
            <a:r>
              <a:rPr lang="zh-CN" altLang="en-US"/>
              <a:t>三路对比；重点分析多跳型/全局综述型查询；消融（去社区摘要/去邻域扩展）；构建成本与检索时延报告——时延报告不是走过场：</a:t>
            </a:r>
            <a:r>
              <a:rPr lang="en-US" altLang="zh-CN"/>
              <a:t>R4 </a:t>
            </a:r>
            <a:r>
              <a:rPr lang="zh-CN" altLang="en-US"/>
              <a:t>要求 30 秒内重算突防航线，图检索必须留出时延预算。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1"/>
          <p:cNvSpPr/>
          <p:nvPr/>
        </p:nvSpPr>
        <p:spPr>
          <a:xfrm>
            <a:off x="9030970" y="1223010"/>
            <a:ext cx="2983865" cy="2983865"/>
          </a:xfrm>
          <a:prstGeom prst="donut">
            <a:avLst>
              <a:gd name="adj" fmla="val 2500"/>
            </a:avLst>
          </a:prstGeom>
          <a:solidFill>
            <a:srgbClr val="2E4A3A">
              <a:alpha val="14902"/>
            </a:srgbClr>
          </a:solidFill>
          <a:ln>
            <a:noFill/>
          </a:ln>
        </p:spPr>
      </p:sp>
      <p:sp>
        <p:nvSpPr>
          <p:cNvPr id="3" name="ring2"/>
          <p:cNvSpPr/>
          <p:nvPr/>
        </p:nvSpPr>
        <p:spPr>
          <a:xfrm>
            <a:off x="9595485" y="1959610"/>
            <a:ext cx="1682750" cy="1682750"/>
          </a:xfrm>
          <a:prstGeom prst="donut">
            <a:avLst>
              <a:gd name="adj" fmla="val 3500"/>
            </a:avLst>
          </a:prstGeom>
          <a:solidFill>
            <a:srgbClr val="2E4A3A">
              <a:alpha val="25098"/>
            </a:srgbClr>
          </a:solidFill>
          <a:ln>
            <a:noFill/>
          </a:ln>
        </p:spPr>
      </p:sp>
      <p:sp>
        <p:nvSpPr>
          <p:cNvPr id="4" name="ring3"/>
          <p:cNvSpPr/>
          <p:nvPr/>
        </p:nvSpPr>
        <p:spPr>
          <a:xfrm>
            <a:off x="10062845" y="2569210"/>
            <a:ext cx="605790" cy="605790"/>
          </a:xfrm>
          <a:prstGeom prst="donut">
            <a:avLst>
              <a:gd name="adj" fmla="val 7000"/>
            </a:avLst>
          </a:prstGeom>
          <a:solidFill>
            <a:srgbClr val="2E4A3A">
              <a:alpha val="40000"/>
            </a:srgbClr>
          </a:solidFill>
          <a:ln>
            <a:noFill/>
          </a:ln>
        </p:spPr>
      </p:sp>
      <p:sp>
        <p:nvSpPr>
          <p:cNvPr id="5" name="sweep"/>
          <p:cNvSpPr/>
          <p:nvPr/>
        </p:nvSpPr>
        <p:spPr>
          <a:xfrm>
            <a:off x="10450195" y="1756410"/>
            <a:ext cx="942340" cy="1021080"/>
          </a:xfrm>
          <a:custGeom>
            <a:avLst/>
            <a:gdLst/>
            <a:ahLst/>
            <a:cxnLst/>
            <a:rect l="l" t="t" r="r" b="b"/>
            <a:pathLst>
              <a:path w="84" h="91">
                <a:moveTo>
                  <a:pt x="0" y="91"/>
                </a:moveTo>
                <a:lnTo>
                  <a:pt x="84" y="0"/>
                </a:lnTo>
              </a:path>
            </a:pathLst>
          </a:custGeom>
          <a:noFill/>
          <a:ln w="25400">
            <a:solidFill>
              <a:srgbClr val="B3492B"/>
            </a:solidFill>
          </a:ln>
        </p:spPr>
      </p:sp>
      <p:sp>
        <p:nvSpPr>
          <p:cNvPr id="6" name="dot1"/>
          <p:cNvSpPr/>
          <p:nvPr/>
        </p:nvSpPr>
        <p:spPr>
          <a:xfrm>
            <a:off x="11342370" y="1680210"/>
            <a:ext cx="100965" cy="100965"/>
          </a:xfrm>
          <a:prstGeom prst="ellipse">
            <a:avLst/>
          </a:prstGeom>
          <a:solidFill>
            <a:srgbClr val="B3492B"/>
          </a:solidFill>
          <a:ln>
            <a:noFill/>
          </a:ln>
        </p:spPr>
      </p:sp>
      <p:sp>
        <p:nvSpPr>
          <p:cNvPr id="7" name="dot2"/>
          <p:cNvSpPr/>
          <p:nvPr/>
        </p:nvSpPr>
        <p:spPr>
          <a:xfrm>
            <a:off x="9180195" y="3712210"/>
            <a:ext cx="78740" cy="78740"/>
          </a:xfrm>
          <a:prstGeom prst="ellipse">
            <a:avLst/>
          </a:prstGeom>
          <a:solidFill>
            <a:srgbClr val="2E4A3A"/>
          </a:solidFill>
          <a:ln>
            <a:noFill/>
          </a:ln>
        </p:spPr>
      </p:sp>
      <p:sp>
        <p:nvSpPr>
          <p:cNvPr id="8" name="dot3"/>
          <p:cNvSpPr/>
          <p:nvPr/>
        </p:nvSpPr>
        <p:spPr>
          <a:xfrm>
            <a:off x="11049635" y="3534410"/>
            <a:ext cx="76200" cy="76200"/>
          </a:xfrm>
          <a:prstGeom prst="ellipse">
            <a:avLst/>
          </a:prstGeom>
          <a:solidFill>
            <a:srgbClr val="2E4A3A"/>
          </a:solidFill>
          <a:ln>
            <a:noFill/>
          </a:ln>
        </p:spPr>
      </p:sp>
      <p:sp>
        <p:nvSpPr>
          <p:cNvPr id="9" name="kicker"/>
          <p:cNvSpPr txBox="1"/>
          <p:nvPr/>
        </p:nvSpPr>
        <p:spPr>
          <a:xfrm>
            <a:off x="812800" y="10414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 noProof="1">
                <a:solidFill>
                  <a:srgbClr val="2E4A3A"/>
                </a:solidFill>
                <a:latin typeface="MiSans" charset="-122"/>
                <a:ea typeface="MiSans" charset="-122"/>
              </a:rPr>
              <a:t>研究生实践课程 · 课程总体设计</a:t>
            </a:r>
            <a:endParaRPr lang="en-US" sz="1200" noProof="1"/>
          </a:p>
        </p:txBody>
      </p:sp>
      <p:sp>
        <p:nvSpPr>
          <p:cNvPr id="10" name="accentBar"/>
          <p:cNvSpPr/>
          <p:nvPr/>
        </p:nvSpPr>
        <p:spPr>
          <a:xfrm>
            <a:off x="812800" y="1473200"/>
            <a:ext cx="558800" cy="63500"/>
          </a:xfrm>
          <a:prstGeom prst="rect">
            <a:avLst/>
          </a:prstGeom>
          <a:solidFill>
            <a:srgbClr val="B3492B"/>
          </a:solidFill>
          <a:ln>
            <a:noFill/>
          </a:ln>
        </p:spPr>
      </p:sp>
      <p:sp>
        <p:nvSpPr>
          <p:cNvPr id="11" name="title"/>
          <p:cNvSpPr txBox="1"/>
          <p:nvPr/>
        </p:nvSpPr>
        <p:spPr>
          <a:xfrm>
            <a:off x="769620" y="1863725"/>
            <a:ext cx="8356600" cy="20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700" b="1" noProof="1">
                <a:solidFill>
                  <a:srgbClr val="22271F"/>
                </a:solidFill>
                <a:latin typeface="Noto Serif SC" panose="02020200000000000000" charset="-122"/>
                <a:ea typeface="Noto Serif SC" panose="02020200000000000000" charset="-122"/>
              </a:rPr>
              <a:t>异构多模态数据环境下大模型作战规划智能体记忆系统构建</a:t>
            </a:r>
            <a:endParaRPr lang="en-US" sz="3700" noProof="1"/>
          </a:p>
        </p:txBody>
      </p:sp>
      <p:sp>
        <p:nvSpPr>
          <p:cNvPr id="12" name="subtitle"/>
          <p:cNvSpPr txBox="1"/>
          <p:nvPr/>
        </p:nvSpPr>
        <p:spPr>
          <a:xfrm>
            <a:off x="812800" y="3895725"/>
            <a:ext cx="787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5000"/>
              </a:lnSpc>
            </a:pPr>
            <a:r>
              <a:rPr lang="en-US" sz="1600" noProof="1">
                <a:solidFill>
                  <a:schemeClr val="tx1"/>
                </a:solidFill>
                <a:latin typeface="MiSans" charset="-122"/>
                <a:ea typeface="MiSans" charset="-122"/>
              </a:rPr>
              <a:t>以「智戎」大小模型协同作战规划系统为</a:t>
            </a:r>
            <a:r>
              <a:rPr lang="zh-CN" altLang="en-US" sz="1600" noProof="1">
                <a:solidFill>
                  <a:schemeClr val="tx1"/>
                </a:solidFill>
                <a:latin typeface="MiSans" charset="-122"/>
                <a:ea typeface="MiSans" charset="-122"/>
              </a:rPr>
              <a:t>基础，</a:t>
            </a:r>
            <a:r>
              <a:rPr lang="en-US" sz="1600" noProof="1">
                <a:solidFill>
                  <a:schemeClr val="tx1"/>
                </a:solidFill>
                <a:latin typeface="MiSans" charset="-122"/>
                <a:ea typeface="MiSans" charset="-122"/>
              </a:rPr>
              <a:t>探索</a:t>
            </a:r>
            <a:r>
              <a:rPr lang="zh-CN" altLang="en-US" sz="1600" noProof="1">
                <a:solidFill>
                  <a:schemeClr val="tx1"/>
                </a:solidFill>
                <a:latin typeface="MiSans" charset="-122"/>
                <a:ea typeface="MiSans" charset="-122"/>
              </a:rPr>
              <a:t>智能体记忆技术，提高智能体知识利用质效，使规划结果更加可靠可信。</a:t>
            </a:r>
            <a:endParaRPr lang="zh-CN" altLang="en-US" sz="1600" noProof="1">
              <a:solidFill>
                <a:schemeClr val="tx1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3" name="divider"/>
          <p:cNvSpPr/>
          <p:nvPr/>
        </p:nvSpPr>
        <p:spPr>
          <a:xfrm>
            <a:off x="812800" y="4978400"/>
            <a:ext cx="78740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14" name="subtitle"/>
          <p:cNvSpPr txBox="1"/>
          <p:nvPr/>
        </p:nvSpPr>
        <p:spPr>
          <a:xfrm>
            <a:off x="812800" y="5184775"/>
            <a:ext cx="787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5000"/>
              </a:lnSpc>
            </a:pPr>
            <a:r>
              <a:rPr lang="zh-CN" altLang="en-US" sz="1600" noProof="1">
                <a:solidFill>
                  <a:schemeClr val="tx1"/>
                </a:solidFill>
                <a:latin typeface="MiSans" charset="-122"/>
                <a:ea typeface="MiSans" charset="-122"/>
              </a:rPr>
              <a:t>授课人：凌艳香、王旭东、</a:t>
            </a:r>
            <a:r>
              <a:rPr lang="zh-CN" altLang="en-US" sz="1600" noProof="1">
                <a:solidFill>
                  <a:schemeClr val="tx1"/>
                </a:solidFill>
                <a:latin typeface="MiSans" charset="-122"/>
                <a:ea typeface="MiSans" charset="-122"/>
              </a:rPr>
              <a:t>陈玉锋</a:t>
            </a:r>
            <a:endParaRPr lang="zh-CN" altLang="en-US" sz="1600" noProof="1">
              <a:solidFill>
                <a:schemeClr val="tx1"/>
              </a:solidFill>
              <a:latin typeface="MiSans" charset="-122"/>
              <a:ea typeface="MiSans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812800" y="7874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2600" b="1" noProof="1">
                <a:solidFill>
                  <a:srgbClr val="22271F"/>
                </a:solidFill>
                <a:latin typeface="Noto Serif SC" panose="02020200000000000000" charset="-122"/>
                <a:ea typeface="Noto Serif SC" panose="02020200000000000000" charset="-122"/>
              </a:rPr>
              <a:t>一、课程</a:t>
            </a:r>
            <a:r>
              <a:rPr lang="zh-CN" altLang="en-US" sz="2600" b="1" noProof="1">
                <a:solidFill>
                  <a:srgbClr val="22271F"/>
                </a:solidFill>
                <a:latin typeface="Noto Serif SC" panose="02020200000000000000" charset="-122"/>
                <a:ea typeface="Noto Serif SC" panose="02020200000000000000" charset="-122"/>
              </a:rPr>
              <a:t>目标</a:t>
            </a:r>
            <a:endParaRPr lang="zh-CN" altLang="en-US" sz="2600" b="1" noProof="1">
              <a:solidFill>
                <a:srgbClr val="22271F"/>
              </a:solidFill>
              <a:latin typeface="Noto Serif SC" panose="02020200000000000000" charset="-122"/>
              <a:ea typeface="Noto Serif SC" panose="02020200000000000000" charset="-122"/>
            </a:endParaRPr>
          </a:p>
        </p:txBody>
      </p:sp>
      <p:sp>
        <p:nvSpPr>
          <p:cNvPr id="4" name="headRule"/>
          <p:cNvSpPr/>
          <p:nvPr/>
        </p:nvSpPr>
        <p:spPr>
          <a:xfrm>
            <a:off x="812800" y="14224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5" name="lh1"/>
          <p:cNvSpPr txBox="1"/>
          <p:nvPr/>
        </p:nvSpPr>
        <p:spPr>
          <a:xfrm>
            <a:off x="727075" y="1625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b="1" noProof="1">
                <a:solidFill>
                  <a:srgbClr val="2E4A3A"/>
                </a:solidFill>
                <a:latin typeface="MiSans" charset="-122"/>
                <a:ea typeface="MiSans" charset="-122"/>
              </a:rPr>
              <a:t>「智戎」作战规划系统 + </a:t>
            </a:r>
            <a:r>
              <a:rPr lang="zh-CN" altLang="en-US" b="1" noProof="1">
                <a:solidFill>
                  <a:srgbClr val="2E4A3A"/>
                </a:solidFill>
                <a:latin typeface="MiSans" charset="-122"/>
                <a:ea typeface="MiSans" charset="-122"/>
              </a:rPr>
              <a:t>记忆</a:t>
            </a:r>
            <a:r>
              <a:rPr lang="zh-CN" altLang="en-US" b="1" noProof="1">
                <a:solidFill>
                  <a:srgbClr val="2E4A3A"/>
                </a:solidFill>
                <a:latin typeface="MiSans" charset="-122"/>
                <a:ea typeface="MiSans" charset="-122"/>
              </a:rPr>
              <a:t>增强</a:t>
            </a:r>
            <a:endParaRPr lang="zh-CN" altLang="en-US" b="1" noProof="1">
              <a:solidFill>
                <a:srgbClr val="2E4A3A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6" name="lt1"/>
          <p:cNvSpPr txBox="1"/>
          <p:nvPr/>
        </p:nvSpPr>
        <p:spPr>
          <a:xfrm>
            <a:off x="812800" y="2070735"/>
            <a:ext cx="4975860" cy="28187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400" noProof="1"/>
              <a:t>以 </a:t>
            </a:r>
            <a:r>
              <a:rPr lang="en-US" altLang="zh-CN" sz="1400" noProof="1"/>
              <a:t>LLM </a:t>
            </a:r>
            <a:r>
              <a:rPr lang="zh-CN" altLang="en-US" sz="1400" noProof="1"/>
              <a:t>为核心，连接专业算法技能，读取规划知识库，实现</a:t>
            </a:r>
            <a:r>
              <a:rPr lang="en-US" altLang="zh-CN" sz="1400" noProof="1"/>
              <a:t>afsim</a:t>
            </a:r>
            <a:r>
              <a:rPr lang="zh-CN" altLang="en-US" sz="1400" noProof="1"/>
              <a:t>对抗推演闭环。</a:t>
            </a:r>
            <a:endParaRPr lang="zh-CN" altLang="en-US" sz="1400" noProof="1"/>
          </a:p>
          <a:p>
            <a:pPr marL="285750" indent="-285750" algn="l">
              <a:lnSpc>
                <a:spcPct val="16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模型本身记不住、装不下、会编，所以记忆必须外置成系统。</a:t>
            </a:r>
            <a:endParaRPr lang="zh-CN" altLang="en-US" sz="1400">
              <a:sym typeface="+mn-ea"/>
            </a:endParaRPr>
          </a:p>
          <a:p>
            <a:pPr marL="285750" indent="-285750" algn="l">
              <a:lnSpc>
                <a:spcPct val="16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1F2422"/>
                </a:solidFill>
                <a:latin typeface="MiSans" charset="-122"/>
                <a:ea typeface="MiSans" charset="-122"/>
                <a:sym typeface="+mn-ea"/>
              </a:rPr>
              <a:t>记忆系统 = </a:t>
            </a:r>
            <a:r>
              <a:rPr lang="en-US" sz="1400" b="1">
                <a:solidFill>
                  <a:srgbClr val="1F2422"/>
                </a:solidFill>
                <a:latin typeface="MiSans" charset="-122"/>
                <a:ea typeface="MiSans" charset="-122"/>
                <a:sym typeface="+mn-ea"/>
              </a:rPr>
              <a:t>持久化、可检索、可更新</a:t>
            </a:r>
            <a:r>
              <a:rPr lang="en-US" sz="1400">
                <a:solidFill>
                  <a:srgbClr val="1F2422"/>
                </a:solidFill>
                <a:latin typeface="MiSans" charset="-122"/>
                <a:ea typeface="MiSans" charset="-122"/>
                <a:sym typeface="+mn-ea"/>
              </a:rPr>
              <a:t>的知识与状态存储。</a:t>
            </a:r>
            <a:endParaRPr lang="en-US" sz="1400">
              <a:solidFill>
                <a:srgbClr val="1F2422"/>
              </a:solidFill>
              <a:latin typeface="MiSans" charset="-122"/>
              <a:ea typeface="MiSans" charset="-122"/>
              <a:sym typeface="+mn-ea"/>
            </a:endParaRPr>
          </a:p>
          <a:p>
            <a:pPr marL="285750" indent="-285750" algn="l">
              <a:lnSpc>
                <a:spcPct val="16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rgbClr val="1F2422"/>
                </a:solidFill>
                <a:latin typeface="MiSans" charset="-122"/>
                <a:ea typeface="MiSans" charset="-122"/>
                <a:sym typeface="+mn-ea"/>
              </a:rPr>
              <a:t>战场知识的"原材料"很杂：表格、文档、</a:t>
            </a:r>
            <a:r>
              <a:rPr lang="en-US" altLang="zh-CN" sz="1400">
                <a:solidFill>
                  <a:srgbClr val="1F2422"/>
                </a:solidFill>
                <a:latin typeface="MiSans" charset="-122"/>
                <a:ea typeface="MiSans" charset="-122"/>
                <a:sym typeface="+mn-ea"/>
              </a:rPr>
              <a:t>PDF、</a:t>
            </a:r>
            <a:r>
              <a:rPr lang="zh-CN" altLang="en-US" sz="1400">
                <a:solidFill>
                  <a:srgbClr val="1F2422"/>
                </a:solidFill>
                <a:latin typeface="MiSans" charset="-122"/>
                <a:ea typeface="MiSans" charset="-122"/>
                <a:sym typeface="+mn-ea"/>
              </a:rPr>
              <a:t>图片</a:t>
            </a:r>
            <a:r>
              <a:rPr lang="zh-CN" altLang="en-US" sz="1400">
                <a:solidFill>
                  <a:srgbClr val="1F2422"/>
                </a:solidFill>
                <a:latin typeface="MiSans" charset="-122"/>
                <a:ea typeface="MiSans" charset="-122"/>
                <a:sym typeface="+mn-ea"/>
              </a:rPr>
              <a:t>等，不是一个整整齐齐的数据库。</a:t>
            </a:r>
            <a:endParaRPr lang="zh-CN" altLang="en-US" sz="1400">
              <a:solidFill>
                <a:srgbClr val="1F2422"/>
              </a:solidFill>
              <a:latin typeface="MiSans" charset="-122"/>
              <a:ea typeface="MiSans" charset="-122"/>
              <a:sym typeface="+mn-ea"/>
            </a:endParaRPr>
          </a:p>
          <a:p>
            <a:pPr marL="285750" indent="-285750" algn="l">
              <a:lnSpc>
                <a:spcPct val="16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>
                <a:solidFill>
                  <a:srgbClr val="C0562F"/>
                </a:solidFill>
                <a:latin typeface="MiSans" charset="-122"/>
                <a:ea typeface="MiSans" charset="-122"/>
                <a:sym typeface="+mn-ea"/>
              </a:rPr>
              <a:t>给 </a:t>
            </a:r>
            <a:r>
              <a:rPr lang="en-US" altLang="zh-CN" sz="1400" b="1">
                <a:solidFill>
                  <a:srgbClr val="C0562F"/>
                </a:solidFill>
                <a:latin typeface="MiSans" charset="-122"/>
                <a:ea typeface="MiSans" charset="-122"/>
                <a:sym typeface="+mn-ea"/>
              </a:rPr>
              <a:t>AI </a:t>
            </a:r>
            <a:r>
              <a:rPr lang="zh-CN" altLang="en-US" sz="1400" b="1">
                <a:solidFill>
                  <a:srgbClr val="C0562F"/>
                </a:solidFill>
                <a:latin typeface="MiSans" charset="-122"/>
                <a:ea typeface="MiSans" charset="-122"/>
                <a:sym typeface="+mn-ea"/>
              </a:rPr>
              <a:t>参谋装上一个"好记性"，让它在复杂异构、多模态</a:t>
            </a:r>
            <a:r>
              <a:rPr lang="zh-CN" altLang="en-US" sz="1400" b="1">
                <a:solidFill>
                  <a:srgbClr val="C0562F"/>
                </a:solidFill>
                <a:latin typeface="MiSans" charset="-122"/>
                <a:ea typeface="MiSans" charset="-122"/>
                <a:sym typeface="+mn-ea"/>
              </a:rPr>
              <a:t>的知识里找得准、记得牢、用得对。</a:t>
            </a:r>
            <a:endParaRPr lang="zh-CN" altLang="en-US" sz="1400" b="1">
              <a:solidFill>
                <a:srgbClr val="C0562F"/>
              </a:solidFill>
              <a:latin typeface="MiSans" charset="-122"/>
              <a:ea typeface="MiSans" charset="-122"/>
              <a:sym typeface="+mn-ea"/>
            </a:endParaRPr>
          </a:p>
          <a:p>
            <a:pPr marL="285750" indent="-285750" algn="l">
              <a:lnSpc>
                <a:spcPct val="16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altLang="en-US" sz="1400" b="1" noProof="1">
              <a:solidFill>
                <a:srgbClr val="C0562F"/>
              </a:solidFill>
              <a:latin typeface="MiSans" charset="-122"/>
              <a:ea typeface="MiSans" charset="-122"/>
              <a:sym typeface="+mn-ea"/>
            </a:endParaRPr>
          </a:p>
        </p:txBody>
      </p:sp>
      <p:sp>
        <p:nvSpPr>
          <p:cNvPr id="17" name="bRule"/>
          <p:cNvSpPr/>
          <p:nvPr/>
        </p:nvSpPr>
        <p:spPr>
          <a:xfrm>
            <a:off x="812800" y="5060950"/>
            <a:ext cx="11055985" cy="762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18" name="bLabel"/>
          <p:cNvSpPr txBox="1"/>
          <p:nvPr/>
        </p:nvSpPr>
        <p:spPr>
          <a:xfrm>
            <a:off x="812800" y="520065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1400" b="1" kern="0" spc="300" noProof="1">
                <a:solidFill>
                  <a:srgbClr val="2E4A3A"/>
                </a:solidFill>
                <a:latin typeface="MiSans" charset="-122"/>
                <a:ea typeface="MiSans" charset="-122"/>
              </a:rPr>
              <a:t>课题产出</a:t>
            </a:r>
            <a:endParaRPr lang="zh-CN" altLang="en-US" sz="1400" b="1" kern="0" spc="300" noProof="1">
              <a:solidFill>
                <a:srgbClr val="2E4A3A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9" name="kit1"/>
          <p:cNvSpPr txBox="1"/>
          <p:nvPr/>
        </p:nvSpPr>
        <p:spPr>
          <a:xfrm>
            <a:off x="812800" y="5480050"/>
            <a:ext cx="2489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600" b="1" noProof="1">
                <a:solidFill>
                  <a:srgbClr val="2E4A3A"/>
                </a:solidFill>
                <a:latin typeface="MiSans" charset="-122"/>
                <a:ea typeface="MiSans" charset="-122"/>
              </a:rPr>
              <a:t>研究报告</a:t>
            </a:r>
            <a:endParaRPr lang="en-US" sz="2000" noProof="1"/>
          </a:p>
          <a:p>
            <a:pPr>
              <a:lnSpc>
                <a:spcPct val="140000"/>
              </a:lnSpc>
            </a:pPr>
            <a:r>
              <a:rPr lang="en-US" sz="14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正文 ≥8000 字，</a:t>
            </a:r>
            <a:r>
              <a:rPr lang="zh-CN" altLang="en-US" sz="14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研究总结</a:t>
            </a:r>
            <a:endParaRPr lang="zh-CN" altLang="en-US" sz="1400" noProof="1">
              <a:solidFill>
                <a:srgbClr val="6E7368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20" name="kit2"/>
          <p:cNvSpPr txBox="1"/>
          <p:nvPr/>
        </p:nvSpPr>
        <p:spPr>
          <a:xfrm>
            <a:off x="3505200" y="5480050"/>
            <a:ext cx="2489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600" b="1" noProof="1">
                <a:solidFill>
                  <a:srgbClr val="2E4A3A"/>
                </a:solidFill>
                <a:latin typeface="MiSans" charset="-122"/>
                <a:ea typeface="MiSans" charset="-122"/>
              </a:rPr>
              <a:t>算法代码</a:t>
            </a:r>
            <a:endParaRPr lang="en-US" sz="2000" noProof="1"/>
          </a:p>
          <a:p>
            <a:pPr>
              <a:lnSpc>
                <a:spcPct val="140000"/>
              </a:lnSpc>
            </a:pPr>
            <a:r>
              <a:rPr lang="en-US" sz="14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可复现</a:t>
            </a:r>
            <a:r>
              <a:rPr lang="zh-CN" altLang="en-US" sz="14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、可演示</a:t>
            </a:r>
            <a:endParaRPr lang="zh-CN" altLang="en-US" sz="1400" noProof="1">
              <a:solidFill>
                <a:srgbClr val="6E7368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21" name="kit3"/>
          <p:cNvSpPr txBox="1"/>
          <p:nvPr/>
        </p:nvSpPr>
        <p:spPr>
          <a:xfrm>
            <a:off x="6197600" y="5480050"/>
            <a:ext cx="2489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600" b="1" noProof="1">
                <a:solidFill>
                  <a:srgbClr val="2E4A3A"/>
                </a:solidFill>
                <a:latin typeface="MiSans" charset="-122"/>
                <a:ea typeface="MiSans" charset="-122"/>
              </a:rPr>
              <a:t>系统</a:t>
            </a:r>
            <a:r>
              <a:rPr lang="zh-CN" altLang="en-US" sz="1600" b="1" noProof="1">
                <a:solidFill>
                  <a:srgbClr val="2E4A3A"/>
                </a:solidFill>
                <a:latin typeface="MiSans" charset="-122"/>
                <a:ea typeface="MiSans" charset="-122"/>
              </a:rPr>
              <a:t>集成验证</a:t>
            </a:r>
            <a:endParaRPr lang="en-US" sz="2000" noProof="1"/>
          </a:p>
          <a:p>
            <a:pPr>
              <a:lnSpc>
                <a:spcPct val="140000"/>
              </a:lnSpc>
            </a:pPr>
            <a:r>
              <a:rPr lang="zh-CN" altLang="en-US" sz="14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智戎规划系统集成验证</a:t>
            </a:r>
            <a:endParaRPr lang="zh-CN" altLang="en-US" sz="1400" noProof="1">
              <a:solidFill>
                <a:srgbClr val="6E7368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22" name="kit4"/>
          <p:cNvSpPr txBox="1"/>
          <p:nvPr/>
        </p:nvSpPr>
        <p:spPr>
          <a:xfrm>
            <a:off x="8890000" y="5480050"/>
            <a:ext cx="2723515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600" b="1" noProof="1">
                <a:solidFill>
                  <a:srgbClr val="2E4A3A"/>
                </a:solidFill>
                <a:latin typeface="MiSans" charset="-122"/>
                <a:ea typeface="MiSans" charset="-122"/>
              </a:rPr>
              <a:t>答辩 PPT</a:t>
            </a:r>
            <a:endParaRPr lang="en-US" sz="2000" noProof="1"/>
          </a:p>
          <a:p>
            <a:pPr>
              <a:lnSpc>
                <a:spcPct val="140000"/>
              </a:lnSpc>
            </a:pPr>
            <a:r>
              <a:rPr lang="en-US" sz="14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20 分钟</a:t>
            </a:r>
            <a:r>
              <a:rPr lang="zh-CN" altLang="en-US" sz="14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：</a:t>
            </a:r>
            <a:r>
              <a:rPr lang="en-US" sz="14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汇报 + </a:t>
            </a:r>
            <a:r>
              <a:rPr lang="zh-CN" altLang="en-US" sz="14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视频演示</a:t>
            </a:r>
            <a:r>
              <a:rPr lang="en-US" altLang="zh-CN" sz="14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 + </a:t>
            </a:r>
            <a:r>
              <a:rPr lang="zh-CN" altLang="en-US" sz="14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质询</a:t>
            </a:r>
            <a:endParaRPr lang="zh-CN" altLang="en-US" sz="1400" noProof="1">
              <a:solidFill>
                <a:srgbClr val="6E7368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23" name="footRule"/>
          <p:cNvSpPr/>
          <p:nvPr/>
        </p:nvSpPr>
        <p:spPr>
          <a:xfrm>
            <a:off x="812800" y="6153150"/>
            <a:ext cx="11055985" cy="762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24" name="footL"/>
          <p:cNvSpPr txBox="1"/>
          <p:nvPr/>
        </p:nvSpPr>
        <p:spPr>
          <a:xfrm>
            <a:off x="812800" y="65278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大模型作战规划智能体记忆系统构建 · 课程总体设计</a:t>
            </a:r>
            <a:endParaRPr lang="en-US" sz="1000" noProof="1"/>
          </a:p>
        </p:txBody>
      </p:sp>
      <p:sp>
        <p:nvSpPr>
          <p:cNvPr id="25" name="footR"/>
          <p:cNvSpPr txBox="1"/>
          <p:nvPr/>
        </p:nvSpPr>
        <p:spPr>
          <a:xfrm>
            <a:off x="10160000" y="6527800"/>
            <a:ext cx="1219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lang="en-US" sz="10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03 / 16</a:t>
            </a:r>
            <a:endParaRPr lang="en-US" sz="1000" noProof="1"/>
          </a:p>
        </p:txBody>
      </p:sp>
      <p:grpSp>
        <p:nvGrpSpPr>
          <p:cNvPr id="57" name="组合 56"/>
          <p:cNvGrpSpPr/>
          <p:nvPr/>
        </p:nvGrpSpPr>
        <p:grpSpPr>
          <a:xfrm>
            <a:off x="6058535" y="1711960"/>
            <a:ext cx="5817235" cy="3171825"/>
            <a:chOff x="12524" y="-6019"/>
            <a:chExt cx="10328" cy="6960"/>
          </a:xfrm>
        </p:grpSpPr>
        <p:sp>
          <p:nvSpPr>
            <p:cNvPr id="31" name="cmd-box"/>
            <p:cNvSpPr/>
            <p:nvPr/>
          </p:nvSpPr>
          <p:spPr>
            <a:xfrm>
              <a:off x="15325" y="-6019"/>
              <a:ext cx="4000" cy="720"/>
            </a:xfrm>
            <a:prstGeom prst="rect">
              <a:avLst/>
            </a:prstGeom>
            <a:solidFill>
              <a:srgbClr val="1E3D34"/>
            </a:solidFill>
            <a:ln>
              <a:noFill/>
            </a:ln>
          </p:spPr>
        </p:sp>
        <p:sp>
          <p:nvSpPr>
            <p:cNvPr id="32" name="cmd-text"/>
            <p:cNvSpPr txBox="1"/>
            <p:nvPr/>
          </p:nvSpPr>
          <p:spPr>
            <a:xfrm>
              <a:off x="15325" y="-6019"/>
              <a:ext cx="4000" cy="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300" b="1" noProof="1">
                  <a:solidFill>
                    <a:srgbClr val="FFFFFF"/>
                  </a:solidFill>
                  <a:latin typeface="MiSans" charset="-122"/>
                  <a:ea typeface="MiSans" charset="-122"/>
                </a:rPr>
                <a:t>👤 指挥员</a:t>
              </a:r>
              <a:r>
                <a:rPr lang="en-US" sz="1300" noProof="1">
                  <a:solidFill>
                    <a:srgbClr val="FFFFFF"/>
                  </a:solidFill>
                  <a:latin typeface="MiSans" charset="-122"/>
                  <a:ea typeface="MiSans" charset="-122"/>
                </a:rPr>
                <a:t>（决策主体）</a:t>
              </a:r>
              <a:endParaRPr lang="en-US" sz="1600" noProof="1"/>
            </a:p>
          </p:txBody>
        </p:sp>
        <p:sp>
          <p:nvSpPr>
            <p:cNvPr id="33" name="arr-cmd-llm"/>
            <p:cNvSpPr/>
            <p:nvPr/>
          </p:nvSpPr>
          <p:spPr>
            <a:xfrm>
              <a:off x="17205" y="-5299"/>
              <a:ext cx="240" cy="520"/>
            </a:xfrm>
            <a:custGeom>
              <a:avLst/>
              <a:gdLst/>
              <a:ahLst/>
              <a:cxnLst/>
              <a:rect l="l" t="t" r="r" b="b"/>
              <a:pathLst>
                <a:path w="12" h="26">
                  <a:moveTo>
                    <a:pt x="6" y="0"/>
                  </a:moveTo>
                  <a:lnTo>
                    <a:pt x="6" y="26"/>
                  </a:lnTo>
                </a:path>
              </a:pathLst>
            </a:custGeom>
            <a:noFill/>
            <a:ln w="19050" cap="rnd">
              <a:solidFill>
                <a:srgbClr val="6E7672"/>
              </a:solidFill>
              <a:round/>
              <a:tailEnd type="arrow"/>
            </a:ln>
          </p:spPr>
        </p:sp>
        <p:sp>
          <p:nvSpPr>
            <p:cNvPr id="34" name="arr-cmd-label"/>
            <p:cNvSpPr txBox="1"/>
            <p:nvPr/>
          </p:nvSpPr>
          <p:spPr>
            <a:xfrm>
              <a:off x="17565" y="-5219"/>
              <a:ext cx="2400" cy="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/>
            <a:lstStyle/>
            <a:p>
              <a:pPr>
                <a:lnSpc>
                  <a:spcPct val="120000"/>
                </a:lnSpc>
              </a:pPr>
              <a:r>
                <a:rPr lang="en-US" sz="1050" noProof="1">
                  <a:solidFill>
                    <a:srgbClr val="6E7672"/>
                  </a:solidFill>
                  <a:latin typeface="MiSans" charset="-122"/>
                  <a:ea typeface="MiSans" charset="-122"/>
                </a:rPr>
                <a:t>自然语言意图</a:t>
              </a:r>
              <a:endParaRPr lang="en-US" sz="1050" noProof="1"/>
            </a:p>
          </p:txBody>
        </p:sp>
        <p:sp>
          <p:nvSpPr>
            <p:cNvPr id="35" name="llm-box"/>
            <p:cNvSpPr/>
            <p:nvPr/>
          </p:nvSpPr>
          <p:spPr>
            <a:xfrm>
              <a:off x="14325" y="-4779"/>
              <a:ext cx="6000" cy="920"/>
            </a:xfrm>
            <a:prstGeom prst="rect">
              <a:avLst/>
            </a:prstGeom>
            <a:solidFill>
              <a:srgbClr val="E2E8E2"/>
            </a:solidFill>
            <a:ln w="19050">
              <a:solidFill>
                <a:srgbClr val="1E3D34"/>
              </a:solidFill>
            </a:ln>
          </p:spPr>
        </p:sp>
        <p:sp>
          <p:nvSpPr>
            <p:cNvPr id="36" name="llm-text"/>
            <p:cNvSpPr txBox="1"/>
            <p:nvPr/>
          </p:nvSpPr>
          <p:spPr>
            <a:xfrm>
              <a:off x="14325" y="-4779"/>
              <a:ext cx="6000" cy="9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350" b="1" noProof="1">
                  <a:solidFill>
                    <a:srgbClr val="1E3D34"/>
                  </a:solidFill>
                  <a:latin typeface="MiSans" charset="-122"/>
                  <a:ea typeface="MiSans" charset="-122"/>
                </a:rPr>
                <a:t>LLM 认知协调者</a:t>
              </a:r>
              <a:endParaRPr lang="en-US" sz="1600" noProof="1"/>
            </a:p>
            <a:p>
              <a:pPr algn="ctr">
                <a:lnSpc>
                  <a:spcPct val="120000"/>
                </a:lnSpc>
              </a:pPr>
              <a:r>
                <a:rPr lang="en-US" sz="1050" noProof="1">
                  <a:solidFill>
                    <a:srgbClr val="6E7672"/>
                  </a:solidFill>
                  <a:latin typeface="MiSans" charset="-122"/>
                  <a:ea typeface="MiSans" charset="-122"/>
                </a:rPr>
                <a:t>意图理解 · 任务分解 · 流程编排 · 调度</a:t>
              </a:r>
              <a:endParaRPr lang="en-US" sz="1600" noProof="1"/>
            </a:p>
          </p:txBody>
        </p:sp>
        <p:sp>
          <p:nvSpPr>
            <p:cNvPr id="37" name="arr-llm-pipe"/>
            <p:cNvSpPr/>
            <p:nvPr/>
          </p:nvSpPr>
          <p:spPr>
            <a:xfrm>
              <a:off x="15005" y="-3859"/>
              <a:ext cx="240" cy="600"/>
            </a:xfrm>
            <a:custGeom>
              <a:avLst/>
              <a:gdLst/>
              <a:ahLst/>
              <a:cxnLst/>
              <a:rect l="l" t="t" r="r" b="b"/>
              <a:pathLst>
                <a:path w="12" h="30">
                  <a:moveTo>
                    <a:pt x="6" y="0"/>
                  </a:moveTo>
                  <a:lnTo>
                    <a:pt x="6" y="30"/>
                  </a:lnTo>
                </a:path>
              </a:pathLst>
            </a:custGeom>
            <a:noFill/>
            <a:ln w="19050" cap="rnd">
              <a:solidFill>
                <a:srgbClr val="6E7672"/>
              </a:solidFill>
              <a:round/>
              <a:tailEnd type="arrow"/>
            </a:ln>
          </p:spPr>
        </p:sp>
        <p:sp>
          <p:nvSpPr>
            <p:cNvPr id="38" name="arr-llm-pipe-label"/>
            <p:cNvSpPr txBox="1"/>
            <p:nvPr/>
          </p:nvSpPr>
          <p:spPr>
            <a:xfrm>
              <a:off x="13725" y="-3699"/>
              <a:ext cx="1200" cy="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t"/>
            <a:lstStyle/>
            <a:p>
              <a:pPr algn="r">
                <a:lnSpc>
                  <a:spcPct val="120000"/>
                </a:lnSpc>
              </a:pPr>
              <a:r>
                <a:rPr lang="en-US" sz="1050" noProof="1">
                  <a:solidFill>
                    <a:srgbClr val="6E7672"/>
                  </a:solidFill>
                  <a:latin typeface="MiSans" charset="-122"/>
                  <a:ea typeface="MiSans" charset="-122"/>
                </a:rPr>
                <a:t>流程驱动</a:t>
              </a:r>
              <a:endParaRPr lang="en-US" sz="1050" noProof="1"/>
            </a:p>
          </p:txBody>
        </p:sp>
        <p:sp>
          <p:nvSpPr>
            <p:cNvPr id="39" name="pipe-box"/>
            <p:cNvSpPr/>
            <p:nvPr/>
          </p:nvSpPr>
          <p:spPr>
            <a:xfrm>
              <a:off x="12525" y="-3259"/>
              <a:ext cx="5200" cy="1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1E3D34"/>
              </a:solidFill>
            </a:ln>
          </p:spPr>
        </p:sp>
        <p:sp>
          <p:nvSpPr>
            <p:cNvPr id="40" name="pipe-text"/>
            <p:cNvSpPr txBox="1"/>
            <p:nvPr/>
          </p:nvSpPr>
          <p:spPr>
            <a:xfrm>
              <a:off x="12525" y="-3259"/>
              <a:ext cx="5200" cy="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350" b="1" noProof="1">
                  <a:solidFill>
                    <a:srgbClr val="1F2422"/>
                  </a:solidFill>
                  <a:latin typeface="MiSans" charset="-122"/>
                  <a:ea typeface="MiSans" charset="-122"/>
                </a:rPr>
                <a:t>规划管线</a:t>
              </a:r>
              <a:endParaRPr lang="en-US" sz="1600" noProof="1"/>
            </a:p>
            <a:p>
              <a:pPr algn="ctr">
                <a:lnSpc>
                  <a:spcPct val="120000"/>
                </a:lnSpc>
              </a:pPr>
              <a:r>
                <a:rPr lang="en-US" sz="1050" noProof="1">
                  <a:solidFill>
                    <a:srgbClr val="6E7672"/>
                  </a:solidFill>
                  <a:latin typeface="MiSans" charset="-122"/>
                  <a:ea typeface="MiSans" charset="-122"/>
                </a:rPr>
                <a:t>启动→分析→生成→分析→比较→批准→指令</a:t>
              </a:r>
              <a:endParaRPr lang="en-US" sz="1600" noProof="1"/>
            </a:p>
          </p:txBody>
        </p:sp>
        <p:sp>
          <p:nvSpPr>
            <p:cNvPr id="41" name="kb-box"/>
            <p:cNvSpPr/>
            <p:nvPr/>
          </p:nvSpPr>
          <p:spPr>
            <a:xfrm>
              <a:off x="19324" y="-3259"/>
              <a:ext cx="3527" cy="251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0562F"/>
              </a:solidFill>
            </a:ln>
          </p:spPr>
        </p:sp>
        <p:sp>
          <p:nvSpPr>
            <p:cNvPr id="42" name="kb-text"/>
            <p:cNvSpPr txBox="1"/>
            <p:nvPr/>
          </p:nvSpPr>
          <p:spPr>
            <a:xfrm>
              <a:off x="19364" y="-3259"/>
              <a:ext cx="3480" cy="251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350" b="1" noProof="1">
                  <a:solidFill>
                    <a:srgbClr val="C0562F"/>
                  </a:solidFill>
                  <a:latin typeface="MiSans" charset="-122"/>
                  <a:ea typeface="MiSans" charset="-122"/>
                </a:rPr>
                <a:t>规划知识库 </a:t>
              </a:r>
              <a:endParaRPr lang="en-US" sz="1350" b="1" noProof="1">
                <a:solidFill>
                  <a:srgbClr val="C0562F"/>
                </a:solidFill>
                <a:latin typeface="MiSans" charset="-122"/>
                <a:ea typeface="MiSans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en-US" sz="1050" noProof="1">
                  <a:solidFill>
                    <a:srgbClr val="6E7672"/>
                  </a:solidFill>
                  <a:latin typeface="MiSans" charset="-122"/>
                  <a:ea typeface="MiSans" charset="-122"/>
                </a:rPr>
                <a:t>只许用库里的数据</a:t>
              </a:r>
              <a:endParaRPr lang="en-US" sz="1600" noProof="1"/>
            </a:p>
          </p:txBody>
        </p:sp>
        <p:sp>
          <p:nvSpPr>
            <p:cNvPr id="43" name="arr-pipe-kb"/>
            <p:cNvSpPr/>
            <p:nvPr/>
          </p:nvSpPr>
          <p:spPr>
            <a:xfrm>
              <a:off x="17725" y="-2899"/>
              <a:ext cx="1622" cy="186"/>
            </a:xfrm>
            <a:custGeom>
              <a:avLst/>
              <a:gdLst/>
              <a:ahLst/>
              <a:cxnLst/>
              <a:rect l="l" t="t" r="r" b="b"/>
              <a:pathLst>
                <a:path w="120" h="14">
                  <a:moveTo>
                    <a:pt x="0" y="7"/>
                  </a:moveTo>
                  <a:lnTo>
                    <a:pt x="120" y="7"/>
                  </a:lnTo>
                </a:path>
              </a:pathLst>
            </a:custGeom>
            <a:noFill/>
            <a:ln w="19050" cap="rnd">
              <a:solidFill>
                <a:srgbClr val="C0562F"/>
              </a:solidFill>
              <a:round/>
              <a:headEnd type="arrow"/>
              <a:tailEnd type="arrow"/>
            </a:ln>
          </p:spPr>
        </p:sp>
        <p:sp>
          <p:nvSpPr>
            <p:cNvPr id="44" name="arr-pipe-kb-label"/>
            <p:cNvSpPr txBox="1"/>
            <p:nvPr/>
          </p:nvSpPr>
          <p:spPr>
            <a:xfrm>
              <a:off x="17314" y="-3214"/>
              <a:ext cx="2400" cy="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t"/>
            <a:lstStyle/>
            <a:p>
              <a:pPr algn="ctr">
                <a:lnSpc>
                  <a:spcPct val="120000"/>
                </a:lnSpc>
              </a:pPr>
              <a:r>
                <a:rPr lang="en-US" sz="1050" noProof="1">
                  <a:solidFill>
                    <a:srgbClr val="C0562F"/>
                  </a:solidFill>
                  <a:latin typeface="MiSans" charset="-122"/>
                  <a:ea typeface="MiSans" charset="-122"/>
                </a:rPr>
                <a:t>知识锚定</a:t>
              </a:r>
              <a:endParaRPr lang="en-US" sz="1050" noProof="1"/>
            </a:p>
          </p:txBody>
        </p:sp>
        <p:sp>
          <p:nvSpPr>
            <p:cNvPr id="45" name="arr-pipe-skill"/>
            <p:cNvSpPr/>
            <p:nvPr/>
          </p:nvSpPr>
          <p:spPr>
            <a:xfrm>
              <a:off x="15005" y="-2259"/>
              <a:ext cx="240" cy="600"/>
            </a:xfrm>
            <a:custGeom>
              <a:avLst/>
              <a:gdLst/>
              <a:ahLst/>
              <a:cxnLst/>
              <a:rect l="l" t="t" r="r" b="b"/>
              <a:pathLst>
                <a:path w="12" h="30">
                  <a:moveTo>
                    <a:pt x="6" y="0"/>
                  </a:moveTo>
                  <a:lnTo>
                    <a:pt x="6" y="30"/>
                  </a:lnTo>
                </a:path>
              </a:pathLst>
            </a:custGeom>
            <a:noFill/>
            <a:ln w="19050" cap="rnd">
              <a:solidFill>
                <a:srgbClr val="6E7672"/>
              </a:solidFill>
              <a:round/>
              <a:tailEnd type="arrow"/>
            </a:ln>
          </p:spPr>
        </p:sp>
        <p:sp>
          <p:nvSpPr>
            <p:cNvPr id="46" name="skill-box"/>
            <p:cNvSpPr/>
            <p:nvPr/>
          </p:nvSpPr>
          <p:spPr>
            <a:xfrm>
              <a:off x="12525" y="-1659"/>
              <a:ext cx="5200" cy="92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1E3D34"/>
              </a:solidFill>
            </a:ln>
          </p:spPr>
        </p:sp>
        <p:sp>
          <p:nvSpPr>
            <p:cNvPr id="47" name="skill-text"/>
            <p:cNvSpPr txBox="1"/>
            <p:nvPr/>
          </p:nvSpPr>
          <p:spPr>
            <a:xfrm>
              <a:off x="12525" y="-1659"/>
              <a:ext cx="5200" cy="9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350" b="1" noProof="1">
                  <a:solidFill>
                    <a:srgbClr val="1F2422"/>
                  </a:solidFill>
                  <a:latin typeface="MiSans" charset="-122"/>
                  <a:ea typeface="MiSans" charset="-122"/>
                </a:rPr>
                <a:t>专业技能池</a:t>
              </a:r>
              <a:r>
                <a:rPr lang="en-US" sz="1350" noProof="1">
                  <a:solidFill>
                    <a:srgbClr val="1F2422"/>
                  </a:solidFill>
                  <a:latin typeface="MiSans" charset="-122"/>
                  <a:ea typeface="MiSans" charset="-122"/>
                </a:rPr>
                <a:t> · 50+ 原子计算技能</a:t>
              </a:r>
              <a:endParaRPr lang="en-US" sz="1600" noProof="1"/>
            </a:p>
            <a:p>
              <a:pPr algn="ctr">
                <a:lnSpc>
                  <a:spcPct val="120000"/>
                </a:lnSpc>
              </a:pPr>
              <a:r>
                <a:rPr lang="en-US" sz="1050" noProof="1">
                  <a:solidFill>
                    <a:srgbClr val="6E7672"/>
                  </a:solidFill>
                  <a:latin typeface="MiSans" charset="-122"/>
                  <a:ea typeface="MiSans" charset="-122"/>
                </a:rPr>
                <a:t>精确计算结果</a:t>
              </a:r>
              <a:endParaRPr lang="en-US" sz="1600" noProof="1"/>
            </a:p>
          </p:txBody>
        </p:sp>
        <p:sp>
          <p:nvSpPr>
            <p:cNvPr id="50" name="arr-skill-eval"/>
            <p:cNvSpPr/>
            <p:nvPr/>
          </p:nvSpPr>
          <p:spPr>
            <a:xfrm>
              <a:off x="15005" y="-739"/>
              <a:ext cx="240" cy="800"/>
            </a:xfrm>
            <a:custGeom>
              <a:avLst/>
              <a:gdLst/>
              <a:ahLst/>
              <a:cxnLst/>
              <a:rect l="l" t="t" r="r" b="b"/>
              <a:pathLst>
                <a:path w="12" h="40">
                  <a:moveTo>
                    <a:pt x="6" y="0"/>
                  </a:moveTo>
                  <a:lnTo>
                    <a:pt x="6" y="40"/>
                  </a:lnTo>
                </a:path>
              </a:pathLst>
            </a:custGeom>
            <a:noFill/>
            <a:ln w="19050" cap="rnd">
              <a:solidFill>
                <a:srgbClr val="6E7672"/>
              </a:solidFill>
              <a:round/>
              <a:tailEnd type="arrow"/>
            </a:ln>
          </p:spPr>
        </p:sp>
        <p:sp>
          <p:nvSpPr>
            <p:cNvPr id="51" name="eval-box"/>
            <p:cNvSpPr/>
            <p:nvPr/>
          </p:nvSpPr>
          <p:spPr>
            <a:xfrm>
              <a:off x="12531" y="61"/>
              <a:ext cx="10309" cy="88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1E3D34"/>
              </a:solidFill>
            </a:ln>
          </p:spPr>
        </p:sp>
        <p:sp>
          <p:nvSpPr>
            <p:cNvPr id="52" name="eval-text"/>
            <p:cNvSpPr txBox="1"/>
            <p:nvPr/>
          </p:nvSpPr>
          <p:spPr>
            <a:xfrm>
              <a:off x="12524" y="61"/>
              <a:ext cx="10328" cy="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300" b="1" noProof="1">
                  <a:solidFill>
                    <a:srgbClr val="1F2422"/>
                  </a:solidFill>
                  <a:latin typeface="MiSans" charset="-122"/>
                  <a:ea typeface="MiSans" charset="-122"/>
                </a:rPr>
                <a:t> AFSIM 对抗推演</a:t>
              </a:r>
              <a:endParaRPr lang="en-US" sz="1600" noProof="1"/>
            </a:p>
          </p:txBody>
        </p:sp>
        <p:sp>
          <p:nvSpPr>
            <p:cNvPr id="55" name="arr-pipe-kb"/>
            <p:cNvSpPr/>
            <p:nvPr/>
          </p:nvSpPr>
          <p:spPr>
            <a:xfrm>
              <a:off x="17703" y="-1254"/>
              <a:ext cx="1622" cy="186"/>
            </a:xfrm>
            <a:custGeom>
              <a:avLst/>
              <a:gdLst/>
              <a:ahLst/>
              <a:cxnLst/>
              <a:rect l="l" t="t" r="r" b="b"/>
              <a:pathLst>
                <a:path w="120" h="14">
                  <a:moveTo>
                    <a:pt x="0" y="7"/>
                  </a:moveTo>
                  <a:lnTo>
                    <a:pt x="120" y="7"/>
                  </a:lnTo>
                </a:path>
              </a:pathLst>
            </a:custGeom>
            <a:noFill/>
            <a:ln w="19050" cap="rnd">
              <a:solidFill>
                <a:srgbClr val="C0562F"/>
              </a:solidFill>
              <a:round/>
              <a:headEnd type="arrow"/>
              <a:tailEnd type="arrow"/>
            </a:ln>
          </p:spPr>
        </p:sp>
        <p:sp>
          <p:nvSpPr>
            <p:cNvPr id="56" name="arr-pipe-kb-label"/>
            <p:cNvSpPr txBox="1"/>
            <p:nvPr/>
          </p:nvSpPr>
          <p:spPr>
            <a:xfrm>
              <a:off x="17314" y="-1498"/>
              <a:ext cx="2400" cy="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t"/>
            <a:lstStyle/>
            <a:p>
              <a:pPr algn="ctr">
                <a:lnSpc>
                  <a:spcPct val="120000"/>
                </a:lnSpc>
              </a:pPr>
              <a:r>
                <a:rPr lang="en-US" sz="1050" noProof="1">
                  <a:solidFill>
                    <a:srgbClr val="C0562F"/>
                  </a:solidFill>
                  <a:latin typeface="MiSans" charset="-122"/>
                  <a:ea typeface="MiSans" charset="-122"/>
                </a:rPr>
                <a:t>知识锚定</a:t>
              </a:r>
              <a:endParaRPr lang="en-US" sz="1050" noProof="1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812800" y="7874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2600" b="1" noProof="1">
                <a:solidFill>
                  <a:srgbClr val="22271F"/>
                </a:solidFill>
                <a:latin typeface="Noto Serif SC" panose="02020200000000000000" charset="-122"/>
                <a:ea typeface="Noto Serif SC" panose="02020200000000000000" charset="-122"/>
              </a:rPr>
              <a:t>二、内容</a:t>
            </a:r>
            <a:r>
              <a:rPr lang="zh-CN" altLang="en-US" sz="2600" b="1" noProof="1">
                <a:solidFill>
                  <a:srgbClr val="22271F"/>
                </a:solidFill>
                <a:latin typeface="Noto Serif SC" panose="02020200000000000000" charset="-122"/>
                <a:ea typeface="Noto Serif SC" panose="02020200000000000000" charset="-122"/>
              </a:rPr>
              <a:t>设置</a:t>
            </a:r>
            <a:endParaRPr lang="zh-CN" altLang="en-US" sz="2600" b="1" noProof="1">
              <a:solidFill>
                <a:srgbClr val="22271F"/>
              </a:solidFill>
              <a:latin typeface="Noto Serif SC" panose="02020200000000000000" charset="-122"/>
              <a:ea typeface="Noto Serif SC" panose="02020200000000000000" charset="-122"/>
            </a:endParaRPr>
          </a:p>
        </p:txBody>
      </p:sp>
      <p:sp>
        <p:nvSpPr>
          <p:cNvPr id="4" name="headRule"/>
          <p:cNvSpPr/>
          <p:nvPr/>
        </p:nvSpPr>
        <p:spPr>
          <a:xfrm>
            <a:off x="812800" y="14224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7" name="d1"/>
          <p:cNvSpPr txBox="1"/>
          <p:nvPr/>
        </p:nvSpPr>
        <p:spPr>
          <a:xfrm>
            <a:off x="812800" y="1612900"/>
            <a:ext cx="4826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600" b="1" noProof="1">
                <a:solidFill>
                  <a:srgbClr val="22271F"/>
                </a:solidFill>
                <a:latin typeface="MiSans" charset="-122"/>
                <a:ea typeface="MiSans" charset="-122"/>
              </a:rPr>
              <a:t>只会按词找文件、不会联想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6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挑战一：缺乏跨文档知识关联建模</a:t>
            </a:r>
            <a:endParaRPr lang="en-US" sz="1600" b="1" noProof="1">
              <a:solidFill>
                <a:srgbClr val="C0562F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8" name="a1"/>
          <p:cNvSpPr/>
          <p:nvPr/>
        </p:nvSpPr>
        <p:spPr>
          <a:xfrm>
            <a:off x="5791200" y="1841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2E4A3A"/>
          </a:solidFill>
          <a:ln>
            <a:noFill/>
          </a:ln>
        </p:spPr>
      </p:sp>
      <p:sp>
        <p:nvSpPr>
          <p:cNvPr id="9" name="p1"/>
          <p:cNvSpPr txBox="1"/>
          <p:nvPr/>
        </p:nvSpPr>
        <p:spPr>
          <a:xfrm>
            <a:off x="6350000" y="1682750"/>
            <a:ext cx="50292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600" b="1" noProof="1">
                <a:solidFill>
                  <a:srgbClr val="2E4A3A"/>
                </a:solidFill>
                <a:latin typeface="MiSans" charset="-122"/>
                <a:ea typeface="MiSans" charset="-122"/>
              </a:rPr>
              <a:t>① 基于 GraphRAG 的图记忆</a:t>
            </a:r>
            <a:r>
              <a:rPr lang="zh-CN" altLang="en-US" sz="1600" b="1" noProof="1">
                <a:solidFill>
                  <a:srgbClr val="2E4A3A"/>
                </a:solidFill>
                <a:latin typeface="MiSans" charset="-122"/>
                <a:ea typeface="MiSans" charset="-122"/>
              </a:rPr>
              <a:t>系统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跨文档多跳推理链检索，输出推理路径</a:t>
            </a:r>
            <a:endParaRPr lang="en-US" sz="1400" noProof="1">
              <a:solidFill>
                <a:srgbClr val="6E7368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0" name="sep1"/>
          <p:cNvSpPr/>
          <p:nvPr/>
        </p:nvSpPr>
        <p:spPr>
          <a:xfrm>
            <a:off x="812800" y="26289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11" name="d2"/>
          <p:cNvSpPr txBox="1"/>
          <p:nvPr/>
        </p:nvSpPr>
        <p:spPr>
          <a:xfrm>
            <a:off x="812800" y="2781300"/>
            <a:ext cx="4826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600" b="1" noProof="1">
                <a:solidFill>
                  <a:srgbClr val="22271F"/>
                </a:solidFill>
                <a:latin typeface="MiSans" charset="-122"/>
                <a:ea typeface="MiSans" charset="-122"/>
              </a:rPr>
              <a:t>只认字、不识表不识图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6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挑战</a:t>
            </a:r>
            <a:r>
              <a:rPr lang="zh-CN" altLang="en-US" sz="16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二</a:t>
            </a:r>
            <a:r>
              <a:rPr lang="en-US" sz="16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：知识散落在不同模态的文件中</a:t>
            </a:r>
            <a:endParaRPr lang="en-US" sz="1600" b="1" noProof="1">
              <a:solidFill>
                <a:srgbClr val="C0562F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2" name="a2"/>
          <p:cNvSpPr/>
          <p:nvPr/>
        </p:nvSpPr>
        <p:spPr>
          <a:xfrm>
            <a:off x="5791200" y="3086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2E4A3A"/>
          </a:solidFill>
          <a:ln>
            <a:noFill/>
          </a:ln>
        </p:spPr>
      </p:sp>
      <p:sp>
        <p:nvSpPr>
          <p:cNvPr id="13" name="p2"/>
          <p:cNvSpPr txBox="1"/>
          <p:nvPr/>
        </p:nvSpPr>
        <p:spPr>
          <a:xfrm>
            <a:off x="6350000" y="2857500"/>
            <a:ext cx="50292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600" b="1" noProof="1">
                <a:solidFill>
                  <a:srgbClr val="2E4A3A"/>
                </a:solidFill>
                <a:latin typeface="MiSans" charset="-122"/>
                <a:ea typeface="MiSans" charset="-122"/>
              </a:rPr>
              <a:t>② 多模态记忆</a:t>
            </a:r>
            <a:r>
              <a:rPr lang="zh-CN" altLang="en-US" sz="1600" b="1" noProof="1">
                <a:solidFill>
                  <a:srgbClr val="2E4A3A"/>
                </a:solidFill>
                <a:latin typeface="MiSans" charset="-122"/>
                <a:ea typeface="MiSans" charset="-122"/>
              </a:rPr>
              <a:t>系统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表 / MD / PDF / 图像</a:t>
            </a:r>
            <a:r>
              <a:rPr lang="zh-CN" altLang="en-US" sz="14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跨模态</a:t>
            </a:r>
            <a:r>
              <a:rPr lang="en-US" sz="14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记忆与检索询</a:t>
            </a:r>
            <a:endParaRPr lang="en-US" sz="1400" noProof="1">
              <a:solidFill>
                <a:srgbClr val="6E7368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4" name="sep2"/>
          <p:cNvSpPr/>
          <p:nvPr/>
        </p:nvSpPr>
        <p:spPr>
          <a:xfrm>
            <a:off x="812800" y="36703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15" name="d3"/>
          <p:cNvSpPr txBox="1"/>
          <p:nvPr/>
        </p:nvSpPr>
        <p:spPr>
          <a:xfrm>
            <a:off x="812800" y="3943350"/>
            <a:ext cx="4826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600" b="1" noProof="1">
                <a:solidFill>
                  <a:srgbClr val="22271F"/>
                </a:solidFill>
                <a:latin typeface="MiSans" charset="-122"/>
                <a:ea typeface="MiSans" charset="-122"/>
              </a:rPr>
              <a:t>下课就忘、从不做笔记</a:t>
            </a:r>
            <a:endParaRPr lang="en-US" sz="1600" noProof="1"/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挑战三</a:t>
            </a:r>
            <a:r>
              <a:rPr lang="en-US" sz="16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：会话状态管理仅内存驻留，经验无法沉淀</a:t>
            </a:r>
            <a:endParaRPr lang="en-US" sz="1600" b="1" noProof="1">
              <a:solidFill>
                <a:srgbClr val="C0562F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6" name="a3"/>
          <p:cNvSpPr/>
          <p:nvPr/>
        </p:nvSpPr>
        <p:spPr>
          <a:xfrm>
            <a:off x="5791200" y="4171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2E4A3A"/>
          </a:solidFill>
          <a:ln>
            <a:noFill/>
          </a:ln>
        </p:spPr>
      </p:sp>
      <p:sp>
        <p:nvSpPr>
          <p:cNvPr id="17" name="p3"/>
          <p:cNvSpPr txBox="1"/>
          <p:nvPr/>
        </p:nvSpPr>
        <p:spPr>
          <a:xfrm>
            <a:off x="6350000" y="3943350"/>
            <a:ext cx="50292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600" b="1" noProof="1">
                <a:solidFill>
                  <a:srgbClr val="2E4A3A"/>
                </a:solidFill>
                <a:latin typeface="MiSans" charset="-122"/>
                <a:ea typeface="MiSans" charset="-122"/>
              </a:rPr>
              <a:t>③ 长短期记忆</a:t>
            </a:r>
            <a:r>
              <a:rPr lang="zh-CN" altLang="en-US" sz="1600" b="1" noProof="1">
                <a:solidFill>
                  <a:srgbClr val="2E4A3A"/>
                </a:solidFill>
                <a:latin typeface="MiSans" charset="-122"/>
                <a:ea typeface="MiSans" charset="-122"/>
              </a:rPr>
              <a:t>系统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会话内工作记忆 + 跨会话经验固化复用 + 动态更新与遗忘</a:t>
            </a:r>
            <a:endParaRPr lang="en-US" sz="1400" noProof="1">
              <a:solidFill>
                <a:srgbClr val="6E7368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8" name="sep3"/>
          <p:cNvSpPr/>
          <p:nvPr/>
        </p:nvSpPr>
        <p:spPr>
          <a:xfrm>
            <a:off x="812800" y="475615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19" name="d4"/>
          <p:cNvSpPr txBox="1"/>
          <p:nvPr/>
        </p:nvSpPr>
        <p:spPr>
          <a:xfrm>
            <a:off x="812800" y="5016500"/>
            <a:ext cx="4826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600" b="1" noProof="1">
                <a:solidFill>
                  <a:srgbClr val="22271F"/>
                </a:solidFill>
                <a:latin typeface="MiSans" charset="-122"/>
                <a:ea typeface="MiSans" charset="-122"/>
              </a:rPr>
              <a:t>干得好不好没人打分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zh-CN" altLang="en-US" sz="16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挑战四：记忆增强效果无法</a:t>
            </a:r>
            <a:r>
              <a:rPr lang="zh-CN" altLang="en-US" sz="16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评估</a:t>
            </a:r>
            <a:endParaRPr lang="zh-CN" altLang="en-US" sz="1600" b="1" noProof="1">
              <a:solidFill>
                <a:srgbClr val="C0562F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20" name="a4"/>
          <p:cNvSpPr/>
          <p:nvPr/>
        </p:nvSpPr>
        <p:spPr>
          <a:xfrm>
            <a:off x="5791200" y="5245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2E4A3A"/>
          </a:solidFill>
          <a:ln>
            <a:noFill/>
          </a:ln>
        </p:spPr>
      </p:sp>
      <p:sp>
        <p:nvSpPr>
          <p:cNvPr id="21" name="p4"/>
          <p:cNvSpPr txBox="1"/>
          <p:nvPr/>
        </p:nvSpPr>
        <p:spPr>
          <a:xfrm>
            <a:off x="6350000" y="5016500"/>
            <a:ext cx="50292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600" b="1" noProof="1">
                <a:solidFill>
                  <a:srgbClr val="2E4A3A"/>
                </a:solidFill>
                <a:latin typeface="MiSans" charset="-122"/>
                <a:ea typeface="MiSans" charset="-122"/>
              </a:rPr>
              <a:t>④ 记忆系统评估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四层指标 + 评测框架 + 交叉盲测</a:t>
            </a:r>
            <a:endParaRPr lang="en-US" sz="1400" noProof="1">
              <a:solidFill>
                <a:srgbClr val="6E7368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25" name="footL"/>
          <p:cNvSpPr txBox="1"/>
          <p:nvPr/>
        </p:nvSpPr>
        <p:spPr>
          <a:xfrm>
            <a:off x="812800" y="65278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大模型作战规划智能体记忆系统构建 · 课程总体设计</a:t>
            </a:r>
            <a:endParaRPr lang="en-US" sz="1000" noProof="1"/>
          </a:p>
        </p:txBody>
      </p:sp>
      <p:sp>
        <p:nvSpPr>
          <p:cNvPr id="26" name="footR"/>
          <p:cNvSpPr txBox="1"/>
          <p:nvPr/>
        </p:nvSpPr>
        <p:spPr>
          <a:xfrm>
            <a:off x="10160000" y="6527800"/>
            <a:ext cx="1219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lang="en-US" sz="10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07 / 16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 noProof="1">
                <a:solidFill>
                  <a:srgbClr val="2E4A3A"/>
                </a:solidFill>
                <a:latin typeface="MiSans" charset="-122"/>
                <a:ea typeface="MiSans" charset="-122"/>
              </a:rPr>
              <a:t>第二部分 · 内容设置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874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22271F"/>
                </a:solidFill>
                <a:latin typeface="Noto Serif SC" panose="02020200000000000000" charset="-122"/>
                <a:ea typeface="Noto Serif SC" panose="02020200000000000000" charset="-122"/>
              </a:rPr>
              <a:t>子课题</a:t>
            </a:r>
            <a:r>
              <a:rPr lang="zh-CN" altLang="en-US" sz="2600" b="1" noProof="1">
                <a:solidFill>
                  <a:srgbClr val="22271F"/>
                </a:solidFill>
                <a:latin typeface="Noto Serif SC" panose="02020200000000000000" charset="-122"/>
                <a:ea typeface="Noto Serif SC" panose="02020200000000000000" charset="-122"/>
              </a:rPr>
              <a:t>简介</a:t>
            </a:r>
            <a:endParaRPr lang="zh-CN" altLang="en-US" sz="2600" b="1" noProof="1">
              <a:solidFill>
                <a:srgbClr val="22271F"/>
              </a:solidFill>
              <a:latin typeface="Noto Serif SC" panose="02020200000000000000" charset="-122"/>
              <a:ea typeface="Noto Serif SC" panose="02020200000000000000" charset="-122"/>
            </a:endParaRPr>
          </a:p>
        </p:txBody>
      </p:sp>
      <p:sp>
        <p:nvSpPr>
          <p:cNvPr id="4" name="headRule"/>
          <p:cNvSpPr/>
          <p:nvPr/>
        </p:nvSpPr>
        <p:spPr>
          <a:xfrm>
            <a:off x="812800" y="14224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5" name="t1name"/>
          <p:cNvSpPr txBox="1"/>
          <p:nvPr>
            <p:custDataLst>
              <p:tags r:id="rId1"/>
            </p:custDataLst>
          </p:nvPr>
        </p:nvSpPr>
        <p:spPr>
          <a:xfrm>
            <a:off x="812800" y="1717675"/>
            <a:ext cx="3985260" cy="4375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2E4A3A"/>
                </a:solidFill>
                <a:latin typeface="Noto Serif SC" panose="02020200000000000000" charset="-122"/>
                <a:ea typeface="Noto Serif SC" panose="02020200000000000000" charset="-122"/>
              </a:rPr>
              <a:t>① 图记忆</a:t>
            </a:r>
            <a:r>
              <a:rPr lang="zh-CN" altLang="en-US" sz="1700" b="1" noProof="1">
                <a:solidFill>
                  <a:srgbClr val="2E4A3A"/>
                </a:solidFill>
                <a:latin typeface="Noto Serif SC" panose="02020200000000000000" charset="-122"/>
                <a:ea typeface="Noto Serif SC" panose="02020200000000000000" charset="-122"/>
              </a:rPr>
              <a:t>系统</a:t>
            </a:r>
            <a:endParaRPr lang="zh-CN" altLang="en-US" sz="1700" b="1" noProof="1">
              <a:solidFill>
                <a:srgbClr val="2E4A3A"/>
              </a:solidFill>
              <a:latin typeface="Noto Serif SC" panose="02020200000000000000" charset="-122"/>
              <a:ea typeface="Noto Serif SC" panose="02020200000000000000" charset="-122"/>
            </a:endParaRPr>
          </a:p>
        </p:txBody>
      </p:sp>
      <p:sp>
        <p:nvSpPr>
          <p:cNvPr id="6" name="t1defect"/>
          <p:cNvSpPr txBox="1"/>
          <p:nvPr>
            <p:custDataLst>
              <p:tags r:id="rId2"/>
            </p:custDataLst>
          </p:nvPr>
        </p:nvSpPr>
        <p:spPr>
          <a:xfrm>
            <a:off x="812800" y="2283460"/>
            <a:ext cx="3723005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B3492B"/>
                </a:solidFill>
                <a:latin typeface="MiSans" charset="-122"/>
                <a:ea typeface="MiSans" charset="-122"/>
              </a:rPr>
              <a:t>对应</a:t>
            </a:r>
            <a:r>
              <a:rPr lang="zh-CN" altLang="en-US" sz="1600" noProof="1">
                <a:solidFill>
                  <a:srgbClr val="B3492B"/>
                </a:solidFill>
                <a:latin typeface="MiSans" charset="-122"/>
                <a:ea typeface="MiSans" charset="-122"/>
              </a:rPr>
              <a:t>挑战</a:t>
            </a:r>
            <a:r>
              <a:rPr lang="en-US" sz="1600" noProof="1">
                <a:solidFill>
                  <a:srgbClr val="B3492B"/>
                </a:solidFill>
                <a:latin typeface="MiSans" charset="-122"/>
                <a:ea typeface="MiSans" charset="-122"/>
              </a:rPr>
              <a:t>：</a:t>
            </a:r>
            <a:r>
              <a:rPr lang="en-US" sz="1600" noProof="1">
                <a:solidFill>
                  <a:schemeClr val="tx1"/>
                </a:solidFill>
                <a:latin typeface="MiSans" charset="-122"/>
                <a:ea typeface="MiSans" charset="-122"/>
              </a:rPr>
              <a:t>只会按词找文件、不会联想</a:t>
            </a:r>
            <a:endParaRPr lang="en-US" sz="1600" noProof="1">
              <a:solidFill>
                <a:schemeClr val="tx1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7" name="t1qLabel"/>
          <p:cNvSpPr txBox="1"/>
          <p:nvPr>
            <p:custDataLst>
              <p:tags r:id="rId3"/>
            </p:custDataLst>
          </p:nvPr>
        </p:nvSpPr>
        <p:spPr>
          <a:xfrm>
            <a:off x="812800" y="2735580"/>
            <a:ext cx="4959350" cy="641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核心问题</a:t>
            </a:r>
            <a:r>
              <a:rPr lang="zh-CN" altLang="en-US" sz="16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：</a:t>
            </a:r>
            <a:r>
              <a:rPr lang="en-US" sz="1600">
                <a:solidFill>
                  <a:srgbClr val="22271F"/>
                </a:solidFill>
                <a:latin typeface="MiSans" charset="-122"/>
                <a:ea typeface="MiSans" charset="-122"/>
                <a:sym typeface="+mn-ea"/>
              </a:rPr>
              <a:t>跨文档多跳推理链检索</a:t>
            </a:r>
            <a:endParaRPr lang="en-US" sz="1600" noProof="1">
              <a:solidFill>
                <a:srgbClr val="22271F"/>
              </a:solidFill>
              <a:latin typeface="MiSans" charset="-122"/>
              <a:ea typeface="MiSans" charset="-122"/>
            </a:endParaRPr>
          </a:p>
          <a:p>
            <a:pPr>
              <a:lnSpc>
                <a:spcPct val="120000"/>
              </a:lnSpc>
            </a:pPr>
            <a:endParaRPr lang="zh-CN" altLang="en-US" sz="1600" b="1" noProof="1">
              <a:solidFill>
                <a:srgbClr val="C0562F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9" name="t1kLabel"/>
          <p:cNvSpPr txBox="1"/>
          <p:nvPr>
            <p:custDataLst>
              <p:tags r:id="rId4"/>
            </p:custDataLst>
          </p:nvPr>
        </p:nvSpPr>
        <p:spPr>
          <a:xfrm>
            <a:off x="812800" y="3134360"/>
            <a:ext cx="5029200" cy="23126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algn="l">
              <a:lnSpc>
                <a:spcPct val="150000"/>
              </a:lnSpc>
            </a:pPr>
            <a:r>
              <a:rPr lang="zh-CN" altLang="en-US" sz="16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研究内容</a:t>
            </a:r>
            <a:r>
              <a:rPr lang="en-US" altLang="zh-CN" sz="16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:</a:t>
            </a:r>
            <a:endParaRPr lang="en-US" altLang="zh-CN" sz="1600" b="1" noProof="1">
              <a:solidFill>
                <a:srgbClr val="C0562F"/>
              </a:solidFill>
              <a:latin typeface="MiSans" charset="-122"/>
              <a:ea typeface="MiSans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规划知识图谱构建</a:t>
            </a:r>
            <a:endParaRPr lang="en-US" sz="1600" noProof="1">
              <a:solidFill>
                <a:srgbClr val="22271F"/>
              </a:solidFill>
              <a:latin typeface="MiSans" charset="-122"/>
              <a:ea typeface="MiSans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图索引与检索算法：GraphRAG 式或 LightRAG 式</a:t>
            </a:r>
            <a:endParaRPr lang="en-US" sz="1600" noProof="1">
              <a:solidFill>
                <a:srgbClr val="22271F"/>
              </a:solidFill>
              <a:latin typeface="MiSans" charset="-122"/>
              <a:ea typeface="MiSans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检索内容增强作战</a:t>
            </a: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规划</a:t>
            </a:r>
            <a:endParaRPr lang="zh-CN" altLang="en-US" sz="1600" noProof="1">
              <a:solidFill>
                <a:srgbClr val="22271F"/>
              </a:solidFill>
              <a:latin typeface="MiSans" charset="-122"/>
              <a:ea typeface="MiSans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实验分析与系统集成</a:t>
            </a: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验证</a:t>
            </a:r>
            <a:endParaRPr lang="zh-CN" altLang="en-US" sz="1600" noProof="1">
              <a:solidFill>
                <a:srgbClr val="22271F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22" name="footRule"/>
          <p:cNvSpPr/>
          <p:nvPr/>
        </p:nvSpPr>
        <p:spPr>
          <a:xfrm>
            <a:off x="812800" y="64262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23" name="footL"/>
          <p:cNvSpPr txBox="1"/>
          <p:nvPr/>
        </p:nvSpPr>
        <p:spPr>
          <a:xfrm>
            <a:off x="812800" y="65278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大模型作战规划智能体记忆系统构建 · 课程总体设计</a:t>
            </a:r>
            <a:endParaRPr lang="en-US" sz="1000" noProof="1"/>
          </a:p>
        </p:txBody>
      </p:sp>
      <p:sp>
        <p:nvSpPr>
          <p:cNvPr id="24" name="footR"/>
          <p:cNvSpPr txBox="1"/>
          <p:nvPr/>
        </p:nvSpPr>
        <p:spPr>
          <a:xfrm>
            <a:off x="10160000" y="6527800"/>
            <a:ext cx="1219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lang="en-US" sz="10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08 / 16</a:t>
            </a:r>
            <a:endParaRPr lang="en-US" sz="1000" noProof="1"/>
          </a:p>
        </p:txBody>
      </p:sp>
      <p:sp>
        <p:nvSpPr>
          <p:cNvPr id="25" name="vRule"/>
          <p:cNvSpPr/>
          <p:nvPr>
            <p:custDataLst>
              <p:tags r:id="rId5"/>
            </p:custDataLst>
          </p:nvPr>
        </p:nvSpPr>
        <p:spPr>
          <a:xfrm>
            <a:off x="6032500" y="1651000"/>
            <a:ext cx="12700" cy="46482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26" name="t1name"/>
          <p:cNvSpPr txBox="1"/>
          <p:nvPr>
            <p:custDataLst>
              <p:tags r:id="rId6"/>
            </p:custDataLst>
          </p:nvPr>
        </p:nvSpPr>
        <p:spPr>
          <a:xfrm>
            <a:off x="6432550" y="1717675"/>
            <a:ext cx="3985260" cy="4375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1700" b="1" noProof="1">
                <a:solidFill>
                  <a:srgbClr val="2E4A3A"/>
                </a:solidFill>
                <a:latin typeface="Noto Serif SC" panose="02020200000000000000" charset="-122"/>
                <a:ea typeface="Noto Serif SC" panose="02020200000000000000" charset="-122"/>
              </a:rPr>
              <a:t>②</a:t>
            </a:r>
            <a:r>
              <a:rPr lang="en-US" sz="1700" b="1" noProof="1">
                <a:solidFill>
                  <a:srgbClr val="2E4A3A"/>
                </a:solidFill>
                <a:latin typeface="Noto Serif SC" panose="02020200000000000000" charset="-122"/>
                <a:ea typeface="Noto Serif SC" panose="02020200000000000000" charset="-122"/>
              </a:rPr>
              <a:t> </a:t>
            </a:r>
            <a:r>
              <a:rPr lang="zh-CN" altLang="en-US" sz="1700" b="1" noProof="1">
                <a:solidFill>
                  <a:srgbClr val="2E4A3A"/>
                </a:solidFill>
                <a:latin typeface="Noto Serif SC" panose="02020200000000000000" charset="-122"/>
                <a:ea typeface="Noto Serif SC" panose="02020200000000000000" charset="-122"/>
              </a:rPr>
              <a:t>多模态</a:t>
            </a:r>
            <a:r>
              <a:rPr lang="en-US" sz="1700" b="1" noProof="1">
                <a:solidFill>
                  <a:srgbClr val="2E4A3A"/>
                </a:solidFill>
                <a:latin typeface="Noto Serif SC" panose="02020200000000000000" charset="-122"/>
                <a:ea typeface="Noto Serif SC" panose="02020200000000000000" charset="-122"/>
              </a:rPr>
              <a:t>记忆</a:t>
            </a:r>
            <a:r>
              <a:rPr lang="zh-CN" altLang="en-US" sz="1700" b="1" noProof="1">
                <a:solidFill>
                  <a:srgbClr val="2E4A3A"/>
                </a:solidFill>
                <a:latin typeface="Noto Serif SC" panose="02020200000000000000" charset="-122"/>
                <a:ea typeface="Noto Serif SC" panose="02020200000000000000" charset="-122"/>
              </a:rPr>
              <a:t>系统</a:t>
            </a:r>
            <a:endParaRPr lang="zh-CN" altLang="en-US" sz="1700" b="1" noProof="1">
              <a:solidFill>
                <a:srgbClr val="2E4A3A"/>
              </a:solidFill>
              <a:latin typeface="Noto Serif SC" panose="02020200000000000000" charset="-122"/>
              <a:ea typeface="Noto Serif SC" panose="02020200000000000000" charset="-122"/>
            </a:endParaRPr>
          </a:p>
        </p:txBody>
      </p:sp>
      <p:sp>
        <p:nvSpPr>
          <p:cNvPr id="27" name="t1defect"/>
          <p:cNvSpPr txBox="1"/>
          <p:nvPr>
            <p:custDataLst>
              <p:tags r:id="rId7"/>
            </p:custDataLst>
          </p:nvPr>
        </p:nvSpPr>
        <p:spPr>
          <a:xfrm>
            <a:off x="6432550" y="2283460"/>
            <a:ext cx="3723005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B3492B"/>
                </a:solidFill>
                <a:latin typeface="MiSans" charset="-122"/>
                <a:ea typeface="MiSans" charset="-122"/>
              </a:rPr>
              <a:t>对应</a:t>
            </a:r>
            <a:r>
              <a:rPr lang="zh-CN" altLang="en-US" sz="1600" noProof="1">
                <a:solidFill>
                  <a:srgbClr val="B3492B"/>
                </a:solidFill>
                <a:latin typeface="MiSans" charset="-122"/>
                <a:ea typeface="MiSans" charset="-122"/>
              </a:rPr>
              <a:t>挑战</a:t>
            </a:r>
            <a:r>
              <a:rPr lang="en-US" sz="1600" noProof="1">
                <a:solidFill>
                  <a:srgbClr val="B3492B"/>
                </a:solidFill>
                <a:latin typeface="MiSans" charset="-122"/>
                <a:ea typeface="MiSans" charset="-122"/>
              </a:rPr>
              <a:t>：</a:t>
            </a:r>
            <a:r>
              <a:rPr lang="zh-CN" altLang="en-US" sz="1600" noProof="1">
                <a:solidFill>
                  <a:schemeClr val="tx1"/>
                </a:solidFill>
                <a:latin typeface="MiSans" charset="-122"/>
                <a:ea typeface="MiSans" charset="-122"/>
              </a:rPr>
              <a:t>只认字、不识表不识图</a:t>
            </a:r>
            <a:endParaRPr lang="zh-CN" altLang="en-US" sz="1600" noProof="1">
              <a:solidFill>
                <a:schemeClr val="tx1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28" name="t1qLabel"/>
          <p:cNvSpPr txBox="1"/>
          <p:nvPr>
            <p:custDataLst>
              <p:tags r:id="rId8"/>
            </p:custDataLst>
          </p:nvPr>
        </p:nvSpPr>
        <p:spPr>
          <a:xfrm>
            <a:off x="6432550" y="2786380"/>
            <a:ext cx="4959350" cy="641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核心问题</a:t>
            </a:r>
            <a:r>
              <a:rPr lang="zh-CN" altLang="en-US" sz="16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：</a:t>
            </a:r>
            <a:r>
              <a:rPr lang="zh-CN" altLang="en-US" sz="1600">
                <a:solidFill>
                  <a:srgbClr val="22271F"/>
                </a:solidFill>
                <a:latin typeface="MiSans" charset="-122"/>
                <a:ea typeface="MiSans" charset="-122"/>
                <a:sym typeface="+mn-ea"/>
              </a:rPr>
              <a:t>多模态知识</a:t>
            </a:r>
            <a:r>
              <a:rPr lang="en-US" sz="1600">
                <a:solidFill>
                  <a:srgbClr val="22271F"/>
                </a:solidFill>
                <a:latin typeface="MiSans" charset="-122"/>
                <a:ea typeface="MiSans" charset="-122"/>
                <a:sym typeface="+mn-ea"/>
              </a:rPr>
              <a:t>统一记忆与检索</a:t>
            </a:r>
            <a:endParaRPr lang="en-US" sz="1600" noProof="1">
              <a:solidFill>
                <a:srgbClr val="22271F"/>
              </a:solidFill>
              <a:latin typeface="MiSans" charset="-122"/>
              <a:ea typeface="MiSans" charset="-122"/>
            </a:endParaRPr>
          </a:p>
          <a:p>
            <a:pPr>
              <a:lnSpc>
                <a:spcPct val="120000"/>
              </a:lnSpc>
            </a:pPr>
            <a:endParaRPr lang="zh-CN" altLang="en-US" sz="1600" b="1" noProof="1">
              <a:solidFill>
                <a:srgbClr val="C0562F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29" name="t1kLabel"/>
          <p:cNvSpPr txBox="1"/>
          <p:nvPr>
            <p:custDataLst>
              <p:tags r:id="rId9"/>
            </p:custDataLst>
          </p:nvPr>
        </p:nvSpPr>
        <p:spPr>
          <a:xfrm>
            <a:off x="6432550" y="3185160"/>
            <a:ext cx="5029200" cy="23126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algn="l">
              <a:lnSpc>
                <a:spcPct val="150000"/>
              </a:lnSpc>
            </a:pPr>
            <a:r>
              <a:rPr lang="zh-CN" altLang="en-US" sz="16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研究内容</a:t>
            </a:r>
            <a:r>
              <a:rPr lang="en-US" altLang="zh-CN" sz="16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:</a:t>
            </a:r>
            <a:endParaRPr lang="en-US" altLang="zh-CN" sz="1600" b="1" noProof="1">
              <a:solidFill>
                <a:srgbClr val="C0562F"/>
              </a:solidFill>
              <a:latin typeface="MiSans" charset="-122"/>
              <a:ea typeface="MiSans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多模态规划知识构建</a:t>
            </a:r>
            <a:endParaRPr lang="zh-CN" altLang="en-US" sz="1600" noProof="1">
              <a:solidFill>
                <a:srgbClr val="22271F"/>
              </a:solidFill>
              <a:latin typeface="MiSans" charset="-122"/>
              <a:ea typeface="MiSans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多模态解析入库</a:t>
            </a:r>
            <a:endParaRPr lang="zh-CN" altLang="en-US" sz="1600" noProof="1">
              <a:solidFill>
                <a:srgbClr val="22271F"/>
              </a:solidFill>
              <a:latin typeface="MiSans" charset="-122"/>
              <a:ea typeface="MiSans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模态无关的记忆索引</a:t>
            </a: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与检索</a:t>
            </a:r>
            <a:endParaRPr lang="zh-CN" altLang="en-US" sz="1600" noProof="1">
              <a:solidFill>
                <a:srgbClr val="22271F"/>
              </a:solidFill>
              <a:latin typeface="MiSans" charset="-122"/>
              <a:ea typeface="MiSans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rgbClr val="22271F"/>
                </a:solidFill>
                <a:latin typeface="MiSans" charset="-122"/>
                <a:ea typeface="MiSans" charset="-122"/>
                <a:sym typeface="+mn-ea"/>
              </a:rPr>
              <a:t>实验分析与系统集成验证</a:t>
            </a:r>
            <a:endParaRPr lang="zh-CN" altLang="en-US" sz="1600" noProof="1">
              <a:solidFill>
                <a:srgbClr val="22271F"/>
              </a:solidFill>
              <a:latin typeface="MiSans" charset="-122"/>
              <a:ea typeface="MiSans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altLang="en-US" sz="1600" noProof="1">
              <a:solidFill>
                <a:srgbClr val="22271F"/>
              </a:solidFill>
              <a:latin typeface="MiSans" charset="-122"/>
              <a:ea typeface="MiSans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 noProof="1">
                <a:solidFill>
                  <a:srgbClr val="2E4A3A"/>
                </a:solidFill>
                <a:latin typeface="MiSans" charset="-122"/>
                <a:ea typeface="MiSans" charset="-122"/>
              </a:rPr>
              <a:t>第二部分 · 内容设置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874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22271F"/>
                </a:solidFill>
                <a:latin typeface="Noto Serif SC" panose="02020200000000000000" charset="-122"/>
                <a:ea typeface="Noto Serif SC" panose="02020200000000000000" charset="-122"/>
              </a:rPr>
              <a:t>子课题</a:t>
            </a:r>
            <a:r>
              <a:rPr lang="zh-CN" altLang="en-US" sz="2600" b="1" noProof="1">
                <a:solidFill>
                  <a:srgbClr val="22271F"/>
                </a:solidFill>
                <a:latin typeface="Noto Serif SC" panose="02020200000000000000" charset="-122"/>
                <a:ea typeface="Noto Serif SC" panose="02020200000000000000" charset="-122"/>
              </a:rPr>
              <a:t>简介</a:t>
            </a:r>
            <a:endParaRPr lang="zh-CN" altLang="en-US" sz="2600" b="1" noProof="1">
              <a:solidFill>
                <a:srgbClr val="22271F"/>
              </a:solidFill>
              <a:latin typeface="Noto Serif SC" panose="02020200000000000000" charset="-122"/>
              <a:ea typeface="Noto Serif SC" panose="02020200000000000000" charset="-122"/>
            </a:endParaRPr>
          </a:p>
        </p:txBody>
      </p:sp>
      <p:sp>
        <p:nvSpPr>
          <p:cNvPr id="4" name="headRule"/>
          <p:cNvSpPr/>
          <p:nvPr/>
        </p:nvSpPr>
        <p:spPr>
          <a:xfrm>
            <a:off x="812800" y="14224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5" name="t1name"/>
          <p:cNvSpPr txBox="1"/>
          <p:nvPr>
            <p:custDataLst>
              <p:tags r:id="rId1"/>
            </p:custDataLst>
          </p:nvPr>
        </p:nvSpPr>
        <p:spPr>
          <a:xfrm>
            <a:off x="812800" y="1717675"/>
            <a:ext cx="3985260" cy="4375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1700" b="1" noProof="1">
                <a:solidFill>
                  <a:srgbClr val="2E4A3A"/>
                </a:solidFill>
                <a:latin typeface="Noto Serif SC" panose="02020200000000000000" charset="-122"/>
                <a:ea typeface="Noto Serif SC" panose="02020200000000000000" charset="-122"/>
              </a:rPr>
              <a:t>③长短期</a:t>
            </a:r>
            <a:r>
              <a:rPr lang="en-US" sz="1700" b="1" noProof="1">
                <a:solidFill>
                  <a:srgbClr val="2E4A3A"/>
                </a:solidFill>
                <a:latin typeface="Noto Serif SC" panose="02020200000000000000" charset="-122"/>
                <a:ea typeface="Noto Serif SC" panose="02020200000000000000" charset="-122"/>
              </a:rPr>
              <a:t>记忆</a:t>
            </a:r>
            <a:r>
              <a:rPr lang="zh-CN" altLang="en-US" sz="1700" b="1" noProof="1">
                <a:solidFill>
                  <a:srgbClr val="2E4A3A"/>
                </a:solidFill>
                <a:latin typeface="Noto Serif SC" panose="02020200000000000000" charset="-122"/>
                <a:ea typeface="Noto Serif SC" panose="02020200000000000000" charset="-122"/>
              </a:rPr>
              <a:t>系统</a:t>
            </a:r>
            <a:endParaRPr lang="zh-CN" altLang="en-US" sz="1700" b="1" noProof="1">
              <a:solidFill>
                <a:srgbClr val="2E4A3A"/>
              </a:solidFill>
              <a:latin typeface="Noto Serif SC" panose="02020200000000000000" charset="-122"/>
              <a:ea typeface="Noto Serif SC" panose="02020200000000000000" charset="-122"/>
            </a:endParaRPr>
          </a:p>
        </p:txBody>
      </p:sp>
      <p:sp>
        <p:nvSpPr>
          <p:cNvPr id="6" name="t1defect"/>
          <p:cNvSpPr txBox="1"/>
          <p:nvPr>
            <p:custDataLst>
              <p:tags r:id="rId2"/>
            </p:custDataLst>
          </p:nvPr>
        </p:nvSpPr>
        <p:spPr>
          <a:xfrm>
            <a:off x="812800" y="2283460"/>
            <a:ext cx="3723005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B3492B"/>
                </a:solidFill>
                <a:latin typeface="MiSans" charset="-122"/>
                <a:ea typeface="MiSans" charset="-122"/>
              </a:rPr>
              <a:t>对应</a:t>
            </a:r>
            <a:r>
              <a:rPr lang="zh-CN" altLang="en-US" sz="1600" noProof="1">
                <a:solidFill>
                  <a:srgbClr val="B3492B"/>
                </a:solidFill>
                <a:latin typeface="MiSans" charset="-122"/>
                <a:ea typeface="MiSans" charset="-122"/>
              </a:rPr>
              <a:t>挑战</a:t>
            </a:r>
            <a:r>
              <a:rPr lang="en-US" sz="1600" noProof="1">
                <a:solidFill>
                  <a:srgbClr val="B3492B"/>
                </a:solidFill>
                <a:latin typeface="MiSans" charset="-122"/>
                <a:ea typeface="MiSans" charset="-122"/>
              </a:rPr>
              <a:t>：</a:t>
            </a:r>
            <a:r>
              <a:rPr lang="zh-CN" altLang="en-US" sz="1600" noProof="1">
                <a:solidFill>
                  <a:schemeClr val="tx1"/>
                </a:solidFill>
                <a:latin typeface="MiSans" charset="-122"/>
                <a:ea typeface="MiSans" charset="-122"/>
              </a:rPr>
              <a:t>下课就忘、从不做笔记</a:t>
            </a:r>
            <a:endParaRPr lang="zh-CN" altLang="en-US" sz="1600" noProof="1">
              <a:solidFill>
                <a:schemeClr val="tx1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7" name="t1qLabel"/>
          <p:cNvSpPr txBox="1"/>
          <p:nvPr>
            <p:custDataLst>
              <p:tags r:id="rId3"/>
            </p:custDataLst>
          </p:nvPr>
        </p:nvSpPr>
        <p:spPr>
          <a:xfrm>
            <a:off x="812800" y="2735580"/>
            <a:ext cx="4959350" cy="641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核心问题</a:t>
            </a:r>
            <a:r>
              <a:rPr lang="zh-CN" altLang="en-US" sz="16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：</a:t>
            </a:r>
            <a:r>
              <a:rPr lang="zh-CN" altLang="en-US" sz="1600">
                <a:solidFill>
                  <a:srgbClr val="22271F"/>
                </a:solidFill>
                <a:latin typeface="MiSans" charset="-122"/>
                <a:ea typeface="MiSans" charset="-122"/>
                <a:sym typeface="+mn-ea"/>
              </a:rPr>
              <a:t>工作记忆+经验固化复用+动态更新与遗忘</a:t>
            </a:r>
            <a:endParaRPr lang="zh-CN" altLang="en-US" sz="1600">
              <a:solidFill>
                <a:srgbClr val="22271F"/>
              </a:solidFill>
              <a:latin typeface="MiSans" charset="-122"/>
              <a:ea typeface="MiSans" charset="-122"/>
              <a:sym typeface="+mn-ea"/>
            </a:endParaRPr>
          </a:p>
          <a:p>
            <a:pPr>
              <a:lnSpc>
                <a:spcPct val="120000"/>
              </a:lnSpc>
            </a:pPr>
            <a:endParaRPr lang="zh-CN" altLang="en-US" sz="1600" b="1" noProof="1">
              <a:solidFill>
                <a:srgbClr val="C0562F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9" name="t1kLabel"/>
          <p:cNvSpPr txBox="1"/>
          <p:nvPr>
            <p:custDataLst>
              <p:tags r:id="rId4"/>
            </p:custDataLst>
          </p:nvPr>
        </p:nvSpPr>
        <p:spPr>
          <a:xfrm>
            <a:off x="812800" y="3134360"/>
            <a:ext cx="5029200" cy="23126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algn="l">
              <a:lnSpc>
                <a:spcPct val="150000"/>
              </a:lnSpc>
            </a:pPr>
            <a:r>
              <a:rPr lang="zh-CN" altLang="en-US" sz="16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研究内容</a:t>
            </a:r>
            <a:r>
              <a:rPr lang="en-US" altLang="zh-CN" sz="16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:</a:t>
            </a:r>
            <a:endParaRPr lang="en-US" altLang="zh-CN" sz="1600" b="1" noProof="1">
              <a:solidFill>
                <a:srgbClr val="C0562F"/>
              </a:solidFill>
              <a:latin typeface="MiSans" charset="-122"/>
              <a:ea typeface="MiSans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作战规划短期</a:t>
            </a:r>
            <a:r>
              <a:rPr lang="en-US" altLang="zh-CN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/</a:t>
            </a: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工作记忆层</a:t>
            </a:r>
            <a:endParaRPr lang="en-US" sz="1600" noProof="1">
              <a:solidFill>
                <a:srgbClr val="22271F"/>
              </a:solidFill>
              <a:latin typeface="MiSans" charset="-122"/>
              <a:ea typeface="MiSans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作战规划长期记忆</a:t>
            </a: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层</a:t>
            </a:r>
            <a:endParaRPr lang="zh-CN" altLang="en-US" sz="1600" noProof="1">
              <a:solidFill>
                <a:srgbClr val="22271F"/>
              </a:solidFill>
              <a:latin typeface="MiSans" charset="-122"/>
              <a:ea typeface="MiSans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记忆更新</a:t>
            </a: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机制</a:t>
            </a:r>
            <a:endParaRPr lang="zh-CN" altLang="en-US" sz="1600" noProof="1">
              <a:solidFill>
                <a:srgbClr val="22271F"/>
              </a:solidFill>
              <a:latin typeface="MiSans" charset="-122"/>
              <a:ea typeface="MiSans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记忆检索</a:t>
            </a: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调用</a:t>
            </a:r>
            <a:endParaRPr lang="zh-CN" altLang="en-US" sz="1600" noProof="1">
              <a:solidFill>
                <a:srgbClr val="22271F"/>
              </a:solidFill>
              <a:latin typeface="MiSans" charset="-122"/>
              <a:ea typeface="MiSans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检索内容增强作战</a:t>
            </a: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规划</a:t>
            </a:r>
            <a:endParaRPr lang="zh-CN" altLang="en-US" sz="1600" noProof="1">
              <a:solidFill>
                <a:srgbClr val="22271F"/>
              </a:solidFill>
              <a:latin typeface="MiSans" charset="-122"/>
              <a:ea typeface="MiSans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实验分析与系统集成</a:t>
            </a: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验证</a:t>
            </a:r>
            <a:endParaRPr lang="zh-CN" altLang="en-US" sz="1600" noProof="1">
              <a:solidFill>
                <a:srgbClr val="22271F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22" name="footRule"/>
          <p:cNvSpPr/>
          <p:nvPr/>
        </p:nvSpPr>
        <p:spPr>
          <a:xfrm>
            <a:off x="812800" y="64262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23" name="footL"/>
          <p:cNvSpPr txBox="1"/>
          <p:nvPr/>
        </p:nvSpPr>
        <p:spPr>
          <a:xfrm>
            <a:off x="812800" y="65278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大模型作战规划智能体记忆系统构建 · 课程总体设计</a:t>
            </a:r>
            <a:endParaRPr lang="en-US" sz="1000" noProof="1"/>
          </a:p>
        </p:txBody>
      </p:sp>
      <p:sp>
        <p:nvSpPr>
          <p:cNvPr id="24" name="footR"/>
          <p:cNvSpPr txBox="1"/>
          <p:nvPr/>
        </p:nvSpPr>
        <p:spPr>
          <a:xfrm>
            <a:off x="10160000" y="6527800"/>
            <a:ext cx="1219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lang="en-US" sz="10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08 / 16</a:t>
            </a:r>
            <a:endParaRPr lang="en-US" sz="1000" noProof="1"/>
          </a:p>
        </p:txBody>
      </p:sp>
      <p:sp>
        <p:nvSpPr>
          <p:cNvPr id="25" name="vRule"/>
          <p:cNvSpPr/>
          <p:nvPr>
            <p:custDataLst>
              <p:tags r:id="rId5"/>
            </p:custDataLst>
          </p:nvPr>
        </p:nvSpPr>
        <p:spPr>
          <a:xfrm>
            <a:off x="6032500" y="1651000"/>
            <a:ext cx="12700" cy="46482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26" name="t1name"/>
          <p:cNvSpPr txBox="1"/>
          <p:nvPr>
            <p:custDataLst>
              <p:tags r:id="rId6"/>
            </p:custDataLst>
          </p:nvPr>
        </p:nvSpPr>
        <p:spPr>
          <a:xfrm>
            <a:off x="6432550" y="1717675"/>
            <a:ext cx="3985260" cy="4375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1700" b="1" noProof="1">
                <a:solidFill>
                  <a:srgbClr val="2E4A3A"/>
                </a:solidFill>
                <a:latin typeface="Noto Serif SC" panose="02020200000000000000" charset="-122"/>
                <a:ea typeface="Noto Serif SC" panose="02020200000000000000" charset="-122"/>
              </a:rPr>
              <a:t>④</a:t>
            </a:r>
            <a:r>
              <a:rPr lang="en-US" altLang="zh-CN" sz="1700" b="1" noProof="1">
                <a:solidFill>
                  <a:srgbClr val="2E4A3A"/>
                </a:solidFill>
                <a:latin typeface="Noto Serif SC" panose="02020200000000000000" charset="-122"/>
                <a:ea typeface="Noto Serif SC" panose="02020200000000000000" charset="-122"/>
              </a:rPr>
              <a:t> </a:t>
            </a:r>
            <a:r>
              <a:rPr lang="en-US" sz="1700" b="1" noProof="1">
                <a:solidFill>
                  <a:srgbClr val="2E4A3A"/>
                </a:solidFill>
                <a:latin typeface="Noto Serif SC" panose="02020200000000000000" charset="-122"/>
                <a:ea typeface="Noto Serif SC" panose="02020200000000000000" charset="-122"/>
              </a:rPr>
              <a:t>记忆</a:t>
            </a:r>
            <a:r>
              <a:rPr lang="zh-CN" altLang="en-US" sz="1700" b="1" noProof="1">
                <a:solidFill>
                  <a:srgbClr val="2E4A3A"/>
                </a:solidFill>
                <a:latin typeface="Noto Serif SC" panose="02020200000000000000" charset="-122"/>
                <a:ea typeface="Noto Serif SC" panose="02020200000000000000" charset="-122"/>
              </a:rPr>
              <a:t>系统</a:t>
            </a:r>
            <a:r>
              <a:rPr lang="zh-CN" altLang="en-US" sz="1700" b="1" noProof="1">
                <a:solidFill>
                  <a:srgbClr val="2E4A3A"/>
                </a:solidFill>
                <a:latin typeface="Noto Serif SC" panose="02020200000000000000" charset="-122"/>
                <a:ea typeface="Noto Serif SC" panose="02020200000000000000" charset="-122"/>
              </a:rPr>
              <a:t>评估</a:t>
            </a:r>
            <a:endParaRPr lang="zh-CN" altLang="en-US" sz="1700" b="1" noProof="1">
              <a:solidFill>
                <a:srgbClr val="2E4A3A"/>
              </a:solidFill>
              <a:latin typeface="Noto Serif SC" panose="02020200000000000000" charset="-122"/>
              <a:ea typeface="Noto Serif SC" panose="02020200000000000000" charset="-122"/>
            </a:endParaRPr>
          </a:p>
        </p:txBody>
      </p:sp>
      <p:sp>
        <p:nvSpPr>
          <p:cNvPr id="27" name="t1defect"/>
          <p:cNvSpPr txBox="1"/>
          <p:nvPr>
            <p:custDataLst>
              <p:tags r:id="rId7"/>
            </p:custDataLst>
          </p:nvPr>
        </p:nvSpPr>
        <p:spPr>
          <a:xfrm>
            <a:off x="6432550" y="2283460"/>
            <a:ext cx="3723005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B3492B"/>
                </a:solidFill>
                <a:latin typeface="MiSans" charset="-122"/>
                <a:ea typeface="MiSans" charset="-122"/>
              </a:rPr>
              <a:t>对应</a:t>
            </a:r>
            <a:r>
              <a:rPr lang="zh-CN" altLang="en-US" sz="1600" noProof="1">
                <a:solidFill>
                  <a:srgbClr val="B3492B"/>
                </a:solidFill>
                <a:latin typeface="MiSans" charset="-122"/>
                <a:ea typeface="MiSans" charset="-122"/>
              </a:rPr>
              <a:t>挑战</a:t>
            </a:r>
            <a:r>
              <a:rPr lang="en-US" sz="1600" noProof="1">
                <a:solidFill>
                  <a:srgbClr val="B3492B"/>
                </a:solidFill>
                <a:latin typeface="MiSans" charset="-122"/>
                <a:ea typeface="MiSans" charset="-122"/>
              </a:rPr>
              <a:t>：</a:t>
            </a:r>
            <a:r>
              <a:rPr lang="zh-CN" altLang="en-US" sz="1600" noProof="1">
                <a:solidFill>
                  <a:schemeClr val="tx1"/>
                </a:solidFill>
                <a:latin typeface="MiSans" charset="-122"/>
                <a:ea typeface="MiSans" charset="-122"/>
              </a:rPr>
              <a:t>干得好不好没人打分</a:t>
            </a:r>
            <a:endParaRPr lang="zh-CN" altLang="en-US" sz="1600" noProof="1">
              <a:solidFill>
                <a:schemeClr val="tx1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28" name="t1qLabel"/>
          <p:cNvSpPr txBox="1"/>
          <p:nvPr>
            <p:custDataLst>
              <p:tags r:id="rId8"/>
            </p:custDataLst>
          </p:nvPr>
        </p:nvSpPr>
        <p:spPr>
          <a:xfrm>
            <a:off x="6432550" y="2786380"/>
            <a:ext cx="4959350" cy="641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核心问题</a:t>
            </a:r>
            <a:r>
              <a:rPr lang="zh-CN" altLang="en-US" sz="16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：</a:t>
            </a:r>
            <a:r>
              <a:rPr lang="zh-CN" altLang="en-US" sz="1600">
                <a:solidFill>
                  <a:srgbClr val="22271F"/>
                </a:solidFill>
                <a:latin typeface="MiSans" charset="-122"/>
                <a:ea typeface="MiSans" charset="-122"/>
                <a:sym typeface="+mn-ea"/>
              </a:rPr>
              <a:t>统一测试集、四层指标体系、自动化评测框架。</a:t>
            </a:r>
            <a:endParaRPr lang="zh-CN" altLang="en-US" sz="1600">
              <a:solidFill>
                <a:srgbClr val="22271F"/>
              </a:solidFill>
              <a:latin typeface="MiSans" charset="-122"/>
              <a:ea typeface="MiSans" charset="-122"/>
              <a:sym typeface="+mn-ea"/>
            </a:endParaRPr>
          </a:p>
          <a:p>
            <a:pPr algn="l">
              <a:lnSpc>
                <a:spcPct val="120000"/>
              </a:lnSpc>
            </a:pPr>
            <a:endParaRPr lang="zh-CN" altLang="en-US" sz="1600">
              <a:solidFill>
                <a:srgbClr val="22271F"/>
              </a:solidFill>
              <a:latin typeface="MiSans" charset="-122"/>
              <a:ea typeface="MiSans" charset="-122"/>
              <a:sym typeface="+mn-ea"/>
            </a:endParaRPr>
          </a:p>
          <a:p>
            <a:pPr>
              <a:lnSpc>
                <a:spcPct val="120000"/>
              </a:lnSpc>
            </a:pPr>
            <a:endParaRPr lang="zh-CN" altLang="en-US" sz="1600" b="1" noProof="1">
              <a:solidFill>
                <a:srgbClr val="C0562F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29" name="t1kLabel"/>
          <p:cNvSpPr txBox="1"/>
          <p:nvPr>
            <p:custDataLst>
              <p:tags r:id="rId9"/>
            </p:custDataLst>
          </p:nvPr>
        </p:nvSpPr>
        <p:spPr>
          <a:xfrm>
            <a:off x="6432550" y="3185160"/>
            <a:ext cx="5029200" cy="23126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 algn="l">
              <a:lnSpc>
                <a:spcPct val="150000"/>
              </a:lnSpc>
            </a:pPr>
            <a:r>
              <a:rPr lang="zh-CN" altLang="en-US" sz="16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研究内容</a:t>
            </a:r>
            <a:r>
              <a:rPr lang="en-US" altLang="zh-CN" sz="1600" b="1" noProof="1">
                <a:solidFill>
                  <a:srgbClr val="C0562F"/>
                </a:solidFill>
                <a:latin typeface="MiSans" charset="-122"/>
                <a:ea typeface="MiSans" charset="-122"/>
              </a:rPr>
              <a:t>:</a:t>
            </a:r>
            <a:endParaRPr lang="en-US" altLang="zh-CN" sz="1600" b="1" noProof="1">
              <a:solidFill>
                <a:srgbClr val="C0562F"/>
              </a:solidFill>
              <a:latin typeface="MiSans" charset="-122"/>
              <a:ea typeface="MiSans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测试</a:t>
            </a: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集</a:t>
            </a:r>
            <a:endParaRPr lang="zh-CN" altLang="en-US" sz="1600" noProof="1">
              <a:solidFill>
                <a:srgbClr val="22271F"/>
              </a:solidFill>
              <a:latin typeface="MiSans" charset="-122"/>
              <a:ea typeface="MiSans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评测</a:t>
            </a: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指标</a:t>
            </a:r>
            <a:endParaRPr lang="zh-CN" altLang="en-US" sz="1600" noProof="1">
              <a:solidFill>
                <a:srgbClr val="22271F"/>
              </a:solidFill>
              <a:latin typeface="MiSans" charset="-122"/>
              <a:ea typeface="MiSans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评测</a:t>
            </a: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框架</a:t>
            </a:r>
            <a:endParaRPr lang="zh-CN" altLang="en-US" sz="1600" noProof="1">
              <a:solidFill>
                <a:srgbClr val="22271F"/>
              </a:solidFill>
              <a:latin typeface="MiSans" charset="-122"/>
              <a:ea typeface="MiSans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rgbClr val="22271F"/>
                </a:solidFill>
                <a:latin typeface="MiSans" charset="-122"/>
                <a:ea typeface="MiSans" charset="-122"/>
                <a:sym typeface="+mn-ea"/>
              </a:rPr>
              <a:t>实验分析与系统集成验证</a:t>
            </a:r>
            <a:endParaRPr lang="zh-CN" altLang="en-US" sz="1600" noProof="1">
              <a:solidFill>
                <a:srgbClr val="22271F"/>
              </a:solidFill>
              <a:latin typeface="MiSans" charset="-122"/>
              <a:ea typeface="MiSans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altLang="en-US" sz="1600" noProof="1">
              <a:solidFill>
                <a:srgbClr val="22271F"/>
              </a:solidFill>
              <a:latin typeface="MiSans" charset="-122"/>
              <a:ea typeface="MiSans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812800" y="7874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2600" b="1" noProof="1">
                <a:solidFill>
                  <a:srgbClr val="22271F"/>
                </a:solidFill>
                <a:latin typeface="Noto Serif SC" panose="02020200000000000000" charset="-122"/>
                <a:ea typeface="Noto Serif SC" panose="02020200000000000000" charset="-122"/>
              </a:rPr>
              <a:t>三、考核</a:t>
            </a:r>
            <a:r>
              <a:rPr lang="zh-CN" altLang="en-US" sz="2600" b="1" noProof="1">
                <a:solidFill>
                  <a:srgbClr val="22271F"/>
                </a:solidFill>
                <a:latin typeface="Noto Serif SC" panose="02020200000000000000" charset="-122"/>
                <a:ea typeface="Noto Serif SC" panose="02020200000000000000" charset="-122"/>
              </a:rPr>
              <a:t>方式</a:t>
            </a:r>
            <a:endParaRPr lang="zh-CN" altLang="en-US" sz="2600" b="1" noProof="1">
              <a:solidFill>
                <a:srgbClr val="22271F"/>
              </a:solidFill>
              <a:latin typeface="Noto Serif SC" panose="02020200000000000000" charset="-122"/>
              <a:ea typeface="Noto Serif SC" panose="02020200000000000000" charset="-122"/>
            </a:endParaRPr>
          </a:p>
        </p:txBody>
      </p:sp>
      <p:sp>
        <p:nvSpPr>
          <p:cNvPr id="4" name="headRule"/>
          <p:cNvSpPr/>
          <p:nvPr/>
        </p:nvSpPr>
        <p:spPr>
          <a:xfrm>
            <a:off x="812800" y="14224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812800" y="1651000"/>
          <a:ext cx="10566400" cy="2133600"/>
        </p:xfrm>
        <a:graphic>
          <a:graphicData uri="http://schemas.openxmlformats.org/drawingml/2006/table">
            <a:tbl>
              <a:tblPr/>
              <a:tblGrid>
                <a:gridCol w="3169920"/>
                <a:gridCol w="1056640"/>
                <a:gridCol w="6339840"/>
              </a:tblGrid>
              <a:tr h="384048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环节</a:t>
                      </a:r>
                      <a:endParaRPr lang="en-US" sz="14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4A3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占比</a:t>
                      </a:r>
                      <a:endParaRPr lang="en-US" sz="14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4A3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说明</a:t>
                      </a:r>
                      <a:endParaRPr lang="en-US" sz="14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4A3A"/>
                    </a:solidFill>
                  </a:tcPr>
                </a:tc>
              </a:tr>
              <a:tr h="437388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平时表现</a:t>
                      </a:r>
                      <a:endParaRPr lang="en-US" sz="1400" b="1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10%</a:t>
                      </a:r>
                      <a:endParaRPr lang="en-US" sz="1400" b="1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出勤、课堂互动</a:t>
                      </a:r>
                      <a:endParaRPr lang="en-US" sz="1400" b="1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noFill/>
                  </a:tcPr>
                </a:tc>
              </a:tr>
              <a:tr h="437388">
                <a:tc>
                  <a:txBody>
                    <a:bodyPr wrap="square" rtlCol="0"/>
                    <a:lstStyle/>
                    <a:p>
                      <a:pPr algn="l"/>
                      <a:r>
                        <a:rPr lang="zh-CN" altLang="en-US" sz="1400" b="1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汇报</a:t>
                      </a:r>
                      <a:r>
                        <a:rPr lang="en-US" sz="1400" b="1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（PPT + 系统演示）</a:t>
                      </a:r>
                      <a:endParaRPr lang="en-US" sz="1400" b="1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40%</a:t>
                      </a:r>
                      <a:endParaRPr lang="en-US" sz="1400" b="1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成果完整性、演示效果、答辩表现</a:t>
                      </a:r>
                      <a:r>
                        <a:rPr lang="zh-CN" altLang="en-US" sz="1400" b="1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等</a:t>
                      </a:r>
                      <a:endParaRPr lang="zh-CN" altLang="en-US" sz="1400" b="1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noFill/>
                  </a:tcPr>
                </a:tc>
              </a:tr>
              <a:tr h="437388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研究报告 + 算法代码 + </a:t>
                      </a:r>
                      <a:r>
                        <a:rPr lang="zh-CN" altLang="en-US" sz="1400" b="1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演示视频</a:t>
                      </a:r>
                      <a:endParaRPr lang="zh-CN" altLang="en-US" sz="1400" b="1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50%</a:t>
                      </a:r>
                      <a:endParaRPr lang="en-US" sz="1400" b="1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报告规范与深度 </a:t>
                      </a:r>
                      <a:r>
                        <a:rPr lang="zh-CN" altLang="en-US" sz="1400" b="1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sz="1400" b="1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 代码质量与可复现性 </a:t>
                      </a:r>
                      <a:r>
                        <a:rPr lang="zh-CN" altLang="en-US" sz="1400" b="1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sz="1400" b="1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系统可用性与评测结果</a:t>
                      </a:r>
                      <a:r>
                        <a:rPr lang="zh-CN" altLang="en-US" sz="1400" b="1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等</a:t>
                      </a:r>
                      <a:endParaRPr lang="zh-CN" altLang="en-US" sz="1400" b="1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EFEBE1"/>
                    </a:solidFill>
                  </a:tcPr>
                </a:tc>
              </a:tr>
            </a:tbl>
          </a:graphicData>
        </a:graphic>
      </p:graphicFrame>
      <p:sp>
        <p:nvSpPr>
          <p:cNvPr id="8" name="vRule"/>
          <p:cNvSpPr/>
          <p:nvPr/>
        </p:nvSpPr>
        <p:spPr>
          <a:xfrm>
            <a:off x="812800" y="3728085"/>
            <a:ext cx="12700" cy="21336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9" name="dLabel"/>
          <p:cNvSpPr txBox="1"/>
          <p:nvPr/>
        </p:nvSpPr>
        <p:spPr>
          <a:xfrm>
            <a:off x="965200" y="3728085"/>
            <a:ext cx="1037844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b="1" noProof="1">
                <a:solidFill>
                  <a:srgbClr val="2E4A3A"/>
                </a:solidFill>
                <a:latin typeface="MiSans" charset="-122"/>
                <a:ea typeface="MiSans" charset="-122"/>
              </a:rPr>
              <a:t>评分细则与修正机制</a:t>
            </a:r>
            <a:endParaRPr lang="en-US" b="1" noProof="1">
              <a:solidFill>
                <a:srgbClr val="2E4A3A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0" name="dBody"/>
          <p:cNvSpPr txBox="1"/>
          <p:nvPr/>
        </p:nvSpPr>
        <p:spPr>
          <a:xfrm>
            <a:off x="1000760" y="4115435"/>
            <a:ext cx="1037844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marL="171450" indent="-171450">
              <a:lnSpc>
                <a:spcPct val="155000"/>
              </a:lnSpc>
              <a:buFont typeface="Arial" panose="020B0604020202020204" pitchFamily="34" charset="0"/>
              <a:buChar char="•"/>
            </a:pPr>
            <a:r>
              <a:rPr 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百分制：</a:t>
            </a: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平时表现</a:t>
            </a:r>
            <a:r>
              <a:rPr lang="en-US" altLang="zh-CN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 + </a:t>
            </a: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结题汇报</a:t>
            </a:r>
            <a:r>
              <a:rPr lang="en-US" altLang="zh-CN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 + </a:t>
            </a: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研究成果</a:t>
            </a:r>
            <a:r>
              <a:rPr 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；</a:t>
            </a:r>
            <a:endParaRPr lang="en-US" sz="1600" noProof="1"/>
          </a:p>
          <a:p>
            <a:pPr marL="171450" indent="-171450">
              <a:lnSpc>
                <a:spcPct val="15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关键点</a:t>
            </a:r>
            <a:r>
              <a:rPr 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：集成进智戎系统、超出</a:t>
            </a: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选题任务</a:t>
            </a:r>
            <a:r>
              <a:rPr 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的创新点</a:t>
            </a: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等</a:t>
            </a:r>
            <a:r>
              <a:rPr 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；</a:t>
            </a:r>
            <a:endParaRPr lang="en-US" sz="1600" noProof="1"/>
          </a:p>
          <a:p>
            <a:pPr marL="171450" indent="-171450">
              <a:lnSpc>
                <a:spcPct val="15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个人得分 = 小组得分 × 贡献系数</a:t>
            </a: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，总分不超过</a:t>
            </a:r>
            <a:r>
              <a:rPr lang="en-US" altLang="zh-CN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100</a:t>
            </a:r>
            <a:r>
              <a:rPr lang="zh-CN" alt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分</a:t>
            </a:r>
            <a:r>
              <a:rPr 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；</a:t>
            </a:r>
            <a:endParaRPr lang="en-US" sz="1600" noProof="1">
              <a:solidFill>
                <a:srgbClr val="22271F"/>
              </a:solidFill>
              <a:latin typeface="MiSans" charset="-122"/>
              <a:ea typeface="MiSans" charset="-122"/>
            </a:endParaRPr>
          </a:p>
          <a:p>
            <a:pPr marL="171450" indent="-171450">
              <a:lnSpc>
                <a:spcPct val="15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答辩随机点名组员回答，防止「搭便车」。</a:t>
            </a:r>
            <a:endParaRPr lang="en-US" sz="1600" noProof="1">
              <a:solidFill>
                <a:srgbClr val="22271F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1" name="footRule"/>
          <p:cNvSpPr/>
          <p:nvPr/>
        </p:nvSpPr>
        <p:spPr>
          <a:xfrm>
            <a:off x="812800" y="64262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12" name="footL"/>
          <p:cNvSpPr txBox="1"/>
          <p:nvPr/>
        </p:nvSpPr>
        <p:spPr>
          <a:xfrm>
            <a:off x="812800" y="65278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大模型作战规划智能体记忆系统构建 · 课程总体设计</a:t>
            </a:r>
            <a:endParaRPr lang="en-US" sz="1000" noProof="1"/>
          </a:p>
        </p:txBody>
      </p:sp>
      <p:sp>
        <p:nvSpPr>
          <p:cNvPr id="13" name="footR"/>
          <p:cNvSpPr txBox="1"/>
          <p:nvPr/>
        </p:nvSpPr>
        <p:spPr>
          <a:xfrm>
            <a:off x="10160000" y="6527800"/>
            <a:ext cx="1219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lang="en-US" sz="10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13 / 16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 noProof="1">
                <a:solidFill>
                  <a:srgbClr val="2E4A3A"/>
                </a:solidFill>
                <a:latin typeface="MiSans" charset="-122"/>
                <a:ea typeface="MiSans" charset="-122"/>
              </a:rPr>
              <a:t>第四部分 · 授课计划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874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2600" b="1" noProof="1">
                <a:solidFill>
                  <a:srgbClr val="22271F"/>
                </a:solidFill>
                <a:latin typeface="Noto Serif SC" panose="02020200000000000000" charset="-122"/>
                <a:ea typeface="Noto Serif SC" panose="02020200000000000000" charset="-122"/>
              </a:rPr>
              <a:t>课时</a:t>
            </a:r>
            <a:r>
              <a:rPr lang="zh-CN" altLang="en-US" sz="2600" b="1" noProof="1">
                <a:solidFill>
                  <a:srgbClr val="22271F"/>
                </a:solidFill>
                <a:latin typeface="Noto Serif SC" panose="02020200000000000000" charset="-122"/>
                <a:ea typeface="Noto Serif SC" panose="02020200000000000000" charset="-122"/>
              </a:rPr>
              <a:t>安排</a:t>
            </a:r>
            <a:endParaRPr lang="zh-CN" altLang="en-US" sz="2600" b="1" noProof="1">
              <a:solidFill>
                <a:srgbClr val="22271F"/>
              </a:solidFill>
              <a:latin typeface="Noto Serif SC" panose="02020200000000000000" charset="-122"/>
              <a:ea typeface="Noto Serif SC" panose="02020200000000000000" charset="-122"/>
            </a:endParaRPr>
          </a:p>
        </p:txBody>
      </p:sp>
      <p:sp>
        <p:nvSpPr>
          <p:cNvPr id="4" name="headRule"/>
          <p:cNvSpPr/>
          <p:nvPr/>
        </p:nvSpPr>
        <p:spPr>
          <a:xfrm>
            <a:off x="812800" y="14224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graphicFrame>
        <p:nvGraphicFramePr>
          <p:cNvPr id="5" name="tableA"/>
          <p:cNvGraphicFramePr>
            <a:graphicFrameLocks noGrp="1"/>
          </p:cNvGraphicFramePr>
          <p:nvPr/>
        </p:nvGraphicFramePr>
        <p:xfrm>
          <a:off x="812800" y="1625600"/>
          <a:ext cx="5130800" cy="4522102"/>
        </p:xfrm>
        <a:graphic>
          <a:graphicData uri="http://schemas.openxmlformats.org/drawingml/2006/table">
            <a:tbl>
              <a:tblPr/>
              <a:tblGrid>
                <a:gridCol w="513080"/>
                <a:gridCol w="1641856"/>
                <a:gridCol w="2975864"/>
              </a:tblGrid>
              <a:tr h="45212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次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4A3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主题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4A3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要点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4A3A"/>
                    </a:solidFill>
                  </a:tcPr>
                </a:tc>
              </a:tr>
              <a:tr h="581426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sz="1200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2E4A3A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理论</a:t>
                      </a:r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 </a:t>
                      </a:r>
                      <a:r>
                        <a:rPr lang="zh-CN" alt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引入</a:t>
                      </a:r>
                      <a:endParaRPr lang="zh-CN" altLang="en-US" sz="1200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zh-CN" altLang="en-US" sz="11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作战规划与挑战、智能体框架与挑战、记忆系统需求与挑战、选题</a:t>
                      </a:r>
                      <a:r>
                        <a:rPr lang="zh-CN" altLang="en-US" sz="11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简介</a:t>
                      </a:r>
                      <a:endParaRPr lang="zh-CN" altLang="en-US" sz="1100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noFill/>
                  </a:tcPr>
                </a:tc>
              </a:tr>
              <a:tr h="581426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endParaRPr lang="en-US" sz="1200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2E4A3A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理论</a:t>
                      </a:r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 技术</a:t>
                      </a:r>
                      <a:r>
                        <a:rPr lang="zh-CN" alt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基础</a:t>
                      </a:r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①</a:t>
                      </a:r>
                      <a:endParaRPr lang="en-US" sz="1200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RAG</a:t>
                      </a:r>
                      <a:r>
                        <a:rPr lang="zh-CN" altLang="en-US" sz="11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GraphRAG</a:t>
                      </a:r>
                      <a:r>
                        <a:rPr lang="zh-CN" altLang="en-US" sz="11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Multi Modal RAG</a:t>
                      </a:r>
                      <a:r>
                        <a:rPr lang="zh-CN" altLang="en-US" sz="11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等</a:t>
                      </a:r>
                      <a:endParaRPr lang="zh-CN" altLang="en-US" sz="1100" noProof="1">
                        <a:solidFill>
                          <a:srgbClr val="22271F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EFEBE1"/>
                    </a:solidFill>
                  </a:tcPr>
                </a:tc>
              </a:tr>
              <a:tr h="581426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</a:t>
                      </a:r>
                      <a:endParaRPr lang="en-US" sz="1200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2E4A3A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理论</a:t>
                      </a:r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 关键技术②</a:t>
                      </a:r>
                      <a:endParaRPr lang="en-US" sz="1200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zh-CN" altLang="en-US" sz="11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智能体记忆系统、长短期记忆、记忆系统评估</a:t>
                      </a:r>
                      <a:r>
                        <a:rPr lang="zh-CN" altLang="en-US" sz="11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等</a:t>
                      </a:r>
                      <a:endParaRPr lang="zh-CN" altLang="en-US" sz="1100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noFill/>
                  </a:tcPr>
                </a:tc>
              </a:tr>
              <a:tr h="581426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</a:t>
                      </a:r>
                      <a:endParaRPr lang="en-US" sz="1200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2E4A3A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理论</a:t>
                      </a:r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 子课题宣讲</a:t>
                      </a:r>
                      <a:endParaRPr lang="en-US" sz="1200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zh-CN" altLang="en-US" sz="11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背景</a:t>
                      </a:r>
                      <a:r>
                        <a:rPr lang="en-US" sz="11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 / 目标 / 路线 / 验收 / 常见坑；分组与志愿填报</a:t>
                      </a:r>
                      <a:endParaRPr lang="en-US" sz="1100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EFEBE1"/>
                    </a:solidFill>
                  </a:tcPr>
                </a:tc>
              </a:tr>
              <a:tr h="581426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</a:t>
                      </a:r>
                      <a:endParaRPr lang="en-US" sz="1200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B3492B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实践</a:t>
                      </a:r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 </a:t>
                      </a:r>
                      <a:r>
                        <a:rPr lang="zh-CN" alt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分组</a:t>
                      </a:r>
                      <a:r>
                        <a:rPr lang="zh-CN" alt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研讨</a:t>
                      </a:r>
                      <a:endParaRPr lang="zh-CN" altLang="en-US" sz="1200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zh-CN" altLang="en-US" sz="11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选题研讨、分工、技术方案制定、研究计划制定、技术</a:t>
                      </a:r>
                      <a:r>
                        <a:rPr lang="zh-CN" altLang="en-US" sz="11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调研等</a:t>
                      </a:r>
                      <a:endParaRPr lang="zh-CN" altLang="en-US" sz="1100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noFill/>
                  </a:tcPr>
                </a:tc>
              </a:tr>
              <a:tr h="581426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</a:t>
                      </a:r>
                      <a:endParaRPr lang="en-US" sz="1200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zh-CN" altLang="en-US" sz="1200" b="1" noProof="1">
                          <a:solidFill>
                            <a:srgbClr val="B3492B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汇报</a:t>
                      </a:r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 </a:t>
                      </a:r>
                      <a:r>
                        <a:rPr lang="zh-CN" alt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技术调研</a:t>
                      </a:r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汇报</a:t>
                      </a:r>
                      <a:endParaRPr lang="en-US" sz="1200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每组 15 分钟汇报</a:t>
                      </a:r>
                      <a:endParaRPr lang="zh-CN" altLang="en-US" sz="1100" noProof="1">
                        <a:solidFill>
                          <a:srgbClr val="22271F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EFEBE1"/>
                    </a:solidFill>
                  </a:tcPr>
                </a:tc>
              </a:tr>
              <a:tr h="581426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7-9</a:t>
                      </a:r>
                      <a:endParaRPr lang="en-US" sz="1200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B3492B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实践</a:t>
                      </a:r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 </a:t>
                      </a:r>
                      <a:r>
                        <a:rPr lang="zh-CN" alt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算法</a:t>
                      </a:r>
                      <a:r>
                        <a:rPr lang="zh-CN" alt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实现</a:t>
                      </a:r>
                      <a:endParaRPr lang="zh-CN" altLang="en-US" sz="1200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zh-CN" altLang="en-US" sz="11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实现核心算法，搭建演示</a:t>
                      </a:r>
                      <a:r>
                        <a:rPr lang="en-US" altLang="zh-CN" sz="11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demo</a:t>
                      </a:r>
                      <a:endParaRPr lang="en-US" sz="1100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B"/>
          <p:cNvGraphicFramePr>
            <a:graphicFrameLocks noGrp="1"/>
          </p:cNvGraphicFramePr>
          <p:nvPr/>
        </p:nvGraphicFramePr>
        <p:xfrm>
          <a:off x="6248400" y="1637665"/>
          <a:ext cx="5130800" cy="4522102"/>
        </p:xfrm>
        <a:graphic>
          <a:graphicData uri="http://schemas.openxmlformats.org/drawingml/2006/table">
            <a:tbl>
              <a:tblPr/>
              <a:tblGrid>
                <a:gridCol w="513080"/>
                <a:gridCol w="1641856"/>
                <a:gridCol w="2975864"/>
              </a:tblGrid>
              <a:tr h="45212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次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4A3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主题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4A3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要点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4A3A"/>
                    </a:solidFill>
                  </a:tcPr>
                </a:tc>
              </a:tr>
              <a:tr h="581426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10</a:t>
                      </a:r>
                      <a:endParaRPr lang="en-US" sz="1200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B3492B"/>
                          </a:solidFill>
                          <a:latin typeface="Times New Roman" panose="02020603050405020304"/>
                          <a:ea typeface="Times New Roman" panose="02020603050405020304"/>
                          <a:cs typeface="+mn-ea"/>
                        </a:rPr>
                        <a:t>汇报</a:t>
                      </a:r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 Demo</a:t>
                      </a:r>
                      <a:r>
                        <a:rPr lang="zh-CN" alt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演示</a:t>
                      </a:r>
                      <a:endParaRPr lang="zh-CN" altLang="en-US" sz="1200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zh-CN" altLang="en-US" sz="11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演示各组</a:t>
                      </a:r>
                      <a:r>
                        <a:rPr lang="en-US" altLang="zh-CN" sz="11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demo</a:t>
                      </a:r>
                      <a:endParaRPr lang="en-US" altLang="zh-CN" sz="1100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noFill/>
                  </a:tcPr>
                </a:tc>
              </a:tr>
              <a:tr h="581426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11-12</a:t>
                      </a:r>
                      <a:endParaRPr lang="en-US" sz="1200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zh-CN" altLang="en-US" sz="1200" b="1" noProof="1">
                          <a:solidFill>
                            <a:srgbClr val="B3492B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开发</a:t>
                      </a:r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 </a:t>
                      </a:r>
                      <a:r>
                        <a:rPr lang="zh-CN" alt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系统集成</a:t>
                      </a:r>
                      <a:r>
                        <a:rPr lang="zh-CN" alt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测试</a:t>
                      </a:r>
                      <a:endParaRPr lang="zh-CN" altLang="en-US" sz="1200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zh-CN" altLang="en-US" sz="11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面向智戎系统</a:t>
                      </a:r>
                      <a:r>
                        <a:rPr lang="zh-CN" altLang="en-US" sz="11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集成</a:t>
                      </a:r>
                      <a:endParaRPr lang="zh-CN" altLang="en-US" sz="1100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EFEBE1"/>
                    </a:solidFill>
                  </a:tcPr>
                </a:tc>
              </a:tr>
              <a:tr h="581426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13-14</a:t>
                      </a:r>
                      <a:endParaRPr lang="en-US" sz="1200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B3492B"/>
                          </a:solidFill>
                          <a:latin typeface="Times New Roman" panose="02020603050405020304"/>
                          <a:ea typeface="Times New Roman" panose="02020603050405020304"/>
                          <a:cs typeface="+mn-ea"/>
                        </a:rPr>
                        <a:t>答辩</a:t>
                      </a:r>
                      <a:r>
                        <a:rPr 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 </a:t>
                      </a:r>
                      <a:r>
                        <a:rPr lang="zh-CN" alt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结题</a:t>
                      </a:r>
                      <a:r>
                        <a:rPr lang="zh-CN" altLang="en-US" sz="1200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答辩</a:t>
                      </a:r>
                      <a:endParaRPr lang="zh-CN" altLang="en-US" sz="1200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  <a:sym typeface="+mn-ea"/>
                        </a:rPr>
                        <a:t>20 分钟汇报 + 系统演示 + 随机点名提问（计入个人分）</a:t>
                      </a:r>
                      <a:endParaRPr lang="en-US" sz="1100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noFill/>
                  </a:tcPr>
                </a:tc>
              </a:tr>
              <a:tr h="581426">
                <a:tc gridSpan="3">
                  <a:txBody>
                    <a:bodyPr wrap="square" rtlCol="0"/>
                    <a:lstStyle/>
                    <a:p>
                      <a:pPr algn="l"/>
                      <a:r>
                        <a:rPr lang="zh-CN" altLang="en-US" sz="1200" b="1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预计在</a:t>
                      </a:r>
                      <a:r>
                        <a:rPr lang="en-US" altLang="zh-CN" sz="1200" b="1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28</a:t>
                      </a:r>
                      <a:r>
                        <a:rPr lang="zh-CN" altLang="en-US" sz="1200" b="1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学时外，增加</a:t>
                      </a:r>
                      <a:r>
                        <a:rPr lang="en-US" altLang="zh-CN" sz="1200" b="1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</a:t>
                      </a:r>
                      <a:r>
                        <a:rPr lang="zh-CN" altLang="en-US" sz="1200" b="1" noProof="1">
                          <a:solidFill>
                            <a:srgbClr val="22271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次课，主要用于系统集成和研究成果打造</a:t>
                      </a:r>
                      <a:endParaRPr lang="zh-CN" altLang="en-US" sz="1200" b="1" noProof="1">
                        <a:solidFill>
                          <a:srgbClr val="22271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EFEBE1"/>
                    </a:solidFill>
                  </a:tcPr>
                </a:tc>
                <a:tc hMerge="1"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EFEBE1"/>
                    </a:solidFill>
                  </a:tcPr>
                </a:tc>
                <a:tc hMerge="1"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EFEBE1"/>
                    </a:solidFill>
                  </a:tcPr>
                </a:tc>
              </a:tr>
            </a:tbl>
          </a:graphicData>
        </a:graphic>
      </p:graphicFrame>
      <p:sp>
        <p:nvSpPr>
          <p:cNvPr id="8" name="footRule"/>
          <p:cNvSpPr/>
          <p:nvPr/>
        </p:nvSpPr>
        <p:spPr>
          <a:xfrm>
            <a:off x="812800" y="64262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9" name="footL"/>
          <p:cNvSpPr txBox="1"/>
          <p:nvPr/>
        </p:nvSpPr>
        <p:spPr>
          <a:xfrm>
            <a:off x="812800" y="65278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大模型作战规划智能体记忆系统构建 · 课程总体设计</a:t>
            </a:r>
            <a:endParaRPr lang="en-US" sz="1000" noProof="1"/>
          </a:p>
        </p:txBody>
      </p:sp>
      <p:sp>
        <p:nvSpPr>
          <p:cNvPr id="10" name="footR"/>
          <p:cNvSpPr txBox="1"/>
          <p:nvPr/>
        </p:nvSpPr>
        <p:spPr>
          <a:xfrm>
            <a:off x="10160000" y="6527800"/>
            <a:ext cx="1219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lang="en-US" sz="10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14 / 16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1num"/>
          <p:cNvSpPr txBox="1"/>
          <p:nvPr/>
        </p:nvSpPr>
        <p:spPr>
          <a:xfrm>
            <a:off x="812800" y="1752600"/>
            <a:ext cx="954405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2E4A3A"/>
                </a:solidFill>
                <a:latin typeface="Noto Serif SC" panose="02020200000000000000" charset="-122"/>
                <a:ea typeface="Noto Serif SC" panose="02020200000000000000" charset="-122"/>
              </a:rPr>
              <a:t>①</a:t>
            </a:r>
            <a:endParaRPr lang="en-US" sz="2600" noProof="1"/>
          </a:p>
        </p:txBody>
      </p:sp>
      <p:sp>
        <p:nvSpPr>
          <p:cNvPr id="6" name="s1name"/>
          <p:cNvSpPr txBox="1"/>
          <p:nvPr/>
        </p:nvSpPr>
        <p:spPr>
          <a:xfrm>
            <a:off x="812800" y="2235200"/>
            <a:ext cx="3777615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22271F"/>
                </a:solidFill>
                <a:latin typeface="MiSans" charset="-122"/>
                <a:ea typeface="MiSans" charset="-122"/>
              </a:rPr>
              <a:t>背景 + 需求</a:t>
            </a:r>
            <a:endParaRPr lang="en-US" sz="1500" noProof="1"/>
          </a:p>
        </p:txBody>
      </p:sp>
      <p:sp>
        <p:nvSpPr>
          <p:cNvPr id="7" name="s1time"/>
          <p:cNvSpPr txBox="1"/>
          <p:nvPr/>
        </p:nvSpPr>
        <p:spPr>
          <a:xfrm>
            <a:off x="812800" y="2540000"/>
            <a:ext cx="3777615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B3492B"/>
                </a:solidFill>
                <a:latin typeface="MiSans" charset="-122"/>
                <a:ea typeface="MiSans" charset="-122"/>
              </a:rPr>
              <a:t>第 1 讲 · 2 学时（破题课）</a:t>
            </a:r>
            <a:endParaRPr lang="en-US" sz="1100" noProof="1"/>
          </a:p>
        </p:txBody>
      </p:sp>
      <p:sp>
        <p:nvSpPr>
          <p:cNvPr id="8" name="s1rule"/>
          <p:cNvSpPr/>
          <p:nvPr/>
        </p:nvSpPr>
        <p:spPr>
          <a:xfrm>
            <a:off x="812800" y="2844800"/>
            <a:ext cx="3023235" cy="762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9" name="s1body"/>
          <p:cNvSpPr txBox="1"/>
          <p:nvPr/>
        </p:nvSpPr>
        <p:spPr>
          <a:xfrm>
            <a:off x="812800" y="2971800"/>
            <a:ext cx="3777615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400" b="1" noProof="1">
                <a:solidFill>
                  <a:schemeClr val="tx1"/>
                </a:solidFill>
                <a:latin typeface="MiSans" charset="-122"/>
                <a:ea typeface="MiSans" charset="-122"/>
              </a:rPr>
              <a:t>作战规划与挑战 → </a:t>
            </a:r>
            <a:endParaRPr lang="en-US" sz="1400" b="1" noProof="1">
              <a:solidFill>
                <a:schemeClr val="tx1"/>
              </a:solidFill>
              <a:latin typeface="MiSans" charset="-122"/>
              <a:ea typeface="MiSans" charset="-122"/>
            </a:endParaRPr>
          </a:p>
          <a:p>
            <a:pPr>
              <a:lnSpc>
                <a:spcPct val="155000"/>
              </a:lnSpc>
            </a:pPr>
            <a:r>
              <a:rPr lang="en-US" sz="1400" b="1" noProof="1">
                <a:solidFill>
                  <a:schemeClr val="tx1"/>
                </a:solidFill>
                <a:latin typeface="MiSans" charset="-122"/>
                <a:ea typeface="MiSans" charset="-122"/>
              </a:rPr>
              <a:t>智能体框架与挑战 → </a:t>
            </a:r>
            <a:endParaRPr lang="en-US" sz="1400" b="1" noProof="1">
              <a:solidFill>
                <a:schemeClr val="tx1"/>
              </a:solidFill>
              <a:latin typeface="MiSans" charset="-122"/>
              <a:ea typeface="MiSans" charset="-122"/>
            </a:endParaRPr>
          </a:p>
          <a:p>
            <a:pPr>
              <a:lnSpc>
                <a:spcPct val="155000"/>
              </a:lnSpc>
            </a:pPr>
            <a:r>
              <a:rPr lang="en-US" sz="1400" b="1" noProof="1">
                <a:solidFill>
                  <a:schemeClr val="tx1"/>
                </a:solidFill>
                <a:latin typeface="MiSans" charset="-122"/>
                <a:ea typeface="MiSans" charset="-122"/>
              </a:rPr>
              <a:t>记忆系统需求与挑战→ </a:t>
            </a:r>
            <a:endParaRPr lang="en-US" sz="1400" b="1" noProof="1">
              <a:solidFill>
                <a:schemeClr val="tx1"/>
              </a:solidFill>
              <a:latin typeface="MiSans" charset="-122"/>
              <a:ea typeface="MiSans" charset="-122"/>
            </a:endParaRPr>
          </a:p>
          <a:p>
            <a:pPr>
              <a:lnSpc>
                <a:spcPct val="155000"/>
              </a:lnSpc>
            </a:pPr>
            <a:r>
              <a:rPr lang="zh-CN" altLang="en-US" sz="1400" b="1" noProof="1">
                <a:solidFill>
                  <a:schemeClr val="tx1"/>
                </a:solidFill>
                <a:latin typeface="MiSans" charset="-122"/>
                <a:ea typeface="MiSans" charset="-122"/>
              </a:rPr>
              <a:t>课程组织</a:t>
            </a:r>
            <a:r>
              <a:rPr lang="en-US" sz="1400" b="1" noProof="1">
                <a:solidFill>
                  <a:schemeClr val="tx1"/>
                </a:solidFill>
                <a:latin typeface="MiSans" charset="-122"/>
                <a:ea typeface="MiSans" charset="-122"/>
              </a:rPr>
              <a:t>。</a:t>
            </a:r>
            <a:endParaRPr lang="en-US" sz="1400" b="1" noProof="1">
              <a:solidFill>
                <a:schemeClr val="tx1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1" name="s2num"/>
          <p:cNvSpPr txBox="1"/>
          <p:nvPr/>
        </p:nvSpPr>
        <p:spPr>
          <a:xfrm>
            <a:off x="4152900" y="1752600"/>
            <a:ext cx="954405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2E4A3A"/>
                </a:solidFill>
                <a:latin typeface="Noto Serif SC" panose="02020200000000000000" charset="-122"/>
                <a:ea typeface="Noto Serif SC" panose="02020200000000000000" charset="-122"/>
              </a:rPr>
              <a:t>②</a:t>
            </a:r>
            <a:endParaRPr lang="en-US" sz="2600" noProof="1"/>
          </a:p>
        </p:txBody>
      </p:sp>
      <p:sp>
        <p:nvSpPr>
          <p:cNvPr id="12" name="s2name"/>
          <p:cNvSpPr txBox="1"/>
          <p:nvPr/>
        </p:nvSpPr>
        <p:spPr>
          <a:xfrm>
            <a:off x="4152900" y="2235200"/>
            <a:ext cx="3777615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22271F"/>
                </a:solidFill>
                <a:latin typeface="MiSans" charset="-122"/>
                <a:ea typeface="MiSans" charset="-122"/>
              </a:rPr>
              <a:t>技术</a:t>
            </a:r>
            <a:endParaRPr lang="en-US" sz="1500" noProof="1"/>
          </a:p>
        </p:txBody>
      </p:sp>
      <p:sp>
        <p:nvSpPr>
          <p:cNvPr id="13" name="s2time"/>
          <p:cNvSpPr txBox="1"/>
          <p:nvPr/>
        </p:nvSpPr>
        <p:spPr>
          <a:xfrm>
            <a:off x="4152900" y="2540000"/>
            <a:ext cx="3777615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B3492B"/>
                </a:solidFill>
                <a:latin typeface="MiSans" charset="-122"/>
                <a:ea typeface="MiSans" charset="-122"/>
              </a:rPr>
              <a:t>第 2–3 讲 · 4 学时</a:t>
            </a:r>
            <a:endParaRPr lang="en-US" sz="1100" noProof="1"/>
          </a:p>
        </p:txBody>
      </p:sp>
      <p:sp>
        <p:nvSpPr>
          <p:cNvPr id="14" name="s2rule"/>
          <p:cNvSpPr/>
          <p:nvPr/>
        </p:nvSpPr>
        <p:spPr>
          <a:xfrm>
            <a:off x="4152900" y="2844800"/>
            <a:ext cx="3023235" cy="762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15" name="s2body"/>
          <p:cNvSpPr txBox="1"/>
          <p:nvPr/>
        </p:nvSpPr>
        <p:spPr>
          <a:xfrm>
            <a:off x="4152900" y="2971800"/>
            <a:ext cx="3777615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marL="285750" indent="-285750" algn="l">
              <a:lnSpc>
                <a:spcPct val="155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sz="1400" b="1" noProof="1">
                <a:latin typeface="MiSans" charset="-122"/>
                <a:ea typeface="MiSans" charset="-122"/>
              </a:rPr>
              <a:t>RAG</a:t>
            </a:r>
            <a:r>
              <a:rPr lang="zh-CN" altLang="en-US" sz="1400" b="1" noProof="1">
                <a:latin typeface="MiSans" charset="-122"/>
                <a:ea typeface="MiSans" charset="-122"/>
              </a:rPr>
              <a:t>入门</a:t>
            </a:r>
            <a:endParaRPr lang="zh-CN" altLang="en-US" sz="1400" b="1" noProof="1">
              <a:latin typeface="MiSans" charset="-122"/>
              <a:ea typeface="MiSans" charset="-122"/>
            </a:endParaRPr>
          </a:p>
          <a:p>
            <a:pPr marL="285750" indent="-285750" algn="l">
              <a:lnSpc>
                <a:spcPct val="155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 b="1" noProof="1">
                <a:latin typeface="MiSans" charset="-122"/>
                <a:ea typeface="MiSans" charset="-122"/>
              </a:rPr>
              <a:t>GraphRAG</a:t>
            </a:r>
            <a:r>
              <a:rPr lang="zh-CN" altLang="en-US" sz="1400" b="1" noProof="1">
                <a:latin typeface="MiSans" charset="-122"/>
                <a:ea typeface="MiSans" charset="-122"/>
              </a:rPr>
              <a:t>详解</a:t>
            </a:r>
            <a:endParaRPr lang="zh-CN" altLang="en-US" sz="1400" b="1" noProof="1">
              <a:latin typeface="MiSans" charset="-122"/>
              <a:ea typeface="MiSans" charset="-122"/>
            </a:endParaRPr>
          </a:p>
          <a:p>
            <a:pPr marL="285750" indent="-285750" algn="l">
              <a:lnSpc>
                <a:spcPct val="155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 noProof="1">
                <a:latin typeface="MiSans" charset="-122"/>
                <a:ea typeface="MiSans" charset="-122"/>
              </a:rPr>
              <a:t>多模态</a:t>
            </a:r>
            <a:r>
              <a:rPr lang="en-US" altLang="zh-CN" sz="1400" b="1" noProof="1">
                <a:latin typeface="MiSans" charset="-122"/>
                <a:ea typeface="MiSans" charset="-122"/>
              </a:rPr>
              <a:t>RAG</a:t>
            </a:r>
            <a:r>
              <a:rPr lang="zh-CN" altLang="en-US" sz="1400" b="1" noProof="1">
                <a:latin typeface="MiSans" charset="-122"/>
                <a:ea typeface="MiSans" charset="-122"/>
              </a:rPr>
              <a:t>详解</a:t>
            </a:r>
            <a:endParaRPr lang="zh-CN" altLang="en-US" sz="1400" b="1" noProof="1">
              <a:latin typeface="MiSans" charset="-122"/>
              <a:ea typeface="MiSans" charset="-122"/>
            </a:endParaRPr>
          </a:p>
          <a:p>
            <a:pPr marL="285750" indent="-285750" algn="l">
              <a:lnSpc>
                <a:spcPct val="155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 noProof="1">
                <a:latin typeface="MiSans" charset="-122"/>
                <a:ea typeface="MiSans" charset="-122"/>
              </a:rPr>
              <a:t>智能体记忆技术</a:t>
            </a:r>
            <a:r>
              <a:rPr lang="zh-CN" altLang="en-US" sz="1400" b="1" noProof="1">
                <a:latin typeface="MiSans" charset="-122"/>
                <a:ea typeface="MiSans" charset="-122"/>
              </a:rPr>
              <a:t>入门</a:t>
            </a:r>
            <a:endParaRPr lang="zh-CN" altLang="en-US" sz="1400" b="1" noProof="1">
              <a:latin typeface="MiSans" charset="-122"/>
              <a:ea typeface="MiSans" charset="-122"/>
            </a:endParaRPr>
          </a:p>
          <a:p>
            <a:pPr marL="285750" indent="-285750" algn="l">
              <a:lnSpc>
                <a:spcPct val="155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 noProof="1">
                <a:latin typeface="MiSans" charset="-122"/>
                <a:ea typeface="MiSans" charset="-122"/>
              </a:rPr>
              <a:t>长短期记忆</a:t>
            </a:r>
            <a:r>
              <a:rPr lang="zh-CN" altLang="en-US" sz="1400" b="1" noProof="1">
                <a:latin typeface="MiSans" charset="-122"/>
                <a:ea typeface="MiSans" charset="-122"/>
              </a:rPr>
              <a:t>详解</a:t>
            </a:r>
            <a:endParaRPr lang="zh-CN" altLang="en-US" sz="1400" b="1" noProof="1">
              <a:latin typeface="MiSans" charset="-122"/>
              <a:ea typeface="MiSans" charset="-122"/>
            </a:endParaRPr>
          </a:p>
          <a:p>
            <a:pPr marL="285750" indent="-285750" algn="l">
              <a:lnSpc>
                <a:spcPct val="155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 noProof="1">
                <a:latin typeface="MiSans" charset="-122"/>
                <a:ea typeface="MiSans" charset="-122"/>
              </a:rPr>
              <a:t>记忆系统评估</a:t>
            </a:r>
            <a:r>
              <a:rPr lang="zh-CN" altLang="en-US" sz="1400" b="1" noProof="1">
                <a:latin typeface="MiSans" charset="-122"/>
                <a:ea typeface="MiSans" charset="-122"/>
              </a:rPr>
              <a:t>详解</a:t>
            </a:r>
            <a:endParaRPr lang="zh-CN" altLang="en-US" sz="1400" b="1" noProof="1">
              <a:latin typeface="MiSans" charset="-122"/>
              <a:ea typeface="MiSans" charset="-122"/>
            </a:endParaRPr>
          </a:p>
        </p:txBody>
      </p:sp>
      <p:sp>
        <p:nvSpPr>
          <p:cNvPr id="17" name="s3num"/>
          <p:cNvSpPr txBox="1"/>
          <p:nvPr/>
        </p:nvSpPr>
        <p:spPr>
          <a:xfrm>
            <a:off x="7601585" y="1752600"/>
            <a:ext cx="954405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2E4A3A"/>
                </a:solidFill>
                <a:latin typeface="Noto Serif SC" panose="02020200000000000000" charset="-122"/>
                <a:ea typeface="Noto Serif SC" panose="02020200000000000000" charset="-122"/>
              </a:rPr>
              <a:t>③</a:t>
            </a:r>
            <a:endParaRPr lang="en-US" sz="2600" noProof="1"/>
          </a:p>
        </p:txBody>
      </p:sp>
      <p:sp>
        <p:nvSpPr>
          <p:cNvPr id="18" name="s3name"/>
          <p:cNvSpPr txBox="1"/>
          <p:nvPr/>
        </p:nvSpPr>
        <p:spPr>
          <a:xfrm>
            <a:off x="7601585" y="2235200"/>
            <a:ext cx="3777615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1500" b="1" noProof="1">
                <a:solidFill>
                  <a:srgbClr val="22271F"/>
                </a:solidFill>
                <a:latin typeface="MiSans" charset="-122"/>
                <a:ea typeface="MiSans" charset="-122"/>
              </a:rPr>
              <a:t>选</a:t>
            </a:r>
            <a:r>
              <a:rPr lang="en-US" sz="1500" b="1" noProof="1">
                <a:solidFill>
                  <a:srgbClr val="22271F"/>
                </a:solidFill>
                <a:latin typeface="MiSans" charset="-122"/>
                <a:ea typeface="MiSans" charset="-122"/>
              </a:rPr>
              <a:t>题</a:t>
            </a:r>
            <a:endParaRPr lang="en-US" sz="1500" noProof="1"/>
          </a:p>
        </p:txBody>
      </p:sp>
      <p:sp>
        <p:nvSpPr>
          <p:cNvPr id="19" name="s3time"/>
          <p:cNvSpPr txBox="1"/>
          <p:nvPr/>
        </p:nvSpPr>
        <p:spPr>
          <a:xfrm>
            <a:off x="7601585" y="2540000"/>
            <a:ext cx="3777615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B3492B"/>
                </a:solidFill>
                <a:latin typeface="MiSans" charset="-122"/>
                <a:ea typeface="MiSans" charset="-122"/>
              </a:rPr>
              <a:t>第 4 讲 · 2 学时</a:t>
            </a:r>
            <a:endParaRPr lang="en-US" sz="1100" noProof="1"/>
          </a:p>
        </p:txBody>
      </p:sp>
      <p:sp>
        <p:nvSpPr>
          <p:cNvPr id="20" name="s3rule"/>
          <p:cNvSpPr/>
          <p:nvPr/>
        </p:nvSpPr>
        <p:spPr>
          <a:xfrm>
            <a:off x="7601585" y="2844800"/>
            <a:ext cx="3023235" cy="762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21" name="s3body"/>
          <p:cNvSpPr txBox="1"/>
          <p:nvPr/>
        </p:nvSpPr>
        <p:spPr>
          <a:xfrm>
            <a:off x="7601585" y="2971800"/>
            <a:ext cx="3777615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zh-CN" altLang="en-US" sz="1400" b="1" noProof="1">
                <a:latin typeface="MiSans" charset="-122"/>
                <a:ea typeface="MiSans" charset="-122"/>
              </a:rPr>
              <a:t>子课题专题宣讲：</a:t>
            </a:r>
            <a:endParaRPr lang="zh-CN" altLang="en-US" sz="1400" b="1" noProof="1">
              <a:latin typeface="MiSans" charset="-122"/>
              <a:ea typeface="MiSans" charset="-122"/>
            </a:endParaRPr>
          </a:p>
          <a:p>
            <a:pPr>
              <a:lnSpc>
                <a:spcPct val="155000"/>
              </a:lnSpc>
            </a:pPr>
            <a:r>
              <a:rPr lang="zh-CN" altLang="en-US" sz="1400" b="1" noProof="1">
                <a:latin typeface="MiSans" charset="-122"/>
                <a:ea typeface="MiSans" charset="-122"/>
              </a:rPr>
              <a:t>现状缺陷 → 要解决的问题 → </a:t>
            </a:r>
            <a:endParaRPr lang="zh-CN" altLang="en-US" sz="1400" b="1" noProof="1">
              <a:latin typeface="MiSans" charset="-122"/>
              <a:ea typeface="MiSans" charset="-122"/>
            </a:endParaRPr>
          </a:p>
          <a:p>
            <a:pPr>
              <a:lnSpc>
                <a:spcPct val="155000"/>
              </a:lnSpc>
            </a:pPr>
            <a:r>
              <a:rPr lang="zh-CN" altLang="en-US" sz="1400" b="1" noProof="1">
                <a:latin typeface="MiSans" charset="-122"/>
                <a:ea typeface="MiSans" charset="-122"/>
              </a:rPr>
              <a:t>怎么做 → 最终</a:t>
            </a:r>
            <a:r>
              <a:rPr lang="zh-CN" altLang="en-US" sz="1400" b="1" noProof="1">
                <a:latin typeface="MiSans" charset="-122"/>
                <a:ea typeface="MiSans" charset="-122"/>
              </a:rPr>
              <a:t>产出</a:t>
            </a:r>
            <a:endParaRPr lang="zh-CN" altLang="en-US" sz="1400" b="1" noProof="1">
              <a:latin typeface="MiSans" charset="-122"/>
              <a:ea typeface="MiSans" charset="-122"/>
            </a:endParaRPr>
          </a:p>
          <a:p>
            <a:pPr>
              <a:lnSpc>
                <a:spcPct val="155000"/>
              </a:lnSpc>
            </a:pPr>
            <a:r>
              <a:rPr lang="zh-CN" altLang="en-US" sz="1400" b="1" noProof="1">
                <a:latin typeface="MiSans" charset="-122"/>
                <a:ea typeface="MiSans" charset="-122"/>
              </a:rPr>
              <a:t>覆盖立项依据、目标、技术路线、里程碑、验收标准与常见坑；完成分组与志愿填报。</a:t>
            </a:r>
            <a:endParaRPr lang="zh-CN" altLang="en-US" sz="1400" b="1" noProof="1">
              <a:latin typeface="MiSans" charset="-122"/>
              <a:ea typeface="MiSans" charset="-122"/>
            </a:endParaRPr>
          </a:p>
        </p:txBody>
      </p:sp>
      <p:sp>
        <p:nvSpPr>
          <p:cNvPr id="28" name="barLabel"/>
          <p:cNvSpPr txBox="1"/>
          <p:nvPr/>
        </p:nvSpPr>
        <p:spPr>
          <a:xfrm>
            <a:off x="812800" y="5334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300" noProof="1">
                <a:solidFill>
                  <a:srgbClr val="2E4A3A"/>
                </a:solidFill>
                <a:latin typeface="MiSans" charset="-122"/>
                <a:ea typeface="MiSans" charset="-122"/>
              </a:rPr>
              <a:t>28 学时结构</a:t>
            </a:r>
            <a:endParaRPr lang="en-US" sz="1100" noProof="1"/>
          </a:p>
        </p:txBody>
      </p:sp>
      <p:sp>
        <p:nvSpPr>
          <p:cNvPr id="29" name="barTheory"/>
          <p:cNvSpPr/>
          <p:nvPr/>
        </p:nvSpPr>
        <p:spPr>
          <a:xfrm>
            <a:off x="812800" y="5638800"/>
            <a:ext cx="3022600" cy="177800"/>
          </a:xfrm>
          <a:prstGeom prst="rect">
            <a:avLst/>
          </a:prstGeom>
          <a:solidFill>
            <a:srgbClr val="2E4A3A"/>
          </a:solidFill>
          <a:ln>
            <a:noFill/>
          </a:ln>
        </p:spPr>
      </p:sp>
      <p:sp>
        <p:nvSpPr>
          <p:cNvPr id="30" name="barPractice"/>
          <p:cNvSpPr/>
          <p:nvPr/>
        </p:nvSpPr>
        <p:spPr>
          <a:xfrm>
            <a:off x="3835400" y="5638800"/>
            <a:ext cx="7543800" cy="177800"/>
          </a:xfrm>
          <a:prstGeom prst="rect">
            <a:avLst/>
          </a:prstGeom>
          <a:solidFill>
            <a:srgbClr val="C9C2B2"/>
          </a:solidFill>
          <a:ln>
            <a:noFill/>
          </a:ln>
        </p:spPr>
      </p:sp>
      <p:sp>
        <p:nvSpPr>
          <p:cNvPr id="31" name="barTLabel"/>
          <p:cNvSpPr txBox="1"/>
          <p:nvPr/>
        </p:nvSpPr>
        <p:spPr>
          <a:xfrm>
            <a:off x="812800" y="5892800"/>
            <a:ext cx="3022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理论 8 学时（第 1–4 讲）</a:t>
            </a:r>
            <a:endParaRPr lang="en-US" sz="1100" noProof="1"/>
          </a:p>
        </p:txBody>
      </p:sp>
      <p:sp>
        <p:nvSpPr>
          <p:cNvPr id="32" name="barPLabel"/>
          <p:cNvSpPr txBox="1"/>
          <p:nvPr/>
        </p:nvSpPr>
        <p:spPr>
          <a:xfrm>
            <a:off x="8356600" y="5892800"/>
            <a:ext cx="3022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22271F"/>
                </a:solidFill>
                <a:latin typeface="MiSans" charset="-122"/>
                <a:ea typeface="MiSans" charset="-122"/>
              </a:rPr>
              <a:t>实践 20 学时（第 5–14 讲）</a:t>
            </a:r>
            <a:endParaRPr lang="en-US" sz="1100" noProof="1"/>
          </a:p>
        </p:txBody>
      </p:sp>
      <p:sp>
        <p:nvSpPr>
          <p:cNvPr id="33" name="footRule"/>
          <p:cNvSpPr/>
          <p:nvPr/>
        </p:nvSpPr>
        <p:spPr>
          <a:xfrm>
            <a:off x="812800" y="64262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34" name="footL"/>
          <p:cNvSpPr txBox="1"/>
          <p:nvPr/>
        </p:nvSpPr>
        <p:spPr>
          <a:xfrm>
            <a:off x="812800" y="65278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大模型作战规划智能体记忆系统构建 · 课程总体设计</a:t>
            </a:r>
            <a:endParaRPr lang="en-US" sz="1000" noProof="1"/>
          </a:p>
        </p:txBody>
      </p:sp>
      <p:sp>
        <p:nvSpPr>
          <p:cNvPr id="35" name="footR"/>
          <p:cNvSpPr txBox="1"/>
          <p:nvPr/>
        </p:nvSpPr>
        <p:spPr>
          <a:xfrm>
            <a:off x="10160000" y="6527800"/>
            <a:ext cx="1219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lang="en-US" sz="1000" noProof="1">
                <a:solidFill>
                  <a:srgbClr val="6E7368"/>
                </a:solidFill>
                <a:latin typeface="MiSans" charset="-122"/>
                <a:ea typeface="MiSans" charset="-122"/>
              </a:rPr>
              <a:t>06 / 16</a:t>
            </a:r>
            <a:endParaRPr lang="en-US" sz="1000" noProof="1"/>
          </a:p>
        </p:txBody>
      </p:sp>
      <p:sp>
        <p:nvSpPr>
          <p:cNvPr id="38" name="kicker"/>
          <p:cNvSpPr txBox="1"/>
          <p:nvPr/>
        </p:nvSpPr>
        <p:spPr>
          <a:xfrm>
            <a:off x="8128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 noProof="1">
                <a:solidFill>
                  <a:srgbClr val="2E4A3A"/>
                </a:solidFill>
                <a:latin typeface="MiSans" charset="-122"/>
                <a:ea typeface="MiSans" charset="-122"/>
              </a:rPr>
              <a:t>第四部分 · 授课计划</a:t>
            </a:r>
            <a:endParaRPr lang="en-US" sz="1200" noProof="1"/>
          </a:p>
        </p:txBody>
      </p:sp>
      <p:sp>
        <p:nvSpPr>
          <p:cNvPr id="39" name="title"/>
          <p:cNvSpPr txBox="1"/>
          <p:nvPr/>
        </p:nvSpPr>
        <p:spPr>
          <a:xfrm>
            <a:off x="812800" y="787400"/>
            <a:ext cx="105664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2600" b="1" noProof="1">
                <a:solidFill>
                  <a:srgbClr val="22271F"/>
                </a:solidFill>
                <a:latin typeface="Noto Serif SC" panose="02020200000000000000" charset="-122"/>
                <a:ea typeface="Noto Serif SC" panose="02020200000000000000" charset="-122"/>
              </a:rPr>
              <a:t>理论授课内容：</a:t>
            </a:r>
            <a:r>
              <a:rPr lang="en-US" altLang="zh-CN" sz="2600" b="1" noProof="1">
                <a:solidFill>
                  <a:srgbClr val="22271F"/>
                </a:solidFill>
                <a:latin typeface="Noto Serif SC" panose="02020200000000000000" charset="-122"/>
                <a:ea typeface="Noto Serif SC" panose="02020200000000000000" charset="-122"/>
              </a:rPr>
              <a:t>8</a:t>
            </a:r>
            <a:r>
              <a:rPr lang="zh-CN" altLang="en-US" sz="2600" b="1" noProof="1">
                <a:solidFill>
                  <a:srgbClr val="22271F"/>
                </a:solidFill>
                <a:latin typeface="Noto Serif SC" panose="02020200000000000000" charset="-122"/>
                <a:ea typeface="Noto Serif SC" panose="02020200000000000000" charset="-122"/>
              </a:rPr>
              <a:t>学时</a:t>
            </a:r>
            <a:endParaRPr lang="zh-CN" altLang="en-US" sz="2600" b="1" noProof="1">
              <a:solidFill>
                <a:srgbClr val="22271F"/>
              </a:solidFill>
              <a:latin typeface="Noto Serif SC" panose="02020200000000000000" charset="-122"/>
              <a:ea typeface="Noto Serif SC" panose="02020200000000000000" charset="-122"/>
            </a:endParaRPr>
          </a:p>
        </p:txBody>
      </p:sp>
      <p:sp>
        <p:nvSpPr>
          <p:cNvPr id="40" name="headRule"/>
          <p:cNvSpPr/>
          <p:nvPr/>
        </p:nvSpPr>
        <p:spPr>
          <a:xfrm>
            <a:off x="812800" y="14224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6,&quot;left&quot;:64,&quot;top&quot;:130,&quot;width&quot;:838.5}"/>
</p:tagLst>
</file>

<file path=ppt/tags/tag2.xml><?xml version="1.0" encoding="utf-8"?>
<p:tagLst xmlns:p="http://schemas.openxmlformats.org/presentationml/2006/main">
  <p:tag name="KSO_WM_DIAGRAM_VIRTUALLY_FRAME" val="{&quot;height&quot;:366,&quot;left&quot;:64,&quot;top&quot;:130,&quot;width&quot;:838.5}"/>
</p:tagLst>
</file>

<file path=ppt/tags/tag3.xml><?xml version="1.0" encoding="utf-8"?>
<p:tagLst xmlns:p="http://schemas.openxmlformats.org/presentationml/2006/main">
  <p:tag name="KSO_WM_DIAGRAM_VIRTUALLY_FRAME" val="{&quot;height&quot;:366,&quot;left&quot;:64,&quot;top&quot;:130,&quot;width&quot;:838.5}"/>
</p:tagLst>
</file>

<file path=ppt/tags/tag4.xml><?xml version="1.0" encoding="utf-8"?>
<p:tagLst xmlns:p="http://schemas.openxmlformats.org/presentationml/2006/main">
  <p:tag name="KSO_WM_DIAGRAM_VIRTUALLY_FRAME" val="{&quot;height&quot;:366,&quot;left&quot;:64,&quot;top&quot;:130,&quot;width&quot;:838.5}"/>
</p:tagLst>
</file>

<file path=ppt/tags/tag5.xml><?xml version="1.0" encoding="utf-8"?>
<p:tagLst xmlns:p="http://schemas.openxmlformats.org/presentationml/2006/main">
  <p:tag name="KSO_WM_DIAGRAM_VIRTUALLY_FRAME" val="{&quot;height&quot;:366,&quot;left&quot;:64,&quot;top&quot;:130,&quot;width&quot;:838.5}"/>
</p:tagLst>
</file>

<file path=ppt/tags/tag6.xml><?xml version="1.0" encoding="utf-8"?>
<p:tagLst xmlns:p="http://schemas.openxmlformats.org/presentationml/2006/main">
  <p:tag name="KSO_WM_DIAGRAM_VIRTUALLY_FRAME" val="{&quot;height&quot;:366,&quot;left&quot;:64,&quot;top&quot;:130,&quot;width&quot;:838.5}"/>
</p:tagLst>
</file>

<file path=ppt/tags/tag7.xml><?xml version="1.0" encoding="utf-8"?>
<p:tagLst xmlns:p="http://schemas.openxmlformats.org/presentationml/2006/main">
  <p:tag name="KSO_WM_DIAGRAM_VIRTUALLY_FRAME" val="{&quot;height&quot;:366,&quot;left&quot;:64,&quot;top&quot;:130,&quot;width&quot;:838.5}"/>
</p:tagLst>
</file>

<file path=ppt/tags/tag8.xml><?xml version="1.0" encoding="utf-8"?>
<p:tagLst xmlns:p="http://schemas.openxmlformats.org/presentationml/2006/main">
  <p:tag name="KSO_WM_DIAGRAM_VIRTUALLY_FRAME" val="{&quot;height&quot;:366,&quot;left&quot;:64,&quot;top&quot;:130,&quot;width&quot;:838.5}"/>
</p:tagLst>
</file>

<file path=ppt/tags/tag9.xml><?xml version="1.0" encoding="utf-8"?>
<p:tagLst xmlns:p="http://schemas.openxmlformats.org/presentationml/2006/main">
  <p:tag name="KSO_WM_DIAGRAM_VIRTUALLY_FRAME" val="{&quot;height&quot;:366,&quot;left&quot;:64,&quot;top&quot;:130,&quot;width&quot;:838.5}"/>
</p:tagLst>
</file>

<file path=ppt/tags/tag10.xml><?xml version="1.0" encoding="utf-8"?>
<p:tagLst xmlns:p="http://schemas.openxmlformats.org/presentationml/2006/main">
  <p:tag name="KSO_WM_DIAGRAM_VIRTUALLY_FRAME" val="{&quot;height&quot;:366,&quot;left&quot;:64,&quot;top&quot;:130,&quot;width&quot;:838.5}"/>
</p:tagLst>
</file>

<file path=ppt/tags/tag11.xml><?xml version="1.0" encoding="utf-8"?>
<p:tagLst xmlns:p="http://schemas.openxmlformats.org/presentationml/2006/main">
  <p:tag name="KSO_WM_DIAGRAM_VIRTUALLY_FRAME" val="{&quot;height&quot;:366,&quot;left&quot;:64,&quot;top&quot;:130,&quot;width&quot;:838.5}"/>
</p:tagLst>
</file>

<file path=ppt/tags/tag12.xml><?xml version="1.0" encoding="utf-8"?>
<p:tagLst xmlns:p="http://schemas.openxmlformats.org/presentationml/2006/main">
  <p:tag name="KSO_WM_DIAGRAM_VIRTUALLY_FRAME" val="{&quot;height&quot;:366,&quot;left&quot;:64,&quot;top&quot;:130,&quot;width&quot;:838.5}"/>
</p:tagLst>
</file>

<file path=ppt/tags/tag13.xml><?xml version="1.0" encoding="utf-8"?>
<p:tagLst xmlns:p="http://schemas.openxmlformats.org/presentationml/2006/main">
  <p:tag name="KSO_WM_DIAGRAM_VIRTUALLY_FRAME" val="{&quot;height&quot;:366,&quot;left&quot;:64,&quot;top&quot;:130,&quot;width&quot;:838.5}"/>
</p:tagLst>
</file>

<file path=ppt/tags/tag14.xml><?xml version="1.0" encoding="utf-8"?>
<p:tagLst xmlns:p="http://schemas.openxmlformats.org/presentationml/2006/main">
  <p:tag name="KSO_WM_DIAGRAM_VIRTUALLY_FRAME" val="{&quot;height&quot;:366,&quot;left&quot;:64,&quot;top&quot;:130,&quot;width&quot;:838.5}"/>
</p:tagLst>
</file>

<file path=ppt/tags/tag15.xml><?xml version="1.0" encoding="utf-8"?>
<p:tagLst xmlns:p="http://schemas.openxmlformats.org/presentationml/2006/main">
  <p:tag name="KSO_WM_DIAGRAM_VIRTUALLY_FRAME" val="{&quot;height&quot;:366,&quot;left&quot;:64,&quot;top&quot;:130,&quot;width&quot;:838.5}"/>
</p:tagLst>
</file>

<file path=ppt/tags/tag16.xml><?xml version="1.0" encoding="utf-8"?>
<p:tagLst xmlns:p="http://schemas.openxmlformats.org/presentationml/2006/main">
  <p:tag name="KSO_WM_DIAGRAM_VIRTUALLY_FRAME" val="{&quot;height&quot;:366,&quot;left&quot;:64,&quot;top&quot;:130,&quot;width&quot;:838.5}"/>
</p:tagLst>
</file>

<file path=ppt/tags/tag17.xml><?xml version="1.0" encoding="utf-8"?>
<p:tagLst xmlns:p="http://schemas.openxmlformats.org/presentationml/2006/main">
  <p:tag name="KSO_WM_DIAGRAM_VIRTUALLY_FRAME" val="{&quot;height&quot;:366,&quot;left&quot;:64,&quot;top&quot;:130,&quot;width&quot;:838.5}"/>
</p:tagLst>
</file>

<file path=ppt/tags/tag18.xml><?xml version="1.0" encoding="utf-8"?>
<p:tagLst xmlns:p="http://schemas.openxmlformats.org/presentationml/2006/main">
  <p:tag name="KSO_WM_DIAGRAM_VIRTUALLY_FRAME" val="{&quot;height&quot;:366,&quot;left&quot;:64,&quot;top&quot;:130,&quot;width&quot;:838.5}"/>
</p:tagLst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2316</Words>
  <Application>WPS 演示</Application>
  <PresentationFormat/>
  <Paragraphs>336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MiSans</vt:lpstr>
      <vt:lpstr>Noto Serif SC</vt:lpstr>
      <vt:lpstr>Times New Roman</vt:lpstr>
      <vt:lpstr>微软雅黑</vt:lpstr>
      <vt:lpstr>Arial Unicode MS</vt:lpstr>
      <vt:lpstr>Calibri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大模型作战规划智能体记忆系统构建 · 课程总体设计</dc:title>
  <dc:creator/>
  <cp:lastModifiedBy>王旭东</cp:lastModifiedBy>
  <cp:revision>13</cp:revision>
  <dcterms:created xsi:type="dcterms:W3CDTF">2026-08-25T10:06:00Z</dcterms:created>
  <dcterms:modified xsi:type="dcterms:W3CDTF">2026-09-03T01:31:55Z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KSOProductBuildVer">
    <vt:lpwstr>2052-12.1.0.28043</vt:lpwstr>
  </property>
  <property fmtid="{D5CDD505-2E9C-101B-9397-08002B2CF9AE}" pid="4" name="ICV">
    <vt:lpwstr>32F02190890F4A1CB30FABFB80281720_13</vt:lpwstr>
  </property>
</Properties>
</file>