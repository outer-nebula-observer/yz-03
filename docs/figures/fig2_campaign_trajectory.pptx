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4097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5" name="组合 84"/>
          <p:cNvGrpSpPr/>
          <p:nvPr/>
        </p:nvGrpSpPr>
        <p:grpSpPr>
          <a:xfrm>
            <a:off x="-428625" y="0"/>
            <a:ext cx="15211425" cy="8572500"/>
            <a:chOff x="-675" y="0"/>
            <a:chExt cx="23955" cy="13500"/>
          </a:xfrm>
        </p:grpSpPr>
        <p:sp>
          <p:nvSpPr>
            <p:cNvPr id="2" name="Background / 画布底色"/>
            <p:cNvSpPr/>
            <p:nvPr/>
          </p:nvSpPr>
          <p:spPr>
            <a:xfrm>
              <a:off x="0" y="0"/>
              <a:ext cx="22200" cy="13500"/>
            </a:xfrm>
            <a:prstGeom prst="rect">
              <a:avLst/>
            </a:prstGeom>
            <a:solidFill>
              <a:srgbClr val="FCFC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3" name="Text / 五场战役的记忆轨迹"/>
            <p:cNvSpPr txBox="1"/>
            <p:nvPr/>
          </p:nvSpPr>
          <p:spPr>
            <a:xfrm>
              <a:off x="1350" y="176"/>
              <a:ext cx="5292" cy="89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8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五场战役的记忆轨迹</a:t>
              </a:r>
              <a:endParaRPr sz="28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4" name="Text / 《高地群攻防战役》五场连续推演，…"/>
            <p:cNvSpPr txBox="1"/>
            <p:nvPr/>
          </p:nvSpPr>
          <p:spPr>
            <a:xfrm>
              <a:off x="1350" y="992"/>
              <a:ext cx="18522" cy="57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8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《高地群攻防战役》五场连续推演，Mock 环境确定性复现；经验库为每场进化后的累计值，种子 5 条</a:t>
              </a:r>
              <a:endParaRPr sz="18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5" name="Shapes / rect 2"/>
            <p:cNvSpPr/>
            <p:nvPr/>
          </p:nvSpPr>
          <p:spPr>
            <a:xfrm>
              <a:off x="1350" y="1800"/>
              <a:ext cx="19500" cy="36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7">
              <a:solidFill>
                <a:srgbClr val="E1E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6" name="Text / A　经验库规模（条）"/>
            <p:cNvSpPr txBox="1"/>
            <p:nvPr/>
          </p:nvSpPr>
          <p:spPr>
            <a:xfrm>
              <a:off x="1710" y="1998"/>
              <a:ext cx="4201" cy="6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A　经验库规模（条）</a:t>
              </a:r>
              <a:endParaRPr sz="20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cxnSp>
          <p:nvCxnSpPr>
            <p:cNvPr id="7" name="Shapes / 网格线 1"/>
            <p:cNvCxnSpPr/>
            <p:nvPr/>
          </p:nvCxnSpPr>
          <p:spPr>
            <a:xfrm>
              <a:off x="3150" y="2850"/>
              <a:ext cx="1680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hapes / 网格线 2"/>
            <p:cNvCxnSpPr/>
            <p:nvPr/>
          </p:nvCxnSpPr>
          <p:spPr>
            <a:xfrm>
              <a:off x="3150" y="3394"/>
              <a:ext cx="1680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hapes / 网格线 3"/>
            <p:cNvCxnSpPr/>
            <p:nvPr/>
          </p:nvCxnSpPr>
          <p:spPr>
            <a:xfrm>
              <a:off x="3150" y="3937"/>
              <a:ext cx="1680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hapes / 网格线 4"/>
            <p:cNvCxnSpPr/>
            <p:nvPr/>
          </p:nvCxnSpPr>
          <p:spPr>
            <a:xfrm>
              <a:off x="3150" y="4481"/>
              <a:ext cx="1680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hapes / 网格线 5"/>
            <p:cNvCxnSpPr/>
            <p:nvPr/>
          </p:nvCxnSpPr>
          <p:spPr>
            <a:xfrm>
              <a:off x="3150" y="5025"/>
              <a:ext cx="16800" cy="0"/>
            </a:xfrm>
            <a:prstGeom prst="line">
              <a:avLst/>
            </a:prstGeom>
            <a:ln w="9525">
              <a:solidFill>
                <a:srgbClr val="C3C2B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 / 20"/>
            <p:cNvSpPr txBox="1"/>
            <p:nvPr/>
          </p:nvSpPr>
          <p:spPr>
            <a:xfrm>
              <a:off x="-675" y="2631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20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13" name="Text / 15"/>
            <p:cNvSpPr txBox="1"/>
            <p:nvPr/>
          </p:nvSpPr>
          <p:spPr>
            <a:xfrm>
              <a:off x="-675" y="3171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15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14" name="Text / 10"/>
            <p:cNvSpPr txBox="1"/>
            <p:nvPr/>
          </p:nvSpPr>
          <p:spPr>
            <a:xfrm>
              <a:off x="-675" y="372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10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15" name="Text / 5"/>
            <p:cNvSpPr txBox="1"/>
            <p:nvPr/>
          </p:nvSpPr>
          <p:spPr>
            <a:xfrm>
              <a:off x="-675" y="426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5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16" name="Text / 0"/>
            <p:cNvSpPr txBox="1"/>
            <p:nvPr/>
          </p:nvSpPr>
          <p:spPr>
            <a:xfrm>
              <a:off x="-675" y="480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0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cxnSp>
          <p:nvCxnSpPr>
            <p:cNvPr id="17" name="Shapes / 网格线 6"/>
            <p:cNvCxnSpPr/>
            <p:nvPr/>
          </p:nvCxnSpPr>
          <p:spPr>
            <a:xfrm>
              <a:off x="3150" y="4481"/>
              <a:ext cx="16800" cy="0"/>
            </a:xfrm>
            <a:prstGeom prst="line">
              <a:avLst/>
            </a:prstGeom>
            <a:ln w="9525">
              <a:solidFill>
                <a:srgbClr val="C3C2B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/ 种子基线 5 条"/>
            <p:cNvSpPr txBox="1"/>
            <p:nvPr/>
          </p:nvSpPr>
          <p:spPr>
            <a:xfrm>
              <a:off x="15900" y="450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种子基线 5 条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19" name="Shapes / 箭头 1"/>
            <p:cNvSpPr/>
            <p:nvPr/>
          </p:nvSpPr>
          <p:spPr>
            <a:xfrm>
              <a:off x="3600" y="3067"/>
              <a:ext cx="15900" cy="1088"/>
            </a:xfrm>
            <a:custGeom>
              <a:avLst/>
              <a:gdLst/>
              <a:ahLst/>
              <a:cxnLst/>
              <a:rect l="l" t="t" r="r" b="b"/>
              <a:pathLst>
                <a:path w="10096500" h="690563">
                  <a:moveTo>
                    <a:pt x="0" y="690563"/>
                  </a:moveTo>
                  <a:lnTo>
                    <a:pt x="2524125" y="483394"/>
                  </a:lnTo>
                  <a:lnTo>
                    <a:pt x="5048250" y="414338"/>
                  </a:lnTo>
                  <a:lnTo>
                    <a:pt x="7572375" y="207169"/>
                  </a:lnTo>
                  <a:lnTo>
                    <a:pt x="10096500" y="0"/>
                  </a:lnTo>
                </a:path>
              </a:pathLst>
            </a:custGeom>
            <a:noFill/>
            <a:ln w="28575">
              <a:solidFill>
                <a:srgbClr val="1BAF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Shapes / 标记点 1"/>
            <p:cNvSpPr/>
            <p:nvPr/>
          </p:nvSpPr>
          <p:spPr>
            <a:xfrm>
              <a:off x="3510" y="4065"/>
              <a:ext cx="180" cy="180"/>
            </a:xfrm>
            <a:prstGeom prst="ellipse">
              <a:avLst/>
            </a:prstGeom>
            <a:solidFill>
              <a:srgbClr val="1BAF7A"/>
            </a:solidFill>
            <a:ln w="2381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Shapes / 标记点 2"/>
            <p:cNvSpPr/>
            <p:nvPr/>
          </p:nvSpPr>
          <p:spPr>
            <a:xfrm>
              <a:off x="7485" y="3739"/>
              <a:ext cx="180" cy="180"/>
            </a:xfrm>
            <a:prstGeom prst="ellipse">
              <a:avLst/>
            </a:prstGeom>
            <a:solidFill>
              <a:srgbClr val="1BAF7A"/>
            </a:solidFill>
            <a:ln w="2381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Shapes / 标记点 3"/>
            <p:cNvSpPr/>
            <p:nvPr/>
          </p:nvSpPr>
          <p:spPr>
            <a:xfrm>
              <a:off x="11460" y="3630"/>
              <a:ext cx="180" cy="180"/>
            </a:xfrm>
            <a:prstGeom prst="ellipse">
              <a:avLst/>
            </a:prstGeom>
            <a:solidFill>
              <a:srgbClr val="1BAF7A"/>
            </a:solidFill>
            <a:ln w="2381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hapes / 标记点 4"/>
            <p:cNvSpPr/>
            <p:nvPr/>
          </p:nvSpPr>
          <p:spPr>
            <a:xfrm>
              <a:off x="15435" y="3304"/>
              <a:ext cx="180" cy="180"/>
            </a:xfrm>
            <a:prstGeom prst="ellipse">
              <a:avLst/>
            </a:prstGeom>
            <a:solidFill>
              <a:srgbClr val="1BAF7A"/>
            </a:solidFill>
            <a:ln w="2381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hapes / 标记点 5"/>
            <p:cNvSpPr/>
            <p:nvPr/>
          </p:nvSpPr>
          <p:spPr>
            <a:xfrm>
              <a:off x="19410" y="2977"/>
              <a:ext cx="180" cy="180"/>
            </a:xfrm>
            <a:prstGeom prst="ellipse">
              <a:avLst/>
            </a:prstGeom>
            <a:solidFill>
              <a:srgbClr val="1BAF7A"/>
            </a:solidFill>
            <a:ln w="2381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/ 18"/>
            <p:cNvSpPr txBox="1"/>
            <p:nvPr/>
          </p:nvSpPr>
          <p:spPr>
            <a:xfrm>
              <a:off x="19680" y="262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18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26" name="Text / 8"/>
            <p:cNvSpPr txBox="1"/>
            <p:nvPr/>
          </p:nvSpPr>
          <p:spPr>
            <a:xfrm>
              <a:off x="1800" y="363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8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27" name="Shapes / rect 3"/>
            <p:cNvSpPr/>
            <p:nvPr/>
          </p:nvSpPr>
          <p:spPr>
            <a:xfrm>
              <a:off x="1350" y="5700"/>
              <a:ext cx="19500" cy="390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4287">
              <a:solidFill>
                <a:srgbClr val="E1E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28" name="Text / B　每场检索命中与跨场次复用（条…"/>
            <p:cNvSpPr txBox="1"/>
            <p:nvPr/>
          </p:nvSpPr>
          <p:spPr>
            <a:xfrm>
              <a:off x="1710" y="5898"/>
              <a:ext cx="7141" cy="64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20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B　每场检索命中与跨场次复用（条）</a:t>
              </a:r>
              <a:endParaRPr sz="20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29" name="Shapes / rect 4"/>
            <p:cNvSpPr/>
            <p:nvPr/>
          </p:nvSpPr>
          <p:spPr>
            <a:xfrm>
              <a:off x="14700" y="6120"/>
              <a:ext cx="240" cy="240"/>
            </a:xfrm>
            <a:prstGeom prst="roundRect">
              <a:avLst>
                <a:gd name="adj" fmla="val 25000"/>
              </a:avLst>
            </a:prstGeom>
            <a:solidFill>
              <a:srgbClr val="D5D4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30" name="Text / 检索命中"/>
            <p:cNvSpPr txBox="1"/>
            <p:nvPr/>
          </p:nvSpPr>
          <p:spPr>
            <a:xfrm>
              <a:off x="15060" y="5970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检索命中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31" name="Shapes / rect 5"/>
            <p:cNvSpPr/>
            <p:nvPr/>
          </p:nvSpPr>
          <p:spPr>
            <a:xfrm>
              <a:off x="17250" y="6120"/>
              <a:ext cx="240" cy="240"/>
            </a:xfrm>
            <a:prstGeom prst="roundRect">
              <a:avLst>
                <a:gd name="adj" fmla="val 25000"/>
              </a:avLst>
            </a:prstGeom>
            <a:solidFill>
              <a:srgbClr val="1BAF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32" name="Text / 跨场次复用"/>
            <p:cNvSpPr txBox="1"/>
            <p:nvPr/>
          </p:nvSpPr>
          <p:spPr>
            <a:xfrm>
              <a:off x="17610" y="5970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跨场次复用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cxnSp>
          <p:nvCxnSpPr>
            <p:cNvPr id="33" name="Shapes / 网格线 7"/>
            <p:cNvCxnSpPr/>
            <p:nvPr/>
          </p:nvCxnSpPr>
          <p:spPr>
            <a:xfrm>
              <a:off x="3150" y="6675"/>
              <a:ext cx="1680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hapes / 网格线 8"/>
            <p:cNvCxnSpPr/>
            <p:nvPr/>
          </p:nvCxnSpPr>
          <p:spPr>
            <a:xfrm>
              <a:off x="3150" y="7140"/>
              <a:ext cx="1680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hapes / 网格线 9"/>
            <p:cNvCxnSpPr/>
            <p:nvPr/>
          </p:nvCxnSpPr>
          <p:spPr>
            <a:xfrm>
              <a:off x="3150" y="7605"/>
              <a:ext cx="1680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hapes / 网格线 10"/>
            <p:cNvCxnSpPr/>
            <p:nvPr/>
          </p:nvCxnSpPr>
          <p:spPr>
            <a:xfrm>
              <a:off x="3150" y="8070"/>
              <a:ext cx="1680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hapes / 网格线 11"/>
            <p:cNvCxnSpPr/>
            <p:nvPr/>
          </p:nvCxnSpPr>
          <p:spPr>
            <a:xfrm>
              <a:off x="3150" y="8535"/>
              <a:ext cx="1680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hapes / 网格线 12"/>
            <p:cNvCxnSpPr/>
            <p:nvPr/>
          </p:nvCxnSpPr>
          <p:spPr>
            <a:xfrm>
              <a:off x="3150" y="9000"/>
              <a:ext cx="16800" cy="0"/>
            </a:xfrm>
            <a:prstGeom prst="line">
              <a:avLst/>
            </a:prstGeom>
            <a:ln w="9525">
              <a:solidFill>
                <a:srgbClr val="C3C2B7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/ 10"/>
            <p:cNvSpPr txBox="1"/>
            <p:nvPr/>
          </p:nvSpPr>
          <p:spPr>
            <a:xfrm>
              <a:off x="-675" y="645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10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40" name="Text / 8"/>
            <p:cNvSpPr txBox="1"/>
            <p:nvPr/>
          </p:nvSpPr>
          <p:spPr>
            <a:xfrm>
              <a:off x="-675" y="6921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8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41" name="Text / 6"/>
            <p:cNvSpPr txBox="1"/>
            <p:nvPr/>
          </p:nvSpPr>
          <p:spPr>
            <a:xfrm>
              <a:off x="-675" y="738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6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42" name="Text / 4"/>
            <p:cNvSpPr txBox="1"/>
            <p:nvPr/>
          </p:nvSpPr>
          <p:spPr>
            <a:xfrm>
              <a:off x="-675" y="7851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4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43" name="Text / 2"/>
            <p:cNvSpPr txBox="1"/>
            <p:nvPr/>
          </p:nvSpPr>
          <p:spPr>
            <a:xfrm>
              <a:off x="-675" y="831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2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44" name="Text / 0"/>
            <p:cNvSpPr txBox="1"/>
            <p:nvPr/>
          </p:nvSpPr>
          <p:spPr>
            <a:xfrm>
              <a:off x="-675" y="8781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0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45" name="Shapes / 色块 2"/>
            <p:cNvSpPr/>
            <p:nvPr/>
          </p:nvSpPr>
          <p:spPr>
            <a:xfrm>
              <a:off x="3150" y="7837"/>
              <a:ext cx="390" cy="1163"/>
            </a:xfrm>
            <a:custGeom>
              <a:avLst/>
              <a:gdLst/>
              <a:ahLst/>
              <a:cxnLst/>
              <a:rect l="l" t="t" r="r" b="b"/>
              <a:pathLst>
                <a:path w="247650" h="738188">
                  <a:moveTo>
                    <a:pt x="0" y="738188"/>
                  </a:moveTo>
                  <a:lnTo>
                    <a:pt x="0" y="52388"/>
                  </a:lnTo>
                  <a:lnTo>
                    <a:pt x="819" y="40110"/>
                  </a:lnTo>
                  <a:lnTo>
                    <a:pt x="3274" y="29468"/>
                  </a:lnTo>
                  <a:lnTo>
                    <a:pt x="7367" y="20464"/>
                  </a:lnTo>
                  <a:lnTo>
                    <a:pt x="13097" y="13097"/>
                  </a:lnTo>
                  <a:lnTo>
                    <a:pt x="20464" y="7367"/>
                  </a:lnTo>
                  <a:lnTo>
                    <a:pt x="29468" y="3275"/>
                  </a:lnTo>
                  <a:lnTo>
                    <a:pt x="40109" y="819"/>
                  </a:lnTo>
                  <a:lnTo>
                    <a:pt x="52388" y="0"/>
                  </a:lnTo>
                  <a:lnTo>
                    <a:pt x="195262" y="0"/>
                  </a:lnTo>
                  <a:lnTo>
                    <a:pt x="207541" y="819"/>
                  </a:lnTo>
                  <a:lnTo>
                    <a:pt x="218182" y="3275"/>
                  </a:lnTo>
                  <a:lnTo>
                    <a:pt x="227186" y="7367"/>
                  </a:lnTo>
                  <a:lnTo>
                    <a:pt x="234553" y="13097"/>
                  </a:lnTo>
                  <a:lnTo>
                    <a:pt x="240283" y="20464"/>
                  </a:lnTo>
                  <a:lnTo>
                    <a:pt x="244376" y="29468"/>
                  </a:lnTo>
                  <a:lnTo>
                    <a:pt x="246831" y="40110"/>
                  </a:lnTo>
                  <a:lnTo>
                    <a:pt x="247650" y="52388"/>
                  </a:lnTo>
                  <a:lnTo>
                    <a:pt x="247650" y="738188"/>
                  </a:lnTo>
                  <a:close/>
                </a:path>
              </a:pathLst>
            </a:custGeom>
            <a:solidFill>
              <a:srgbClr val="D5D4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hapes / 色块 3"/>
            <p:cNvSpPr/>
            <p:nvPr/>
          </p:nvSpPr>
          <p:spPr>
            <a:xfrm>
              <a:off x="7125" y="7837"/>
              <a:ext cx="390" cy="1163"/>
            </a:xfrm>
            <a:custGeom>
              <a:avLst/>
              <a:gdLst/>
              <a:ahLst/>
              <a:cxnLst/>
              <a:rect l="l" t="t" r="r" b="b"/>
              <a:pathLst>
                <a:path w="247650" h="738188">
                  <a:moveTo>
                    <a:pt x="0" y="738188"/>
                  </a:moveTo>
                  <a:lnTo>
                    <a:pt x="0" y="52388"/>
                  </a:lnTo>
                  <a:lnTo>
                    <a:pt x="819" y="40110"/>
                  </a:lnTo>
                  <a:lnTo>
                    <a:pt x="3274" y="29468"/>
                  </a:lnTo>
                  <a:lnTo>
                    <a:pt x="7367" y="20464"/>
                  </a:lnTo>
                  <a:lnTo>
                    <a:pt x="13097" y="13097"/>
                  </a:lnTo>
                  <a:lnTo>
                    <a:pt x="20464" y="7367"/>
                  </a:lnTo>
                  <a:lnTo>
                    <a:pt x="29468" y="3275"/>
                  </a:lnTo>
                  <a:lnTo>
                    <a:pt x="40109" y="819"/>
                  </a:lnTo>
                  <a:lnTo>
                    <a:pt x="52387" y="0"/>
                  </a:lnTo>
                  <a:lnTo>
                    <a:pt x="195263" y="0"/>
                  </a:lnTo>
                  <a:lnTo>
                    <a:pt x="207541" y="819"/>
                  </a:lnTo>
                  <a:lnTo>
                    <a:pt x="218182" y="3275"/>
                  </a:lnTo>
                  <a:lnTo>
                    <a:pt x="227186" y="7367"/>
                  </a:lnTo>
                  <a:lnTo>
                    <a:pt x="234553" y="13097"/>
                  </a:lnTo>
                  <a:lnTo>
                    <a:pt x="240283" y="20464"/>
                  </a:lnTo>
                  <a:lnTo>
                    <a:pt x="244376" y="29468"/>
                  </a:lnTo>
                  <a:lnTo>
                    <a:pt x="246831" y="40110"/>
                  </a:lnTo>
                  <a:lnTo>
                    <a:pt x="247650" y="52388"/>
                  </a:lnTo>
                  <a:lnTo>
                    <a:pt x="247650" y="738188"/>
                  </a:lnTo>
                  <a:close/>
                </a:path>
              </a:pathLst>
            </a:custGeom>
            <a:solidFill>
              <a:srgbClr val="D5D4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Shapes / 色块 4"/>
            <p:cNvSpPr/>
            <p:nvPr/>
          </p:nvSpPr>
          <p:spPr>
            <a:xfrm>
              <a:off x="11100" y="8070"/>
              <a:ext cx="390" cy="930"/>
            </a:xfrm>
            <a:custGeom>
              <a:avLst/>
              <a:gdLst/>
              <a:ahLst/>
              <a:cxnLst/>
              <a:rect l="l" t="t" r="r" b="b"/>
              <a:pathLst>
                <a:path w="247650" h="590550">
                  <a:moveTo>
                    <a:pt x="0" y="590550"/>
                  </a:moveTo>
                  <a:lnTo>
                    <a:pt x="0" y="52388"/>
                  </a:lnTo>
                  <a:lnTo>
                    <a:pt x="819" y="40109"/>
                  </a:lnTo>
                  <a:lnTo>
                    <a:pt x="3274" y="29468"/>
                  </a:lnTo>
                  <a:lnTo>
                    <a:pt x="7367" y="20464"/>
                  </a:lnTo>
                  <a:lnTo>
                    <a:pt x="13097" y="13097"/>
                  </a:lnTo>
                  <a:lnTo>
                    <a:pt x="20464" y="7367"/>
                  </a:lnTo>
                  <a:lnTo>
                    <a:pt x="29468" y="3274"/>
                  </a:lnTo>
                  <a:lnTo>
                    <a:pt x="40109" y="819"/>
                  </a:lnTo>
                  <a:lnTo>
                    <a:pt x="52388" y="0"/>
                  </a:lnTo>
                  <a:lnTo>
                    <a:pt x="195262" y="0"/>
                  </a:lnTo>
                  <a:lnTo>
                    <a:pt x="207541" y="819"/>
                  </a:lnTo>
                  <a:lnTo>
                    <a:pt x="218182" y="3274"/>
                  </a:lnTo>
                  <a:lnTo>
                    <a:pt x="227186" y="7367"/>
                  </a:lnTo>
                  <a:lnTo>
                    <a:pt x="234553" y="13097"/>
                  </a:lnTo>
                  <a:lnTo>
                    <a:pt x="240283" y="20464"/>
                  </a:lnTo>
                  <a:lnTo>
                    <a:pt x="244376" y="29468"/>
                  </a:lnTo>
                  <a:lnTo>
                    <a:pt x="246831" y="40109"/>
                  </a:lnTo>
                  <a:lnTo>
                    <a:pt x="247650" y="52388"/>
                  </a:lnTo>
                  <a:lnTo>
                    <a:pt x="247650" y="590550"/>
                  </a:lnTo>
                  <a:close/>
                </a:path>
              </a:pathLst>
            </a:custGeom>
            <a:solidFill>
              <a:srgbClr val="D5D4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Shapes / 色块 5"/>
            <p:cNvSpPr/>
            <p:nvPr/>
          </p:nvSpPr>
          <p:spPr>
            <a:xfrm>
              <a:off x="15075" y="7605"/>
              <a:ext cx="390" cy="1395"/>
            </a:xfrm>
            <a:custGeom>
              <a:avLst/>
              <a:gdLst/>
              <a:ahLst/>
              <a:cxnLst/>
              <a:rect l="l" t="t" r="r" b="b"/>
              <a:pathLst>
                <a:path w="247650" h="885825">
                  <a:moveTo>
                    <a:pt x="0" y="885825"/>
                  </a:moveTo>
                  <a:lnTo>
                    <a:pt x="0" y="52387"/>
                  </a:lnTo>
                  <a:lnTo>
                    <a:pt x="819" y="40109"/>
                  </a:lnTo>
                  <a:lnTo>
                    <a:pt x="3274" y="29468"/>
                  </a:lnTo>
                  <a:lnTo>
                    <a:pt x="7367" y="20464"/>
                  </a:lnTo>
                  <a:lnTo>
                    <a:pt x="13097" y="13097"/>
                  </a:lnTo>
                  <a:lnTo>
                    <a:pt x="20464" y="7367"/>
                  </a:lnTo>
                  <a:lnTo>
                    <a:pt x="29468" y="3274"/>
                  </a:lnTo>
                  <a:lnTo>
                    <a:pt x="40109" y="819"/>
                  </a:lnTo>
                  <a:lnTo>
                    <a:pt x="52387" y="0"/>
                  </a:lnTo>
                  <a:lnTo>
                    <a:pt x="195263" y="0"/>
                  </a:lnTo>
                  <a:lnTo>
                    <a:pt x="207541" y="819"/>
                  </a:lnTo>
                  <a:lnTo>
                    <a:pt x="218182" y="3274"/>
                  </a:lnTo>
                  <a:lnTo>
                    <a:pt x="227186" y="7367"/>
                  </a:lnTo>
                  <a:lnTo>
                    <a:pt x="234553" y="13097"/>
                  </a:lnTo>
                  <a:lnTo>
                    <a:pt x="240283" y="20464"/>
                  </a:lnTo>
                  <a:lnTo>
                    <a:pt x="244376" y="29468"/>
                  </a:lnTo>
                  <a:lnTo>
                    <a:pt x="246831" y="40109"/>
                  </a:lnTo>
                  <a:lnTo>
                    <a:pt x="247650" y="52387"/>
                  </a:lnTo>
                  <a:lnTo>
                    <a:pt x="247650" y="885825"/>
                  </a:lnTo>
                  <a:close/>
                </a:path>
              </a:pathLst>
            </a:custGeom>
            <a:solidFill>
              <a:srgbClr val="D5D4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Shapes / 色块 6"/>
            <p:cNvSpPr/>
            <p:nvPr/>
          </p:nvSpPr>
          <p:spPr>
            <a:xfrm>
              <a:off x="19050" y="6907"/>
              <a:ext cx="390" cy="2093"/>
            </a:xfrm>
            <a:custGeom>
              <a:avLst/>
              <a:gdLst/>
              <a:ahLst/>
              <a:cxnLst/>
              <a:rect l="l" t="t" r="r" b="b"/>
              <a:pathLst>
                <a:path w="247650" h="1328738">
                  <a:moveTo>
                    <a:pt x="0" y="1328738"/>
                  </a:moveTo>
                  <a:lnTo>
                    <a:pt x="0" y="52388"/>
                  </a:lnTo>
                  <a:lnTo>
                    <a:pt x="819" y="40110"/>
                  </a:lnTo>
                  <a:lnTo>
                    <a:pt x="3274" y="29468"/>
                  </a:lnTo>
                  <a:lnTo>
                    <a:pt x="7367" y="20464"/>
                  </a:lnTo>
                  <a:lnTo>
                    <a:pt x="13097" y="13097"/>
                  </a:lnTo>
                  <a:lnTo>
                    <a:pt x="20464" y="7367"/>
                  </a:lnTo>
                  <a:lnTo>
                    <a:pt x="29468" y="3275"/>
                  </a:lnTo>
                  <a:lnTo>
                    <a:pt x="40109" y="819"/>
                  </a:lnTo>
                  <a:lnTo>
                    <a:pt x="52388" y="0"/>
                  </a:lnTo>
                  <a:lnTo>
                    <a:pt x="195262" y="0"/>
                  </a:lnTo>
                  <a:lnTo>
                    <a:pt x="207541" y="819"/>
                  </a:lnTo>
                  <a:lnTo>
                    <a:pt x="218182" y="3275"/>
                  </a:lnTo>
                  <a:lnTo>
                    <a:pt x="227186" y="7367"/>
                  </a:lnTo>
                  <a:lnTo>
                    <a:pt x="234553" y="13097"/>
                  </a:lnTo>
                  <a:lnTo>
                    <a:pt x="240283" y="20464"/>
                  </a:lnTo>
                  <a:lnTo>
                    <a:pt x="244376" y="29468"/>
                  </a:lnTo>
                  <a:lnTo>
                    <a:pt x="246831" y="40110"/>
                  </a:lnTo>
                  <a:lnTo>
                    <a:pt x="247650" y="52388"/>
                  </a:lnTo>
                  <a:lnTo>
                    <a:pt x="247650" y="1328738"/>
                  </a:lnTo>
                  <a:close/>
                </a:path>
              </a:pathLst>
            </a:custGeom>
            <a:solidFill>
              <a:srgbClr val="D5D4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hapes / 色块 7"/>
            <p:cNvSpPr/>
            <p:nvPr/>
          </p:nvSpPr>
          <p:spPr>
            <a:xfrm>
              <a:off x="7635" y="8767"/>
              <a:ext cx="390" cy="233"/>
            </a:xfrm>
            <a:custGeom>
              <a:avLst/>
              <a:gdLst/>
              <a:ahLst/>
              <a:cxnLst/>
              <a:rect l="l" t="t" r="r" b="b"/>
              <a:pathLst>
                <a:path w="247650" h="147638">
                  <a:moveTo>
                    <a:pt x="0" y="147638"/>
                  </a:moveTo>
                  <a:lnTo>
                    <a:pt x="0" y="52388"/>
                  </a:lnTo>
                  <a:lnTo>
                    <a:pt x="819" y="40110"/>
                  </a:lnTo>
                  <a:lnTo>
                    <a:pt x="3274" y="29468"/>
                  </a:lnTo>
                  <a:lnTo>
                    <a:pt x="7367" y="20464"/>
                  </a:lnTo>
                  <a:lnTo>
                    <a:pt x="13097" y="13097"/>
                  </a:lnTo>
                  <a:lnTo>
                    <a:pt x="20464" y="7367"/>
                  </a:lnTo>
                  <a:lnTo>
                    <a:pt x="29468" y="3275"/>
                  </a:lnTo>
                  <a:lnTo>
                    <a:pt x="40109" y="819"/>
                  </a:lnTo>
                  <a:lnTo>
                    <a:pt x="52387" y="0"/>
                  </a:lnTo>
                  <a:lnTo>
                    <a:pt x="195263" y="0"/>
                  </a:lnTo>
                  <a:lnTo>
                    <a:pt x="207541" y="819"/>
                  </a:lnTo>
                  <a:lnTo>
                    <a:pt x="218182" y="3275"/>
                  </a:lnTo>
                  <a:lnTo>
                    <a:pt x="227186" y="7367"/>
                  </a:lnTo>
                  <a:lnTo>
                    <a:pt x="234553" y="13097"/>
                  </a:lnTo>
                  <a:lnTo>
                    <a:pt x="240283" y="20464"/>
                  </a:lnTo>
                  <a:lnTo>
                    <a:pt x="244376" y="29468"/>
                  </a:lnTo>
                  <a:lnTo>
                    <a:pt x="246831" y="40110"/>
                  </a:lnTo>
                  <a:lnTo>
                    <a:pt x="247650" y="52388"/>
                  </a:lnTo>
                  <a:lnTo>
                    <a:pt x="247650" y="147638"/>
                  </a:lnTo>
                  <a:close/>
                </a:path>
              </a:pathLst>
            </a:custGeom>
            <a:solidFill>
              <a:srgbClr val="1BAF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hapes / 色块 8"/>
            <p:cNvSpPr/>
            <p:nvPr/>
          </p:nvSpPr>
          <p:spPr>
            <a:xfrm>
              <a:off x="15585" y="8767"/>
              <a:ext cx="390" cy="233"/>
            </a:xfrm>
            <a:custGeom>
              <a:avLst/>
              <a:gdLst/>
              <a:ahLst/>
              <a:cxnLst/>
              <a:rect l="l" t="t" r="r" b="b"/>
              <a:pathLst>
                <a:path w="247650" h="147638">
                  <a:moveTo>
                    <a:pt x="0" y="147638"/>
                  </a:moveTo>
                  <a:lnTo>
                    <a:pt x="0" y="52388"/>
                  </a:lnTo>
                  <a:lnTo>
                    <a:pt x="819" y="40110"/>
                  </a:lnTo>
                  <a:lnTo>
                    <a:pt x="3274" y="29468"/>
                  </a:lnTo>
                  <a:lnTo>
                    <a:pt x="7367" y="20464"/>
                  </a:lnTo>
                  <a:lnTo>
                    <a:pt x="13097" y="13097"/>
                  </a:lnTo>
                  <a:lnTo>
                    <a:pt x="20464" y="7367"/>
                  </a:lnTo>
                  <a:lnTo>
                    <a:pt x="29468" y="3275"/>
                  </a:lnTo>
                  <a:lnTo>
                    <a:pt x="40109" y="819"/>
                  </a:lnTo>
                  <a:lnTo>
                    <a:pt x="52387" y="0"/>
                  </a:lnTo>
                  <a:lnTo>
                    <a:pt x="195263" y="0"/>
                  </a:lnTo>
                  <a:lnTo>
                    <a:pt x="207541" y="819"/>
                  </a:lnTo>
                  <a:lnTo>
                    <a:pt x="218182" y="3275"/>
                  </a:lnTo>
                  <a:lnTo>
                    <a:pt x="227186" y="7367"/>
                  </a:lnTo>
                  <a:lnTo>
                    <a:pt x="234553" y="13097"/>
                  </a:lnTo>
                  <a:lnTo>
                    <a:pt x="240283" y="20464"/>
                  </a:lnTo>
                  <a:lnTo>
                    <a:pt x="244376" y="29468"/>
                  </a:lnTo>
                  <a:lnTo>
                    <a:pt x="246831" y="40110"/>
                  </a:lnTo>
                  <a:lnTo>
                    <a:pt x="247650" y="52388"/>
                  </a:lnTo>
                  <a:lnTo>
                    <a:pt x="247650" y="147638"/>
                  </a:lnTo>
                  <a:close/>
                </a:path>
              </a:pathLst>
            </a:custGeom>
            <a:solidFill>
              <a:srgbClr val="1BAF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hapes / 色块 9"/>
            <p:cNvSpPr/>
            <p:nvPr/>
          </p:nvSpPr>
          <p:spPr>
            <a:xfrm>
              <a:off x="19560" y="8303"/>
              <a:ext cx="390" cy="697"/>
            </a:xfrm>
            <a:custGeom>
              <a:avLst/>
              <a:gdLst/>
              <a:ahLst/>
              <a:cxnLst/>
              <a:rect l="l" t="t" r="r" b="b"/>
              <a:pathLst>
                <a:path w="247650" h="442912">
                  <a:moveTo>
                    <a:pt x="0" y="442912"/>
                  </a:moveTo>
                  <a:lnTo>
                    <a:pt x="0" y="52387"/>
                  </a:lnTo>
                  <a:lnTo>
                    <a:pt x="819" y="40109"/>
                  </a:lnTo>
                  <a:lnTo>
                    <a:pt x="3274" y="29467"/>
                  </a:lnTo>
                  <a:lnTo>
                    <a:pt x="7367" y="20463"/>
                  </a:lnTo>
                  <a:lnTo>
                    <a:pt x="13097" y="13096"/>
                  </a:lnTo>
                  <a:lnTo>
                    <a:pt x="20464" y="7366"/>
                  </a:lnTo>
                  <a:lnTo>
                    <a:pt x="29468" y="3274"/>
                  </a:lnTo>
                  <a:lnTo>
                    <a:pt x="40109" y="818"/>
                  </a:lnTo>
                  <a:lnTo>
                    <a:pt x="52388" y="0"/>
                  </a:lnTo>
                  <a:lnTo>
                    <a:pt x="195262" y="0"/>
                  </a:lnTo>
                  <a:lnTo>
                    <a:pt x="207541" y="818"/>
                  </a:lnTo>
                  <a:lnTo>
                    <a:pt x="218182" y="3274"/>
                  </a:lnTo>
                  <a:lnTo>
                    <a:pt x="227186" y="7366"/>
                  </a:lnTo>
                  <a:lnTo>
                    <a:pt x="234553" y="13096"/>
                  </a:lnTo>
                  <a:lnTo>
                    <a:pt x="240283" y="20463"/>
                  </a:lnTo>
                  <a:lnTo>
                    <a:pt x="244376" y="29467"/>
                  </a:lnTo>
                  <a:lnTo>
                    <a:pt x="246831" y="40109"/>
                  </a:lnTo>
                  <a:lnTo>
                    <a:pt x="247650" y="52387"/>
                  </a:lnTo>
                  <a:lnTo>
                    <a:pt x="247650" y="442912"/>
                  </a:lnTo>
                  <a:close/>
                </a:path>
              </a:pathLst>
            </a:custGeom>
            <a:solidFill>
              <a:srgbClr val="1BAF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 / 1"/>
            <p:cNvSpPr txBox="1"/>
            <p:nvPr/>
          </p:nvSpPr>
          <p:spPr>
            <a:xfrm>
              <a:off x="6030" y="829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1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54" name="Text / 1"/>
            <p:cNvSpPr txBox="1"/>
            <p:nvPr/>
          </p:nvSpPr>
          <p:spPr>
            <a:xfrm>
              <a:off x="13980" y="829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1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55" name="Text / 3"/>
            <p:cNvSpPr txBox="1"/>
            <p:nvPr/>
          </p:nvSpPr>
          <p:spPr>
            <a:xfrm>
              <a:off x="17955" y="7830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3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sp>
          <p:nvSpPr>
            <p:cNvPr id="56" name="Text / P1"/>
            <p:cNvSpPr txBox="1"/>
            <p:nvPr/>
          </p:nvSpPr>
          <p:spPr>
            <a:xfrm>
              <a:off x="1800" y="910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P1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57" name="Text / P2"/>
            <p:cNvSpPr txBox="1"/>
            <p:nvPr/>
          </p:nvSpPr>
          <p:spPr>
            <a:xfrm>
              <a:off x="5775" y="910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P2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58" name="Text / P3"/>
            <p:cNvSpPr txBox="1"/>
            <p:nvPr/>
          </p:nvSpPr>
          <p:spPr>
            <a:xfrm>
              <a:off x="9750" y="910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P3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59" name="Text / P4"/>
            <p:cNvSpPr txBox="1"/>
            <p:nvPr/>
          </p:nvSpPr>
          <p:spPr>
            <a:xfrm>
              <a:off x="13725" y="910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P4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60" name="Text / P5"/>
            <p:cNvSpPr txBox="1"/>
            <p:nvPr/>
          </p:nvSpPr>
          <p:spPr>
            <a:xfrm>
              <a:off x="17700" y="910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6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P5</a:t>
              </a:r>
              <a:endParaRPr sz="16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61" name="Shapes / rect 6"/>
            <p:cNvSpPr/>
            <p:nvPr/>
          </p:nvSpPr>
          <p:spPr>
            <a:xfrm>
              <a:off x="1350" y="9900"/>
              <a:ext cx="19500" cy="2700"/>
            </a:xfrm>
            <a:prstGeom prst="roundRect">
              <a:avLst>
                <a:gd name="adj" fmla="val 6666"/>
              </a:avLst>
            </a:prstGeom>
            <a:solidFill>
              <a:srgbClr val="F9F9F7"/>
            </a:solidFill>
            <a:ln w="14287">
              <a:solidFill>
                <a:srgbClr val="E1E0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</a:p>
          </p:txBody>
        </p:sp>
        <p:sp>
          <p:nvSpPr>
            <p:cNvPr id="62" name="Text / 每场进化计数"/>
            <p:cNvSpPr txBox="1"/>
            <p:nvPr/>
          </p:nvSpPr>
          <p:spPr>
            <a:xfrm>
              <a:off x="1710" y="10095"/>
              <a:ext cx="3600" cy="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600" b="0">
                  <a:solidFill>
                    <a:srgbClr val="0B0B0B"/>
                  </a:solidFill>
                  <a:latin typeface="Segoe UI Semibold" panose="020B0702040204020203"/>
                  <a:ea typeface="微软雅黑" panose="020B0503020204020204" charset="-122"/>
                </a:rPr>
                <a:t>每场进化计数</a:t>
              </a:r>
              <a:endParaRPr sz="1600" b="0">
                <a:solidFill>
                  <a:srgbClr val="0B0B0B"/>
                </a:solidFill>
                <a:latin typeface="Segoe UI Semibold" panose="020B0702040204020203"/>
                <a:ea typeface="微软雅黑" panose="020B0503020204020204" charset="-122"/>
              </a:endParaRPr>
            </a:p>
          </p:txBody>
        </p:sp>
        <p:cxnSp>
          <p:nvCxnSpPr>
            <p:cNvPr id="63" name="Shapes / 网格线 13"/>
            <p:cNvCxnSpPr/>
            <p:nvPr/>
          </p:nvCxnSpPr>
          <p:spPr>
            <a:xfrm>
              <a:off x="1710" y="10650"/>
              <a:ext cx="1878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hapes / 网格线 14"/>
            <p:cNvCxnSpPr/>
            <p:nvPr/>
          </p:nvCxnSpPr>
          <p:spPr>
            <a:xfrm>
              <a:off x="1710" y="11370"/>
              <a:ext cx="1878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hapes / 网格线 15"/>
            <p:cNvCxnSpPr/>
            <p:nvPr/>
          </p:nvCxnSpPr>
          <p:spPr>
            <a:xfrm>
              <a:off x="1710" y="12090"/>
              <a:ext cx="18780" cy="0"/>
            </a:xfrm>
            <a:prstGeom prst="line">
              <a:avLst/>
            </a:prstGeom>
            <a:ln w="9525">
              <a:solidFill>
                <a:srgbClr val="E1E0D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 / 写入"/>
            <p:cNvSpPr txBox="1"/>
            <p:nvPr/>
          </p:nvSpPr>
          <p:spPr>
            <a:xfrm>
              <a:off x="1710" y="1083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写入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67" name="Text / 2"/>
            <p:cNvSpPr txBox="1"/>
            <p:nvPr/>
          </p:nvSpPr>
          <p:spPr>
            <a:xfrm>
              <a:off x="1800" y="1083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2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68" name="Text / 2"/>
            <p:cNvSpPr txBox="1"/>
            <p:nvPr/>
          </p:nvSpPr>
          <p:spPr>
            <a:xfrm>
              <a:off x="5775" y="1083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2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69" name="Text / 1"/>
            <p:cNvSpPr txBox="1"/>
            <p:nvPr/>
          </p:nvSpPr>
          <p:spPr>
            <a:xfrm>
              <a:off x="9750" y="1083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1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0" name="Text / 2"/>
            <p:cNvSpPr txBox="1"/>
            <p:nvPr/>
          </p:nvSpPr>
          <p:spPr>
            <a:xfrm>
              <a:off x="13725" y="1083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2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1" name="Text / 2"/>
            <p:cNvSpPr txBox="1"/>
            <p:nvPr/>
          </p:nvSpPr>
          <p:spPr>
            <a:xfrm>
              <a:off x="17700" y="1083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2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2" name="Text / 抽象"/>
            <p:cNvSpPr txBox="1"/>
            <p:nvPr/>
          </p:nvSpPr>
          <p:spPr>
            <a:xfrm>
              <a:off x="1710" y="1155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抽象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3" name="Text / 1"/>
            <p:cNvSpPr txBox="1"/>
            <p:nvPr/>
          </p:nvSpPr>
          <p:spPr>
            <a:xfrm>
              <a:off x="1800" y="1155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1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4" name="Text / 1"/>
            <p:cNvSpPr txBox="1"/>
            <p:nvPr/>
          </p:nvSpPr>
          <p:spPr>
            <a:xfrm>
              <a:off x="5775" y="1155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1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5" name="Text / 0"/>
            <p:cNvSpPr txBox="1"/>
            <p:nvPr/>
          </p:nvSpPr>
          <p:spPr>
            <a:xfrm>
              <a:off x="9750" y="1155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0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6" name="Text / 1"/>
            <p:cNvSpPr txBox="1"/>
            <p:nvPr/>
          </p:nvSpPr>
          <p:spPr>
            <a:xfrm>
              <a:off x="13725" y="1155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1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7" name="Text / 1"/>
            <p:cNvSpPr txBox="1"/>
            <p:nvPr/>
          </p:nvSpPr>
          <p:spPr>
            <a:xfrm>
              <a:off x="17700" y="1155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1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8" name="Text / 去重跳过"/>
            <p:cNvSpPr txBox="1"/>
            <p:nvPr/>
          </p:nvSpPr>
          <p:spPr>
            <a:xfrm>
              <a:off x="1710" y="1212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去重跳过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79" name="Text / 0"/>
            <p:cNvSpPr txBox="1"/>
            <p:nvPr/>
          </p:nvSpPr>
          <p:spPr>
            <a:xfrm>
              <a:off x="1800" y="1212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0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80" name="Text / 0"/>
            <p:cNvSpPr txBox="1"/>
            <p:nvPr/>
          </p:nvSpPr>
          <p:spPr>
            <a:xfrm>
              <a:off x="5775" y="1212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0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81" name="Text / 1"/>
            <p:cNvSpPr txBox="1"/>
            <p:nvPr/>
          </p:nvSpPr>
          <p:spPr>
            <a:xfrm>
              <a:off x="9750" y="1212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1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82" name="Text / 0"/>
            <p:cNvSpPr txBox="1"/>
            <p:nvPr/>
          </p:nvSpPr>
          <p:spPr>
            <a:xfrm>
              <a:off x="13725" y="1212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0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83" name="Text / 0"/>
            <p:cNvSpPr txBox="1"/>
            <p:nvPr/>
          </p:nvSpPr>
          <p:spPr>
            <a:xfrm>
              <a:off x="17700" y="12126"/>
              <a:ext cx="3600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500" b="0">
                  <a:solidFill>
                    <a:srgbClr val="52514E"/>
                  </a:solidFill>
                  <a:latin typeface="Segoe UI" panose="020B0502040204020203"/>
                  <a:ea typeface="微软雅黑" panose="020B0503020204020204" charset="-122"/>
                </a:rPr>
                <a:t>0</a:t>
              </a:r>
              <a:endParaRPr sz="1500" b="0">
                <a:solidFill>
                  <a:srgbClr val="52514E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  <p:sp>
          <p:nvSpPr>
            <p:cNvPr id="84" name="Text / 合并与遗忘五场均为 0。P2 首…"/>
            <p:cNvSpPr txBox="1"/>
            <p:nvPr/>
          </p:nvSpPr>
          <p:spPr>
            <a:xfrm>
              <a:off x="1350" y="12846"/>
              <a:ext cx="19215" cy="48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500" b="0">
                  <a:solidFill>
                    <a:srgbClr val="898781"/>
                  </a:solidFill>
                  <a:latin typeface="Segoe UI" panose="020B0502040204020203"/>
                  <a:ea typeface="微软雅黑" panose="020B0503020204020204" charset="-122"/>
                </a:rPr>
                <a:t>合并与遗忘五场均为 0。P2 首次出现往场复用，P5 三条同时命中；P3 复盘的“假渡口佯动”与种子条目重复，被查重跳过。</a:t>
              </a:r>
              <a:endParaRPr sz="1500" b="0">
                <a:solidFill>
                  <a:srgbClr val="898781"/>
                </a:solidFill>
                <a:latin typeface="Segoe UI" panose="020B0502040204020203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WPS 演示</Application>
  <PresentationFormat>On-screen Show (4:3)</PresentationFormat>
  <Paragraphs>96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</vt:lpstr>
      <vt:lpstr>Segoe UI Semibold</vt:lpstr>
      <vt:lpstr>微软雅黑</vt:lpstr>
      <vt:lpstr>Segoe UI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cjn</cp:lastModifiedBy>
  <cp:revision>2</cp:revision>
  <dcterms:created xsi:type="dcterms:W3CDTF">2013-01-27T09:14:00Z</dcterms:created>
  <dcterms:modified xsi:type="dcterms:W3CDTF">2026-09-17T03:32:53Z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7FF06D04A5E04DABA5BFCDD65C4E1FAA_12</vt:lpwstr>
  </property>
</Properties>
</file>