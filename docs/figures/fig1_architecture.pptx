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4097000" cy="1276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6"/>
        <p:guide pos="29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685800" y="499745"/>
            <a:ext cx="13620750" cy="11871325"/>
            <a:chOff x="1080" y="787"/>
            <a:chExt cx="21450" cy="18695"/>
          </a:xfrm>
        </p:grpSpPr>
        <p:cxnSp>
          <p:nvCxnSpPr>
            <p:cNvPr id="31" name="Shapes / 箭头 1"/>
            <p:cNvCxnSpPr/>
            <p:nvPr/>
          </p:nvCxnSpPr>
          <p:spPr>
            <a:xfrm>
              <a:off x="10800" y="6420"/>
              <a:ext cx="0" cy="600"/>
            </a:xfrm>
            <a:prstGeom prst="line">
              <a:avLst/>
            </a:prstGeom>
            <a:ln w="19050">
              <a:solidFill>
                <a:srgbClr val="52514E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 / 系统总体架构"/>
            <p:cNvSpPr txBox="1"/>
            <p:nvPr/>
          </p:nvSpPr>
          <p:spPr>
            <a:xfrm>
              <a:off x="1350" y="787"/>
              <a:ext cx="3600" cy="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8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系统总体架构</a:t>
              </a:r>
              <a:endParaRPr sz="28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4" name="Text / 七步闭环 · 短期工作记忆 · …"/>
            <p:cNvSpPr txBox="1"/>
            <p:nvPr/>
          </p:nvSpPr>
          <p:spPr>
            <a:xfrm>
              <a:off x="1350" y="1556"/>
              <a:ext cx="18522" cy="57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七步闭环 · 短期工作记忆 · 复盘晋升门控 · 事实/经验双库 · 三路混合检索 · 进化四操作</a:t>
              </a:r>
              <a:endParaRPr sz="18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5" name="Shapes / rect 2"/>
            <p:cNvSpPr/>
            <p:nvPr/>
          </p:nvSpPr>
          <p:spPr>
            <a:xfrm>
              <a:off x="1350" y="2196"/>
              <a:ext cx="18900" cy="1860"/>
            </a:xfrm>
            <a:prstGeom prst="roundRect">
              <a:avLst>
                <a:gd name="adj" fmla="val 9677"/>
              </a:avLst>
            </a:prstGeom>
            <a:solidFill>
              <a:srgbClr val="F9F9F7"/>
            </a:solidFill>
            <a:ln w="14287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6" name="Text / 编排层 · 七步闭环"/>
            <p:cNvSpPr txBox="1"/>
            <p:nvPr/>
          </p:nvSpPr>
          <p:spPr>
            <a:xfrm>
              <a:off x="1710" y="2361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52514E"/>
                  </a:solidFill>
                  <a:latin typeface="Segoe UI Semibold" panose="020B0702040204020203"/>
                  <a:ea typeface="微软雅黑" panose="020B0503020204020204" charset="-122"/>
                </a:rPr>
                <a:t>编排层 · 七步闭环</a:t>
              </a:r>
              <a:endParaRPr sz="1600" b="0">
                <a:solidFill>
                  <a:srgbClr val="52514E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7" name="Shapes / rect 3"/>
            <p:cNvSpPr/>
            <p:nvPr/>
          </p:nvSpPr>
          <p:spPr>
            <a:xfrm>
              <a:off x="1680" y="3036"/>
              <a:ext cx="2400" cy="81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14287">
              <a:solidFill>
                <a:srgbClr val="DCD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8" name="Shapes / rect 4"/>
            <p:cNvSpPr/>
            <p:nvPr/>
          </p:nvSpPr>
          <p:spPr>
            <a:xfrm>
              <a:off x="4320" y="3036"/>
              <a:ext cx="2400" cy="81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14287">
              <a:solidFill>
                <a:srgbClr val="DCD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9" name="Shapes / rect 5"/>
            <p:cNvSpPr/>
            <p:nvPr/>
          </p:nvSpPr>
          <p:spPr>
            <a:xfrm>
              <a:off x="6960" y="3036"/>
              <a:ext cx="2400" cy="81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14287">
              <a:solidFill>
                <a:srgbClr val="DCD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10" name="Shapes / rect 6"/>
            <p:cNvSpPr/>
            <p:nvPr/>
          </p:nvSpPr>
          <p:spPr>
            <a:xfrm>
              <a:off x="9600" y="3036"/>
              <a:ext cx="2400" cy="81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14287">
              <a:solidFill>
                <a:srgbClr val="DCD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11" name="Shapes / rect 7"/>
            <p:cNvSpPr/>
            <p:nvPr/>
          </p:nvSpPr>
          <p:spPr>
            <a:xfrm>
              <a:off x="12240" y="3036"/>
              <a:ext cx="2400" cy="81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14287">
              <a:solidFill>
                <a:srgbClr val="DCD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12" name="Shapes / rect 8"/>
            <p:cNvSpPr/>
            <p:nvPr/>
          </p:nvSpPr>
          <p:spPr>
            <a:xfrm>
              <a:off x="14880" y="3036"/>
              <a:ext cx="2400" cy="81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14287">
              <a:solidFill>
                <a:srgbClr val="DCD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13" name="Shapes / rect 9"/>
            <p:cNvSpPr/>
            <p:nvPr/>
          </p:nvSpPr>
          <p:spPr>
            <a:xfrm>
              <a:off x="17520" y="3036"/>
              <a:ext cx="2400" cy="81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14287">
              <a:solidFill>
                <a:srgbClr val="DCDB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14" name="Text / ① 建槽"/>
            <p:cNvSpPr txBox="1"/>
            <p:nvPr/>
          </p:nvSpPr>
          <p:spPr>
            <a:xfrm>
              <a:off x="108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" panose="020B0502040204020203"/>
                  <a:ea typeface="微软雅黑" panose="020B0503020204020204" charset="-122"/>
                </a:rPr>
                <a:t>① 建槽</a:t>
              </a:r>
              <a:endParaRPr sz="1600" b="0">
                <a:solidFill>
                  <a:srgbClr val="0B0B0B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5" name="Text / ② 查询列表"/>
            <p:cNvSpPr txBox="1"/>
            <p:nvPr/>
          </p:nvSpPr>
          <p:spPr>
            <a:xfrm>
              <a:off x="372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" panose="020B0502040204020203"/>
                  <a:ea typeface="微软雅黑" panose="020B0503020204020204" charset="-122"/>
                </a:rPr>
                <a:t>② 查询列表</a:t>
              </a:r>
              <a:endParaRPr sz="1600" b="0">
                <a:solidFill>
                  <a:srgbClr val="0B0B0B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6" name="Text / ③ 检索"/>
            <p:cNvSpPr txBox="1"/>
            <p:nvPr/>
          </p:nvSpPr>
          <p:spPr>
            <a:xfrm>
              <a:off x="636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" panose="020B0502040204020203"/>
                  <a:ea typeface="微软雅黑" panose="020B0503020204020204" charset="-122"/>
                </a:rPr>
                <a:t>③ 检索</a:t>
              </a:r>
              <a:endParaRPr sz="1600" b="0">
                <a:solidFill>
                  <a:srgbClr val="0B0B0B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7" name="Text / ④ 装载"/>
            <p:cNvSpPr txBox="1"/>
            <p:nvPr/>
          </p:nvSpPr>
          <p:spPr>
            <a:xfrm>
              <a:off x="900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" panose="020B0502040204020203"/>
                  <a:ea typeface="微软雅黑" panose="020B0503020204020204" charset="-122"/>
                </a:rPr>
                <a:t>④ 装载</a:t>
              </a:r>
              <a:endParaRPr sz="1600" b="0">
                <a:solidFill>
                  <a:srgbClr val="0B0B0B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8" name="Text / ⑤ 规划输出"/>
            <p:cNvSpPr txBox="1"/>
            <p:nvPr/>
          </p:nvSpPr>
          <p:spPr>
            <a:xfrm>
              <a:off x="1164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" panose="020B0502040204020203"/>
                  <a:ea typeface="微软雅黑" panose="020B0503020204020204" charset="-122"/>
                </a:rPr>
                <a:t>⑤ 规划输出</a:t>
              </a:r>
              <a:endParaRPr sz="1600" b="0">
                <a:solidFill>
                  <a:srgbClr val="0B0B0B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9" name="Text / ⑥ AFSIM 反馈"/>
            <p:cNvSpPr txBox="1"/>
            <p:nvPr/>
          </p:nvSpPr>
          <p:spPr>
            <a:xfrm>
              <a:off x="1428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" panose="020B0502040204020203"/>
                  <a:ea typeface="微软雅黑" panose="020B0503020204020204" charset="-122"/>
                </a:rPr>
                <a:t>⑥ AFSIM 反馈</a:t>
              </a:r>
              <a:endParaRPr sz="1600" b="0">
                <a:solidFill>
                  <a:srgbClr val="0B0B0B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20" name="Text / ⑦ 复盘进化"/>
            <p:cNvSpPr txBox="1"/>
            <p:nvPr/>
          </p:nvSpPr>
          <p:spPr>
            <a:xfrm>
              <a:off x="1692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" panose="020B0502040204020203"/>
                  <a:ea typeface="微软雅黑" panose="020B0503020204020204" charset="-122"/>
                </a:rPr>
                <a:t>⑦ 复盘进化</a:t>
              </a:r>
              <a:endParaRPr sz="1600" b="0">
                <a:solidFill>
                  <a:srgbClr val="0B0B0B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21" name="Text / →"/>
            <p:cNvSpPr txBox="1"/>
            <p:nvPr/>
          </p:nvSpPr>
          <p:spPr>
            <a:xfrm>
              <a:off x="240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→</a:t>
              </a:r>
              <a:endParaRPr sz="16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22" name="Text / →"/>
            <p:cNvSpPr txBox="1"/>
            <p:nvPr/>
          </p:nvSpPr>
          <p:spPr>
            <a:xfrm>
              <a:off x="504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→</a:t>
              </a:r>
              <a:endParaRPr sz="16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23" name="Text / →"/>
            <p:cNvSpPr txBox="1"/>
            <p:nvPr/>
          </p:nvSpPr>
          <p:spPr>
            <a:xfrm>
              <a:off x="768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→</a:t>
              </a:r>
              <a:endParaRPr sz="16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24" name="Text / →"/>
            <p:cNvSpPr txBox="1"/>
            <p:nvPr/>
          </p:nvSpPr>
          <p:spPr>
            <a:xfrm>
              <a:off x="1032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→</a:t>
              </a:r>
              <a:endParaRPr sz="16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25" name="Text / →"/>
            <p:cNvSpPr txBox="1"/>
            <p:nvPr/>
          </p:nvSpPr>
          <p:spPr>
            <a:xfrm>
              <a:off x="1296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→</a:t>
              </a:r>
              <a:endParaRPr sz="16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26" name="Text / →"/>
            <p:cNvSpPr txBox="1"/>
            <p:nvPr/>
          </p:nvSpPr>
          <p:spPr>
            <a:xfrm>
              <a:off x="15600" y="321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→</a:t>
              </a:r>
              <a:endParaRPr sz="16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27" name="Shapes / rect 10"/>
            <p:cNvSpPr/>
            <p:nvPr/>
          </p:nvSpPr>
          <p:spPr>
            <a:xfrm>
              <a:off x="1350" y="4384"/>
              <a:ext cx="18900" cy="2190"/>
            </a:xfrm>
            <a:prstGeom prst="roundRect">
              <a:avLst>
                <a:gd name="adj" fmla="val 8219"/>
              </a:avLst>
            </a:prstGeom>
            <a:solidFill>
              <a:srgbClr val="EAF2FD"/>
            </a:solidFill>
            <a:ln w="23812">
              <a:solidFill>
                <a:srgbClr val="2A78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28" name="Text / 短期工作记忆"/>
            <p:cNvSpPr txBox="1"/>
            <p:nvPr/>
          </p:nvSpPr>
          <p:spPr>
            <a:xfrm>
              <a:off x="1770" y="4612"/>
              <a:ext cx="3600" cy="6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短期工作记忆</a:t>
              </a:r>
              <a:endParaRPr sz="20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29" name="Text / 槽位：目标 · 约束 · 查询列…"/>
            <p:cNvSpPr txBox="1"/>
            <p:nvPr/>
          </p:nvSpPr>
          <p:spPr>
            <a:xfrm>
              <a:off x="1770" y="5329"/>
              <a:ext cx="8063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槽位：目标 · 约束 · 查询列表 · 滚动消息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30" name="Text / 容量受限，达阈值时压缩历史消息；…"/>
            <p:cNvSpPr txBox="1"/>
            <p:nvPr/>
          </p:nvSpPr>
          <p:spPr>
            <a:xfrm>
              <a:off x="1770" y="5869"/>
              <a:ext cx="8063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容量受限，达阈值时压缩历史消息；约束字段永不压缩</a:t>
              </a:r>
              <a:endParaRPr sz="16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cxnSp>
          <p:nvCxnSpPr>
            <p:cNvPr id="41" name="Shapes / 箭头 2"/>
            <p:cNvCxnSpPr/>
            <p:nvPr/>
          </p:nvCxnSpPr>
          <p:spPr>
            <a:xfrm>
              <a:off x="10800" y="9190"/>
              <a:ext cx="0" cy="600"/>
            </a:xfrm>
            <a:prstGeom prst="line">
              <a:avLst/>
            </a:prstGeom>
            <a:ln w="19050">
              <a:solidFill>
                <a:srgbClr val="52514E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Shapes / rect 11"/>
            <p:cNvSpPr/>
            <p:nvPr/>
          </p:nvSpPr>
          <p:spPr>
            <a:xfrm>
              <a:off x="1350" y="7050"/>
              <a:ext cx="18900" cy="2280"/>
            </a:xfrm>
            <a:prstGeom prst="roundRect">
              <a:avLst>
                <a:gd name="adj" fmla="val 7894"/>
              </a:avLst>
            </a:prstGeom>
            <a:solidFill>
              <a:srgbClr val="FDEEE7"/>
            </a:solidFill>
            <a:ln w="28575">
              <a:solidFill>
                <a:srgbClr val="EB68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33" name="Text / 复盘晋升 · 短期进入长期记忆的…"/>
            <p:cNvSpPr txBox="1"/>
            <p:nvPr/>
          </p:nvSpPr>
          <p:spPr>
            <a:xfrm>
              <a:off x="1770" y="7278"/>
              <a:ext cx="8401" cy="6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复盘晋升 · 短期进入长期记忆的唯一通道</a:t>
              </a:r>
              <a:endParaRPr sz="20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34" name="Shapes / rect 12"/>
            <p:cNvSpPr/>
            <p:nvPr/>
          </p:nvSpPr>
          <p:spPr>
            <a:xfrm>
              <a:off x="1710" y="8070"/>
              <a:ext cx="3420" cy="84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19050">
              <a:solidFill>
                <a:srgbClr val="EB68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35" name="Shapes / rect 13"/>
            <p:cNvSpPr/>
            <p:nvPr/>
          </p:nvSpPr>
          <p:spPr>
            <a:xfrm>
              <a:off x="5490" y="8070"/>
              <a:ext cx="3420" cy="84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19050">
              <a:solidFill>
                <a:srgbClr val="EB68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36" name="Shapes / rect 14"/>
            <p:cNvSpPr/>
            <p:nvPr/>
          </p:nvSpPr>
          <p:spPr>
            <a:xfrm>
              <a:off x="9270" y="8070"/>
              <a:ext cx="3420" cy="84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19050">
              <a:solidFill>
                <a:srgbClr val="EB68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37" name="Text / 复盘驱动"/>
            <p:cNvSpPr txBox="1"/>
            <p:nvPr/>
          </p:nvSpPr>
          <p:spPr>
            <a:xfrm>
              <a:off x="1620" y="829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复盘驱动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38" name="Text / 类别门"/>
            <p:cNvSpPr txBox="1"/>
            <p:nvPr/>
          </p:nvSpPr>
          <p:spPr>
            <a:xfrm>
              <a:off x="5400" y="829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类别门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39" name="Text / 查重 θ"/>
            <p:cNvSpPr txBox="1"/>
            <p:nvPr/>
          </p:nvSpPr>
          <p:spPr>
            <a:xfrm>
              <a:off x="9180" y="829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查重 θ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40" name="Text / 写入只留一个正规入口，放行或拒绝…"/>
            <p:cNvSpPr txBox="1"/>
            <p:nvPr/>
          </p:nvSpPr>
          <p:spPr>
            <a:xfrm>
              <a:off x="13440" y="8295"/>
              <a:ext cx="6719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写入只留一个正规入口，放行或拒绝均记审计</a:t>
              </a:r>
              <a:endParaRPr sz="16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2" name="Shapes / rect 15"/>
            <p:cNvSpPr/>
            <p:nvPr/>
          </p:nvSpPr>
          <p:spPr>
            <a:xfrm>
              <a:off x="1350" y="9820"/>
              <a:ext cx="18900" cy="3360"/>
            </a:xfrm>
            <a:prstGeom prst="roundRect">
              <a:avLst>
                <a:gd name="adj" fmla="val 6250"/>
              </a:avLst>
            </a:prstGeom>
            <a:solidFill>
              <a:srgbClr val="E6F7F1"/>
            </a:solidFill>
            <a:ln w="23812">
              <a:solidFill>
                <a:srgbClr val="1BAF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43" name="Text / 长期记忆 · 双库分治"/>
            <p:cNvSpPr txBox="1"/>
            <p:nvPr/>
          </p:nvSpPr>
          <p:spPr>
            <a:xfrm>
              <a:off x="1770" y="10045"/>
              <a:ext cx="3516" cy="48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长期记忆 · 双库分治</a:t>
              </a:r>
              <a:endParaRPr sz="20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44" name="Shapes / rect 16"/>
            <p:cNvSpPr/>
            <p:nvPr/>
          </p:nvSpPr>
          <p:spPr>
            <a:xfrm>
              <a:off x="1710" y="10717"/>
              <a:ext cx="8850" cy="2220"/>
            </a:xfrm>
            <a:prstGeom prst="roundRect">
              <a:avLst>
                <a:gd name="adj" fmla="val 6756"/>
              </a:avLst>
            </a:prstGeom>
            <a:solidFill>
              <a:srgbClr val="FFFFFF"/>
            </a:solidFill>
            <a:ln w="14287">
              <a:solidFill>
                <a:srgbClr val="1BAF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45" name="Text / 事实库"/>
            <p:cNvSpPr txBox="1"/>
            <p:nvPr/>
          </p:nvSpPr>
          <p:spPr>
            <a:xfrm>
              <a:off x="2070" y="10855"/>
              <a:ext cx="3600" cy="6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事实库</a:t>
              </a:r>
              <a:endParaRPr sz="20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46" name="Text / SQLite · 属性精确过滤"/>
            <p:cNvSpPr txBox="1"/>
            <p:nvPr/>
          </p:nvSpPr>
          <p:spPr>
            <a:xfrm>
              <a:off x="2070" y="11452"/>
              <a:ext cx="5039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SQLite · 属性精确过滤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7" name="Text / 参数 · 条令 · 地形"/>
            <p:cNvSpPr txBox="1"/>
            <p:nvPr/>
          </p:nvSpPr>
          <p:spPr>
            <a:xfrm>
              <a:off x="2070" y="11953"/>
              <a:ext cx="378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参数 · 条令 · 地形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8" name="Text / 要求“差一个数字就是错”"/>
            <p:cNvSpPr txBox="1"/>
            <p:nvPr/>
          </p:nvSpPr>
          <p:spPr>
            <a:xfrm>
              <a:off x="2070" y="12403"/>
              <a:ext cx="378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要求“差一个数字就是错”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9" name="Shapes / rect 17"/>
            <p:cNvSpPr/>
            <p:nvPr/>
          </p:nvSpPr>
          <p:spPr>
            <a:xfrm>
              <a:off x="11040" y="10717"/>
              <a:ext cx="8850" cy="2220"/>
            </a:xfrm>
            <a:prstGeom prst="roundRect">
              <a:avLst>
                <a:gd name="adj" fmla="val 6756"/>
              </a:avLst>
            </a:prstGeom>
            <a:solidFill>
              <a:srgbClr val="FFFFFF"/>
            </a:solidFill>
            <a:ln w="14287">
              <a:solidFill>
                <a:srgbClr val="1BAF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50" name="Text / 经验库"/>
            <p:cNvSpPr txBox="1"/>
            <p:nvPr/>
          </p:nvSpPr>
          <p:spPr>
            <a:xfrm>
              <a:off x="11400" y="10855"/>
              <a:ext cx="3600" cy="6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经验库</a:t>
              </a:r>
              <a:endParaRPr sz="20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51" name="Text / 向量 · 语义召回"/>
            <p:cNvSpPr txBox="1"/>
            <p:nvPr/>
          </p:nvSpPr>
          <p:spPr>
            <a:xfrm>
              <a:off x="11400" y="11452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向量 · 语义召回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52" name="Text / 教训 · 对策"/>
            <p:cNvSpPr txBox="1"/>
            <p:nvPr/>
          </p:nvSpPr>
          <p:spPr>
            <a:xfrm>
              <a:off x="11400" y="11953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教训 · 对策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53" name="Text / 要求“换个说法也能搜到”"/>
            <p:cNvSpPr txBox="1"/>
            <p:nvPr/>
          </p:nvSpPr>
          <p:spPr>
            <a:xfrm>
              <a:off x="11400" y="12403"/>
              <a:ext cx="378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要求“换个说法也能搜到”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cxnSp>
          <p:nvCxnSpPr>
            <p:cNvPr id="54" name="Shapes / 箭头 3"/>
            <p:cNvCxnSpPr/>
            <p:nvPr/>
          </p:nvCxnSpPr>
          <p:spPr>
            <a:xfrm>
              <a:off x="9750" y="13219"/>
              <a:ext cx="0" cy="420"/>
            </a:xfrm>
            <a:prstGeom prst="line">
              <a:avLst/>
            </a:prstGeom>
            <a:ln w="19050">
              <a:solidFill>
                <a:srgbClr val="52514E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hapes / 箭头 4"/>
            <p:cNvCxnSpPr/>
            <p:nvPr/>
          </p:nvCxnSpPr>
          <p:spPr>
            <a:xfrm flipV="1">
              <a:off x="11850" y="13266"/>
              <a:ext cx="0" cy="420"/>
            </a:xfrm>
            <a:prstGeom prst="line">
              <a:avLst/>
            </a:prstGeom>
            <a:ln w="19050">
              <a:solidFill>
                <a:srgbClr val="52514E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 / 更新 / 淘汰"/>
            <p:cNvSpPr txBox="1"/>
            <p:nvPr/>
          </p:nvSpPr>
          <p:spPr>
            <a:xfrm>
              <a:off x="9000" y="13221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更新 / 淘汰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57" name="Shapes / rect 18"/>
            <p:cNvSpPr/>
            <p:nvPr/>
          </p:nvSpPr>
          <p:spPr>
            <a:xfrm>
              <a:off x="1350" y="13686"/>
              <a:ext cx="15600" cy="1800"/>
            </a:xfrm>
            <a:prstGeom prst="roundRect">
              <a:avLst>
                <a:gd name="adj" fmla="val 10000"/>
              </a:avLst>
            </a:prstGeom>
            <a:solidFill>
              <a:srgbClr val="EDEBF7"/>
            </a:solidFill>
            <a:ln w="23812">
              <a:solidFill>
                <a:srgbClr val="4A3A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58" name="Text / 进化：写入 · 合并 · 遗忘 …"/>
            <p:cNvSpPr txBox="1"/>
            <p:nvPr/>
          </p:nvSpPr>
          <p:spPr>
            <a:xfrm>
              <a:off x="1770" y="13914"/>
              <a:ext cx="8401" cy="6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进化：写入 · 合并 · 遗忘 · 抽象</a:t>
              </a:r>
              <a:endParaRPr sz="20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 / 遗忘 R = e^(−t/S)，…"/>
                <p:cNvSpPr txBox="1"/>
                <p:nvPr/>
              </p:nvSpPr>
              <p:spPr>
                <a:xfrm>
                  <a:off x="1770" y="14622"/>
                  <a:ext cx="9692" cy="6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:r>
                    <a:rPr sz="1500" b="0">
                      <a:solidFill>
                        <a:srgbClr val="898781"/>
                      </a:solidFill>
                      <a:latin typeface="Segoe UI" panose="020B0502040204020203"/>
                      <a:ea typeface="微软雅黑" panose="020B0503020204020204" charset="-122"/>
                    </a:rPr>
                    <a:t>遗忘 </a:t>
                  </a:r>
                  <a14:m>
                    <m:oMath xmlns:m="http://schemas.openxmlformats.org/officeDocument/2006/math">
                      <m:r>
                        <a:rPr lang="en-US" sz="1500" b="0" i="1">
                          <a:solidFill>
                            <a:srgbClr val="89878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𝑅</m:t>
                      </m:r>
                      <m:r>
                        <a:rPr lang="en-US" sz="1500" b="0" i="1">
                          <a:solidFill>
                            <a:srgbClr val="89878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sz="1500" b="0" i="1">
                              <a:solidFill>
                                <a:srgbClr val="89878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sz="1500" b="0" i="1">
                              <a:solidFill>
                                <a:srgbClr val="89878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p>
                          <m:r>
                            <a:rPr lang="en-US" sz="1500" b="0" i="1">
                              <a:solidFill>
                                <a:srgbClr val="89878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500" b="0" i="1">
                                  <a:solidFill>
                                    <a:srgbClr val="898781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sz="1500" b="0" i="1">
                                  <a:solidFill>
                                    <a:srgbClr val="898781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1500" b="0" i="1">
                                  <a:solidFill>
                                    <a:srgbClr val="898781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𝑆</m:t>
                              </m:r>
                            </m:den>
                          </m:f>
                        </m:sup>
                      </m:sSup>
                    </m:oMath>
                  </a14:m>
                  <a:r>
                    <a:rPr sz="1500" b="0">
                      <a:solidFill>
                        <a:srgbClr val="898781"/>
                      </a:solidFill>
                      <a:latin typeface="Segoe UI" panose="020B0502040204020203"/>
                      <a:ea typeface="微软雅黑" panose="020B0503020204020204" charset="-122"/>
                    </a:rPr>
                    <a:t>，S 随每次召回 +1；失败教训设保护线，保护线以上不淘汰</a:t>
                  </a:r>
                  <a:endParaRPr sz="1500" b="0">
                    <a:solidFill>
                      <a:srgbClr val="898781"/>
                    </a:solidFill>
                    <a:latin typeface="Segoe UI" panose="020B0502040204020203"/>
                    <a:ea typeface="微软雅黑" panose="020B0503020204020204" charset="-122"/>
                  </a:endParaRPr>
                </a:p>
              </p:txBody>
            </p:sp>
          </mc:Choice>
          <mc:Fallback>
            <p:sp>
              <p:nvSpPr>
                <p:cNvPr id="59" name="Text / 遗忘 R = e^(−t/S)，…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" y="14622"/>
                  <a:ext cx="9692" cy="606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hapes / 箭头 5"/>
            <p:cNvCxnSpPr/>
            <p:nvPr/>
          </p:nvCxnSpPr>
          <p:spPr>
            <a:xfrm>
              <a:off x="18600" y="12972"/>
              <a:ext cx="0" cy="2851"/>
            </a:xfrm>
            <a:prstGeom prst="line">
              <a:avLst/>
            </a:prstGeom>
            <a:ln w="19050">
              <a:solidFill>
                <a:srgbClr val="52514E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 / 三路读取"/>
            <p:cNvSpPr txBox="1"/>
            <p:nvPr/>
          </p:nvSpPr>
          <p:spPr>
            <a:xfrm>
              <a:off x="18930" y="14067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三路读取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62" name="Shapes / rect 19"/>
            <p:cNvSpPr/>
            <p:nvPr/>
          </p:nvSpPr>
          <p:spPr>
            <a:xfrm>
              <a:off x="1350" y="15823"/>
              <a:ext cx="18900" cy="2400"/>
            </a:xfrm>
            <a:prstGeom prst="roundRect">
              <a:avLst>
                <a:gd name="adj" fmla="val 7500"/>
              </a:avLst>
            </a:prstGeom>
            <a:solidFill>
              <a:srgbClr val="FDF3E1"/>
            </a:solidFill>
            <a:ln w="23812">
              <a:solidFill>
                <a:srgbClr val="EDA1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63" name="Text / 检索层 · 任务感知的三路混合检…"/>
            <p:cNvSpPr txBox="1"/>
            <p:nvPr/>
          </p:nvSpPr>
          <p:spPr>
            <a:xfrm>
              <a:off x="1770" y="16051"/>
              <a:ext cx="7141" cy="6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检索层 · 任务感知的三路混合检索</a:t>
              </a:r>
              <a:endParaRPr sz="20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64" name="Shapes / rect 20"/>
            <p:cNvSpPr/>
            <p:nvPr/>
          </p:nvSpPr>
          <p:spPr>
            <a:xfrm>
              <a:off x="1710" y="16663"/>
              <a:ext cx="3480" cy="75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9050">
              <a:solidFill>
                <a:srgbClr val="EDA1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65" name="Shapes / rect 21"/>
            <p:cNvSpPr/>
            <p:nvPr/>
          </p:nvSpPr>
          <p:spPr>
            <a:xfrm>
              <a:off x="5580" y="16663"/>
              <a:ext cx="3480" cy="75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9050">
              <a:solidFill>
                <a:srgbClr val="EDA1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66" name="Shapes / rect 22"/>
            <p:cNvSpPr/>
            <p:nvPr/>
          </p:nvSpPr>
          <p:spPr>
            <a:xfrm>
              <a:off x="9450" y="16663"/>
              <a:ext cx="3480" cy="75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19050">
              <a:solidFill>
                <a:srgbClr val="EDA1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67" name="Text / 向量 · 语义"/>
            <p:cNvSpPr txBox="1"/>
            <p:nvPr/>
          </p:nvSpPr>
          <p:spPr>
            <a:xfrm>
              <a:off x="1650" y="16843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向量 · 语义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68" name="Text / BM25 · 词法"/>
            <p:cNvSpPr txBox="1"/>
            <p:nvPr/>
          </p:nvSpPr>
          <p:spPr>
            <a:xfrm>
              <a:off x="5520" y="16843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BM25 · 词法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69" name="Text / 属性精确"/>
            <p:cNvSpPr txBox="1"/>
            <p:nvPr/>
          </p:nvSpPr>
          <p:spPr>
            <a:xfrm>
              <a:off x="9390" y="16843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属性精确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70" name="Text / → 归一加权融合（记忆类型先验 …"/>
            <p:cNvSpPr txBox="1"/>
            <p:nvPr/>
          </p:nvSpPr>
          <p:spPr>
            <a:xfrm>
              <a:off x="13200" y="16849"/>
              <a:ext cx="7245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→ 归一加权融合（记忆类型先验 + 阶段亲和）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1" name="Text / 按 MDMP 阶段生成查询，命中…"/>
            <p:cNvSpPr txBox="1"/>
            <p:nvPr/>
          </p:nvSpPr>
          <p:spPr>
            <a:xfrm>
              <a:off x="13200" y="17470"/>
              <a:ext cx="7875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按 MDMP 阶段生成查询，命中后再给对口阶段加分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2" name="Text / 注：三路中仅“属性精确”只走事实…"/>
            <p:cNvSpPr txBox="1"/>
            <p:nvPr/>
          </p:nvSpPr>
          <p:spPr>
            <a:xfrm>
              <a:off x="1710" y="17509"/>
              <a:ext cx="9765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注：三路中仅“属性精确”只走事实库，向量与 BM25 两库均查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3" name="Shapes / 箭头 6"/>
            <p:cNvSpPr/>
            <p:nvPr/>
          </p:nvSpPr>
          <p:spPr>
            <a:xfrm>
              <a:off x="20160" y="5400"/>
              <a:ext cx="840" cy="11929"/>
            </a:xfrm>
            <a:custGeom>
              <a:avLst/>
              <a:gdLst/>
              <a:ahLst/>
              <a:cxnLst/>
              <a:rect l="l" t="t" r="r" b="b"/>
              <a:pathLst>
                <a:path w="476250" h="7591425">
                  <a:moveTo>
                    <a:pt x="0" y="7591425"/>
                  </a:moveTo>
                  <a:lnTo>
                    <a:pt x="476250" y="7591425"/>
                  </a:lnTo>
                  <a:lnTo>
                    <a:pt x="476250" y="0"/>
                  </a:lnTo>
                  <a:lnTo>
                    <a:pt x="38100" y="0"/>
                  </a:lnTo>
                </a:path>
              </a:pathLst>
            </a:custGeom>
            <a:noFill/>
            <a:ln w="23812">
              <a:solidFill>
                <a:srgbClr val="2A78D6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 / 装载进上下文"/>
            <p:cNvSpPr txBox="1"/>
            <p:nvPr/>
          </p:nvSpPr>
          <p:spPr>
            <a:xfrm rot="5400000">
              <a:off x="19530" y="10706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2A78D6"/>
                  </a:solidFill>
                  <a:latin typeface="Segoe UI" panose="020B0502040204020203"/>
                  <a:ea typeface="微软雅黑" panose="020B0503020204020204" charset="-122"/>
                </a:rPr>
                <a:t>装载进上下文</a:t>
              </a:r>
              <a:endParaRPr sz="1600" b="0">
                <a:solidFill>
                  <a:srgbClr val="2A78D6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5" name="Shapes / rect 23"/>
            <p:cNvSpPr/>
            <p:nvPr/>
          </p:nvSpPr>
          <p:spPr>
            <a:xfrm>
              <a:off x="1350" y="18492"/>
              <a:ext cx="18900" cy="990"/>
            </a:xfrm>
            <a:prstGeom prst="roundRect">
              <a:avLst>
                <a:gd name="adj" fmla="val 18181"/>
              </a:avLst>
            </a:prstGeom>
            <a:solidFill>
              <a:srgbClr val="F9F9F7"/>
            </a:solidFill>
            <a:ln w="14287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76" name="Text / 审计日志 · 全链路可回放：每条…"/>
            <p:cNvSpPr txBox="1"/>
            <p:nvPr/>
          </p:nvSpPr>
          <p:spPr>
            <a:xfrm>
              <a:off x="1770" y="18734"/>
              <a:ext cx="10962" cy="57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审计日志 · 全链路可回放：每条记忆为什么写入、为什么删除</a:t>
              </a:r>
              <a:endParaRPr sz="18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WPS 演示</Application>
  <PresentationFormat>On-screen Show (4:3)</PresentationFormat>
  <Paragraphs>92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</vt:lpstr>
      <vt:lpstr>Segoe UI Semibold</vt:lpstr>
      <vt:lpstr>微软雅黑</vt:lpstr>
      <vt:lpstr>Segoe UI</vt:lpstr>
      <vt:lpstr>Cambria Math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cjn</cp:lastModifiedBy>
  <cp:revision>4</cp:revision>
  <dcterms:created xsi:type="dcterms:W3CDTF">2013-01-27T09:14:00Z</dcterms:created>
  <dcterms:modified xsi:type="dcterms:W3CDTF">2026-09-17T03:26:47Z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02D96A5C38094DA189D069E29238A833_12</vt:lpwstr>
  </property>
</Properties>
</file>